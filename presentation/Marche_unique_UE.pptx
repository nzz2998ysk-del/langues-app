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4.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5.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6.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7.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8.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charts/chart9.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charts/chart10.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1F4B"/>
                </a:solidFill>
                <a:latin typeface="Calibri"/>
              </a:defRPr>
            </a:pPr>
            <a:r>
              <a:rPr sz="1300" b="0" i="0" u="none" strike="noStrike">
                <a:solidFill>
                  <a:srgbClr val="0B1F4B"/>
                </a:solidFill>
                <a:latin typeface="Calibri"/>
              </a:rPr>
              <a:t>Commerce de biens intra-zone (% du PIB)</a:t>
            </a:r>
          </a:p>
        </c:rich>
      </c:tx>
      <c:layout/>
      <c:overlay val="0"/>
    </c:title>
    <c:autoTitleDeleted val="0"/>
    <c:plotArea>
      <c:layout/>
      <c:barChart>
        <c:barDir val="col"/>
        <c:grouping val="clustered"/>
        <c:varyColors val="0"/>
        <c:ser>
          <c:idx val="0"/>
          <c:order val="0"/>
          <c:tx>
            <c:strRef>
              <c:f>Sheet1!$B$1</c:f>
              <c:strCache>
                <c:ptCount val="1"/>
                <c:pt idx="0">
                  <c:v>Commerce intra-zone (% du PIB)</c:v>
                </c:pt>
              </c:strCache>
            </c:strRef>
          </c:tx>
          <c:spPr>
            <a:solidFill>
              <a:srgbClr val="8FA6D6"/>
            </a:solidFill>
            <a:effectLst/>
          </c:spPr>
          <c:invertIfNegative val="0"/>
          <c:dLbls>
            <c:numFmt formatCode="0&quot;%&quot;" sourceLinked="0"/>
            <c:txPr>
              <a:bodyPr/>
              <a:lstStyle/>
              <a:p>
                <a:pPr>
                  <a:defRPr b="1" i="0" strike="noStrike" sz="1600" u="none">
                    <a:solidFill>
                      <a:srgbClr val="0B1F4B"/>
                    </a:solidFill>
                    <a:latin typeface="Arial"/>
                  </a:defRPr>
                </a:pPr>
              </a:p>
            </c:txPr>
            <c:showLegendKey val="0"/>
            <c:showVal val="1"/>
            <c:showCatName val="0"/>
            <c:showSerName val="0"/>
            <c:showPercent val="0"/>
            <c:showBubbleSize val="0"/>
            <c:showLeaderLines val="0"/>
          </c:dLbls>
          <c:dPt>
            <c:idx val="0"/>
            <c:invertIfNegative val="0"/>
            <c:bubble3D val="0"/>
            <c:spPr>
              <a:solidFill>
                <a:srgbClr val="8FA6D6"/>
              </a:solidFill>
              <a:effectLst/>
            </c:spPr>
          </c:dPt>
          <c:dPt>
            <c:idx val="1"/>
            <c:invertIfNegative val="0"/>
            <c:bubble3D val="0"/>
            <c:spPr>
              <a:solidFill>
                <a:srgbClr val="5B7FC7"/>
              </a:solidFill>
              <a:effectLst/>
            </c:spPr>
          </c:dPt>
          <c:dPt>
            <c:idx val="2"/>
            <c:invertIfNegative val="0"/>
            <c:bubble3D val="0"/>
            <c:spPr>
              <a:solidFill>
                <a:srgbClr val="FFC21A"/>
              </a:solidFill>
              <a:effectLst/>
            </c:spPr>
          </c:dPt>
          <c:cat>
            <c:multiLvlStrRef>
              <c:f>Sheet1!$A$2:$A$4</c:f>
              <c:multiLvlStrCache>
                <c:ptCount val="3"/>
                <c:lvl>
                  <c:pt idx="0">
                    <c:v>ALENA (2019)</c:v>
                  </c:pt>
                  <c:pt idx="1">
                    <c:v>ASEAN (2019)</c:v>
                  </c:pt>
                  <c:pt idx="2">
                    <c:v>Union européenne (2022)</c:v>
                  </c:pt>
                </c:lvl>
              </c:multiLvlStrCache>
            </c:multiLvlStrRef>
          </c:cat>
          <c:val>
            <c:numRef>
              <c:f>Sheet1!$B$2:$B$4</c:f>
              <c:numCache>
                <c:formatCode>General</c:formatCode>
                <c:ptCount val="3"/>
                <c:pt idx="0">
                  <c:v>5</c:v>
                </c:pt>
                <c:pt idx="1">
                  <c:v>10</c:v>
                </c:pt>
                <c:pt idx="2">
                  <c:v>26</c:v>
                </c:pt>
              </c:numCache>
            </c:numRef>
          </c:val>
        </c:ser>
        <c:dLbls>
          <c:numFmt formatCode="0&quot;%&quot;" sourceLinked="0"/>
          <c:txPr>
            <a:bodyPr/>
            <a:lstStyle/>
            <a:p>
              <a:pPr>
                <a:defRPr b="1" i="0" strike="noStrike" sz="1600" u="none">
                  <a:solidFill>
                    <a:srgbClr val="0B1F4B"/>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333"/>
                </a:solidFill>
                <a:latin typeface="Arial"/>
              </a:defRPr>
            </a:pPr>
            <a:endParaRPr lang="en-US"/>
          </a:p>
        </c:txPr>
        <c:crossAx val="2094734552"/>
        <c:crosses val="autoZero"/>
        <c:auto val="1"/>
        <c:lblAlgn val="ctr"/>
        <c:noMultiLvlLbl val="1"/>
      </c:catAx>
      <c:valAx>
        <c:axId val="2094734552"/>
        <c:scaling>
          <c:orientation val="minMax"/>
          <c:max val="3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1F4B"/>
                </a:solidFill>
                <a:latin typeface="Arial"/>
              </a:defRPr>
            </a:pPr>
            <a:r>
              <a:rPr sz="1200" b="0" i="0" u="none" strike="noStrike">
                <a:solidFill>
                  <a:srgbClr val="0B1F4B"/>
                </a:solidFill>
                <a:latin typeface="Arial"/>
              </a:rPr>
              <a:t>Commerce intra-UE de biens (milliards d'euros)</a:t>
            </a:r>
          </a:p>
        </c:rich>
      </c:tx>
      <c:layout/>
      <c:overlay val="0"/>
    </c:title>
    <c:autoTitleDeleted val="0"/>
    <c:plotArea>
      <c:layout/>
      <c:barChart>
        <c:barDir val="col"/>
        <c:grouping val="clustered"/>
        <c:varyColors val="0"/>
        <c:ser>
          <c:idx val="0"/>
          <c:order val="0"/>
          <c:tx>
            <c:strRef>
              <c:f>Sheet1!$B$1</c:f>
              <c:strCache>
                <c:ptCount val="1"/>
                <c:pt idx="0">
                  <c:v>Commerce intra-UE de biens (Md€)</c:v>
                </c:pt>
              </c:strCache>
            </c:strRef>
          </c:tx>
          <c:spPr>
            <a:solidFill>
              <a:srgbClr val="8FB8A3"/>
            </a:solidFill>
            <a:effectLst/>
          </c:spPr>
          <c:invertIfNegative val="0"/>
          <c:dLbls>
            <c:numFmt formatCode="# ##0&quot; Md€&quot;" sourceLinked="0"/>
            <c:txPr>
              <a:bodyPr/>
              <a:lstStyle/>
              <a:p>
                <a:pPr>
                  <a:defRPr b="1" i="0" strike="noStrike" sz="1500" u="none">
                    <a:solidFill>
                      <a:srgbClr val="0B1F4B"/>
                    </a:solidFill>
                    <a:latin typeface="Arial"/>
                  </a:defRPr>
                </a:pPr>
              </a:p>
            </c:txPr>
            <c:showLegendKey val="0"/>
            <c:showVal val="1"/>
            <c:showCatName val="0"/>
            <c:showSerName val="0"/>
            <c:showPercent val="0"/>
            <c:showBubbleSize val="0"/>
            <c:showLeaderLines val="0"/>
          </c:dLbls>
          <c:dPt>
            <c:idx val="0"/>
            <c:invertIfNegative val="0"/>
            <c:bubble3D val="0"/>
            <c:spPr>
              <a:solidFill>
                <a:srgbClr val="8FB8A3"/>
              </a:solidFill>
              <a:effectLst/>
            </c:spPr>
          </c:dPt>
          <c:dPt>
            <c:idx val="1"/>
            <c:invertIfNegative val="0"/>
            <c:bubble3D val="0"/>
            <c:spPr>
              <a:solidFill>
                <a:srgbClr val="1E9E6A"/>
              </a:solidFill>
              <a:effectLst/>
            </c:spPr>
          </c:dPt>
          <c:cat>
            <c:multiLvlStrRef>
              <c:f>Sheet1!$A$2:$A$3</c:f>
              <c:multiLvlStrCache>
                <c:ptCount val="2"/>
                <c:lvl>
                  <c:pt idx="0">
                    <c:v>1993 (UE à 12)</c:v>
                  </c:pt>
                  <c:pt idx="1">
                    <c:v>2023 (UE à 27)</c:v>
                  </c:pt>
                </c:lvl>
              </c:multiLvlStrCache>
            </c:multiLvlStrRef>
          </c:cat>
          <c:val>
            <c:numRef>
              <c:f>Sheet1!$B$2:$B$3</c:f>
              <c:numCache>
                <c:formatCode>General</c:formatCode>
                <c:ptCount val="2"/>
                <c:pt idx="0">
                  <c:v>671</c:v>
                </c:pt>
                <c:pt idx="1">
                  <c:v>4135</c:v>
                </c:pt>
              </c:numCache>
            </c:numRef>
          </c:val>
        </c:ser>
        <c:dLbls>
          <c:numFmt formatCode="# ##0&quot; Md€&quot;" sourceLinked="0"/>
          <c:txPr>
            <a:bodyPr/>
            <a:lstStyle/>
            <a:p>
              <a:pPr>
                <a:defRPr b="1" i="0" strike="noStrike" sz="1500" u="none">
                  <a:solidFill>
                    <a:srgbClr val="0B1F4B"/>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333"/>
                </a:solidFill>
                <a:latin typeface="Arial"/>
              </a:defRPr>
            </a:pPr>
            <a:endParaRPr lang="en-US"/>
          </a:p>
        </c:txPr>
        <c:crossAx val="2094734552"/>
        <c:crosses val="autoZero"/>
        <c:auto val="1"/>
        <c:lblAlgn val="ctr"/>
        <c:noMultiLvlLbl val="1"/>
      </c:catAx>
      <c:valAx>
        <c:axId val="2094734552"/>
        <c:scaling>
          <c:orientation val="minMax"/>
          <c:max val="480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B1F4B"/>
                </a:solidFill>
                <a:latin typeface="Arial"/>
              </a:defRPr>
            </a:pPr>
            <a:r>
              <a:rPr sz="1200" b="0" i="0" u="none" strike="noStrike">
                <a:solidFill>
                  <a:srgbClr val="0B1F4B"/>
                </a:solidFill>
                <a:latin typeface="Arial"/>
              </a:rPr>
              <a:t>Hausse du commerce due au marché unique</a:t>
            </a:r>
          </a:p>
        </c:rich>
      </c:tx>
      <c:layout/>
      <c:overlay val="0"/>
    </c:title>
    <c:autoTitleDeleted val="0"/>
    <c:plotArea>
      <c:layout/>
      <c:barChart>
        <c:barDir val="col"/>
        <c:grouping val="clustered"/>
        <c:varyColors val="0"/>
        <c:ser>
          <c:idx val="0"/>
          <c:order val="0"/>
          <c:tx>
            <c:strRef>
              <c:f>Sheet1!$B$1</c:f>
              <c:strCache>
                <c:ptCount val="1"/>
                <c:pt idx="0">
                  <c:v>Biens</c:v>
                </c:pt>
              </c:strCache>
            </c:strRef>
          </c:tx>
          <c:spPr>
            <a:solidFill>
              <a:srgbClr val="1E9E6A"/>
            </a:solidFill>
            <a:effectLst/>
          </c:spPr>
          <c:invertIfNegative val="0"/>
          <c:dLbls>
            <c:numFmt formatCode="&quot;+&quot;0&quot;%&quot;" sourceLinked="0"/>
            <c:txPr>
              <a:bodyPr/>
              <a:lstStyle/>
              <a:p>
                <a:pPr>
                  <a:defRPr b="1" i="0" strike="noStrike" sz="1300" u="none">
                    <a:solidFill>
                      <a:srgbClr val="0B1F4B"/>
                    </a:solidFill>
                    <a:latin typeface="Arial"/>
                  </a:defRPr>
                </a:pPr>
              </a:p>
            </c:txPr>
            <c:showLegendKey val="0"/>
            <c:showVal val="1"/>
            <c:showCatName val="0"/>
            <c:showSerName val="0"/>
            <c:showPercent val="0"/>
            <c:showBubbleSize val="0"/>
            <c:showLeaderLines val="0"/>
          </c:dLbls>
          <c:cat>
            <c:multiLvlStrRef>
              <c:f>Sheet1!$A$2:$A$3</c:f>
              <c:multiLvlStrCache>
                <c:ptCount val="2"/>
                <c:lvl>
                  <c:pt idx="0">
                    <c:v>Mayer, Vicard &amp; Zignago (2018)</c:v>
                  </c:pt>
                  <c:pt idx="1">
                    <c:v>Felbermayr et al. (2022)</c:v>
                  </c:pt>
                </c:lvl>
              </c:multiLvlStrCache>
            </c:multiLvlStrRef>
          </c:cat>
          <c:val>
            <c:numRef>
              <c:f>Sheet1!$B$2:$B$3</c:f>
              <c:numCache>
                <c:formatCode>General</c:formatCode>
                <c:ptCount val="2"/>
                <c:pt idx="0">
                  <c:v>109</c:v>
                </c:pt>
                <c:pt idx="1">
                  <c:v>46</c:v>
                </c:pt>
              </c:numCache>
            </c:numRef>
          </c:val>
        </c:ser>
        <c:ser>
          <c:idx val="1"/>
          <c:order val="1"/>
          <c:tx>
            <c:strRef>
              <c:f>Sheet1!$C$1</c:f>
              <c:strCache>
                <c:ptCount val="1"/>
                <c:pt idx="0">
                  <c:v>Services</c:v>
                </c:pt>
              </c:strCache>
            </c:strRef>
          </c:tx>
          <c:spPr>
            <a:solidFill>
              <a:srgbClr val="FFC21A"/>
            </a:solidFill>
            <a:effectLst/>
          </c:spPr>
          <c:invertIfNegative val="0"/>
          <c:dLbls>
            <c:numFmt formatCode="&quot;+&quot;0&quot;%&quot;" sourceLinked="0"/>
            <c:txPr>
              <a:bodyPr/>
              <a:lstStyle/>
              <a:p>
                <a:pPr>
                  <a:defRPr b="1" i="0" strike="noStrike" sz="1300" u="none">
                    <a:solidFill>
                      <a:srgbClr val="0B1F4B"/>
                    </a:solidFill>
                    <a:latin typeface="Arial"/>
                  </a:defRPr>
                </a:pPr>
              </a:p>
            </c:txPr>
            <c:showLegendKey val="0"/>
            <c:showVal val="1"/>
            <c:showCatName val="0"/>
            <c:showSerName val="0"/>
            <c:showPercent val="0"/>
            <c:showBubbleSize val="0"/>
            <c:showLeaderLines val="0"/>
          </c:dLbls>
          <c:cat>
            <c:multiLvlStrRef>
              <c:f>Sheet1!$A$2:$A$3</c:f>
              <c:multiLvlStrCache>
                <c:ptCount val="2"/>
                <c:lvl>
                  <c:pt idx="0">
                    <c:v>Mayer, Vicard &amp; Zignago (2018)</c:v>
                  </c:pt>
                  <c:pt idx="1">
                    <c:v>Felbermayr et al. (2022)</c:v>
                  </c:pt>
                </c:lvl>
              </c:multiLvlStrCache>
            </c:multiLvlStrRef>
          </c:cat>
          <c:val>
            <c:numRef>
              <c:f>Sheet1!$C$2:$C$3</c:f>
              <c:numCache>
                <c:formatCode>General</c:formatCode>
                <c:ptCount val="2"/>
                <c:pt idx="0">
                  <c:v>58</c:v>
                </c:pt>
                <c:pt idx="1">
                  <c:v>64</c:v>
                </c:pt>
              </c:numCache>
            </c:numRef>
          </c:val>
        </c:ser>
        <c:dLbls>
          <c:numFmt formatCode="&quot;+&quot;0&quot;%&quot;" sourceLinked="0"/>
          <c:txPr>
            <a:bodyPr/>
            <a:lstStyle/>
            <a:p>
              <a:pPr>
                <a:defRPr b="1" i="0" strike="noStrike" sz="1300" u="none">
                  <a:solidFill>
                    <a:srgbClr val="0B1F4B"/>
                  </a:solidFill>
                  <a:latin typeface="Arial"/>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B2333"/>
                </a:solidFill>
                <a:latin typeface="Arial"/>
              </a:defRPr>
            </a:pPr>
            <a:endParaRPr lang="en-US"/>
          </a:p>
        </c:txPr>
        <c:crossAx val="2094734552"/>
        <c:crosses val="autoZero"/>
        <c:auto val="1"/>
        <c:lblAlgn val="ctr"/>
        <c:noMultiLvlLbl val="1"/>
      </c:catAx>
      <c:valAx>
        <c:axId val="2094734552"/>
        <c:scaling>
          <c:orientation val="minMax"/>
          <c:max val="12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B2333"/>
              </a:solidFil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Multiplication 2002 → 2021</c:v>
                </c:pt>
              </c:strCache>
            </c:strRef>
          </c:tx>
          <c:spPr>
            <a:solidFill>
              <a:srgbClr val="1E9E6A"/>
            </a:solidFill>
            <a:effectLst/>
          </c:spPr>
          <c:invertIfNegative val="0"/>
          <c:dLbls>
            <c:numFmt formatCode="&quot;×&quot;0" sourceLinked="0"/>
            <c:txPr>
              <a:bodyPr/>
              <a:lstStyle/>
              <a:p>
                <a:pPr>
                  <a:defRPr b="1" i="0" strike="noStrike" sz="1600" u="none">
                    <a:solidFill>
                      <a:srgbClr val="0B1F4B"/>
                    </a:solidFill>
                    <a:latin typeface="Arial"/>
                  </a:defRPr>
                </a:pPr>
              </a:p>
            </c:txPr>
            <c:showLegendKey val="0"/>
            <c:showVal val="1"/>
            <c:showCatName val="0"/>
            <c:showSerName val="0"/>
            <c:showPercent val="0"/>
            <c:showBubbleSize val="0"/>
            <c:showLeaderLines val="0"/>
          </c:dLbls>
          <c:dPt>
            <c:idx val="0"/>
            <c:invertIfNegative val="0"/>
            <c:bubble3D val="0"/>
            <c:spPr>
              <a:solidFill>
                <a:srgbClr val="1E9E6A"/>
              </a:solidFill>
              <a:effectLst/>
            </c:spPr>
          </c:dPt>
          <c:dPt>
            <c:idx val="1"/>
            <c:invertIfNegative val="0"/>
            <c:bubble3D val="0"/>
            <c:spPr>
              <a:solidFill>
                <a:srgbClr val="6CC39B"/>
              </a:solidFill>
              <a:effectLst/>
            </c:spPr>
          </c:dPt>
          <c:cat>
            <c:multiLvlStrRef>
              <c:f>Sheet1!$A$2:$A$3</c:f>
              <c:multiLvlStrCache>
                <c:ptCount val="2"/>
                <c:lvl>
                  <c:pt idx="0">
                    <c:v>IDE intra-UE</c:v>
                  </c:pt>
                  <c:pt idx="1">
                    <c:v>Invest. de portefeuille</c:v>
                  </c:pt>
                </c:lvl>
              </c:multiLvlStrCache>
            </c:multiLvlStrRef>
          </c:cat>
          <c:val>
            <c:numRef>
              <c:f>Sheet1!$B$2:$B$3</c:f>
              <c:numCache>
                <c:formatCode>General</c:formatCode>
                <c:ptCount val="2"/>
                <c:pt idx="0">
                  <c:v>5</c:v>
                </c:pt>
                <c:pt idx="1">
                  <c:v>4</c:v>
                </c:pt>
              </c:numCache>
            </c:numRef>
          </c:val>
        </c:ser>
        <c:dLbls>
          <c:numFmt formatCode="&quot;×&quot;0" sourceLinked="0"/>
          <c:txPr>
            <a:bodyPr/>
            <a:lstStyle/>
            <a:p>
              <a:pPr>
                <a:defRPr b="1" i="0" strike="noStrike" sz="1600" u="none">
                  <a:solidFill>
                    <a:srgbClr val="0B1F4B"/>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333"/>
                </a:solidFill>
                <a:latin typeface="Arial"/>
              </a:defRPr>
            </a:pPr>
            <a:endParaRPr lang="en-US"/>
          </a:p>
        </c:txPr>
        <c:crossAx val="2094734552"/>
        <c:crosses val="autoZero"/>
        <c:auto val="1"/>
        <c:lblAlgn val="ctr"/>
        <c:noMultiLvlLbl val="1"/>
      </c:catAx>
      <c:valAx>
        <c:axId val="2094734552"/>
        <c:scaling>
          <c:orientation val="minMax"/>
          <c:max val="6"/>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Stock mondial d'IDE entrants (2022)</c:v>
                </c:pt>
              </c:strCache>
            </c:strRef>
          </c:tx>
          <c:spPr>
            <a:solidFill>
              <a:schemeClr val="accent1"/>
            </a:solidFill>
            <a:ln w="9525" cap="flat">
              <a:solidFill>
                <a:srgbClr val="F9F9F9"/>
              </a:solidFill>
              <a:prstDash val="solid"/>
              <a:round/>
            </a:ln>
            <a:effectLst/>
          </c:spPr>
          <c:dPt>
            <c:idx val="0"/>
            <c:bubble3D val="0"/>
            <c:spPr>
              <a:solidFill>
                <a:srgbClr val="1E9E6A"/>
              </a:solidFill>
              <a:ln w="12700" cap="flat">
                <a:solidFill>
                  <a:srgbClr val="FFFFFF"/>
                </a:solidFill>
                <a:prstDash val="solid"/>
                <a:round/>
              </a:ln>
              <a:effectLst/>
            </c:spPr>
          </c:dPt>
          <c:dPt>
            <c:idx val="1"/>
            <c:bubble3D val="0"/>
            <c:spPr>
              <a:solidFill>
                <a:srgbClr val="D9E2F2"/>
              </a:solidFill>
              <a:ln w="127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Union européenne</c:v>
                </c:pt>
                <c:pt idx="1">
                  <c:v>Reste du monde</c:v>
                </c:pt>
              </c:strCache>
            </c:strRef>
          </c:cat>
          <c:val>
            <c:numRef>
              <c:f>Sheet1!$B$2:$B$3</c:f>
              <c:numCache>
                <c:ptCount val="2"/>
                <c:pt idx="0">
                  <c:v>25.2</c:v>
                </c:pt>
                <c:pt idx="1">
                  <c:v>74.8</c:v>
                </c:pt>
              </c:numCache>
            </c:numRef>
          </c:val>
        </c:ser>
        <c:firstSliceAng val="0"/>
        <c:holeSize val="62"/>
      </c:doughnutChart>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Impact long terme (OBR)</c:v>
                </c:pt>
              </c:strCache>
            </c:strRef>
          </c:tx>
          <c:spPr>
            <a:solidFill>
              <a:srgbClr val="FF7A70"/>
            </a:solidFill>
            <a:effectLst/>
          </c:spPr>
          <c:invertIfNegative val="0"/>
          <c:dLbls>
            <c:numFmt formatCode="&quot;−&quot;0&quot; %&quot;" sourceLinked="0"/>
            <c:txPr>
              <a:bodyPr/>
              <a:lstStyle/>
              <a:p>
                <a:pPr>
                  <a:defRPr b="1" i="0" strike="noStrike" sz="1400" u="none">
                    <a:solidFill>
                      <a:srgbClr val="FFFFFF"/>
                    </a:solidFill>
                    <a:latin typeface="Arial"/>
                  </a:defRPr>
                </a:pPr>
              </a:p>
            </c:txPr>
            <c:showLegendKey val="0"/>
            <c:showVal val="1"/>
            <c:showCatName val="0"/>
            <c:showSerName val="0"/>
            <c:showPercent val="0"/>
            <c:showBubbleSize val="0"/>
            <c:showLeaderLines val="0"/>
          </c:dLbls>
          <c:cat>
            <c:multiLvlStrRef>
              <c:f>Sheet1!$A$2:$A$4</c:f>
              <c:multiLvlStrCache>
                <c:ptCount val="3"/>
                <c:lvl>
                  <c:pt idx="0">
                    <c:v>PIB</c:v>
                  </c:pt>
                  <c:pt idx="1">
                    <c:v>Intensité des échanges</c:v>
                  </c:pt>
                  <c:pt idx="2">
                    <c:v>Productivité</c:v>
                  </c:pt>
                </c:lvl>
              </c:multiLvlStrCache>
            </c:multiLvlStrRef>
          </c:cat>
          <c:val>
            <c:numRef>
              <c:f>Sheet1!$B$2:$B$4</c:f>
              <c:numCache>
                <c:formatCode>General</c:formatCode>
                <c:ptCount val="3"/>
                <c:pt idx="0">
                  <c:v>4</c:v>
                </c:pt>
                <c:pt idx="1">
                  <c:v>15</c:v>
                </c:pt>
                <c:pt idx="2">
                  <c:v>4</c:v>
                </c:pt>
              </c:numCache>
            </c:numRef>
          </c:val>
        </c:ser>
        <c:dLbls>
          <c:numFmt formatCode="&quot;−&quot;0&quot; %&quot;" sourceLinked="0"/>
          <c:txPr>
            <a:bodyPr/>
            <a:lstStyle/>
            <a:p>
              <a:pPr>
                <a:defRPr b="1" i="0" strike="noStrike" sz="1400" u="none">
                  <a:solidFill>
                    <a:srgbClr val="FFFFFF"/>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FFFFFF"/>
                </a:solidFill>
                <a:latin typeface="Arial"/>
              </a:defRPr>
            </a:pPr>
            <a:endParaRPr lang="en-US"/>
          </a:p>
        </c:txPr>
        <c:crossAx val="2094734552"/>
        <c:crosses val="autoZero"/>
        <c:auto val="1"/>
        <c:lblAlgn val="ctr"/>
        <c:noMultiLvlLbl val="1"/>
      </c:catAx>
      <c:valAx>
        <c:axId val="2094734552"/>
        <c:scaling>
          <c:orientation val="minMax"/>
          <c:max val="19"/>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5B6478"/>
                </a:solidFill>
                <a:latin typeface="Arial"/>
              </a:defRPr>
            </a:pPr>
            <a:r>
              <a:rPr sz="1100" b="0" i="0" u="none" strike="noStrike">
                <a:solidFill>
                  <a:srgbClr val="5B6478"/>
                </a:solidFill>
                <a:latin typeface="Arial"/>
              </a:rPr>
              <a:t>Taux légal d'impôt sur les sociétés (2022)</a:t>
            </a:r>
          </a:p>
        </c:rich>
      </c:tx>
      <c:layout/>
      <c:overlay val="0"/>
    </c:title>
    <c:autoTitleDeleted val="0"/>
    <c:plotArea>
      <c:layout/>
      <c:barChart>
        <c:barDir val="bar"/>
        <c:grouping val="clustered"/>
        <c:varyColors val="0"/>
        <c:ser>
          <c:idx val="0"/>
          <c:order val="0"/>
          <c:tx>
            <c:strRef>
              <c:f>Sheet1!$B$1</c:f>
              <c:strCache>
                <c:ptCount val="1"/>
                <c:pt idx="0">
                  <c:v>Taux légal d'IS (2022)</c:v>
                </c:pt>
              </c:strCache>
            </c:strRef>
          </c:tx>
          <c:spPr>
            <a:solidFill>
              <a:srgbClr val="F0A39C"/>
            </a:solidFill>
            <a:effectLst/>
          </c:spPr>
          <c:invertIfNegative val="0"/>
          <c:dLbls>
            <c:numFmt formatCode="0.##&quot; %&quot;" sourceLinked="0"/>
            <c:txPr>
              <a:bodyPr/>
              <a:lstStyle/>
              <a:p>
                <a:pPr>
                  <a:defRPr b="1" i="0" strike="noStrike" sz="1400" u="none">
                    <a:solidFill>
                      <a:srgbClr val="0B1F4B"/>
                    </a:solidFill>
                    <a:latin typeface="Arial"/>
                  </a:defRPr>
                </a:pPr>
              </a:p>
            </c:txPr>
            <c:showLegendKey val="0"/>
            <c:showVal val="1"/>
            <c:showCatName val="0"/>
            <c:showSerName val="0"/>
            <c:showPercent val="0"/>
            <c:showBubbleSize val="0"/>
            <c:showLeaderLines val="0"/>
          </c:dLbls>
          <c:dPt>
            <c:idx val="0"/>
            <c:invertIfNegative val="0"/>
            <c:bubble3D val="0"/>
            <c:spPr>
              <a:solidFill>
                <a:srgbClr val="F0A39C"/>
              </a:solidFill>
              <a:effectLst/>
            </c:spPr>
          </c:dPt>
          <c:dPt>
            <c:idx val="1"/>
            <c:invertIfNegative val="0"/>
            <c:bubble3D val="0"/>
            <c:spPr>
              <a:solidFill>
                <a:srgbClr val="E5736A"/>
              </a:solidFill>
              <a:effectLst/>
            </c:spPr>
          </c:dPt>
          <c:dPt>
            <c:idx val="2"/>
            <c:invertIfNegative val="0"/>
            <c:bubble3D val="0"/>
            <c:spPr>
              <a:solidFill>
                <a:srgbClr val="D9473F"/>
              </a:solidFill>
              <a:effectLst/>
            </c:spPr>
          </c:dPt>
          <c:cat>
            <c:multiLvlStrRef>
              <c:f>Sheet1!$A$2:$A$4</c:f>
              <c:multiLvlStrCache>
                <c:ptCount val="3"/>
                <c:lvl>
                  <c:pt idx="0">
                    <c:v>Hongrie</c:v>
                  </c:pt>
                  <c:pt idx="1">
                    <c:v>Irlande</c:v>
                  </c:pt>
                  <c:pt idx="2">
                    <c:v>Malte</c:v>
                  </c:pt>
                </c:lvl>
              </c:multiLvlStrCache>
            </c:multiLvlStrRef>
          </c:cat>
          <c:val>
            <c:numRef>
              <c:f>Sheet1!$B$2:$B$4</c:f>
              <c:numCache>
                <c:formatCode>General</c:formatCode>
                <c:ptCount val="3"/>
                <c:pt idx="0">
                  <c:v>9</c:v>
                </c:pt>
                <c:pt idx="1">
                  <c:v>12.5</c:v>
                </c:pt>
                <c:pt idx="2">
                  <c:v>35</c:v>
                </c:pt>
              </c:numCache>
            </c:numRef>
          </c:val>
        </c:ser>
        <c:dLbls>
          <c:numFmt formatCode="0.##&quot; %&quot;" sourceLinked="0"/>
          <c:txPr>
            <a:bodyPr/>
            <a:lstStyle/>
            <a:p>
              <a:pPr>
                <a:defRPr b="1" i="0" strike="noStrike" sz="1400" u="none">
                  <a:solidFill>
                    <a:srgbClr val="0B1F4B"/>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333"/>
                </a:solidFill>
                <a:latin typeface="Arial"/>
              </a:defRPr>
            </a:pPr>
            <a:endParaRPr lang="en-US"/>
          </a:p>
        </c:txPr>
        <c:crossAx val="2094734552"/>
        <c:crosses val="autoZero"/>
        <c:auto val="1"/>
        <c:lblAlgn val="ctr"/>
        <c:noMultiLvlLbl val="1"/>
      </c:catAx>
      <c:valAx>
        <c:axId val="2094734552"/>
        <c:scaling>
          <c:orientation val="minMax"/>
          <c:max val="42"/>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0B1F4B"/>
                </a:solidFill>
                <a:latin typeface="Arial"/>
              </a:defRPr>
            </a:pPr>
            <a:r>
              <a:rPr sz="1150" b="0" i="0" u="none" strike="noStrike">
                <a:solidFill>
                  <a:srgbClr val="0B1F4B"/>
                </a:solidFill>
                <a:latin typeface="Arial"/>
              </a:rPr>
              <a:t>Les services : 75 % du PIB… mais 7,6 % d'échanges</a:t>
            </a:r>
          </a:p>
        </c:rich>
      </c:tx>
      <c:layout/>
      <c:overlay val="0"/>
    </c:title>
    <c:autoTitleDeleted val="0"/>
    <c:plotArea>
      <c:layout/>
      <c:barChart>
        <c:barDir val="bar"/>
        <c:grouping val="clustered"/>
        <c:varyColors val="0"/>
        <c:ser>
          <c:idx val="0"/>
          <c:order val="0"/>
          <c:tx>
            <c:strRef>
              <c:f>Sheet1!$B$1</c:f>
              <c:strCache>
                <c:ptCount val="1"/>
                <c:pt idx="0">
                  <c:v>% du PIB de l'UE (2022)</c:v>
                </c:pt>
              </c:strCache>
            </c:strRef>
          </c:tx>
          <c:spPr>
            <a:solidFill>
              <a:srgbClr val="9AA8C7"/>
            </a:solidFill>
            <a:effectLst/>
          </c:spPr>
          <c:invertIfNegative val="0"/>
          <c:dLbls>
            <c:numFmt formatCode="0.#&quot; %&quot;" sourceLinked="0"/>
            <c:txPr>
              <a:bodyPr/>
              <a:lstStyle/>
              <a:p>
                <a:pPr>
                  <a:defRPr b="1" i="0" strike="noStrike" sz="1300" u="none">
                    <a:solidFill>
                      <a:srgbClr val="0B1F4B"/>
                    </a:solidFill>
                    <a:latin typeface="Arial"/>
                  </a:defRPr>
                </a:pPr>
              </a:p>
            </c:txPr>
            <c:showLegendKey val="0"/>
            <c:showVal val="1"/>
            <c:showCatName val="0"/>
            <c:showSerName val="0"/>
            <c:showPercent val="0"/>
            <c:showBubbleSize val="0"/>
            <c:showLeaderLines val="0"/>
          </c:dLbls>
          <c:dPt>
            <c:idx val="0"/>
            <c:invertIfNegative val="0"/>
            <c:bubble3D val="0"/>
            <c:spPr>
              <a:solidFill>
                <a:srgbClr val="9AA8C7"/>
              </a:solidFill>
              <a:effectLst/>
            </c:spPr>
          </c:dPt>
          <c:dPt>
            <c:idx val="1"/>
            <c:invertIfNegative val="0"/>
            <c:bubble3D val="0"/>
            <c:spPr>
              <a:solidFill>
                <a:srgbClr val="0B1F4B"/>
              </a:solidFill>
              <a:effectLst/>
            </c:spPr>
          </c:dPt>
          <c:dPt>
            <c:idx val="2"/>
            <c:invertIfNegative val="0"/>
            <c:bubble3D val="0"/>
            <c:spPr>
              <a:solidFill>
                <a:srgbClr val="D9473F"/>
              </a:solidFill>
              <a:effectLst/>
            </c:spPr>
          </c:dPt>
          <c:cat>
            <c:multiLvlStrRef>
              <c:f>Sheet1!$A$2:$A$4</c:f>
              <c:multiLvlStrCache>
                <c:ptCount val="3"/>
                <c:lvl>
                  <c:pt idx="0">
                    <c:v>Poids des services dans le PIB</c:v>
                  </c:pt>
                  <c:pt idx="1">
                    <c:v>Commerce intra-UE de biens</c:v>
                  </c:pt>
                  <c:pt idx="2">
                    <c:v>Commerce de services (intra + extra)</c:v>
                  </c:pt>
                </c:lvl>
              </c:multiLvlStrCache>
            </c:multiLvlStrRef>
          </c:cat>
          <c:val>
            <c:numRef>
              <c:f>Sheet1!$B$2:$B$4</c:f>
              <c:numCache>
                <c:formatCode>General</c:formatCode>
                <c:ptCount val="3"/>
                <c:pt idx="0">
                  <c:v>75</c:v>
                </c:pt>
                <c:pt idx="1">
                  <c:v>26</c:v>
                </c:pt>
                <c:pt idx="2">
                  <c:v>7.6</c:v>
                </c:pt>
              </c:numCache>
            </c:numRef>
          </c:val>
        </c:ser>
        <c:dLbls>
          <c:numFmt formatCode="0.#&quot; %&quot;" sourceLinked="0"/>
          <c:txPr>
            <a:bodyPr/>
            <a:lstStyle/>
            <a:p>
              <a:pPr>
                <a:defRPr b="1" i="0" strike="noStrike" sz="1300" u="none">
                  <a:solidFill>
                    <a:srgbClr val="0B1F4B"/>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B2333"/>
                </a:solidFill>
                <a:latin typeface="Arial"/>
              </a:defRPr>
            </a:pPr>
            <a:endParaRPr lang="en-US"/>
          </a:p>
        </c:txPr>
        <c:crossAx val="2094734552"/>
        <c:crosses val="autoZero"/>
        <c:auto val="1"/>
        <c:lblAlgn val="ctr"/>
        <c:noMultiLvlLbl val="1"/>
      </c:catAx>
      <c:valAx>
        <c:axId val="2094734552"/>
        <c:scaling>
          <c:orientation val="minMax"/>
          <c:max val="9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Taux normal de TVA</c:v>
                </c:pt>
              </c:strCache>
            </c:strRef>
          </c:tx>
          <c:spPr>
            <a:solidFill>
              <a:srgbClr val="F0A39C"/>
            </a:solidFill>
            <a:effectLst/>
          </c:spPr>
          <c:invertIfNegative val="0"/>
          <c:dLbls>
            <c:numFmt formatCode="0&quot; %&quot;" sourceLinked="0"/>
            <c:txPr>
              <a:bodyPr/>
              <a:lstStyle/>
              <a:p>
                <a:pPr>
                  <a:defRPr b="1" i="0" strike="noStrike" sz="1600" u="none">
                    <a:solidFill>
                      <a:srgbClr val="0B1F4B"/>
                    </a:solidFill>
                    <a:latin typeface="Arial"/>
                  </a:defRPr>
                </a:pPr>
              </a:p>
            </c:txPr>
            <c:showLegendKey val="0"/>
            <c:showVal val="1"/>
            <c:showCatName val="0"/>
            <c:showSerName val="0"/>
            <c:showPercent val="0"/>
            <c:showBubbleSize val="0"/>
            <c:showLeaderLines val="0"/>
          </c:dLbls>
          <c:dPt>
            <c:idx val="0"/>
            <c:invertIfNegative val="0"/>
            <c:bubble3D val="0"/>
            <c:spPr>
              <a:solidFill>
                <a:srgbClr val="F0A39C"/>
              </a:solidFill>
              <a:effectLst/>
            </c:spPr>
          </c:dPt>
          <c:dPt>
            <c:idx val="1"/>
            <c:invertIfNegative val="0"/>
            <c:bubble3D val="0"/>
            <c:spPr>
              <a:solidFill>
                <a:srgbClr val="D9473F"/>
              </a:solidFill>
              <a:effectLst/>
            </c:spPr>
          </c:dPt>
          <c:cat>
            <c:multiLvlStrRef>
              <c:f>Sheet1!$A$2:$A$3</c:f>
              <c:multiLvlStrCache>
                <c:ptCount val="2"/>
                <c:lvl>
                  <c:pt idx="0">
                    <c:v>Luxembourg</c:v>
                  </c:pt>
                  <c:pt idx="1">
                    <c:v>Hongrie</c:v>
                  </c:pt>
                </c:lvl>
              </c:multiLvlStrCache>
            </c:multiLvlStrRef>
          </c:cat>
          <c:val>
            <c:numRef>
              <c:f>Sheet1!$B$2:$B$3</c:f>
              <c:numCache>
                <c:formatCode>General</c:formatCode>
                <c:ptCount val="2"/>
                <c:pt idx="0">
                  <c:v>17</c:v>
                </c:pt>
                <c:pt idx="1">
                  <c:v>27</c:v>
                </c:pt>
              </c:numCache>
            </c:numRef>
          </c:val>
        </c:ser>
        <c:dLbls>
          <c:numFmt formatCode="0&quot; %&quot;" sourceLinked="0"/>
          <c:txPr>
            <a:bodyPr/>
            <a:lstStyle/>
            <a:p>
              <a:pPr>
                <a:defRPr b="1" i="0" strike="noStrike" sz="1600" u="none">
                  <a:solidFill>
                    <a:srgbClr val="0B1F4B"/>
                  </a:solidFill>
                  <a:latin typeface="Arial"/>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333"/>
                </a:solidFill>
                <a:latin typeface="Arial"/>
              </a:defRPr>
            </a:pPr>
            <a:endParaRPr lang="en-US"/>
          </a:p>
        </c:txPr>
        <c:crossAx val="2094734552"/>
        <c:crosses val="autoZero"/>
        <c:auto val="1"/>
        <c:lblAlgn val="ctr"/>
        <c:noMultiLvlLbl val="1"/>
      </c:catAx>
      <c:valAx>
        <c:axId val="2094734552"/>
        <c:scaling>
          <c:orientation val="minMax"/>
          <c:max val="32"/>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Vote</c:v>
                </c:pt>
              </c:strCache>
            </c:strRef>
          </c:tx>
          <c:spPr>
            <a:solidFill>
              <a:schemeClr val="accent1"/>
            </a:solidFill>
            <a:ln w="9525" cap="flat">
              <a:solidFill>
                <a:srgbClr val="F9F9F9"/>
              </a:solidFill>
              <a:prstDash val="solid"/>
              <a:round/>
            </a:ln>
            <a:effectLst/>
          </c:spPr>
          <c:dPt>
            <c:idx val="0"/>
            <c:bubble3D val="0"/>
            <c:spPr>
              <a:solidFill>
                <a:srgbClr val="FF7A70"/>
              </a:solidFill>
              <a:ln w="12700" cap="flat">
                <a:solidFill>
                  <a:srgbClr val="0B1F4B"/>
                </a:solidFill>
                <a:prstDash val="solid"/>
                <a:round/>
              </a:ln>
              <a:effectLst/>
            </c:spPr>
          </c:dPt>
          <c:dPt>
            <c:idx val="1"/>
            <c:bubble3D val="0"/>
            <c:spPr>
              <a:solidFill>
                <a:srgbClr val="4A6AA8"/>
              </a:solidFill>
              <a:ln w="12700" cap="flat">
                <a:solidFill>
                  <a:srgbClr val="0B1F4B"/>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Quitter l'UE</c:v>
                </c:pt>
                <c:pt idx="1">
                  <c:v>Rester</c:v>
                </c:pt>
              </c:strCache>
            </c:strRef>
          </c:cat>
          <c:val>
            <c:numRef>
              <c:f>Sheet1!$B$2:$B$3</c:f>
              <c:numCache>
                <c:ptCount val="2"/>
                <c:pt idx="0">
                  <c:v>51.9</c:v>
                </c:pt>
                <c:pt idx="1">
                  <c:v>48.1</c:v>
                </c:pt>
              </c:numCache>
            </c:numRef>
          </c:val>
        </c:ser>
        <c:firstSliceAng val="0"/>
        <c:holeSize val="60"/>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du sujet et du groupe. Problématique : le passage d'une zone de libre-échange au marché unique a-t-il été bénéfique pour les pays membres de l'UE, et à quel coût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1957 : traité de Rome. 1968 : union douanière achevée. Mais dans les années 70-80, de nombreux obstacles non tarifaires subsistent. 1985 : Livre blanc de la Commission Delors (279 barrières). 1986 : Acte unique, échéance au 31/12/1992. 1er janvier 1993 : marché unique.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L'UE est au moins à l'étape 3 (marché unique adossé à une union douanière), et à l'étape 5 pour la zone euro. Les degrés ne sont pas strictement emboîtés : la Norvège, l'Islande et le Liechtenstein participent au marché unique via l'EEE sans être dans l'union douanière ; la Suisse n'est liée que par des accords bilatéraux.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 Conseil de l'UE. Le commerce intra-européen de biens passe de 671 Md€ en 1993 à 4 135 Md€ en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gains sont plus élevés pour les petites économies ouvertes et les pays d'Europe centrale et orientale. Ce sont des estimations dont l'ampleur varie selon les méthodes, mais toutes convergent vers un effet positif.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produisant dans un seul État membre, ces groupes accèdent à tout le marché européen grâce à l'homologation unique et à l'absence de droits de douane internes.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fiscalité relève de l'unanimité au Conseil, donc l'harmonisation est difficile. Avec la libre circulation des capitaux, les États sont incités à baisser leur impôt. OCDE : le taux moyen d'IS de 109 juridictions passe de 28 % en 2000 à 20,6 % en 2020.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rapport Letta plaide aussi pour une union de l'épargne et de l'investissement. Les estimations du FMI sont jugées surestimées par certains économistes, mais l'ordre de grandeur montre l'ampleur du chantier.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détachement permet d'envoyer temporairement des salariés dans un autre État membre. Les écarts de coût du travail ont nourri la crainte d'un dumping social. Le Brexit montre qu'un approfondissement de l'intégration ne peut se décider sans l'adhésion des citoyens.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chart" Target="/ppt/charts/chart1.xml"/><Relationship Id="rId1" Type="http://schemas.openxmlformats.org/officeDocument/2006/relationships/image" Target="../media/Slide-10-image-1.png"/><Relationship Id="rId2" Type="http://schemas.openxmlformats.org/officeDocument/2006/relationships/image" Target="../media/image-10-2.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chart" Target="/ppt/charts/chart2.xml"/><Relationship Id="rId1" Type="http://schemas.openxmlformats.org/officeDocument/2006/relationships/image" Target="../media/Slide-12-image-1.png"/><Relationship Id="rId2" Type="http://schemas.openxmlformats.org/officeDocument/2006/relationships/image" Target="../media/image-12-2.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chart" Target="/ppt/charts/chart3.xml"/><Relationship Id="rId1" Type="http://schemas.openxmlformats.org/officeDocument/2006/relationships/image" Target="../media/Slide-13-image-1.png"/><Relationship Id="rId2" Type="http://schemas.openxmlformats.org/officeDocument/2006/relationships/image" Target="../media/image-13-2.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4" Type="http://schemas.openxmlformats.org/officeDocument/2006/relationships/chart" Target="/ppt/charts/chart4.xml"/><Relationship Id="rId1" Type="http://schemas.openxmlformats.org/officeDocument/2006/relationships/image" Target="../media/Slide-16-image-1.png"/><Relationship Id="rId2" Type="http://schemas.openxmlformats.org/officeDocument/2006/relationships/image" Target="../media/image-16-2.png"/><Relationship Id="rId3" Type="http://schemas.openxmlformats.org/officeDocument/2006/relationships/image" Target="../media/image-16-3.png"/><Relationship Id="rId5" Type="http://schemas.openxmlformats.org/officeDocument/2006/relationships/image" Target="../media/image-16-4.png"/><Relationship Id="rId6" Type="http://schemas.openxmlformats.org/officeDocument/2006/relationships/image" Target="../media/image-16-5.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chart" Target="/ppt/charts/chart5.xml"/><Relationship Id="rId1" Type="http://schemas.openxmlformats.org/officeDocument/2006/relationships/image" Target="../media/Slide-17-image-1.png"/><Relationship Id="rId2" Type="http://schemas.openxmlformats.org/officeDocument/2006/relationships/image" Target="../media/image-17-2.png"/><Relationship Id="rId4" Type="http://schemas.openxmlformats.org/officeDocument/2006/relationships/image" Target="../media/image-17-3.png"/><Relationship Id="rId5" Type="http://schemas.openxmlformats.org/officeDocument/2006/relationships/image" Target="../media/image-17-4.png"/><Relationship Id="rId6" Type="http://schemas.openxmlformats.org/officeDocument/2006/relationships/image" Target="../media/image-17-5.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6" Type="http://schemas.openxmlformats.org/officeDocument/2006/relationships/chart" Target="/ppt/charts/chart6.xml"/><Relationship Id="rId1" Type="http://schemas.openxmlformats.org/officeDocument/2006/relationships/image" Target="../media/Slide-18-image-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5" Type="http://schemas.openxmlformats.org/officeDocument/2006/relationships/chart" Target="/ppt/charts/chart7.xml"/><Relationship Id="rId1" Type="http://schemas.openxmlformats.org/officeDocument/2006/relationships/image" Target="../media/Slide-20-image-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chart" Target="/ppt/charts/chart8.xml"/><Relationship Id="rId1" Type="http://schemas.openxmlformats.org/officeDocument/2006/relationships/image" Target="../media/Slide-22-image-1.png"/><Relationship Id="rId2" Type="http://schemas.openxmlformats.org/officeDocument/2006/relationships/image" Target="../media/image-22-2.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5" Type="http://schemas.openxmlformats.org/officeDocument/2006/relationships/chart" Target="/ppt/charts/chart9.xml"/><Relationship Id="rId1" Type="http://schemas.openxmlformats.org/officeDocument/2006/relationships/image" Target="../media/Slide-23-image-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chart" Target="/ppt/charts/chart10.xml"/><Relationship Id="rId1" Type="http://schemas.openxmlformats.org/officeDocument/2006/relationships/image" Target="../media/Slide-24-image-1.png"/><Relationship Id="rId2" Type="http://schemas.openxmlformats.org/officeDocument/2006/relationships/image" Target="../media/image-24-2.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1.xml"/><Relationship Id="rId5"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A0-spin-1" descr="preencoded.png">    </p:cNvPr>
          <p:cNvPicPr>
            <a:picLocks noChangeAspect="1"/>
          </p:cNvPicPr>
          <p:nvPr/>
        </p:nvPicPr>
        <p:blipFill>
          <a:blip r:embed="rId2"/>
          <a:stretch>
            <a:fillRect/>
          </a:stretch>
        </p:blipFill>
        <p:spPr>
          <a:xfrm>
            <a:off x="5623560" y="685800"/>
            <a:ext cx="3200400" cy="3200400"/>
          </a:xfrm>
          <a:prstGeom prst="rect">
            <a:avLst/>
          </a:prstGeom>
        </p:spPr>
      </p:pic>
      <p:sp>
        <p:nvSpPr>
          <p:cNvPr id="3" name="A1-zoom-2"/>
          <p:cNvSpPr/>
          <p:nvPr/>
        </p:nvSpPr>
        <p:spPr>
          <a:xfrm>
            <a:off x="6812280" y="1874520"/>
            <a:ext cx="822960" cy="822960"/>
          </a:xfrm>
          <a:prstGeom prst="ellipse">
            <a:avLst/>
          </a:prstGeom>
          <a:solidFill>
            <a:srgbClr val="FFC21A"/>
          </a:solidFill>
          <a:ln w="12700">
            <a:solidFill>
              <a:srgbClr val="FFC21A"/>
            </a:solidFill>
            <a:prstDash val="solid"/>
          </a:ln>
        </p:spPr>
      </p:sp>
      <p:pic>
        <p:nvPicPr>
          <p:cNvPr id="4" name="A1-zoom-3" descr="preencoded.png">    </p:cNvPr>
          <p:cNvPicPr>
            <a:picLocks noChangeAspect="1"/>
          </p:cNvPicPr>
          <p:nvPr/>
        </p:nvPicPr>
        <p:blipFill>
          <a:blip r:embed="rId3"/>
          <a:stretch>
            <a:fillRect/>
          </a:stretch>
        </p:blipFill>
        <p:spPr>
          <a:xfrm>
            <a:off x="7034479" y="2096719"/>
            <a:ext cx="378562" cy="378562"/>
          </a:xfrm>
          <a:prstGeom prst="rect">
            <a:avLst/>
          </a:prstGeom>
        </p:spPr>
      </p:pic>
      <p:sp>
        <p:nvSpPr>
          <p:cNvPr id="5" name="A1-fade-4"/>
          <p:cNvSpPr txBox="1"/>
          <p:nvPr/>
        </p:nvSpPr>
        <p:spPr>
          <a:xfrm>
            <a:off x="548640" y="640080"/>
            <a:ext cx="4572000" cy="274320"/>
          </a:xfrm>
          <a:prstGeom prst="rect">
            <a:avLst/>
          </a:prstGeom>
          <a:noFill/>
          <a:ln/>
        </p:spPr>
        <p:txBody>
          <a:bodyPr wrap="square" lIns="0" tIns="0" rIns="0" bIns="0" rtlCol="0" anchor="t"/>
          <a:lstStyle/>
          <a:p>
            <a:pPr indent="0" marL="0">
              <a:buNone/>
            </a:pPr>
            <a:r>
              <a:rPr lang="en-US" sz="1200" b="1" spc="400" kern="0" dirty="0">
                <a:solidFill>
                  <a:srgbClr val="FFC21A"/>
                </a:solidFill>
                <a:latin typeface="Calibri" pitchFamily="34" charset="0"/>
                <a:ea typeface="Calibri" pitchFamily="34" charset="-122"/>
                <a:cs typeface="Calibri" pitchFamily="34" charset="-120"/>
              </a:rPr>
              <a:t>DEMI-COHORTE B2</a:t>
            </a:r>
            <a:endParaRPr lang="en-US" sz="1200" dirty="0"/>
          </a:p>
        </p:txBody>
      </p:sp>
      <p:sp>
        <p:nvSpPr>
          <p:cNvPr id="6" name="A2-fadeup-5"/>
          <p:cNvSpPr txBox="1"/>
          <p:nvPr/>
        </p:nvSpPr>
        <p:spPr>
          <a:xfrm>
            <a:off x="548640" y="960120"/>
            <a:ext cx="5029200" cy="160020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D'une zone de libre-échange au marché unique</a:t>
            </a:r>
            <a:endParaRPr lang="en-US" sz="3400" dirty="0"/>
          </a:p>
        </p:txBody>
      </p:sp>
      <p:sp>
        <p:nvSpPr>
          <p:cNvPr id="7" name="A3-fadeup-6"/>
          <p:cNvSpPr txBox="1"/>
          <p:nvPr/>
        </p:nvSpPr>
        <p:spPr>
          <a:xfrm>
            <a:off x="548640" y="2743200"/>
            <a:ext cx="4846320" cy="731520"/>
          </a:xfrm>
          <a:prstGeom prst="rect">
            <a:avLst/>
          </a:prstGeom>
          <a:noFill/>
          <a:ln/>
        </p:spPr>
        <p:txBody>
          <a:bodyPr wrap="square" lIns="0" tIns="0" rIns="0" bIns="0" rtlCol="0" anchor="t"/>
          <a:lstStyle/>
          <a:p>
            <a:pPr indent="0" marL="0">
              <a:buNone/>
            </a:pPr>
            <a:r>
              <a:rPr lang="en-US" sz="1800" i="1" dirty="0">
                <a:solidFill>
                  <a:srgbClr val="D5DDF0"/>
                </a:solidFill>
                <a:latin typeface="Calibri" pitchFamily="34" charset="0"/>
                <a:ea typeface="Calibri" pitchFamily="34" charset="-122"/>
                <a:cs typeface="Calibri" pitchFamily="34" charset="-120"/>
              </a:rPr>
              <a:t>Quels avantages et quels inconvénients pour les pays membres de l'UE ?</a:t>
            </a:r>
            <a:endParaRPr lang="en-US" sz="1800" dirty="0"/>
          </a:p>
        </p:txBody>
      </p:sp>
      <p:sp>
        <p:nvSpPr>
          <p:cNvPr id="8" name="A4-fade-7"/>
          <p:cNvSpPr txBox="1"/>
          <p:nvPr/>
        </p:nvSpPr>
        <p:spPr>
          <a:xfrm>
            <a:off x="548640" y="4206240"/>
            <a:ext cx="8046720" cy="320040"/>
          </a:xfrm>
          <a:prstGeom prst="rect">
            <a:avLst/>
          </a:prstGeom>
          <a:noFill/>
          <a:ln/>
        </p:spPr>
        <p:txBody>
          <a:bodyPr wrap="square" lIns="0" tIns="0" rIns="0" bIns="0" rtlCol="0" anchor="t"/>
          <a:lstStyle/>
          <a:p>
            <a:pPr indent="0" marL="0">
              <a:buNone/>
            </a:pPr>
            <a:r>
              <a:rPr lang="en-US" sz="1200" dirty="0">
                <a:solidFill>
                  <a:srgbClr val="AFC0E4"/>
                </a:solidFill>
                <a:latin typeface="Calibri" pitchFamily="34" charset="0"/>
                <a:ea typeface="Calibri" pitchFamily="34" charset="-122"/>
                <a:cs typeface="Calibri" pitchFamily="34" charset="-120"/>
              </a:rPr>
              <a:t>Evan SIMON · Maxime MOISAN · Félicien RICHARD · Simon VANACKERE · Raphael NGUINETTI</a:t>
            </a:r>
            <a:endParaRPr lang="en-US" sz="12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5" fill="hold">
                      <p:stCondLst>
                        <p:cond delay="indefinite"/>
                        <p:cond evt="onBegin" delay="0">
                          <p:tn val="2"/>
                        </p:cond>
                      </p:stCondLst>
                      <p:childTnLst>
                        <p:par>
                          <p:cTn id="36" fill="hold">
                            <p:stCondLst>
                              <p:cond delay="0"/>
                            </p:stCondLst>
                            <p:childTnLst>
                              <p:par>
                                <p:cTn id="7" presetID="3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anim calcmode="lin" valueType="num">
                                      <p:cBhvr additive="base">
                                        <p:cTn id="3" dur="1600" fill="hold"/>
                                        <p:tgtEl>
                                          <p:spTgt spid="2"/>
                                        </p:tgtEl>
                                        <p:attrNameLst>
                                          <p:attrName>ppt_w</p:attrName>
                                        </p:attrNameLst>
                                      </p:cBhvr>
                                      <p:tavLst>
                                        <p:tav tm="0">
                                          <p:val>
                                            <p:strVal val="#ppt_w*0.4"/>
                                          </p:val>
                                        </p:tav>
                                        <p:tav tm="100000">
                                          <p:val>
                                            <p:strVal val="#ppt_w"/>
                                          </p:val>
                                        </p:tav>
                                      </p:tavLst>
                                    </p:anim>
                                    <p:anim calcmode="lin" valueType="num">
                                      <p:cBhvr additive="base">
                                        <p:cTn id="4" dur="1600" fill="hold"/>
                                        <p:tgtEl>
                                          <p:spTgt spid="2"/>
                                        </p:tgtEl>
                                        <p:attrNameLst>
                                          <p:attrName>ppt_h</p:attrName>
                                        </p:attrNameLst>
                                      </p:cBhvr>
                                      <p:tavLst>
                                        <p:tav tm="0">
                                          <p:val>
                                            <p:strVal val="#ppt_h*0.4"/>
                                          </p:val>
                                        </p:tav>
                                        <p:tav tm="100000">
                                          <p:val>
                                            <p:strVal val="#ppt_h"/>
                                          </p:val>
                                        </p:tav>
                                      </p:tavLst>
                                    </p:anim>
                                    <p:anim calcmode="lin" valueType="num">
                                      <p:cBhvr additive="base">
                                        <p:cTn id="5" dur="1600" fill="hold"/>
                                        <p:tgtEl>
                                          <p:spTgt spid="2"/>
                                        </p:tgtEl>
                                        <p:attrNameLst>
                                          <p:attrName>style.rotation</p:attrName>
                                        </p:attrNameLst>
                                      </p:cBhvr>
                                      <p:tavLst>
                                        <p:tav tm="0">
                                          <p:val>
                                            <p:strVal val="-120"/>
                                          </p:val>
                                        </p:tav>
                                        <p:tav tm="100000">
                                          <p:val>
                                            <p:strVal val="0"/>
                                          </p:val>
                                        </p:tav>
                                      </p:tavLst>
                                    </p:anim>
                                    <p:animEffect transition="in" filter="fade">
                                      <p:cBhvr>
                                        <p:cTn id="6" dur="1600"/>
                                        <p:tgtEl>
                                          <p:spTgt spid="2"/>
                                        </p:tgtEl>
                                      </p:cBhvr>
                                    </p:animEffect>
                                  </p:childTnLst>
                                </p:cTn>
                              </p:par>
                              <p:par>
                                <p:cTn id="12" presetID="53" presetClass="entr" presetSubtype="16" fill="hold" grpId="0" nodeType="withEffect">
                                  <p:stCondLst>
                                    <p:cond delay="380"/>
                                  </p:stCondLst>
                                  <p:childTnLst>
                                    <p:set>
                                      <p:cBhvr>
                                        <p:cTn id="13" dur="1" fill="hold">
                                          <p:stCondLst>
                                            <p:cond delay="0"/>
                                          </p:stCondLst>
                                        </p:cTn>
                                        <p:tgtEl>
                                          <p:spTgt spid="3"/>
                                        </p:tgtEl>
                                        <p:attrNameLst>
                                          <p:attrName>style.visibility</p:attrName>
                                        </p:attrNameLst>
                                      </p:cBhvr>
                                      <p:to>
                                        <p:strVal val="visible"/>
                                      </p:to>
                                    </p:set>
                                    <p:anim calcmode="lin" valueType="num">
                                      <p:cBhvr additive="base">
                                        <p:cTn id="9" dur="550" fill="hold"/>
                                        <p:tgtEl>
                                          <p:spTgt spid="3"/>
                                        </p:tgtEl>
                                        <p:attrNameLst>
                                          <p:attrName>ppt_w</p:attrName>
                                        </p:attrNameLst>
                                      </p:cBhvr>
                                      <p:tavLst>
                                        <p:tav tm="0">
                                          <p:val>
                                            <p:strVal val="0"/>
                                          </p:val>
                                        </p:tav>
                                        <p:tav tm="100000">
                                          <p:val>
                                            <p:strVal val="#ppt_w"/>
                                          </p:val>
                                        </p:tav>
                                      </p:tavLst>
                                    </p:anim>
                                    <p:anim calcmode="lin" valueType="num">
                                      <p:cBhvr additive="base">
                                        <p:cTn id="10" dur="550" fill="hold"/>
                                        <p:tgtEl>
                                          <p:spTgt spid="3"/>
                                        </p:tgtEl>
                                        <p:attrNameLst>
                                          <p:attrName>ppt_h</p:attrName>
                                        </p:attrNameLst>
                                      </p:cBhvr>
                                      <p:tavLst>
                                        <p:tav tm="0">
                                          <p:val>
                                            <p:strVal val="0"/>
                                          </p:val>
                                        </p:tav>
                                        <p:tav tm="100000">
                                          <p:val>
                                            <p:strVal val="#ppt_h"/>
                                          </p:val>
                                        </p:tav>
                                      </p:tavLst>
                                    </p:anim>
                                    <p:animEffect transition="in" filter="fade">
                                      <p:cBhvr>
                                        <p:cTn id="11" dur="550"/>
                                        <p:tgtEl>
                                          <p:spTgt spid="3"/>
                                        </p:tgtEl>
                                      </p:cBhvr>
                                    </p:animEffect>
                                  </p:childTnLst>
                                </p:cTn>
                              </p:par>
                              <p:par>
                                <p:cTn id="17" presetID="53" presetClass="entr" presetSubtype="16" fill="hold" grpId="0" nodeType="withEffect">
                                  <p:stCondLst>
                                    <p:cond delay="38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4" dur="550" fill="hold"/>
                                        <p:tgtEl>
                                          <p:spTgt spid="4"/>
                                        </p:tgtEl>
                                        <p:attrNameLst>
                                          <p:attrName>ppt_w</p:attrName>
                                        </p:attrNameLst>
                                      </p:cBhvr>
                                      <p:tavLst>
                                        <p:tav tm="0">
                                          <p:val>
                                            <p:strVal val="0"/>
                                          </p:val>
                                        </p:tav>
                                        <p:tav tm="100000">
                                          <p:val>
                                            <p:strVal val="#ppt_w"/>
                                          </p:val>
                                        </p:tav>
                                      </p:tavLst>
                                    </p:anim>
                                    <p:anim calcmode="lin" valueType="num">
                                      <p:cBhvr additive="base">
                                        <p:cTn id="15" dur="550" fill="hold"/>
                                        <p:tgtEl>
                                          <p:spTgt spid="4"/>
                                        </p:tgtEl>
                                        <p:attrNameLst>
                                          <p:attrName>ppt_h</p:attrName>
                                        </p:attrNameLst>
                                      </p:cBhvr>
                                      <p:tavLst>
                                        <p:tav tm="0">
                                          <p:val>
                                            <p:strVal val="0"/>
                                          </p:val>
                                        </p:tav>
                                        <p:tav tm="100000">
                                          <p:val>
                                            <p:strVal val="#ppt_h"/>
                                          </p:val>
                                        </p:tav>
                                      </p:tavLst>
                                    </p:anim>
                                    <p:animEffect transition="in" filter="fade">
                                      <p:cBhvr>
                                        <p:cTn id="16" dur="550"/>
                                        <p:tgtEl>
                                          <p:spTgt spid="4"/>
                                        </p:tgtEl>
                                      </p:cBhvr>
                                    </p:animEffect>
                                  </p:childTnLst>
                                </p:cTn>
                              </p:par>
                              <p:par>
                                <p:cTn id="20" presetID="10" presetClass="entr" presetSubtype="0" fill="hold" grpId="0" nodeType="withEffect">
                                  <p:stCondLst>
                                    <p:cond delay="380"/>
                                  </p:stCondLst>
                                  <p:childTnLst>
                                    <p:set>
                                      <p:cBhvr>
                                        <p:cTn id="21" dur="1" fill="hold">
                                          <p:stCondLst>
                                            <p:cond delay="0"/>
                                          </p:stCondLst>
                                        </p:cTn>
                                        <p:tgtEl>
                                          <p:spTgt spid="5"/>
                                        </p:tgtEl>
                                        <p:attrNameLst>
                                          <p:attrName>style.visibility</p:attrName>
                                        </p:attrNameLst>
                                      </p:cBhvr>
                                      <p:to>
                                        <p:strVal val="visible"/>
                                      </p:to>
                                    </p:set>
                                    <p:animEffect transition="in" filter="fade">
                                      <p:cBhvr>
                                        <p:cTn id="19" dur="600"/>
                                        <p:tgtEl>
                                          <p:spTgt spid="5"/>
                                        </p:tgtEl>
                                      </p:cBhvr>
                                    </p:animEffect>
                                  </p:childTnLst>
                                </p:cTn>
                              </p:par>
                              <p:par>
                                <p:cTn id="25" presetID="42" presetClass="entr" presetSubtype="0" fill="hold" grpId="0" nodeType="withEffect">
                                  <p:stCondLst>
                                    <p:cond delay="760"/>
                                  </p:stCondLst>
                                  <p:childTnLst>
                                    <p:set>
                                      <p:cBhvr>
                                        <p:cTn id="26" dur="1" fill="hold">
                                          <p:stCondLst>
                                            <p:cond delay="0"/>
                                          </p:stCondLst>
                                        </p:cTn>
                                        <p:tgtEl>
                                          <p:spTgt spid="6"/>
                                        </p:tgtEl>
                                        <p:attrNameLst>
                                          <p:attrName>style.visibility</p:attrName>
                                        </p:attrNameLst>
                                      </p:cBhvr>
                                      <p:to>
                                        <p:strVal val="visible"/>
                                      </p:to>
                                    </p:set>
                                    <p:animEffect transition="in" filter="fade">
                                      <p:cBhvr>
                                        <p:cTn id="22" dur="700"/>
                                        <p:tgtEl>
                                          <p:spTgt spid="6"/>
                                        </p:tgtEl>
                                      </p:cBhvr>
                                    </p:animEffect>
                                    <p:anim calcmode="lin" valueType="num">
                                      <p:cBhvr additive="base">
                                        <p:cTn id="23" dur="700" fill="hold"/>
                                        <p:tgtEl>
                                          <p:spTgt spid="6"/>
                                        </p:tgtEl>
                                        <p:attrNameLst>
                                          <p:attrName>ppt_x</p:attrName>
                                        </p:attrNameLst>
                                      </p:cBhvr>
                                      <p:tavLst>
                                        <p:tav tm="0">
                                          <p:val>
                                            <p:strVal val="#ppt_x"/>
                                          </p:val>
                                        </p:tav>
                                        <p:tav tm="100000">
                                          <p:val>
                                            <p:strVal val="#ppt_x"/>
                                          </p:val>
                                        </p:tav>
                                      </p:tavLst>
                                    </p:anim>
                                    <p:anim calcmode="lin" valueType="num">
                                      <p:cBhvr additive="base">
                                        <p:cTn id="24" dur="700" fill="hold"/>
                                        <p:tgtEl>
                                          <p:spTgt spid="6"/>
                                        </p:tgtEl>
                                        <p:attrNameLst>
                                          <p:attrName>ppt_y</p:attrName>
                                        </p:attrNameLst>
                                      </p:cBhvr>
                                      <p:tavLst>
                                        <p:tav tm="0">
                                          <p:val>
                                            <p:strVal val="#ppt_y+.08"/>
                                          </p:val>
                                        </p:tav>
                                        <p:tav tm="100000">
                                          <p:val>
                                            <p:strVal val="#ppt_y"/>
                                          </p:val>
                                        </p:tav>
                                      </p:tavLst>
                                    </p:anim>
                                  </p:childTnLst>
                                </p:cTn>
                              </p:par>
                              <p:par>
                                <p:cTn id="30" presetID="42" presetClass="entr" presetSubtype="0" fill="hold" grpId="0" nodeType="withEffect">
                                  <p:stCondLst>
                                    <p:cond delay="1140"/>
                                  </p:stCondLst>
                                  <p:childTnLst>
                                    <p:set>
                                      <p:cBhvr>
                                        <p:cTn id="31" dur="1" fill="hold">
                                          <p:stCondLst>
                                            <p:cond delay="0"/>
                                          </p:stCondLst>
                                        </p:cTn>
                                        <p:tgtEl>
                                          <p:spTgt spid="7"/>
                                        </p:tgtEl>
                                        <p:attrNameLst>
                                          <p:attrName>style.visibility</p:attrName>
                                        </p:attrNameLst>
                                      </p:cBhvr>
                                      <p:to>
                                        <p:strVal val="visible"/>
                                      </p:to>
                                    </p:set>
                                    <p:animEffect transition="in" filter="fade">
                                      <p:cBhvr>
                                        <p:cTn id="27" dur="700"/>
                                        <p:tgtEl>
                                          <p:spTgt spid="7"/>
                                        </p:tgtEl>
                                      </p:cBhvr>
                                    </p:animEffect>
                                    <p:anim calcmode="lin" valueType="num">
                                      <p:cBhvr additive="base">
                                        <p:cTn id="28" dur="700" fill="hold"/>
                                        <p:tgtEl>
                                          <p:spTgt spid="7"/>
                                        </p:tgtEl>
                                        <p:attrNameLst>
                                          <p:attrName>ppt_x</p:attrName>
                                        </p:attrNameLst>
                                      </p:cBhvr>
                                      <p:tavLst>
                                        <p:tav tm="0">
                                          <p:val>
                                            <p:strVal val="#ppt_x"/>
                                          </p:val>
                                        </p:tav>
                                        <p:tav tm="100000">
                                          <p:val>
                                            <p:strVal val="#ppt_x"/>
                                          </p:val>
                                        </p:tav>
                                      </p:tavLst>
                                    </p:anim>
                                    <p:anim calcmode="lin" valueType="num">
                                      <p:cBhvr additive="base">
                                        <p:cTn id="29" dur="700" fill="hold"/>
                                        <p:tgtEl>
                                          <p:spTgt spid="7"/>
                                        </p:tgtEl>
                                        <p:attrNameLst>
                                          <p:attrName>ppt_y</p:attrName>
                                        </p:attrNameLst>
                                      </p:cBhvr>
                                      <p:tavLst>
                                        <p:tav tm="0">
                                          <p:val>
                                            <p:strVal val="#ppt_y+.08"/>
                                          </p:val>
                                        </p:tav>
                                        <p:tav tm="100000">
                                          <p:val>
                                            <p:strVal val="#ppt_y"/>
                                          </p:val>
                                        </p:tav>
                                      </p:tavLst>
                                    </p:anim>
                                  </p:childTnLst>
                                </p:cTn>
                              </p:par>
                              <p:par>
                                <p:cTn id="33" presetID="10" presetClass="entr" presetSubtype="0" fill="hold" grpId="0" nodeType="withEffect">
                                  <p:stCondLst>
                                    <p:cond delay="1520"/>
                                  </p:stCondLst>
                                  <p:childTnLst>
                                    <p:set>
                                      <p:cBhvr>
                                        <p:cTn id="34" dur="1" fill="hold">
                                          <p:stCondLst>
                                            <p:cond delay="0"/>
                                          </p:stCondLst>
                                        </p:cTn>
                                        <p:tgtEl>
                                          <p:spTgt spid="8"/>
                                        </p:tgtEl>
                                        <p:attrNameLst>
                                          <p:attrName>style.visibility</p:attrName>
                                        </p:attrNameLst>
                                      </p:cBhvr>
                                      <p:to>
                                        <p:strVal val="visible"/>
                                      </p:to>
                                    </p:set>
                                    <p:animEffect transition="in" filter="fade">
                                      <p:cBhvr>
                                        <p:cTn id="32" dur="6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108960" cy="5143500"/>
          </a:xfrm>
          <a:prstGeom prst="rect">
            <a:avLst/>
          </a:prstGeom>
          <a:solidFill>
            <a:srgbClr val="0B1F4B"/>
          </a:solidFill>
          <a:ln w="12700">
            <a:solidFill>
              <a:srgbClr val="0B1F4B"/>
            </a:solidFill>
            <a:prstDash val="solid"/>
          </a:ln>
        </p:spPr>
      </p:sp>
      <p:pic>
        <p:nvPicPr>
          <p:cNvPr id="3" name="A0-spin-8" descr="preencoded.png">    </p:cNvPr>
          <p:cNvPicPr>
            <a:picLocks noChangeAspect="1"/>
          </p:cNvPicPr>
          <p:nvPr/>
        </p:nvPicPr>
        <p:blipFill>
          <a:blip r:embed="rId1"/>
          <a:stretch>
            <a:fillRect/>
          </a:stretch>
        </p:blipFill>
        <p:spPr>
          <a:xfrm>
            <a:off x="411480" y="2103120"/>
            <a:ext cx="2286000" cy="2286000"/>
          </a:xfrm>
          <a:prstGeom prst="rect">
            <a:avLst/>
          </a:prstGeom>
        </p:spPr>
      </p:pic>
      <p:sp>
        <p:nvSpPr>
          <p:cNvPr id="4" name="A0-fadeup-9"/>
          <p:cNvSpPr txBox="1"/>
          <p:nvPr/>
        </p:nvSpPr>
        <p:spPr>
          <a:xfrm>
            <a:off x="411480" y="548640"/>
            <a:ext cx="2560320" cy="73152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Sommaire</a:t>
            </a:r>
            <a:endParaRPr lang="en-US" sz="3400" dirty="0"/>
          </a:p>
        </p:txBody>
      </p:sp>
      <p:sp>
        <p:nvSpPr>
          <p:cNvPr id="5" name="A1-zoom-10"/>
          <p:cNvSpPr/>
          <p:nvPr/>
        </p:nvSpPr>
        <p:spPr>
          <a:xfrm>
            <a:off x="3566160" y="502920"/>
            <a:ext cx="566928" cy="566928"/>
          </a:xfrm>
          <a:prstGeom prst="ellipse">
            <a:avLst/>
          </a:prstGeom>
          <a:solidFill>
            <a:srgbClr val="1F4FA8"/>
          </a:solidFill>
          <a:ln w="12700">
            <a:solidFill>
              <a:srgbClr val="1F4FA8"/>
            </a:solidFill>
            <a:prstDash val="solid"/>
          </a:ln>
        </p:spPr>
      </p:sp>
      <p:sp>
        <p:nvSpPr>
          <p:cNvPr id="6" name="A1-zoom-11"/>
          <p:cNvSpPr txBox="1"/>
          <p:nvPr/>
        </p:nvSpPr>
        <p:spPr>
          <a:xfrm>
            <a:off x="3566160" y="5029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0</a:t>
            </a:r>
            <a:endParaRPr lang="en-US" sz="1600" dirty="0"/>
          </a:p>
        </p:txBody>
      </p:sp>
      <p:sp>
        <p:nvSpPr>
          <p:cNvPr id="7" name="A1-fadeleft-12"/>
          <p:cNvSpPr txBox="1"/>
          <p:nvPr/>
        </p:nvSpPr>
        <p:spPr>
          <a:xfrm>
            <a:off x="4343400" y="484632"/>
            <a:ext cx="4389120" cy="329184"/>
          </a:xfrm>
          <a:prstGeom prst="rect">
            <a:avLst/>
          </a:prstGeom>
          <a:noFill/>
          <a:ln/>
        </p:spPr>
        <p:txBody>
          <a:bodyPr wrap="square" lIns="0" tIns="0" rIns="0" bIns="0" rtlCol="0" anchor="t"/>
          <a:lstStyle/>
          <a:p>
            <a:pPr indent="0" marL="0">
              <a:buNone/>
            </a:pPr>
            <a:r>
              <a:rPr lang="en-US" sz="1600" b="1" dirty="0">
                <a:solidFill>
                  <a:srgbClr val="0B1F4B"/>
                </a:solidFill>
                <a:latin typeface="Cambria" pitchFamily="34" charset="0"/>
                <a:ea typeface="Cambria" pitchFamily="34" charset="-122"/>
                <a:cs typeface="Cambria" pitchFamily="34" charset="-120"/>
              </a:rPr>
              <a:t>Introduction</a:t>
            </a:r>
            <a:endParaRPr lang="en-US" sz="1600" dirty="0"/>
          </a:p>
        </p:txBody>
      </p:sp>
      <p:sp>
        <p:nvSpPr>
          <p:cNvPr id="8" name="A1-fadeleft-13"/>
          <p:cNvSpPr txBox="1"/>
          <p:nvPr/>
        </p:nvSpPr>
        <p:spPr>
          <a:xfrm>
            <a:off x="4343400" y="813816"/>
            <a:ext cx="4389120" cy="274320"/>
          </a:xfrm>
          <a:prstGeom prst="rect">
            <a:avLst/>
          </a:prstGeom>
          <a:noFill/>
          <a:ln/>
        </p:spPr>
        <p:txBody>
          <a:bodyPr wrap="square" lIns="0" tIns="0" rIns="0" bIns="0" rtlCol="0" anchor="t"/>
          <a:lstStyle/>
          <a:p>
            <a:pPr indent="0" marL="0">
              <a:buNone/>
            </a:pPr>
            <a:r>
              <a:rPr lang="en-US" sz="1200" dirty="0">
                <a:solidFill>
                  <a:srgbClr val="5B6478"/>
                </a:solidFill>
                <a:latin typeface="Calibri" pitchFamily="34" charset="0"/>
                <a:ea typeface="Calibri" pitchFamily="34" charset="-122"/>
                <a:cs typeface="Calibri" pitchFamily="34" charset="-120"/>
              </a:rPr>
              <a:t>Du traité de Rome à l'Acte unique</a:t>
            </a:r>
            <a:endParaRPr lang="en-US" sz="1200" dirty="0"/>
          </a:p>
        </p:txBody>
      </p:sp>
      <p:sp>
        <p:nvSpPr>
          <p:cNvPr id="9" name="A2-zoom-14"/>
          <p:cNvSpPr/>
          <p:nvPr/>
        </p:nvSpPr>
        <p:spPr>
          <a:xfrm>
            <a:off x="3566160" y="1344168"/>
            <a:ext cx="566928" cy="566928"/>
          </a:xfrm>
          <a:prstGeom prst="ellipse">
            <a:avLst/>
          </a:prstGeom>
          <a:solidFill>
            <a:srgbClr val="1F4FA8"/>
          </a:solidFill>
          <a:ln w="12700">
            <a:solidFill>
              <a:srgbClr val="1F4FA8"/>
            </a:solidFill>
            <a:prstDash val="solid"/>
          </a:ln>
        </p:spPr>
      </p:sp>
      <p:sp>
        <p:nvSpPr>
          <p:cNvPr id="10" name="A2-zoom-15"/>
          <p:cNvSpPr txBox="1"/>
          <p:nvPr/>
        </p:nvSpPr>
        <p:spPr>
          <a:xfrm>
            <a:off x="3566160" y="1344168"/>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I</a:t>
            </a:r>
            <a:endParaRPr lang="en-US" sz="1600" dirty="0"/>
          </a:p>
        </p:txBody>
      </p:sp>
      <p:sp>
        <p:nvSpPr>
          <p:cNvPr id="11" name="A2-fadeleft-16"/>
          <p:cNvSpPr txBox="1"/>
          <p:nvPr/>
        </p:nvSpPr>
        <p:spPr>
          <a:xfrm>
            <a:off x="4343400" y="1325880"/>
            <a:ext cx="4389120" cy="329184"/>
          </a:xfrm>
          <a:prstGeom prst="rect">
            <a:avLst/>
          </a:prstGeom>
          <a:noFill/>
          <a:ln/>
        </p:spPr>
        <p:txBody>
          <a:bodyPr wrap="square" lIns="0" tIns="0" rIns="0" bIns="0" rtlCol="0" anchor="t"/>
          <a:lstStyle/>
          <a:p>
            <a:pPr indent="0" marL="0">
              <a:buNone/>
            </a:pPr>
            <a:r>
              <a:rPr lang="en-US" sz="1600" b="1" dirty="0">
                <a:solidFill>
                  <a:srgbClr val="0B1F4B"/>
                </a:solidFill>
                <a:latin typeface="Cambria" pitchFamily="34" charset="0"/>
                <a:ea typeface="Cambria" pitchFamily="34" charset="-122"/>
                <a:cs typeface="Cambria" pitchFamily="34" charset="-120"/>
              </a:rPr>
              <a:t>Zone de libre-échange vs marché unique</a:t>
            </a:r>
            <a:endParaRPr lang="en-US" sz="1600" dirty="0"/>
          </a:p>
        </p:txBody>
      </p:sp>
      <p:sp>
        <p:nvSpPr>
          <p:cNvPr id="12" name="A2-fadeleft-17"/>
          <p:cNvSpPr txBox="1"/>
          <p:nvPr/>
        </p:nvSpPr>
        <p:spPr>
          <a:xfrm>
            <a:off x="4343400" y="1655064"/>
            <a:ext cx="4389120" cy="274320"/>
          </a:xfrm>
          <a:prstGeom prst="rect">
            <a:avLst/>
          </a:prstGeom>
          <a:noFill/>
          <a:ln/>
        </p:spPr>
        <p:txBody>
          <a:bodyPr wrap="square" lIns="0" tIns="0" rIns="0" bIns="0" rtlCol="0" anchor="t"/>
          <a:lstStyle/>
          <a:p>
            <a:pPr indent="0" marL="0">
              <a:buNone/>
            </a:pPr>
            <a:r>
              <a:rPr lang="en-US" sz="1200" dirty="0">
                <a:solidFill>
                  <a:srgbClr val="5B6478"/>
                </a:solidFill>
                <a:latin typeface="Calibri" pitchFamily="34" charset="0"/>
                <a:ea typeface="Calibri" pitchFamily="34" charset="-122"/>
                <a:cs typeface="Calibri" pitchFamily="34" charset="-120"/>
              </a:rPr>
              <a:t>Classification de Balassa, ce qui change vraiment</a:t>
            </a:r>
            <a:endParaRPr lang="en-US" sz="1200" dirty="0"/>
          </a:p>
        </p:txBody>
      </p:sp>
      <p:sp>
        <p:nvSpPr>
          <p:cNvPr id="13" name="A3-zoom-18"/>
          <p:cNvSpPr/>
          <p:nvPr/>
        </p:nvSpPr>
        <p:spPr>
          <a:xfrm>
            <a:off x="3566160" y="2185416"/>
            <a:ext cx="566928" cy="566928"/>
          </a:xfrm>
          <a:prstGeom prst="ellipse">
            <a:avLst/>
          </a:prstGeom>
          <a:solidFill>
            <a:srgbClr val="1E9E6A"/>
          </a:solidFill>
          <a:ln w="12700">
            <a:solidFill>
              <a:srgbClr val="1E9E6A"/>
            </a:solidFill>
            <a:prstDash val="solid"/>
          </a:ln>
        </p:spPr>
      </p:sp>
      <p:sp>
        <p:nvSpPr>
          <p:cNvPr id="14" name="A3-zoom-19"/>
          <p:cNvSpPr txBox="1"/>
          <p:nvPr/>
        </p:nvSpPr>
        <p:spPr>
          <a:xfrm>
            <a:off x="3566160" y="2185416"/>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II</a:t>
            </a:r>
            <a:endParaRPr lang="en-US" sz="1600" dirty="0"/>
          </a:p>
        </p:txBody>
      </p:sp>
      <p:sp>
        <p:nvSpPr>
          <p:cNvPr id="15" name="A3-fadeleft-20"/>
          <p:cNvSpPr txBox="1"/>
          <p:nvPr/>
        </p:nvSpPr>
        <p:spPr>
          <a:xfrm>
            <a:off x="4343400" y="2167128"/>
            <a:ext cx="4389120" cy="329184"/>
          </a:xfrm>
          <a:prstGeom prst="rect">
            <a:avLst/>
          </a:prstGeom>
          <a:noFill/>
          <a:ln/>
        </p:spPr>
        <p:txBody>
          <a:bodyPr wrap="square" lIns="0" tIns="0" rIns="0" bIns="0" rtlCol="0" anchor="t"/>
          <a:lstStyle/>
          <a:p>
            <a:pPr indent="0" marL="0">
              <a:buNone/>
            </a:pPr>
            <a:r>
              <a:rPr lang="en-US" sz="1600" b="1" dirty="0">
                <a:solidFill>
                  <a:srgbClr val="0B1F4B"/>
                </a:solidFill>
                <a:latin typeface="Cambria" pitchFamily="34" charset="0"/>
                <a:ea typeface="Cambria" pitchFamily="34" charset="-122"/>
                <a:cs typeface="Cambria" pitchFamily="34" charset="-120"/>
              </a:rPr>
              <a:t>Les avantages pour les pays membres</a:t>
            </a:r>
            <a:endParaRPr lang="en-US" sz="1600" dirty="0"/>
          </a:p>
        </p:txBody>
      </p:sp>
      <p:sp>
        <p:nvSpPr>
          <p:cNvPr id="16" name="A3-fadeleft-21"/>
          <p:cNvSpPr txBox="1"/>
          <p:nvPr/>
        </p:nvSpPr>
        <p:spPr>
          <a:xfrm>
            <a:off x="4343400" y="2496312"/>
            <a:ext cx="4389120" cy="274320"/>
          </a:xfrm>
          <a:prstGeom prst="rect">
            <a:avLst/>
          </a:prstGeom>
          <a:noFill/>
          <a:ln/>
        </p:spPr>
        <p:txBody>
          <a:bodyPr wrap="square" lIns="0" tIns="0" rIns="0" bIns="0" rtlCol="0" anchor="t"/>
          <a:lstStyle/>
          <a:p>
            <a:pPr indent="0" marL="0">
              <a:buNone/>
            </a:pPr>
            <a:r>
              <a:rPr lang="en-US" sz="1200" dirty="0">
                <a:solidFill>
                  <a:srgbClr val="5B6478"/>
                </a:solidFill>
                <a:latin typeface="Calibri" pitchFamily="34" charset="0"/>
                <a:ea typeface="Calibri" pitchFamily="34" charset="-122"/>
                <a:cs typeface="Calibri" pitchFamily="34" charset="-120"/>
              </a:rPr>
              <a:t>Commerce, entreprises, capitaux, attractivité</a:t>
            </a:r>
            <a:endParaRPr lang="en-US" sz="1200" dirty="0"/>
          </a:p>
        </p:txBody>
      </p:sp>
      <p:sp>
        <p:nvSpPr>
          <p:cNvPr id="17" name="A4-zoom-22"/>
          <p:cNvSpPr/>
          <p:nvPr/>
        </p:nvSpPr>
        <p:spPr>
          <a:xfrm>
            <a:off x="3566160" y="3026664"/>
            <a:ext cx="566928" cy="566928"/>
          </a:xfrm>
          <a:prstGeom prst="ellipse">
            <a:avLst/>
          </a:prstGeom>
          <a:solidFill>
            <a:srgbClr val="D9473F"/>
          </a:solidFill>
          <a:ln w="12700">
            <a:solidFill>
              <a:srgbClr val="D9473F"/>
            </a:solidFill>
            <a:prstDash val="solid"/>
          </a:ln>
        </p:spPr>
      </p:sp>
      <p:sp>
        <p:nvSpPr>
          <p:cNvPr id="18" name="A4-zoom-23"/>
          <p:cNvSpPr txBox="1"/>
          <p:nvPr/>
        </p:nvSpPr>
        <p:spPr>
          <a:xfrm>
            <a:off x="3566160" y="3026664"/>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III</a:t>
            </a:r>
            <a:endParaRPr lang="en-US" sz="1600" dirty="0"/>
          </a:p>
        </p:txBody>
      </p:sp>
      <p:sp>
        <p:nvSpPr>
          <p:cNvPr id="19" name="A4-fadeleft-24"/>
          <p:cNvSpPr txBox="1"/>
          <p:nvPr/>
        </p:nvSpPr>
        <p:spPr>
          <a:xfrm>
            <a:off x="4343400" y="3008376"/>
            <a:ext cx="4389120" cy="329184"/>
          </a:xfrm>
          <a:prstGeom prst="rect">
            <a:avLst/>
          </a:prstGeom>
          <a:noFill/>
          <a:ln/>
        </p:spPr>
        <p:txBody>
          <a:bodyPr wrap="square" lIns="0" tIns="0" rIns="0" bIns="0" rtlCol="0" anchor="t"/>
          <a:lstStyle/>
          <a:p>
            <a:pPr indent="0" marL="0">
              <a:buNone/>
            </a:pPr>
            <a:r>
              <a:rPr lang="en-US" sz="1600" b="1" dirty="0">
                <a:solidFill>
                  <a:srgbClr val="0B1F4B"/>
                </a:solidFill>
                <a:latin typeface="Cambria" pitchFamily="34" charset="0"/>
                <a:ea typeface="Cambria" pitchFamily="34" charset="-122"/>
                <a:cs typeface="Cambria" pitchFamily="34" charset="-120"/>
              </a:rPr>
              <a:t>Les inconvénients et les limites</a:t>
            </a:r>
            <a:endParaRPr lang="en-US" sz="1600" dirty="0"/>
          </a:p>
        </p:txBody>
      </p:sp>
      <p:sp>
        <p:nvSpPr>
          <p:cNvPr id="20" name="A4-fadeleft-25"/>
          <p:cNvSpPr txBox="1"/>
          <p:nvPr/>
        </p:nvSpPr>
        <p:spPr>
          <a:xfrm>
            <a:off x="4343400" y="3337560"/>
            <a:ext cx="4389120" cy="274320"/>
          </a:xfrm>
          <a:prstGeom prst="rect">
            <a:avLst/>
          </a:prstGeom>
          <a:noFill/>
          <a:ln/>
        </p:spPr>
        <p:txBody>
          <a:bodyPr wrap="square" lIns="0" tIns="0" rIns="0" bIns="0" rtlCol="0" anchor="t"/>
          <a:lstStyle/>
          <a:p>
            <a:pPr indent="0" marL="0">
              <a:buNone/>
            </a:pPr>
            <a:r>
              <a:rPr lang="en-US" sz="1200" dirty="0">
                <a:solidFill>
                  <a:srgbClr val="5B6478"/>
                </a:solidFill>
                <a:latin typeface="Calibri" pitchFamily="34" charset="0"/>
                <a:ea typeface="Calibri" pitchFamily="34" charset="-122"/>
                <a:cs typeface="Calibri" pitchFamily="34" charset="-120"/>
              </a:rPr>
              <a:t>Souveraineté, inégalités, règles, tensions</a:t>
            </a:r>
            <a:endParaRPr lang="en-US" sz="1200" dirty="0"/>
          </a:p>
        </p:txBody>
      </p:sp>
      <p:sp>
        <p:nvSpPr>
          <p:cNvPr id="21" name="A5-zoom-26"/>
          <p:cNvSpPr/>
          <p:nvPr/>
        </p:nvSpPr>
        <p:spPr>
          <a:xfrm>
            <a:off x="3566160" y="3867912"/>
            <a:ext cx="566928" cy="566928"/>
          </a:xfrm>
          <a:prstGeom prst="ellipse">
            <a:avLst/>
          </a:prstGeom>
          <a:solidFill>
            <a:srgbClr val="B98500"/>
          </a:solidFill>
          <a:ln w="12700">
            <a:solidFill>
              <a:srgbClr val="B98500"/>
            </a:solidFill>
            <a:prstDash val="solid"/>
          </a:ln>
        </p:spPr>
      </p:sp>
      <p:sp>
        <p:nvSpPr>
          <p:cNvPr id="22" name="A5-zoom-27"/>
          <p:cNvSpPr txBox="1"/>
          <p:nvPr/>
        </p:nvSpPr>
        <p:spPr>
          <a:xfrm>
            <a:off x="3566160" y="3867912"/>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23" name="A5-fadeleft-28"/>
          <p:cNvSpPr txBox="1"/>
          <p:nvPr/>
        </p:nvSpPr>
        <p:spPr>
          <a:xfrm>
            <a:off x="4343400" y="3849624"/>
            <a:ext cx="4389120" cy="329184"/>
          </a:xfrm>
          <a:prstGeom prst="rect">
            <a:avLst/>
          </a:prstGeom>
          <a:noFill/>
          <a:ln/>
        </p:spPr>
        <p:txBody>
          <a:bodyPr wrap="square" lIns="0" tIns="0" rIns="0" bIns="0" rtlCol="0" anchor="t"/>
          <a:lstStyle/>
          <a:p>
            <a:pPr indent="0" marL="0">
              <a:buNone/>
            </a:pPr>
            <a:r>
              <a:rPr lang="en-US" sz="1600" b="1" dirty="0">
                <a:solidFill>
                  <a:srgbClr val="0B1F4B"/>
                </a:solidFill>
                <a:latin typeface="Cambria" pitchFamily="34" charset="0"/>
                <a:ea typeface="Cambria" pitchFamily="34" charset="-122"/>
                <a:cs typeface="Cambria" pitchFamily="34" charset="-120"/>
              </a:rPr>
              <a:t>Conclusion</a:t>
            </a:r>
            <a:endParaRPr lang="en-US" sz="1600" dirty="0"/>
          </a:p>
        </p:txBody>
      </p:sp>
      <p:sp>
        <p:nvSpPr>
          <p:cNvPr id="24" name="A5-fadeleft-29"/>
          <p:cNvSpPr txBox="1"/>
          <p:nvPr/>
        </p:nvSpPr>
        <p:spPr>
          <a:xfrm>
            <a:off x="4343400" y="4178808"/>
            <a:ext cx="4389120" cy="274320"/>
          </a:xfrm>
          <a:prstGeom prst="rect">
            <a:avLst/>
          </a:prstGeom>
          <a:noFill/>
          <a:ln/>
        </p:spPr>
        <p:txBody>
          <a:bodyPr wrap="square" lIns="0" tIns="0" rIns="0" bIns="0" rtlCol="0" anchor="t"/>
          <a:lstStyle/>
          <a:p>
            <a:pPr indent="0" marL="0">
              <a:buNone/>
            </a:pPr>
            <a:r>
              <a:rPr lang="en-US" sz="1200" dirty="0">
                <a:solidFill>
                  <a:srgbClr val="5B6478"/>
                </a:solidFill>
                <a:latin typeface="Calibri" pitchFamily="34" charset="0"/>
                <a:ea typeface="Calibri" pitchFamily="34" charset="-122"/>
                <a:cs typeface="Calibri" pitchFamily="34" charset="-120"/>
              </a:rPr>
              <a:t>Un bilan positif… et un projet inachevé</a:t>
            </a:r>
            <a:endParaRPr lang="en-US" sz="1200" dirty="0"/>
          </a:p>
        </p:txBody>
      </p:sp>
    </p:spTree>
  </p:cSld>
  <p:clrMapOvr>
    <a:masterClrMapping/>
  </p:clrMapOvr>
  <mc:AlternateContent xmlns:mc="http://schemas.openxmlformats.org/markup-compatibility/2006">
    <mc:Choice xmlns:p14="http://schemas.microsoft.com/office/powerpoint/2010/main" Requires="p14">
      <p:transition spd="slow" p14:dur="900">
        <p14:pan dir="u"/>
      </p:transition>
    </mc:Choice>
    <mc:Fallback>
      <p:transition spd="slow">
        <p:push dir="u"/>
      </p:transition>
    </mc:Fallback>
  </mc:AlternateContent>
  <p:timing>
    <p:tnLst>
      <p:par>
        <p:cTn id="1" dur="indefinite" restart="never" nodeType="tmRoot">
          <p:childTnLst>
            <p:seq concurrent="1" nextAc="seek">
              <p:cTn id="2" dur="indefinite" nodeType="mainSeq">
                <p:childTnLst>
                  <p:par>
                    <p:cTn id="114" fill="hold">
                      <p:stCondLst>
                        <p:cond delay="indefinite"/>
                        <p:cond evt="onBegin" delay="0">
                          <p:tn val="2"/>
                        </p:cond>
                      </p:stCondLst>
                      <p:childTnLst>
                        <p:par>
                          <p:cTn id="115" fill="hold">
                            <p:stCondLst>
                              <p:cond delay="0"/>
                            </p:stCondLst>
                            <p:childTnLst>
                              <p:par>
                                <p:cTn id="7" presetID="3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 calcmode="lin" valueType="num">
                                      <p:cBhvr additive="base">
                                        <p:cTn id="3" dur="1600" fill="hold"/>
                                        <p:tgtEl>
                                          <p:spTgt spid="3"/>
                                        </p:tgtEl>
                                        <p:attrNameLst>
                                          <p:attrName>ppt_w</p:attrName>
                                        </p:attrNameLst>
                                      </p:cBhvr>
                                      <p:tavLst>
                                        <p:tav tm="0">
                                          <p:val>
                                            <p:strVal val="#ppt_w*0.4"/>
                                          </p:val>
                                        </p:tav>
                                        <p:tav tm="100000">
                                          <p:val>
                                            <p:strVal val="#ppt_w"/>
                                          </p:val>
                                        </p:tav>
                                      </p:tavLst>
                                    </p:anim>
                                    <p:anim calcmode="lin" valueType="num">
                                      <p:cBhvr additive="base">
                                        <p:cTn id="4" dur="1600" fill="hold"/>
                                        <p:tgtEl>
                                          <p:spTgt spid="3"/>
                                        </p:tgtEl>
                                        <p:attrNameLst>
                                          <p:attrName>ppt_h</p:attrName>
                                        </p:attrNameLst>
                                      </p:cBhvr>
                                      <p:tavLst>
                                        <p:tav tm="0">
                                          <p:val>
                                            <p:strVal val="#ppt_h*0.4"/>
                                          </p:val>
                                        </p:tav>
                                        <p:tav tm="100000">
                                          <p:val>
                                            <p:strVal val="#ppt_h"/>
                                          </p:val>
                                        </p:tav>
                                      </p:tavLst>
                                    </p:anim>
                                    <p:anim calcmode="lin" valueType="num">
                                      <p:cBhvr additive="base">
                                        <p:cTn id="5" dur="1600" fill="hold"/>
                                        <p:tgtEl>
                                          <p:spTgt spid="3"/>
                                        </p:tgtEl>
                                        <p:attrNameLst>
                                          <p:attrName>style.rotation</p:attrName>
                                        </p:attrNameLst>
                                      </p:cBhvr>
                                      <p:tavLst>
                                        <p:tav tm="0">
                                          <p:val>
                                            <p:strVal val="-120"/>
                                          </p:val>
                                        </p:tav>
                                        <p:tav tm="100000">
                                          <p:val>
                                            <p:strVal val="0"/>
                                          </p:val>
                                        </p:tav>
                                      </p:tavLst>
                                    </p:anim>
                                    <p:animEffect transition="in" filter="fade">
                                      <p:cBhvr>
                                        <p:cTn id="6" dur="1600"/>
                                        <p:tgtEl>
                                          <p:spTgt spid="3"/>
                                        </p:tgtEl>
                                      </p:cBhvr>
                                    </p:animEffect>
                                  </p:childTnLst>
                                </p:cTn>
                              </p:par>
                              <p:par>
                                <p:cTn id="12" presetID="42" presetClass="entr" presetSubtype="0"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9" dur="700"/>
                                        <p:tgtEl>
                                          <p:spTgt spid="4"/>
                                        </p:tgtEl>
                                      </p:cBhvr>
                                    </p:animEffect>
                                    <p:anim calcmode="lin" valueType="num">
                                      <p:cBhvr additive="base">
                                        <p:cTn id="10" dur="700" fill="hold"/>
                                        <p:tgtEl>
                                          <p:spTgt spid="4"/>
                                        </p:tgtEl>
                                        <p:attrNameLst>
                                          <p:attrName>ppt_x</p:attrName>
                                        </p:attrNameLst>
                                      </p:cBhvr>
                                      <p:tavLst>
                                        <p:tav tm="0">
                                          <p:val>
                                            <p:strVal val="#ppt_x"/>
                                          </p:val>
                                        </p:tav>
                                        <p:tav tm="100000">
                                          <p:val>
                                            <p:strVal val="#ppt_x"/>
                                          </p:val>
                                        </p:tav>
                                      </p:tavLst>
                                    </p:anim>
                                    <p:anim calcmode="lin" valueType="num">
                                      <p:cBhvr additive="base">
                                        <p:cTn id="11" dur="700" fill="hold"/>
                                        <p:tgtEl>
                                          <p:spTgt spid="4"/>
                                        </p:tgtEl>
                                        <p:attrNameLst>
                                          <p:attrName>ppt_y</p:attrName>
                                        </p:attrNameLst>
                                      </p:cBhvr>
                                      <p:tavLst>
                                        <p:tav tm="0">
                                          <p:val>
                                            <p:strVal val="#ppt_y+.08"/>
                                          </p:val>
                                        </p:tav>
                                        <p:tav tm="100000">
                                          <p:val>
                                            <p:strVal val="#ppt_y"/>
                                          </p:val>
                                        </p:tav>
                                      </p:tavLst>
                                    </p:anim>
                                  </p:childTnLst>
                                </p:cTn>
                              </p:par>
                              <p:par>
                                <p:cTn id="17" presetID="53" presetClass="entr" presetSubtype="16" fill="hold" grpId="0" nodeType="withEffect">
                                  <p:stCondLst>
                                    <p:cond delay="38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4" dur="550" fill="hold"/>
                                        <p:tgtEl>
                                          <p:spTgt spid="5"/>
                                        </p:tgtEl>
                                        <p:attrNameLst>
                                          <p:attrName>ppt_w</p:attrName>
                                        </p:attrNameLst>
                                      </p:cBhvr>
                                      <p:tavLst>
                                        <p:tav tm="0">
                                          <p:val>
                                            <p:strVal val="0"/>
                                          </p:val>
                                        </p:tav>
                                        <p:tav tm="100000">
                                          <p:val>
                                            <p:strVal val="#ppt_w"/>
                                          </p:val>
                                        </p:tav>
                                      </p:tavLst>
                                    </p:anim>
                                    <p:anim calcmode="lin" valueType="num">
                                      <p:cBhvr additive="base">
                                        <p:cTn id="15" dur="550" fill="hold"/>
                                        <p:tgtEl>
                                          <p:spTgt spid="5"/>
                                        </p:tgtEl>
                                        <p:attrNameLst>
                                          <p:attrName>ppt_h</p:attrName>
                                        </p:attrNameLst>
                                      </p:cBhvr>
                                      <p:tavLst>
                                        <p:tav tm="0">
                                          <p:val>
                                            <p:strVal val="0"/>
                                          </p:val>
                                        </p:tav>
                                        <p:tav tm="100000">
                                          <p:val>
                                            <p:strVal val="#ppt_h"/>
                                          </p:val>
                                        </p:tav>
                                      </p:tavLst>
                                    </p:anim>
                                    <p:animEffect transition="in" filter="fade">
                                      <p:cBhvr>
                                        <p:cTn id="16" dur="550"/>
                                        <p:tgtEl>
                                          <p:spTgt spid="5"/>
                                        </p:tgtEl>
                                      </p:cBhvr>
                                    </p:animEffect>
                                  </p:childTnLst>
                                </p:cTn>
                              </p:par>
                              <p:par>
                                <p:cTn id="22" presetID="53" presetClass="entr" presetSubtype="16" fill="hold" grpId="0" nodeType="withEffect">
                                  <p:stCondLst>
                                    <p:cond delay="38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19" dur="550" fill="hold"/>
                                        <p:tgtEl>
                                          <p:spTgt spid="6"/>
                                        </p:tgtEl>
                                        <p:attrNameLst>
                                          <p:attrName>ppt_w</p:attrName>
                                        </p:attrNameLst>
                                      </p:cBhvr>
                                      <p:tavLst>
                                        <p:tav tm="0">
                                          <p:val>
                                            <p:strVal val="0"/>
                                          </p:val>
                                        </p:tav>
                                        <p:tav tm="100000">
                                          <p:val>
                                            <p:strVal val="#ppt_w"/>
                                          </p:val>
                                        </p:tav>
                                      </p:tavLst>
                                    </p:anim>
                                    <p:anim calcmode="lin" valueType="num">
                                      <p:cBhvr additive="base">
                                        <p:cTn id="20" dur="550" fill="hold"/>
                                        <p:tgtEl>
                                          <p:spTgt spid="6"/>
                                        </p:tgtEl>
                                        <p:attrNameLst>
                                          <p:attrName>ppt_h</p:attrName>
                                        </p:attrNameLst>
                                      </p:cBhvr>
                                      <p:tavLst>
                                        <p:tav tm="0">
                                          <p:val>
                                            <p:strVal val="0"/>
                                          </p:val>
                                        </p:tav>
                                        <p:tav tm="100000">
                                          <p:val>
                                            <p:strVal val="#ppt_h"/>
                                          </p:val>
                                        </p:tav>
                                      </p:tavLst>
                                    </p:anim>
                                    <p:animEffect transition="in" filter="fade">
                                      <p:cBhvr>
                                        <p:cTn id="21" dur="550"/>
                                        <p:tgtEl>
                                          <p:spTgt spid="6"/>
                                        </p:tgtEl>
                                      </p:cBhvr>
                                    </p:animEffect>
                                  </p:childTnLst>
                                </p:cTn>
                              </p:par>
                              <p:par>
                                <p:cTn id="27" presetID="42" presetClass="entr" presetSubtype="0" fill="hold" grpId="0" nodeType="withEffect">
                                  <p:stCondLst>
                                    <p:cond delay="380"/>
                                  </p:stCondLst>
                                  <p:childTnLst>
                                    <p:set>
                                      <p:cBhvr>
                                        <p:cTn id="28" dur="1" fill="hold">
                                          <p:stCondLst>
                                            <p:cond delay="0"/>
                                          </p:stCondLst>
                                        </p:cTn>
                                        <p:tgtEl>
                                          <p:spTgt spid="7"/>
                                        </p:tgtEl>
                                        <p:attrNameLst>
                                          <p:attrName>style.visibility</p:attrName>
                                        </p:attrNameLst>
                                      </p:cBhvr>
                                      <p:to>
                                        <p:strVal val="visible"/>
                                      </p:to>
                                    </p:set>
                                    <p:animEffect transition="in" filter="fade">
                                      <p:cBhvr>
                                        <p:cTn id="24" dur="650"/>
                                        <p:tgtEl>
                                          <p:spTgt spid="7"/>
                                        </p:tgtEl>
                                      </p:cBhvr>
                                    </p:animEffect>
                                    <p:anim calcmode="lin" valueType="num">
                                      <p:cBhvr additive="base">
                                        <p:cTn id="25" dur="650" fill="hold"/>
                                        <p:tgtEl>
                                          <p:spTgt spid="7"/>
                                        </p:tgtEl>
                                        <p:attrNameLst>
                                          <p:attrName>ppt_x</p:attrName>
                                        </p:attrNameLst>
                                      </p:cBhvr>
                                      <p:tavLst>
                                        <p:tav tm="0">
                                          <p:val>
                                            <p:strVal val="#ppt_x-.06"/>
                                          </p:val>
                                        </p:tav>
                                        <p:tav tm="100000">
                                          <p:val>
                                            <p:strVal val="#ppt_x"/>
                                          </p:val>
                                        </p:tav>
                                      </p:tavLst>
                                    </p:anim>
                                    <p:anim calcmode="lin" valueType="num">
                                      <p:cBhvr additive="base">
                                        <p:cTn id="26" dur="650" fill="hold"/>
                                        <p:tgtEl>
                                          <p:spTgt spid="7"/>
                                        </p:tgtEl>
                                        <p:attrNameLst>
                                          <p:attrName>ppt_y</p:attrName>
                                        </p:attrNameLst>
                                      </p:cBhvr>
                                      <p:tavLst>
                                        <p:tav tm="0">
                                          <p:val>
                                            <p:strVal val="#ppt_y"/>
                                          </p:val>
                                        </p:tav>
                                        <p:tav tm="100000">
                                          <p:val>
                                            <p:strVal val="#ppt_y"/>
                                          </p:val>
                                        </p:tav>
                                      </p:tavLst>
                                    </p:anim>
                                  </p:childTnLst>
                                </p:cTn>
                              </p:par>
                              <p:par>
                                <p:cTn id="32" presetID="42" presetClass="entr" presetSubtype="0" fill="hold" grpId="0" nodeType="withEffect">
                                  <p:stCondLst>
                                    <p:cond delay="380"/>
                                  </p:stCondLst>
                                  <p:childTnLst>
                                    <p:set>
                                      <p:cBhvr>
                                        <p:cTn id="33" dur="1" fill="hold">
                                          <p:stCondLst>
                                            <p:cond delay="0"/>
                                          </p:stCondLst>
                                        </p:cTn>
                                        <p:tgtEl>
                                          <p:spTgt spid="8"/>
                                        </p:tgtEl>
                                        <p:attrNameLst>
                                          <p:attrName>style.visibility</p:attrName>
                                        </p:attrNameLst>
                                      </p:cBhvr>
                                      <p:to>
                                        <p:strVal val="visible"/>
                                      </p:to>
                                    </p:set>
                                    <p:animEffect transition="in" filter="fade">
                                      <p:cBhvr>
                                        <p:cTn id="29" dur="650"/>
                                        <p:tgtEl>
                                          <p:spTgt spid="8"/>
                                        </p:tgtEl>
                                      </p:cBhvr>
                                    </p:animEffect>
                                    <p:anim calcmode="lin" valueType="num">
                                      <p:cBhvr additive="base">
                                        <p:cTn id="30" dur="650" fill="hold"/>
                                        <p:tgtEl>
                                          <p:spTgt spid="8"/>
                                        </p:tgtEl>
                                        <p:attrNameLst>
                                          <p:attrName>ppt_x</p:attrName>
                                        </p:attrNameLst>
                                      </p:cBhvr>
                                      <p:tavLst>
                                        <p:tav tm="0">
                                          <p:val>
                                            <p:strVal val="#ppt_x-.06"/>
                                          </p:val>
                                        </p:tav>
                                        <p:tav tm="100000">
                                          <p:val>
                                            <p:strVal val="#ppt_x"/>
                                          </p:val>
                                        </p:tav>
                                      </p:tavLst>
                                    </p:anim>
                                    <p:anim calcmode="lin" valueType="num">
                                      <p:cBhvr additive="base">
                                        <p:cTn id="31" dur="650" fill="hold"/>
                                        <p:tgtEl>
                                          <p:spTgt spid="8"/>
                                        </p:tgtEl>
                                        <p:attrNameLst>
                                          <p:attrName>ppt_y</p:attrName>
                                        </p:attrNameLst>
                                      </p:cBhvr>
                                      <p:tavLst>
                                        <p:tav tm="0">
                                          <p:val>
                                            <p:strVal val="#ppt_y"/>
                                          </p:val>
                                        </p:tav>
                                        <p:tav tm="100000">
                                          <p:val>
                                            <p:strVal val="#ppt_y"/>
                                          </p:val>
                                        </p:tav>
                                      </p:tavLst>
                                    </p:anim>
                                  </p:childTnLst>
                                </p:cTn>
                              </p:par>
                              <p:par>
                                <p:cTn id="37" presetID="53" presetClass="entr" presetSubtype="16" fill="hold" grpId="0" nodeType="withEffect">
                                  <p:stCondLst>
                                    <p:cond delay="760"/>
                                  </p:stCondLst>
                                  <p:childTnLst>
                                    <p:set>
                                      <p:cBhvr>
                                        <p:cTn id="38" dur="1" fill="hold">
                                          <p:stCondLst>
                                            <p:cond delay="0"/>
                                          </p:stCondLst>
                                        </p:cTn>
                                        <p:tgtEl>
                                          <p:spTgt spid="9"/>
                                        </p:tgtEl>
                                        <p:attrNameLst>
                                          <p:attrName>style.visibility</p:attrName>
                                        </p:attrNameLst>
                                      </p:cBhvr>
                                      <p:to>
                                        <p:strVal val="visible"/>
                                      </p:to>
                                    </p:set>
                                    <p:anim calcmode="lin" valueType="num">
                                      <p:cBhvr additive="base">
                                        <p:cTn id="34" dur="550" fill="hold"/>
                                        <p:tgtEl>
                                          <p:spTgt spid="9"/>
                                        </p:tgtEl>
                                        <p:attrNameLst>
                                          <p:attrName>ppt_w</p:attrName>
                                        </p:attrNameLst>
                                      </p:cBhvr>
                                      <p:tavLst>
                                        <p:tav tm="0">
                                          <p:val>
                                            <p:strVal val="0"/>
                                          </p:val>
                                        </p:tav>
                                        <p:tav tm="100000">
                                          <p:val>
                                            <p:strVal val="#ppt_w"/>
                                          </p:val>
                                        </p:tav>
                                      </p:tavLst>
                                    </p:anim>
                                    <p:anim calcmode="lin" valueType="num">
                                      <p:cBhvr additive="base">
                                        <p:cTn id="35" dur="550" fill="hold"/>
                                        <p:tgtEl>
                                          <p:spTgt spid="9"/>
                                        </p:tgtEl>
                                        <p:attrNameLst>
                                          <p:attrName>ppt_h</p:attrName>
                                        </p:attrNameLst>
                                      </p:cBhvr>
                                      <p:tavLst>
                                        <p:tav tm="0">
                                          <p:val>
                                            <p:strVal val="0"/>
                                          </p:val>
                                        </p:tav>
                                        <p:tav tm="100000">
                                          <p:val>
                                            <p:strVal val="#ppt_h"/>
                                          </p:val>
                                        </p:tav>
                                      </p:tavLst>
                                    </p:anim>
                                    <p:animEffect transition="in" filter="fade">
                                      <p:cBhvr>
                                        <p:cTn id="36" dur="550"/>
                                        <p:tgtEl>
                                          <p:spTgt spid="9"/>
                                        </p:tgtEl>
                                      </p:cBhvr>
                                    </p:animEffect>
                                  </p:childTnLst>
                                </p:cTn>
                              </p:par>
                              <p:par>
                                <p:cTn id="42" presetID="53" presetClass="entr" presetSubtype="16" fill="hold" grpId="0" nodeType="withEffect">
                                  <p:stCondLst>
                                    <p:cond delay="760"/>
                                  </p:stCondLst>
                                  <p:childTnLst>
                                    <p:set>
                                      <p:cBhvr>
                                        <p:cTn id="43" dur="1" fill="hold">
                                          <p:stCondLst>
                                            <p:cond delay="0"/>
                                          </p:stCondLst>
                                        </p:cTn>
                                        <p:tgtEl>
                                          <p:spTgt spid="10"/>
                                        </p:tgtEl>
                                        <p:attrNameLst>
                                          <p:attrName>style.visibility</p:attrName>
                                        </p:attrNameLst>
                                      </p:cBhvr>
                                      <p:to>
                                        <p:strVal val="visible"/>
                                      </p:to>
                                    </p:set>
                                    <p:anim calcmode="lin" valueType="num">
                                      <p:cBhvr additive="base">
                                        <p:cTn id="39" dur="550" fill="hold"/>
                                        <p:tgtEl>
                                          <p:spTgt spid="10"/>
                                        </p:tgtEl>
                                        <p:attrNameLst>
                                          <p:attrName>ppt_w</p:attrName>
                                        </p:attrNameLst>
                                      </p:cBhvr>
                                      <p:tavLst>
                                        <p:tav tm="0">
                                          <p:val>
                                            <p:strVal val="0"/>
                                          </p:val>
                                        </p:tav>
                                        <p:tav tm="100000">
                                          <p:val>
                                            <p:strVal val="#ppt_w"/>
                                          </p:val>
                                        </p:tav>
                                      </p:tavLst>
                                    </p:anim>
                                    <p:anim calcmode="lin" valueType="num">
                                      <p:cBhvr additive="base">
                                        <p:cTn id="40" dur="550" fill="hold"/>
                                        <p:tgtEl>
                                          <p:spTgt spid="10"/>
                                        </p:tgtEl>
                                        <p:attrNameLst>
                                          <p:attrName>ppt_h</p:attrName>
                                        </p:attrNameLst>
                                      </p:cBhvr>
                                      <p:tavLst>
                                        <p:tav tm="0">
                                          <p:val>
                                            <p:strVal val="0"/>
                                          </p:val>
                                        </p:tav>
                                        <p:tav tm="100000">
                                          <p:val>
                                            <p:strVal val="#ppt_h"/>
                                          </p:val>
                                        </p:tav>
                                      </p:tavLst>
                                    </p:anim>
                                    <p:animEffect transition="in" filter="fade">
                                      <p:cBhvr>
                                        <p:cTn id="41" dur="550"/>
                                        <p:tgtEl>
                                          <p:spTgt spid="10"/>
                                        </p:tgtEl>
                                      </p:cBhvr>
                                    </p:animEffect>
                                  </p:childTnLst>
                                </p:cTn>
                              </p:par>
                              <p:par>
                                <p:cTn id="47" presetID="42" presetClass="entr" presetSubtype="0" fill="hold" grpId="0" nodeType="withEffect">
                                  <p:stCondLst>
                                    <p:cond delay="760"/>
                                  </p:stCondLst>
                                  <p:childTnLst>
                                    <p:set>
                                      <p:cBhvr>
                                        <p:cTn id="48" dur="1" fill="hold">
                                          <p:stCondLst>
                                            <p:cond delay="0"/>
                                          </p:stCondLst>
                                        </p:cTn>
                                        <p:tgtEl>
                                          <p:spTgt spid="11"/>
                                        </p:tgtEl>
                                        <p:attrNameLst>
                                          <p:attrName>style.visibility</p:attrName>
                                        </p:attrNameLst>
                                      </p:cBhvr>
                                      <p:to>
                                        <p:strVal val="visible"/>
                                      </p:to>
                                    </p:set>
                                    <p:animEffect transition="in" filter="fade">
                                      <p:cBhvr>
                                        <p:cTn id="44" dur="650"/>
                                        <p:tgtEl>
                                          <p:spTgt spid="11"/>
                                        </p:tgtEl>
                                      </p:cBhvr>
                                    </p:animEffect>
                                    <p:anim calcmode="lin" valueType="num">
                                      <p:cBhvr additive="base">
                                        <p:cTn id="45" dur="650" fill="hold"/>
                                        <p:tgtEl>
                                          <p:spTgt spid="11"/>
                                        </p:tgtEl>
                                        <p:attrNameLst>
                                          <p:attrName>ppt_x</p:attrName>
                                        </p:attrNameLst>
                                      </p:cBhvr>
                                      <p:tavLst>
                                        <p:tav tm="0">
                                          <p:val>
                                            <p:strVal val="#ppt_x-.06"/>
                                          </p:val>
                                        </p:tav>
                                        <p:tav tm="100000">
                                          <p:val>
                                            <p:strVal val="#ppt_x"/>
                                          </p:val>
                                        </p:tav>
                                      </p:tavLst>
                                    </p:anim>
                                    <p:anim calcmode="lin" valueType="num">
                                      <p:cBhvr additive="base">
                                        <p:cTn id="46" dur="650" fill="hold"/>
                                        <p:tgtEl>
                                          <p:spTgt spid="11"/>
                                        </p:tgtEl>
                                        <p:attrNameLst>
                                          <p:attrName>ppt_y</p:attrName>
                                        </p:attrNameLst>
                                      </p:cBhvr>
                                      <p:tavLst>
                                        <p:tav tm="0">
                                          <p:val>
                                            <p:strVal val="#ppt_y"/>
                                          </p:val>
                                        </p:tav>
                                        <p:tav tm="100000">
                                          <p:val>
                                            <p:strVal val="#ppt_y"/>
                                          </p:val>
                                        </p:tav>
                                      </p:tavLst>
                                    </p:anim>
                                  </p:childTnLst>
                                </p:cTn>
                              </p:par>
                              <p:par>
                                <p:cTn id="52" presetID="42" presetClass="entr" presetSubtype="0" fill="hold" grpId="0" nodeType="withEffect">
                                  <p:stCondLst>
                                    <p:cond delay="760"/>
                                  </p:stCondLst>
                                  <p:childTnLst>
                                    <p:set>
                                      <p:cBhvr>
                                        <p:cTn id="53" dur="1" fill="hold">
                                          <p:stCondLst>
                                            <p:cond delay="0"/>
                                          </p:stCondLst>
                                        </p:cTn>
                                        <p:tgtEl>
                                          <p:spTgt spid="12"/>
                                        </p:tgtEl>
                                        <p:attrNameLst>
                                          <p:attrName>style.visibility</p:attrName>
                                        </p:attrNameLst>
                                      </p:cBhvr>
                                      <p:to>
                                        <p:strVal val="visible"/>
                                      </p:to>
                                    </p:set>
                                    <p:animEffect transition="in" filter="fade">
                                      <p:cBhvr>
                                        <p:cTn id="49" dur="650"/>
                                        <p:tgtEl>
                                          <p:spTgt spid="12"/>
                                        </p:tgtEl>
                                      </p:cBhvr>
                                    </p:animEffect>
                                    <p:anim calcmode="lin" valueType="num">
                                      <p:cBhvr additive="base">
                                        <p:cTn id="50" dur="650" fill="hold"/>
                                        <p:tgtEl>
                                          <p:spTgt spid="12"/>
                                        </p:tgtEl>
                                        <p:attrNameLst>
                                          <p:attrName>ppt_x</p:attrName>
                                        </p:attrNameLst>
                                      </p:cBhvr>
                                      <p:tavLst>
                                        <p:tav tm="0">
                                          <p:val>
                                            <p:strVal val="#ppt_x-.06"/>
                                          </p:val>
                                        </p:tav>
                                        <p:tav tm="100000">
                                          <p:val>
                                            <p:strVal val="#ppt_x"/>
                                          </p:val>
                                        </p:tav>
                                      </p:tavLst>
                                    </p:anim>
                                    <p:anim calcmode="lin" valueType="num">
                                      <p:cBhvr additive="base">
                                        <p:cTn id="51" dur="650" fill="hold"/>
                                        <p:tgtEl>
                                          <p:spTgt spid="12"/>
                                        </p:tgtEl>
                                        <p:attrNameLst>
                                          <p:attrName>ppt_y</p:attrName>
                                        </p:attrNameLst>
                                      </p:cBhvr>
                                      <p:tavLst>
                                        <p:tav tm="0">
                                          <p:val>
                                            <p:strVal val="#ppt_y"/>
                                          </p:val>
                                        </p:tav>
                                        <p:tav tm="100000">
                                          <p:val>
                                            <p:strVal val="#ppt_y"/>
                                          </p:val>
                                        </p:tav>
                                      </p:tavLst>
                                    </p:anim>
                                  </p:childTnLst>
                                </p:cTn>
                              </p:par>
                              <p:par>
                                <p:cTn id="57" presetID="53" presetClass="entr" presetSubtype="16" fill="hold" grpId="0" nodeType="withEffect">
                                  <p:stCondLst>
                                    <p:cond delay="1140"/>
                                  </p:stCondLst>
                                  <p:childTnLst>
                                    <p:set>
                                      <p:cBhvr>
                                        <p:cTn id="58" dur="1" fill="hold">
                                          <p:stCondLst>
                                            <p:cond delay="0"/>
                                          </p:stCondLst>
                                        </p:cTn>
                                        <p:tgtEl>
                                          <p:spTgt spid="13"/>
                                        </p:tgtEl>
                                        <p:attrNameLst>
                                          <p:attrName>style.visibility</p:attrName>
                                        </p:attrNameLst>
                                      </p:cBhvr>
                                      <p:to>
                                        <p:strVal val="visible"/>
                                      </p:to>
                                    </p:set>
                                    <p:anim calcmode="lin" valueType="num">
                                      <p:cBhvr additive="base">
                                        <p:cTn id="54" dur="550" fill="hold"/>
                                        <p:tgtEl>
                                          <p:spTgt spid="13"/>
                                        </p:tgtEl>
                                        <p:attrNameLst>
                                          <p:attrName>ppt_w</p:attrName>
                                        </p:attrNameLst>
                                      </p:cBhvr>
                                      <p:tavLst>
                                        <p:tav tm="0">
                                          <p:val>
                                            <p:strVal val="0"/>
                                          </p:val>
                                        </p:tav>
                                        <p:tav tm="100000">
                                          <p:val>
                                            <p:strVal val="#ppt_w"/>
                                          </p:val>
                                        </p:tav>
                                      </p:tavLst>
                                    </p:anim>
                                    <p:anim calcmode="lin" valueType="num">
                                      <p:cBhvr additive="base">
                                        <p:cTn id="55" dur="550" fill="hold"/>
                                        <p:tgtEl>
                                          <p:spTgt spid="13"/>
                                        </p:tgtEl>
                                        <p:attrNameLst>
                                          <p:attrName>ppt_h</p:attrName>
                                        </p:attrNameLst>
                                      </p:cBhvr>
                                      <p:tavLst>
                                        <p:tav tm="0">
                                          <p:val>
                                            <p:strVal val="0"/>
                                          </p:val>
                                        </p:tav>
                                        <p:tav tm="100000">
                                          <p:val>
                                            <p:strVal val="#ppt_h"/>
                                          </p:val>
                                        </p:tav>
                                      </p:tavLst>
                                    </p:anim>
                                    <p:animEffect transition="in" filter="fade">
                                      <p:cBhvr>
                                        <p:cTn id="56" dur="550"/>
                                        <p:tgtEl>
                                          <p:spTgt spid="13"/>
                                        </p:tgtEl>
                                      </p:cBhvr>
                                    </p:animEffect>
                                  </p:childTnLst>
                                </p:cTn>
                              </p:par>
                              <p:par>
                                <p:cTn id="62" presetID="53" presetClass="entr" presetSubtype="16" fill="hold" grpId="0" nodeType="withEffect">
                                  <p:stCondLst>
                                    <p:cond delay="1140"/>
                                  </p:stCondLst>
                                  <p:childTnLst>
                                    <p:set>
                                      <p:cBhvr>
                                        <p:cTn id="63" dur="1" fill="hold">
                                          <p:stCondLst>
                                            <p:cond delay="0"/>
                                          </p:stCondLst>
                                        </p:cTn>
                                        <p:tgtEl>
                                          <p:spTgt spid="14"/>
                                        </p:tgtEl>
                                        <p:attrNameLst>
                                          <p:attrName>style.visibility</p:attrName>
                                        </p:attrNameLst>
                                      </p:cBhvr>
                                      <p:to>
                                        <p:strVal val="visible"/>
                                      </p:to>
                                    </p:set>
                                    <p:anim calcmode="lin" valueType="num">
                                      <p:cBhvr additive="base">
                                        <p:cTn id="59" dur="550" fill="hold"/>
                                        <p:tgtEl>
                                          <p:spTgt spid="14"/>
                                        </p:tgtEl>
                                        <p:attrNameLst>
                                          <p:attrName>ppt_w</p:attrName>
                                        </p:attrNameLst>
                                      </p:cBhvr>
                                      <p:tavLst>
                                        <p:tav tm="0">
                                          <p:val>
                                            <p:strVal val="0"/>
                                          </p:val>
                                        </p:tav>
                                        <p:tav tm="100000">
                                          <p:val>
                                            <p:strVal val="#ppt_w"/>
                                          </p:val>
                                        </p:tav>
                                      </p:tavLst>
                                    </p:anim>
                                    <p:anim calcmode="lin" valueType="num">
                                      <p:cBhvr additive="base">
                                        <p:cTn id="60" dur="550" fill="hold"/>
                                        <p:tgtEl>
                                          <p:spTgt spid="14"/>
                                        </p:tgtEl>
                                        <p:attrNameLst>
                                          <p:attrName>ppt_h</p:attrName>
                                        </p:attrNameLst>
                                      </p:cBhvr>
                                      <p:tavLst>
                                        <p:tav tm="0">
                                          <p:val>
                                            <p:strVal val="0"/>
                                          </p:val>
                                        </p:tav>
                                        <p:tav tm="100000">
                                          <p:val>
                                            <p:strVal val="#ppt_h"/>
                                          </p:val>
                                        </p:tav>
                                      </p:tavLst>
                                    </p:anim>
                                    <p:animEffect transition="in" filter="fade">
                                      <p:cBhvr>
                                        <p:cTn id="61" dur="550"/>
                                        <p:tgtEl>
                                          <p:spTgt spid="14"/>
                                        </p:tgtEl>
                                      </p:cBhvr>
                                    </p:animEffect>
                                  </p:childTnLst>
                                </p:cTn>
                              </p:par>
                              <p:par>
                                <p:cTn id="67" presetID="42" presetClass="entr" presetSubtype="0" fill="hold" grpId="0" nodeType="withEffect">
                                  <p:stCondLst>
                                    <p:cond delay="1140"/>
                                  </p:stCondLst>
                                  <p:childTnLst>
                                    <p:set>
                                      <p:cBhvr>
                                        <p:cTn id="68" dur="1" fill="hold">
                                          <p:stCondLst>
                                            <p:cond delay="0"/>
                                          </p:stCondLst>
                                        </p:cTn>
                                        <p:tgtEl>
                                          <p:spTgt spid="15"/>
                                        </p:tgtEl>
                                        <p:attrNameLst>
                                          <p:attrName>style.visibility</p:attrName>
                                        </p:attrNameLst>
                                      </p:cBhvr>
                                      <p:to>
                                        <p:strVal val="visible"/>
                                      </p:to>
                                    </p:set>
                                    <p:animEffect transition="in" filter="fade">
                                      <p:cBhvr>
                                        <p:cTn id="64" dur="650"/>
                                        <p:tgtEl>
                                          <p:spTgt spid="15"/>
                                        </p:tgtEl>
                                      </p:cBhvr>
                                    </p:animEffect>
                                    <p:anim calcmode="lin" valueType="num">
                                      <p:cBhvr additive="base">
                                        <p:cTn id="65" dur="650" fill="hold"/>
                                        <p:tgtEl>
                                          <p:spTgt spid="15"/>
                                        </p:tgtEl>
                                        <p:attrNameLst>
                                          <p:attrName>ppt_x</p:attrName>
                                        </p:attrNameLst>
                                      </p:cBhvr>
                                      <p:tavLst>
                                        <p:tav tm="0">
                                          <p:val>
                                            <p:strVal val="#ppt_x-.06"/>
                                          </p:val>
                                        </p:tav>
                                        <p:tav tm="100000">
                                          <p:val>
                                            <p:strVal val="#ppt_x"/>
                                          </p:val>
                                        </p:tav>
                                      </p:tavLst>
                                    </p:anim>
                                    <p:anim calcmode="lin" valueType="num">
                                      <p:cBhvr additive="base">
                                        <p:cTn id="66" dur="650" fill="hold"/>
                                        <p:tgtEl>
                                          <p:spTgt spid="15"/>
                                        </p:tgtEl>
                                        <p:attrNameLst>
                                          <p:attrName>ppt_y</p:attrName>
                                        </p:attrNameLst>
                                      </p:cBhvr>
                                      <p:tavLst>
                                        <p:tav tm="0">
                                          <p:val>
                                            <p:strVal val="#ppt_y"/>
                                          </p:val>
                                        </p:tav>
                                        <p:tav tm="100000">
                                          <p:val>
                                            <p:strVal val="#ppt_y"/>
                                          </p:val>
                                        </p:tav>
                                      </p:tavLst>
                                    </p:anim>
                                  </p:childTnLst>
                                </p:cTn>
                              </p:par>
                              <p:par>
                                <p:cTn id="72" presetID="42" presetClass="entr" presetSubtype="0" fill="hold" grpId="0" nodeType="withEffect">
                                  <p:stCondLst>
                                    <p:cond delay="1140"/>
                                  </p:stCondLst>
                                  <p:childTnLst>
                                    <p:set>
                                      <p:cBhvr>
                                        <p:cTn id="73" dur="1" fill="hold">
                                          <p:stCondLst>
                                            <p:cond delay="0"/>
                                          </p:stCondLst>
                                        </p:cTn>
                                        <p:tgtEl>
                                          <p:spTgt spid="16"/>
                                        </p:tgtEl>
                                        <p:attrNameLst>
                                          <p:attrName>style.visibility</p:attrName>
                                        </p:attrNameLst>
                                      </p:cBhvr>
                                      <p:to>
                                        <p:strVal val="visible"/>
                                      </p:to>
                                    </p:set>
                                    <p:animEffect transition="in" filter="fade">
                                      <p:cBhvr>
                                        <p:cTn id="69" dur="650"/>
                                        <p:tgtEl>
                                          <p:spTgt spid="16"/>
                                        </p:tgtEl>
                                      </p:cBhvr>
                                    </p:animEffect>
                                    <p:anim calcmode="lin" valueType="num">
                                      <p:cBhvr additive="base">
                                        <p:cTn id="70" dur="650" fill="hold"/>
                                        <p:tgtEl>
                                          <p:spTgt spid="16"/>
                                        </p:tgtEl>
                                        <p:attrNameLst>
                                          <p:attrName>ppt_x</p:attrName>
                                        </p:attrNameLst>
                                      </p:cBhvr>
                                      <p:tavLst>
                                        <p:tav tm="0">
                                          <p:val>
                                            <p:strVal val="#ppt_x-.06"/>
                                          </p:val>
                                        </p:tav>
                                        <p:tav tm="100000">
                                          <p:val>
                                            <p:strVal val="#ppt_x"/>
                                          </p:val>
                                        </p:tav>
                                      </p:tavLst>
                                    </p:anim>
                                    <p:anim calcmode="lin" valueType="num">
                                      <p:cBhvr additive="base">
                                        <p:cTn id="71" dur="650" fill="hold"/>
                                        <p:tgtEl>
                                          <p:spTgt spid="16"/>
                                        </p:tgtEl>
                                        <p:attrNameLst>
                                          <p:attrName>ppt_y</p:attrName>
                                        </p:attrNameLst>
                                      </p:cBhvr>
                                      <p:tavLst>
                                        <p:tav tm="0">
                                          <p:val>
                                            <p:strVal val="#ppt_y"/>
                                          </p:val>
                                        </p:tav>
                                        <p:tav tm="100000">
                                          <p:val>
                                            <p:strVal val="#ppt_y"/>
                                          </p:val>
                                        </p:tav>
                                      </p:tavLst>
                                    </p:anim>
                                  </p:childTnLst>
                                </p:cTn>
                              </p:par>
                              <p:par>
                                <p:cTn id="77" presetID="53" presetClass="entr" presetSubtype="16" fill="hold" grpId="0" nodeType="withEffect">
                                  <p:stCondLst>
                                    <p:cond delay="1520"/>
                                  </p:stCondLst>
                                  <p:childTnLst>
                                    <p:set>
                                      <p:cBhvr>
                                        <p:cTn id="78" dur="1" fill="hold">
                                          <p:stCondLst>
                                            <p:cond delay="0"/>
                                          </p:stCondLst>
                                        </p:cTn>
                                        <p:tgtEl>
                                          <p:spTgt spid="17"/>
                                        </p:tgtEl>
                                        <p:attrNameLst>
                                          <p:attrName>style.visibility</p:attrName>
                                        </p:attrNameLst>
                                      </p:cBhvr>
                                      <p:to>
                                        <p:strVal val="visible"/>
                                      </p:to>
                                    </p:set>
                                    <p:anim calcmode="lin" valueType="num">
                                      <p:cBhvr additive="base">
                                        <p:cTn id="74" dur="550" fill="hold"/>
                                        <p:tgtEl>
                                          <p:spTgt spid="17"/>
                                        </p:tgtEl>
                                        <p:attrNameLst>
                                          <p:attrName>ppt_w</p:attrName>
                                        </p:attrNameLst>
                                      </p:cBhvr>
                                      <p:tavLst>
                                        <p:tav tm="0">
                                          <p:val>
                                            <p:strVal val="0"/>
                                          </p:val>
                                        </p:tav>
                                        <p:tav tm="100000">
                                          <p:val>
                                            <p:strVal val="#ppt_w"/>
                                          </p:val>
                                        </p:tav>
                                      </p:tavLst>
                                    </p:anim>
                                    <p:anim calcmode="lin" valueType="num">
                                      <p:cBhvr additive="base">
                                        <p:cTn id="75" dur="550" fill="hold"/>
                                        <p:tgtEl>
                                          <p:spTgt spid="17"/>
                                        </p:tgtEl>
                                        <p:attrNameLst>
                                          <p:attrName>ppt_h</p:attrName>
                                        </p:attrNameLst>
                                      </p:cBhvr>
                                      <p:tavLst>
                                        <p:tav tm="0">
                                          <p:val>
                                            <p:strVal val="0"/>
                                          </p:val>
                                        </p:tav>
                                        <p:tav tm="100000">
                                          <p:val>
                                            <p:strVal val="#ppt_h"/>
                                          </p:val>
                                        </p:tav>
                                      </p:tavLst>
                                    </p:anim>
                                    <p:animEffect transition="in" filter="fade">
                                      <p:cBhvr>
                                        <p:cTn id="76" dur="550"/>
                                        <p:tgtEl>
                                          <p:spTgt spid="17"/>
                                        </p:tgtEl>
                                      </p:cBhvr>
                                    </p:animEffect>
                                  </p:childTnLst>
                                </p:cTn>
                              </p:par>
                              <p:par>
                                <p:cTn id="82" presetID="53" presetClass="entr" presetSubtype="16" fill="hold" grpId="0" nodeType="withEffect">
                                  <p:stCondLst>
                                    <p:cond delay="1520"/>
                                  </p:stCondLst>
                                  <p:childTnLst>
                                    <p:set>
                                      <p:cBhvr>
                                        <p:cTn id="83" dur="1" fill="hold">
                                          <p:stCondLst>
                                            <p:cond delay="0"/>
                                          </p:stCondLst>
                                        </p:cTn>
                                        <p:tgtEl>
                                          <p:spTgt spid="18"/>
                                        </p:tgtEl>
                                        <p:attrNameLst>
                                          <p:attrName>style.visibility</p:attrName>
                                        </p:attrNameLst>
                                      </p:cBhvr>
                                      <p:to>
                                        <p:strVal val="visible"/>
                                      </p:to>
                                    </p:set>
                                    <p:anim calcmode="lin" valueType="num">
                                      <p:cBhvr additive="base">
                                        <p:cTn id="79" dur="550" fill="hold"/>
                                        <p:tgtEl>
                                          <p:spTgt spid="18"/>
                                        </p:tgtEl>
                                        <p:attrNameLst>
                                          <p:attrName>ppt_w</p:attrName>
                                        </p:attrNameLst>
                                      </p:cBhvr>
                                      <p:tavLst>
                                        <p:tav tm="0">
                                          <p:val>
                                            <p:strVal val="0"/>
                                          </p:val>
                                        </p:tav>
                                        <p:tav tm="100000">
                                          <p:val>
                                            <p:strVal val="#ppt_w"/>
                                          </p:val>
                                        </p:tav>
                                      </p:tavLst>
                                    </p:anim>
                                    <p:anim calcmode="lin" valueType="num">
                                      <p:cBhvr additive="base">
                                        <p:cTn id="80" dur="550" fill="hold"/>
                                        <p:tgtEl>
                                          <p:spTgt spid="18"/>
                                        </p:tgtEl>
                                        <p:attrNameLst>
                                          <p:attrName>ppt_h</p:attrName>
                                        </p:attrNameLst>
                                      </p:cBhvr>
                                      <p:tavLst>
                                        <p:tav tm="0">
                                          <p:val>
                                            <p:strVal val="0"/>
                                          </p:val>
                                        </p:tav>
                                        <p:tav tm="100000">
                                          <p:val>
                                            <p:strVal val="#ppt_h"/>
                                          </p:val>
                                        </p:tav>
                                      </p:tavLst>
                                    </p:anim>
                                    <p:animEffect transition="in" filter="fade">
                                      <p:cBhvr>
                                        <p:cTn id="81" dur="550"/>
                                        <p:tgtEl>
                                          <p:spTgt spid="18"/>
                                        </p:tgtEl>
                                      </p:cBhvr>
                                    </p:animEffect>
                                  </p:childTnLst>
                                </p:cTn>
                              </p:par>
                              <p:par>
                                <p:cTn id="87" presetID="42" presetClass="entr" presetSubtype="0" fill="hold" grpId="0" nodeType="withEffect">
                                  <p:stCondLst>
                                    <p:cond delay="1520"/>
                                  </p:stCondLst>
                                  <p:childTnLst>
                                    <p:set>
                                      <p:cBhvr>
                                        <p:cTn id="88" dur="1" fill="hold">
                                          <p:stCondLst>
                                            <p:cond delay="0"/>
                                          </p:stCondLst>
                                        </p:cTn>
                                        <p:tgtEl>
                                          <p:spTgt spid="19"/>
                                        </p:tgtEl>
                                        <p:attrNameLst>
                                          <p:attrName>style.visibility</p:attrName>
                                        </p:attrNameLst>
                                      </p:cBhvr>
                                      <p:to>
                                        <p:strVal val="visible"/>
                                      </p:to>
                                    </p:set>
                                    <p:animEffect transition="in" filter="fade">
                                      <p:cBhvr>
                                        <p:cTn id="84" dur="650"/>
                                        <p:tgtEl>
                                          <p:spTgt spid="19"/>
                                        </p:tgtEl>
                                      </p:cBhvr>
                                    </p:animEffect>
                                    <p:anim calcmode="lin" valueType="num">
                                      <p:cBhvr additive="base">
                                        <p:cTn id="85" dur="650" fill="hold"/>
                                        <p:tgtEl>
                                          <p:spTgt spid="19"/>
                                        </p:tgtEl>
                                        <p:attrNameLst>
                                          <p:attrName>ppt_x</p:attrName>
                                        </p:attrNameLst>
                                      </p:cBhvr>
                                      <p:tavLst>
                                        <p:tav tm="0">
                                          <p:val>
                                            <p:strVal val="#ppt_x-.06"/>
                                          </p:val>
                                        </p:tav>
                                        <p:tav tm="100000">
                                          <p:val>
                                            <p:strVal val="#ppt_x"/>
                                          </p:val>
                                        </p:tav>
                                      </p:tavLst>
                                    </p:anim>
                                    <p:anim calcmode="lin" valueType="num">
                                      <p:cBhvr additive="base">
                                        <p:cTn id="86" dur="650" fill="hold"/>
                                        <p:tgtEl>
                                          <p:spTgt spid="19"/>
                                        </p:tgtEl>
                                        <p:attrNameLst>
                                          <p:attrName>ppt_y</p:attrName>
                                        </p:attrNameLst>
                                      </p:cBhvr>
                                      <p:tavLst>
                                        <p:tav tm="0">
                                          <p:val>
                                            <p:strVal val="#ppt_y"/>
                                          </p:val>
                                        </p:tav>
                                        <p:tav tm="100000">
                                          <p:val>
                                            <p:strVal val="#ppt_y"/>
                                          </p:val>
                                        </p:tav>
                                      </p:tavLst>
                                    </p:anim>
                                  </p:childTnLst>
                                </p:cTn>
                              </p:par>
                              <p:par>
                                <p:cTn id="92" presetID="42" presetClass="entr" presetSubtype="0" fill="hold" grpId="0" nodeType="withEffect">
                                  <p:stCondLst>
                                    <p:cond delay="1520"/>
                                  </p:stCondLst>
                                  <p:childTnLst>
                                    <p:set>
                                      <p:cBhvr>
                                        <p:cTn id="93" dur="1" fill="hold">
                                          <p:stCondLst>
                                            <p:cond delay="0"/>
                                          </p:stCondLst>
                                        </p:cTn>
                                        <p:tgtEl>
                                          <p:spTgt spid="20"/>
                                        </p:tgtEl>
                                        <p:attrNameLst>
                                          <p:attrName>style.visibility</p:attrName>
                                        </p:attrNameLst>
                                      </p:cBhvr>
                                      <p:to>
                                        <p:strVal val="visible"/>
                                      </p:to>
                                    </p:set>
                                    <p:animEffect transition="in" filter="fade">
                                      <p:cBhvr>
                                        <p:cTn id="89" dur="650"/>
                                        <p:tgtEl>
                                          <p:spTgt spid="20"/>
                                        </p:tgtEl>
                                      </p:cBhvr>
                                    </p:animEffect>
                                    <p:anim calcmode="lin" valueType="num">
                                      <p:cBhvr additive="base">
                                        <p:cTn id="90" dur="650" fill="hold"/>
                                        <p:tgtEl>
                                          <p:spTgt spid="20"/>
                                        </p:tgtEl>
                                        <p:attrNameLst>
                                          <p:attrName>ppt_x</p:attrName>
                                        </p:attrNameLst>
                                      </p:cBhvr>
                                      <p:tavLst>
                                        <p:tav tm="0">
                                          <p:val>
                                            <p:strVal val="#ppt_x-.06"/>
                                          </p:val>
                                        </p:tav>
                                        <p:tav tm="100000">
                                          <p:val>
                                            <p:strVal val="#ppt_x"/>
                                          </p:val>
                                        </p:tav>
                                      </p:tavLst>
                                    </p:anim>
                                    <p:anim calcmode="lin" valueType="num">
                                      <p:cBhvr additive="base">
                                        <p:cTn id="91" dur="650" fill="hold"/>
                                        <p:tgtEl>
                                          <p:spTgt spid="20"/>
                                        </p:tgtEl>
                                        <p:attrNameLst>
                                          <p:attrName>ppt_y</p:attrName>
                                        </p:attrNameLst>
                                      </p:cBhvr>
                                      <p:tavLst>
                                        <p:tav tm="0">
                                          <p:val>
                                            <p:strVal val="#ppt_y"/>
                                          </p:val>
                                        </p:tav>
                                        <p:tav tm="100000">
                                          <p:val>
                                            <p:strVal val="#ppt_y"/>
                                          </p:val>
                                        </p:tav>
                                      </p:tavLst>
                                    </p:anim>
                                  </p:childTnLst>
                                </p:cTn>
                              </p:par>
                              <p:par>
                                <p:cTn id="97" presetID="53" presetClass="entr" presetSubtype="16" fill="hold" grpId="0" nodeType="withEffect">
                                  <p:stCondLst>
                                    <p:cond delay="1900"/>
                                  </p:stCondLst>
                                  <p:childTnLst>
                                    <p:set>
                                      <p:cBhvr>
                                        <p:cTn id="98" dur="1" fill="hold">
                                          <p:stCondLst>
                                            <p:cond delay="0"/>
                                          </p:stCondLst>
                                        </p:cTn>
                                        <p:tgtEl>
                                          <p:spTgt spid="21"/>
                                        </p:tgtEl>
                                        <p:attrNameLst>
                                          <p:attrName>style.visibility</p:attrName>
                                        </p:attrNameLst>
                                      </p:cBhvr>
                                      <p:to>
                                        <p:strVal val="visible"/>
                                      </p:to>
                                    </p:set>
                                    <p:anim calcmode="lin" valueType="num">
                                      <p:cBhvr additive="base">
                                        <p:cTn id="94" dur="550" fill="hold"/>
                                        <p:tgtEl>
                                          <p:spTgt spid="21"/>
                                        </p:tgtEl>
                                        <p:attrNameLst>
                                          <p:attrName>ppt_w</p:attrName>
                                        </p:attrNameLst>
                                      </p:cBhvr>
                                      <p:tavLst>
                                        <p:tav tm="0">
                                          <p:val>
                                            <p:strVal val="0"/>
                                          </p:val>
                                        </p:tav>
                                        <p:tav tm="100000">
                                          <p:val>
                                            <p:strVal val="#ppt_w"/>
                                          </p:val>
                                        </p:tav>
                                      </p:tavLst>
                                    </p:anim>
                                    <p:anim calcmode="lin" valueType="num">
                                      <p:cBhvr additive="base">
                                        <p:cTn id="95" dur="550" fill="hold"/>
                                        <p:tgtEl>
                                          <p:spTgt spid="21"/>
                                        </p:tgtEl>
                                        <p:attrNameLst>
                                          <p:attrName>ppt_h</p:attrName>
                                        </p:attrNameLst>
                                      </p:cBhvr>
                                      <p:tavLst>
                                        <p:tav tm="0">
                                          <p:val>
                                            <p:strVal val="0"/>
                                          </p:val>
                                        </p:tav>
                                        <p:tav tm="100000">
                                          <p:val>
                                            <p:strVal val="#ppt_h"/>
                                          </p:val>
                                        </p:tav>
                                      </p:tavLst>
                                    </p:anim>
                                    <p:animEffect transition="in" filter="fade">
                                      <p:cBhvr>
                                        <p:cTn id="96" dur="550"/>
                                        <p:tgtEl>
                                          <p:spTgt spid="21"/>
                                        </p:tgtEl>
                                      </p:cBhvr>
                                    </p:animEffect>
                                  </p:childTnLst>
                                </p:cTn>
                              </p:par>
                              <p:par>
                                <p:cTn id="102" presetID="53" presetClass="entr" presetSubtype="16" fill="hold" grpId="0" nodeType="withEffect">
                                  <p:stCondLst>
                                    <p:cond delay="1900"/>
                                  </p:stCondLst>
                                  <p:childTnLst>
                                    <p:set>
                                      <p:cBhvr>
                                        <p:cTn id="103" dur="1" fill="hold">
                                          <p:stCondLst>
                                            <p:cond delay="0"/>
                                          </p:stCondLst>
                                        </p:cTn>
                                        <p:tgtEl>
                                          <p:spTgt spid="22"/>
                                        </p:tgtEl>
                                        <p:attrNameLst>
                                          <p:attrName>style.visibility</p:attrName>
                                        </p:attrNameLst>
                                      </p:cBhvr>
                                      <p:to>
                                        <p:strVal val="visible"/>
                                      </p:to>
                                    </p:set>
                                    <p:anim calcmode="lin" valueType="num">
                                      <p:cBhvr additive="base">
                                        <p:cTn id="99" dur="550" fill="hold"/>
                                        <p:tgtEl>
                                          <p:spTgt spid="22"/>
                                        </p:tgtEl>
                                        <p:attrNameLst>
                                          <p:attrName>ppt_w</p:attrName>
                                        </p:attrNameLst>
                                      </p:cBhvr>
                                      <p:tavLst>
                                        <p:tav tm="0">
                                          <p:val>
                                            <p:strVal val="0"/>
                                          </p:val>
                                        </p:tav>
                                        <p:tav tm="100000">
                                          <p:val>
                                            <p:strVal val="#ppt_w"/>
                                          </p:val>
                                        </p:tav>
                                      </p:tavLst>
                                    </p:anim>
                                    <p:anim calcmode="lin" valueType="num">
                                      <p:cBhvr additive="base">
                                        <p:cTn id="100" dur="550" fill="hold"/>
                                        <p:tgtEl>
                                          <p:spTgt spid="22"/>
                                        </p:tgtEl>
                                        <p:attrNameLst>
                                          <p:attrName>ppt_h</p:attrName>
                                        </p:attrNameLst>
                                      </p:cBhvr>
                                      <p:tavLst>
                                        <p:tav tm="0">
                                          <p:val>
                                            <p:strVal val="0"/>
                                          </p:val>
                                        </p:tav>
                                        <p:tav tm="100000">
                                          <p:val>
                                            <p:strVal val="#ppt_h"/>
                                          </p:val>
                                        </p:tav>
                                      </p:tavLst>
                                    </p:anim>
                                    <p:animEffect transition="in" filter="fade">
                                      <p:cBhvr>
                                        <p:cTn id="101" dur="550"/>
                                        <p:tgtEl>
                                          <p:spTgt spid="22"/>
                                        </p:tgtEl>
                                      </p:cBhvr>
                                    </p:animEffect>
                                  </p:childTnLst>
                                </p:cTn>
                              </p:par>
                              <p:par>
                                <p:cTn id="107" presetID="42" presetClass="entr" presetSubtype="0" fill="hold" grpId="0" nodeType="withEffect">
                                  <p:stCondLst>
                                    <p:cond delay="1900"/>
                                  </p:stCondLst>
                                  <p:childTnLst>
                                    <p:set>
                                      <p:cBhvr>
                                        <p:cTn id="108" dur="1" fill="hold">
                                          <p:stCondLst>
                                            <p:cond delay="0"/>
                                          </p:stCondLst>
                                        </p:cTn>
                                        <p:tgtEl>
                                          <p:spTgt spid="23"/>
                                        </p:tgtEl>
                                        <p:attrNameLst>
                                          <p:attrName>style.visibility</p:attrName>
                                        </p:attrNameLst>
                                      </p:cBhvr>
                                      <p:to>
                                        <p:strVal val="visible"/>
                                      </p:to>
                                    </p:set>
                                    <p:animEffect transition="in" filter="fade">
                                      <p:cBhvr>
                                        <p:cTn id="104" dur="650"/>
                                        <p:tgtEl>
                                          <p:spTgt spid="23"/>
                                        </p:tgtEl>
                                      </p:cBhvr>
                                    </p:animEffect>
                                    <p:anim calcmode="lin" valueType="num">
                                      <p:cBhvr additive="base">
                                        <p:cTn id="105" dur="650" fill="hold"/>
                                        <p:tgtEl>
                                          <p:spTgt spid="23"/>
                                        </p:tgtEl>
                                        <p:attrNameLst>
                                          <p:attrName>ppt_x</p:attrName>
                                        </p:attrNameLst>
                                      </p:cBhvr>
                                      <p:tavLst>
                                        <p:tav tm="0">
                                          <p:val>
                                            <p:strVal val="#ppt_x-.06"/>
                                          </p:val>
                                        </p:tav>
                                        <p:tav tm="100000">
                                          <p:val>
                                            <p:strVal val="#ppt_x"/>
                                          </p:val>
                                        </p:tav>
                                      </p:tavLst>
                                    </p:anim>
                                    <p:anim calcmode="lin" valueType="num">
                                      <p:cBhvr additive="base">
                                        <p:cTn id="106" dur="650" fill="hold"/>
                                        <p:tgtEl>
                                          <p:spTgt spid="23"/>
                                        </p:tgtEl>
                                        <p:attrNameLst>
                                          <p:attrName>ppt_y</p:attrName>
                                        </p:attrNameLst>
                                      </p:cBhvr>
                                      <p:tavLst>
                                        <p:tav tm="0">
                                          <p:val>
                                            <p:strVal val="#ppt_y"/>
                                          </p:val>
                                        </p:tav>
                                        <p:tav tm="100000">
                                          <p:val>
                                            <p:strVal val="#ppt_y"/>
                                          </p:val>
                                        </p:tav>
                                      </p:tavLst>
                                    </p:anim>
                                  </p:childTnLst>
                                </p:cTn>
                              </p:par>
                              <p:par>
                                <p:cTn id="112" presetID="42" presetClass="entr" presetSubtype="0" fill="hold" grpId="0" nodeType="withEffect">
                                  <p:stCondLst>
                                    <p:cond delay="1900"/>
                                  </p:stCondLst>
                                  <p:childTnLst>
                                    <p:set>
                                      <p:cBhvr>
                                        <p:cTn id="113" dur="1" fill="hold">
                                          <p:stCondLst>
                                            <p:cond delay="0"/>
                                          </p:stCondLst>
                                        </p:cTn>
                                        <p:tgtEl>
                                          <p:spTgt spid="24"/>
                                        </p:tgtEl>
                                        <p:attrNameLst>
                                          <p:attrName>style.visibility</p:attrName>
                                        </p:attrNameLst>
                                      </p:cBhvr>
                                      <p:to>
                                        <p:strVal val="visible"/>
                                      </p:to>
                                    </p:set>
                                    <p:animEffect transition="in" filter="fade">
                                      <p:cBhvr>
                                        <p:cTn id="109" dur="650"/>
                                        <p:tgtEl>
                                          <p:spTgt spid="24"/>
                                        </p:tgtEl>
                                      </p:cBhvr>
                                    </p:animEffect>
                                    <p:anim calcmode="lin" valueType="num">
                                      <p:cBhvr additive="base">
                                        <p:cTn id="110" dur="650" fill="hold"/>
                                        <p:tgtEl>
                                          <p:spTgt spid="24"/>
                                        </p:tgtEl>
                                        <p:attrNameLst>
                                          <p:attrName>ppt_x</p:attrName>
                                        </p:attrNameLst>
                                      </p:cBhvr>
                                      <p:tavLst>
                                        <p:tav tm="0">
                                          <p:val>
                                            <p:strVal val="#ppt_x-.06"/>
                                          </p:val>
                                        </p:tav>
                                        <p:tav tm="100000">
                                          <p:val>
                                            <p:strVal val="#ppt_x"/>
                                          </p:val>
                                        </p:tav>
                                      </p:tavLst>
                                    </p:anim>
                                    <p:anim calcmode="lin" valueType="num">
                                      <p:cBhvr additive="base">
                                        <p:cTn id="111" dur="65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10" grpId="0" animBg="1"/>
      <p:bldP spid="11" grpId="0" animBg="1"/>
      <p:bldP spid="12" grpId="0" animBg="1"/>
      <p:bldP spid="14" grpId="0" animBg="1"/>
      <p:bldP spid="15" grpId="0" animBg="1"/>
      <p:bldP spid="16" grpId="0" animBg="1"/>
      <p:bldP spid="18" grpId="0" animBg="1"/>
      <p:bldP spid="19" grpId="0" animBg="1"/>
      <p:bldP spid="20" grpId="0" animBg="1"/>
      <p:bldP spid="22" grpId="0" animBg="1"/>
      <p:bldP spid="23" grpId="0" animBg="1"/>
      <p:bldP spid="2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7406640" y="-1005840"/>
            <a:ext cx="2560320" cy="2560320"/>
          </a:xfrm>
          <a:prstGeom prst="rect">
            <a:avLst/>
          </a:prstGeom>
        </p:spPr>
      </p:pic>
      <p:sp>
        <p:nvSpPr>
          <p:cNvPr id="3" name="Text 0"/>
          <p:cNvSpPr txBox="1"/>
          <p:nvPr/>
        </p:nvSpPr>
        <p:spPr>
          <a:xfrm>
            <a:off x="457200" y="274320"/>
            <a:ext cx="6858000" cy="228600"/>
          </a:xfrm>
          <a:prstGeom prst="rect">
            <a:avLst/>
          </a:prstGeom>
          <a:noFill/>
          <a:ln/>
        </p:spPr>
        <p:txBody>
          <a:bodyPr wrap="square" lIns="0" tIns="0" rIns="0" bIns="0" rtlCol="0" anchor="t"/>
          <a:lstStyle/>
          <a:p>
            <a:pPr indent="0" marL="0">
              <a:buNone/>
            </a:pPr>
            <a:r>
              <a:rPr lang="en-US" sz="1050" b="1" spc="200" kern="0" dirty="0">
                <a:solidFill>
                  <a:srgbClr val="1F4FA8"/>
                </a:solidFill>
                <a:latin typeface="Calibri" pitchFamily="34" charset="0"/>
                <a:ea typeface="Calibri" pitchFamily="34" charset="-122"/>
                <a:cs typeface="Calibri" pitchFamily="34" charset="-120"/>
              </a:rPr>
              <a:t>INTRODUCTION</a:t>
            </a:r>
            <a:endParaRPr lang="en-US" sz="1050" dirty="0"/>
          </a:p>
        </p:txBody>
      </p:sp>
      <p:sp>
        <p:nvSpPr>
          <p:cNvPr id="4" name="Text 1"/>
          <p:cNvSpPr txBox="1"/>
          <p:nvPr/>
        </p:nvSpPr>
        <p:spPr>
          <a:xfrm>
            <a:off x="457200" y="502920"/>
            <a:ext cx="7863840" cy="548640"/>
          </a:xfrm>
          <a:prstGeom prst="rect">
            <a:avLst/>
          </a:prstGeom>
          <a:noFill/>
          <a:ln/>
        </p:spPr>
        <p:txBody>
          <a:bodyPr wrap="square" lIns="0" tIns="0" rIns="0" bIns="0" rtlCol="0" anchor="ctr"/>
          <a:lstStyle/>
          <a:p>
            <a:pPr indent="0" marL="0">
              <a:buNone/>
            </a:pPr>
            <a:r>
              <a:rPr lang="en-US" sz="2600" b="1" dirty="0">
                <a:solidFill>
                  <a:srgbClr val="0B1F4B"/>
                </a:solidFill>
                <a:latin typeface="Cambria" pitchFamily="34" charset="0"/>
                <a:ea typeface="Cambria" pitchFamily="34" charset="-122"/>
                <a:cs typeface="Cambria" pitchFamily="34" charset="-120"/>
              </a:rPr>
              <a:t>De Rome au marché unique : 35 ans de construction</a:t>
            </a:r>
            <a:endParaRPr lang="en-US" sz="2600" dirty="0"/>
          </a:p>
        </p:txBody>
      </p:sp>
      <p:sp>
        <p:nvSpPr>
          <p:cNvPr id="5" name="Text 2"/>
          <p:cNvSpPr txBox="1"/>
          <p:nvPr/>
        </p:nvSpPr>
        <p:spPr>
          <a:xfrm>
            <a:off x="8321040" y="4773168"/>
            <a:ext cx="365760" cy="228600"/>
          </a:xfrm>
          <a:prstGeom prst="rect">
            <a:avLst/>
          </a:prstGeom>
          <a:noFill/>
          <a:ln/>
        </p:spPr>
        <p:txBody>
          <a:bodyPr wrap="square" lIns="0" tIns="0" rIns="0" bIns="0" rtlCol="0" anchor="t"/>
          <a:lstStyle/>
          <a:p>
            <a:pPr algn="r" indent="0" marL="0">
              <a:buNone/>
            </a:pPr>
            <a:r>
              <a:rPr lang="en-US" sz="1000" dirty="0">
                <a:solidFill>
                  <a:srgbClr val="5B6478"/>
                </a:solidFill>
                <a:latin typeface="Calibri" pitchFamily="34" charset="0"/>
                <a:ea typeface="Calibri" pitchFamily="34" charset="-122"/>
                <a:cs typeface="Calibri" pitchFamily="34" charset="-120"/>
              </a:rPr>
              <a:t>3</a:t>
            </a:r>
            <a:endParaRPr lang="en-US" sz="1000" dirty="0"/>
          </a:p>
        </p:txBody>
      </p:sp>
      <p:sp>
        <p:nvSpPr>
          <p:cNvPr id="6" name="A1-wipe-30"/>
          <p:cNvSpPr/>
          <p:nvPr/>
        </p:nvSpPr>
        <p:spPr>
          <a:xfrm>
            <a:off x="640080" y="2606040"/>
            <a:ext cx="7863840" cy="0"/>
          </a:xfrm>
          <a:prstGeom prst="line">
            <a:avLst/>
          </a:prstGeom>
          <a:noFill/>
          <a:ln w="38100">
            <a:solidFill>
              <a:srgbClr val="0B1F4B"/>
            </a:solidFill>
            <a:prstDash val="solid"/>
          </a:ln>
        </p:spPr>
      </p:sp>
      <p:sp>
        <p:nvSpPr>
          <p:cNvPr id="7" name="A2-zoom-31"/>
          <p:cNvSpPr/>
          <p:nvPr/>
        </p:nvSpPr>
        <p:spPr>
          <a:xfrm>
            <a:off x="1124712" y="2450592"/>
            <a:ext cx="310896" cy="310896"/>
          </a:xfrm>
          <a:prstGeom prst="ellipse">
            <a:avLst/>
          </a:prstGeom>
          <a:solidFill>
            <a:srgbClr val="FFFFFF"/>
          </a:solidFill>
          <a:ln w="38100">
            <a:solidFill>
              <a:srgbClr val="1F4FA8"/>
            </a:solidFill>
            <a:prstDash val="solid"/>
          </a:ln>
        </p:spPr>
      </p:sp>
      <p:sp>
        <p:nvSpPr>
          <p:cNvPr id="8" name="A2-fadeup-32"/>
          <p:cNvSpPr txBox="1"/>
          <p:nvPr/>
        </p:nvSpPr>
        <p:spPr>
          <a:xfrm>
            <a:off x="502920" y="1234440"/>
            <a:ext cx="1554480" cy="411480"/>
          </a:xfrm>
          <a:prstGeom prst="rect">
            <a:avLst/>
          </a:prstGeom>
          <a:noFill/>
          <a:ln/>
        </p:spPr>
        <p:txBody>
          <a:bodyPr wrap="square" lIns="0" tIns="0" rIns="0" bIns="0" rtlCol="0" anchor="t"/>
          <a:lstStyle/>
          <a:p>
            <a:pPr algn="ctr" indent="0" marL="0">
              <a:buNone/>
            </a:pPr>
            <a:r>
              <a:rPr lang="en-US" sz="2400" b="1" dirty="0">
                <a:solidFill>
                  <a:srgbClr val="1F4FA8"/>
                </a:solidFill>
                <a:latin typeface="Cambria" pitchFamily="34" charset="0"/>
                <a:ea typeface="Cambria" pitchFamily="34" charset="-122"/>
                <a:cs typeface="Cambria" pitchFamily="34" charset="-120"/>
              </a:rPr>
              <a:t>1957</a:t>
            </a:r>
            <a:endParaRPr lang="en-US" sz="2400" dirty="0"/>
          </a:p>
        </p:txBody>
      </p:sp>
      <p:sp>
        <p:nvSpPr>
          <p:cNvPr id="9" name="A2-fadeup-33"/>
          <p:cNvSpPr txBox="1"/>
          <p:nvPr/>
        </p:nvSpPr>
        <p:spPr>
          <a:xfrm>
            <a:off x="411480" y="1645920"/>
            <a:ext cx="1737360" cy="274320"/>
          </a:xfrm>
          <a:prstGeom prst="rect">
            <a:avLst/>
          </a:prstGeom>
          <a:noFill/>
          <a:ln/>
        </p:spPr>
        <p:txBody>
          <a:bodyPr wrap="square" lIns="0" tIns="0" rIns="0" bIns="0" rtlCol="0" anchor="t"/>
          <a:lstStyle/>
          <a:p>
            <a:pPr algn="ctr" indent="0" marL="0">
              <a:buNone/>
            </a:pPr>
            <a:r>
              <a:rPr lang="en-US" sz="1250" b="1" dirty="0">
                <a:solidFill>
                  <a:srgbClr val="0B1F4B"/>
                </a:solidFill>
                <a:latin typeface="Calibri" pitchFamily="34" charset="0"/>
                <a:ea typeface="Calibri" pitchFamily="34" charset="-122"/>
                <a:cs typeface="Calibri" pitchFamily="34" charset="-120"/>
              </a:rPr>
              <a:t>Traité de Rome</a:t>
            </a:r>
            <a:endParaRPr lang="en-US" sz="1250" dirty="0"/>
          </a:p>
        </p:txBody>
      </p:sp>
      <p:sp>
        <p:nvSpPr>
          <p:cNvPr id="10" name="A2-fadeup-34"/>
          <p:cNvSpPr txBox="1"/>
          <p:nvPr/>
        </p:nvSpPr>
        <p:spPr>
          <a:xfrm>
            <a:off x="475488" y="1929384"/>
            <a:ext cx="1609344" cy="548640"/>
          </a:xfrm>
          <a:prstGeom prst="rect">
            <a:avLst/>
          </a:prstGeom>
          <a:noFill/>
          <a:ln/>
        </p:spPr>
        <p:txBody>
          <a:bodyPr wrap="square" lIns="0" tIns="0" rIns="0" bIns="0" rtlCol="0" anchor="t"/>
          <a:lstStyle/>
          <a:p>
            <a:pPr algn="ctr" indent="0" marL="0">
              <a:buNone/>
            </a:pPr>
            <a:r>
              <a:rPr lang="en-US" sz="1000" dirty="0">
                <a:solidFill>
                  <a:srgbClr val="5B6478"/>
                </a:solidFill>
                <a:latin typeface="Calibri" pitchFamily="34" charset="0"/>
                <a:ea typeface="Calibri" pitchFamily="34" charset="-122"/>
                <a:cs typeface="Calibri" pitchFamily="34" charset="-120"/>
              </a:rPr>
              <a:t>Création de la CEE : un marché commun à 6 pays</a:t>
            </a:r>
            <a:endParaRPr lang="en-US" sz="1000" dirty="0"/>
          </a:p>
        </p:txBody>
      </p:sp>
      <p:sp>
        <p:nvSpPr>
          <p:cNvPr id="11" name="A3-zoom-35"/>
          <p:cNvSpPr/>
          <p:nvPr/>
        </p:nvSpPr>
        <p:spPr>
          <a:xfrm>
            <a:off x="2770632" y="2450592"/>
            <a:ext cx="310896" cy="310896"/>
          </a:xfrm>
          <a:prstGeom prst="ellipse">
            <a:avLst/>
          </a:prstGeom>
          <a:solidFill>
            <a:srgbClr val="FFFFFF"/>
          </a:solidFill>
          <a:ln w="38100">
            <a:solidFill>
              <a:srgbClr val="1F4FA8"/>
            </a:solidFill>
            <a:prstDash val="solid"/>
          </a:ln>
        </p:spPr>
      </p:sp>
      <p:sp>
        <p:nvSpPr>
          <p:cNvPr id="12" name="A3-fadeup-36"/>
          <p:cNvSpPr txBox="1"/>
          <p:nvPr/>
        </p:nvSpPr>
        <p:spPr>
          <a:xfrm>
            <a:off x="2148840" y="2926080"/>
            <a:ext cx="1554480" cy="411480"/>
          </a:xfrm>
          <a:prstGeom prst="rect">
            <a:avLst/>
          </a:prstGeom>
          <a:noFill/>
          <a:ln/>
        </p:spPr>
        <p:txBody>
          <a:bodyPr wrap="square" lIns="0" tIns="0" rIns="0" bIns="0" rtlCol="0" anchor="t"/>
          <a:lstStyle/>
          <a:p>
            <a:pPr algn="ctr" indent="0" marL="0">
              <a:buNone/>
            </a:pPr>
            <a:r>
              <a:rPr lang="en-US" sz="2400" b="1" dirty="0">
                <a:solidFill>
                  <a:srgbClr val="1F4FA8"/>
                </a:solidFill>
                <a:latin typeface="Cambria" pitchFamily="34" charset="0"/>
                <a:ea typeface="Cambria" pitchFamily="34" charset="-122"/>
                <a:cs typeface="Cambria" pitchFamily="34" charset="-120"/>
              </a:rPr>
              <a:t>1968</a:t>
            </a:r>
            <a:endParaRPr lang="en-US" sz="2400" dirty="0"/>
          </a:p>
        </p:txBody>
      </p:sp>
      <p:sp>
        <p:nvSpPr>
          <p:cNvPr id="13" name="A3-fadeup-37"/>
          <p:cNvSpPr txBox="1"/>
          <p:nvPr/>
        </p:nvSpPr>
        <p:spPr>
          <a:xfrm>
            <a:off x="2057400" y="3337560"/>
            <a:ext cx="1737360" cy="274320"/>
          </a:xfrm>
          <a:prstGeom prst="rect">
            <a:avLst/>
          </a:prstGeom>
          <a:noFill/>
          <a:ln/>
        </p:spPr>
        <p:txBody>
          <a:bodyPr wrap="square" lIns="0" tIns="0" rIns="0" bIns="0" rtlCol="0" anchor="t"/>
          <a:lstStyle/>
          <a:p>
            <a:pPr algn="ctr" indent="0" marL="0">
              <a:buNone/>
            </a:pPr>
            <a:r>
              <a:rPr lang="en-US" sz="1250" b="1" dirty="0">
                <a:solidFill>
                  <a:srgbClr val="0B1F4B"/>
                </a:solidFill>
                <a:latin typeface="Calibri" pitchFamily="34" charset="0"/>
                <a:ea typeface="Calibri" pitchFamily="34" charset="-122"/>
                <a:cs typeface="Calibri" pitchFamily="34" charset="-120"/>
              </a:rPr>
              <a:t>Union douanière</a:t>
            </a:r>
            <a:endParaRPr lang="en-US" sz="1250" dirty="0"/>
          </a:p>
        </p:txBody>
      </p:sp>
      <p:sp>
        <p:nvSpPr>
          <p:cNvPr id="14" name="A3-fadeup-38"/>
          <p:cNvSpPr txBox="1"/>
          <p:nvPr/>
        </p:nvSpPr>
        <p:spPr>
          <a:xfrm>
            <a:off x="2121408" y="3621024"/>
            <a:ext cx="1609344" cy="548640"/>
          </a:xfrm>
          <a:prstGeom prst="rect">
            <a:avLst/>
          </a:prstGeom>
          <a:noFill/>
          <a:ln/>
        </p:spPr>
        <p:txBody>
          <a:bodyPr wrap="square" lIns="0" tIns="0" rIns="0" bIns="0" rtlCol="0" anchor="t"/>
          <a:lstStyle/>
          <a:p>
            <a:pPr algn="ctr" indent="0" marL="0">
              <a:buNone/>
            </a:pPr>
            <a:r>
              <a:rPr lang="en-US" sz="1000" dirty="0">
                <a:solidFill>
                  <a:srgbClr val="5B6478"/>
                </a:solidFill>
                <a:latin typeface="Calibri" pitchFamily="34" charset="0"/>
                <a:ea typeface="Calibri" pitchFamily="34" charset="-122"/>
                <a:cs typeface="Calibri" pitchFamily="34" charset="-120"/>
              </a:rPr>
              <a:t>Fin des droits de douane internes + tarif extérieur commun</a:t>
            </a:r>
            <a:endParaRPr lang="en-US" sz="1000" dirty="0"/>
          </a:p>
        </p:txBody>
      </p:sp>
      <p:sp>
        <p:nvSpPr>
          <p:cNvPr id="15" name="A4-zoom-39"/>
          <p:cNvSpPr/>
          <p:nvPr/>
        </p:nvSpPr>
        <p:spPr>
          <a:xfrm>
            <a:off x="4416552" y="2450592"/>
            <a:ext cx="310896" cy="310896"/>
          </a:xfrm>
          <a:prstGeom prst="ellipse">
            <a:avLst/>
          </a:prstGeom>
          <a:solidFill>
            <a:srgbClr val="FFFFFF"/>
          </a:solidFill>
          <a:ln w="38100">
            <a:solidFill>
              <a:srgbClr val="1F4FA8"/>
            </a:solidFill>
            <a:prstDash val="solid"/>
          </a:ln>
        </p:spPr>
      </p:sp>
      <p:sp>
        <p:nvSpPr>
          <p:cNvPr id="16" name="A4-fadeup-40"/>
          <p:cNvSpPr txBox="1"/>
          <p:nvPr/>
        </p:nvSpPr>
        <p:spPr>
          <a:xfrm>
            <a:off x="3794760" y="1234440"/>
            <a:ext cx="1554480" cy="411480"/>
          </a:xfrm>
          <a:prstGeom prst="rect">
            <a:avLst/>
          </a:prstGeom>
          <a:noFill/>
          <a:ln/>
        </p:spPr>
        <p:txBody>
          <a:bodyPr wrap="square" lIns="0" tIns="0" rIns="0" bIns="0" rtlCol="0" anchor="t"/>
          <a:lstStyle/>
          <a:p>
            <a:pPr algn="ctr" indent="0" marL="0">
              <a:buNone/>
            </a:pPr>
            <a:r>
              <a:rPr lang="en-US" sz="2400" b="1" dirty="0">
                <a:solidFill>
                  <a:srgbClr val="1F4FA8"/>
                </a:solidFill>
                <a:latin typeface="Cambria" pitchFamily="34" charset="0"/>
                <a:ea typeface="Cambria" pitchFamily="34" charset="-122"/>
                <a:cs typeface="Cambria" pitchFamily="34" charset="-120"/>
              </a:rPr>
              <a:t>1985</a:t>
            </a:r>
            <a:endParaRPr lang="en-US" sz="2400" dirty="0"/>
          </a:p>
        </p:txBody>
      </p:sp>
      <p:sp>
        <p:nvSpPr>
          <p:cNvPr id="17" name="A4-fadeup-41"/>
          <p:cNvSpPr txBox="1"/>
          <p:nvPr/>
        </p:nvSpPr>
        <p:spPr>
          <a:xfrm>
            <a:off x="3703320" y="1645920"/>
            <a:ext cx="1737360" cy="274320"/>
          </a:xfrm>
          <a:prstGeom prst="rect">
            <a:avLst/>
          </a:prstGeom>
          <a:noFill/>
          <a:ln/>
        </p:spPr>
        <p:txBody>
          <a:bodyPr wrap="square" lIns="0" tIns="0" rIns="0" bIns="0" rtlCol="0" anchor="t"/>
          <a:lstStyle/>
          <a:p>
            <a:pPr algn="ctr" indent="0" marL="0">
              <a:buNone/>
            </a:pPr>
            <a:r>
              <a:rPr lang="en-US" sz="1250" b="1" dirty="0">
                <a:solidFill>
                  <a:srgbClr val="0B1F4B"/>
                </a:solidFill>
                <a:latin typeface="Calibri" pitchFamily="34" charset="0"/>
                <a:ea typeface="Calibri" pitchFamily="34" charset="-122"/>
                <a:cs typeface="Calibri" pitchFamily="34" charset="-120"/>
              </a:rPr>
              <a:t>Livre blanc Delors</a:t>
            </a:r>
            <a:endParaRPr lang="en-US" sz="1250" dirty="0"/>
          </a:p>
        </p:txBody>
      </p:sp>
      <p:sp>
        <p:nvSpPr>
          <p:cNvPr id="18" name="A4-fadeup-42"/>
          <p:cNvSpPr txBox="1"/>
          <p:nvPr/>
        </p:nvSpPr>
        <p:spPr>
          <a:xfrm>
            <a:off x="3767328" y="1929384"/>
            <a:ext cx="1609344" cy="548640"/>
          </a:xfrm>
          <a:prstGeom prst="rect">
            <a:avLst/>
          </a:prstGeom>
          <a:noFill/>
          <a:ln/>
        </p:spPr>
        <p:txBody>
          <a:bodyPr wrap="square" lIns="0" tIns="0" rIns="0" bIns="0" rtlCol="0" anchor="t"/>
          <a:lstStyle/>
          <a:p>
            <a:pPr algn="ctr" indent="0" marL="0">
              <a:buNone/>
            </a:pPr>
            <a:r>
              <a:rPr lang="en-US" sz="1000" dirty="0">
                <a:solidFill>
                  <a:srgbClr val="5B6478"/>
                </a:solidFill>
                <a:latin typeface="Calibri" pitchFamily="34" charset="0"/>
                <a:ea typeface="Calibri" pitchFamily="34" charset="-122"/>
                <a:cs typeface="Calibri" pitchFamily="34" charset="-120"/>
              </a:rPr>
              <a:t>279 barrières non tarifaires à éliminer d'ici 1992</a:t>
            </a:r>
            <a:endParaRPr lang="en-US" sz="1000" dirty="0"/>
          </a:p>
        </p:txBody>
      </p:sp>
      <p:sp>
        <p:nvSpPr>
          <p:cNvPr id="19" name="A5-zoom-43"/>
          <p:cNvSpPr/>
          <p:nvPr/>
        </p:nvSpPr>
        <p:spPr>
          <a:xfrm>
            <a:off x="6062472" y="2450592"/>
            <a:ext cx="310896" cy="310896"/>
          </a:xfrm>
          <a:prstGeom prst="ellipse">
            <a:avLst/>
          </a:prstGeom>
          <a:solidFill>
            <a:srgbClr val="FFFFFF"/>
          </a:solidFill>
          <a:ln w="38100">
            <a:solidFill>
              <a:srgbClr val="1F4FA8"/>
            </a:solidFill>
            <a:prstDash val="solid"/>
          </a:ln>
        </p:spPr>
      </p:sp>
      <p:sp>
        <p:nvSpPr>
          <p:cNvPr id="20" name="A5-fadeup-44"/>
          <p:cNvSpPr txBox="1"/>
          <p:nvPr/>
        </p:nvSpPr>
        <p:spPr>
          <a:xfrm>
            <a:off x="5440680" y="2926080"/>
            <a:ext cx="1554480" cy="411480"/>
          </a:xfrm>
          <a:prstGeom prst="rect">
            <a:avLst/>
          </a:prstGeom>
          <a:noFill/>
          <a:ln/>
        </p:spPr>
        <p:txBody>
          <a:bodyPr wrap="square" lIns="0" tIns="0" rIns="0" bIns="0" rtlCol="0" anchor="t"/>
          <a:lstStyle/>
          <a:p>
            <a:pPr algn="ctr" indent="0" marL="0">
              <a:buNone/>
            </a:pPr>
            <a:r>
              <a:rPr lang="en-US" sz="2400" b="1" dirty="0">
                <a:solidFill>
                  <a:srgbClr val="1F4FA8"/>
                </a:solidFill>
                <a:latin typeface="Cambria" pitchFamily="34" charset="0"/>
                <a:ea typeface="Cambria" pitchFamily="34" charset="-122"/>
                <a:cs typeface="Cambria" pitchFamily="34" charset="-120"/>
              </a:rPr>
              <a:t>1986</a:t>
            </a:r>
            <a:endParaRPr lang="en-US" sz="2400" dirty="0"/>
          </a:p>
        </p:txBody>
      </p:sp>
      <p:sp>
        <p:nvSpPr>
          <p:cNvPr id="21" name="A5-fadeup-45"/>
          <p:cNvSpPr txBox="1"/>
          <p:nvPr/>
        </p:nvSpPr>
        <p:spPr>
          <a:xfrm>
            <a:off x="5349240" y="3337560"/>
            <a:ext cx="1737360" cy="274320"/>
          </a:xfrm>
          <a:prstGeom prst="rect">
            <a:avLst/>
          </a:prstGeom>
          <a:noFill/>
          <a:ln/>
        </p:spPr>
        <p:txBody>
          <a:bodyPr wrap="square" lIns="0" tIns="0" rIns="0" bIns="0" rtlCol="0" anchor="t"/>
          <a:lstStyle/>
          <a:p>
            <a:pPr algn="ctr" indent="0" marL="0">
              <a:buNone/>
            </a:pPr>
            <a:r>
              <a:rPr lang="en-US" sz="1250" b="1" dirty="0">
                <a:solidFill>
                  <a:srgbClr val="0B1F4B"/>
                </a:solidFill>
                <a:latin typeface="Calibri" pitchFamily="34" charset="0"/>
                <a:ea typeface="Calibri" pitchFamily="34" charset="-122"/>
                <a:cs typeface="Calibri" pitchFamily="34" charset="-120"/>
              </a:rPr>
              <a:t>Acte unique européen</a:t>
            </a:r>
            <a:endParaRPr lang="en-US" sz="1250" dirty="0"/>
          </a:p>
        </p:txBody>
      </p:sp>
      <p:sp>
        <p:nvSpPr>
          <p:cNvPr id="22" name="A5-fadeup-46"/>
          <p:cNvSpPr txBox="1"/>
          <p:nvPr/>
        </p:nvSpPr>
        <p:spPr>
          <a:xfrm>
            <a:off x="5413248" y="3621024"/>
            <a:ext cx="1609344" cy="548640"/>
          </a:xfrm>
          <a:prstGeom prst="rect">
            <a:avLst/>
          </a:prstGeom>
          <a:noFill/>
          <a:ln/>
        </p:spPr>
        <p:txBody>
          <a:bodyPr wrap="square" lIns="0" tIns="0" rIns="0" bIns="0" rtlCol="0" anchor="t"/>
          <a:lstStyle/>
          <a:p>
            <a:pPr algn="ctr" indent="0" marL="0">
              <a:buNone/>
            </a:pPr>
            <a:r>
              <a:rPr lang="en-US" sz="1000" dirty="0">
                <a:solidFill>
                  <a:srgbClr val="5B6478"/>
                </a:solidFill>
                <a:latin typeface="Calibri" pitchFamily="34" charset="0"/>
                <a:ea typeface="Calibri" pitchFamily="34" charset="-122"/>
                <a:cs typeface="Calibri" pitchFamily="34" charset="-120"/>
              </a:rPr>
              <a:t>Signé en 1986, appliqué dès le 1er juillet 1987</a:t>
            </a:r>
            <a:endParaRPr lang="en-US" sz="1000" dirty="0"/>
          </a:p>
        </p:txBody>
      </p:sp>
      <p:sp>
        <p:nvSpPr>
          <p:cNvPr id="23" name="A6-zoom-47"/>
          <p:cNvSpPr/>
          <p:nvPr/>
        </p:nvSpPr>
        <p:spPr>
          <a:xfrm>
            <a:off x="7708392" y="2450592"/>
            <a:ext cx="310896" cy="310896"/>
          </a:xfrm>
          <a:prstGeom prst="ellipse">
            <a:avLst/>
          </a:prstGeom>
          <a:solidFill>
            <a:srgbClr val="FFC21A"/>
          </a:solidFill>
          <a:ln w="38100">
            <a:solidFill>
              <a:srgbClr val="B98500"/>
            </a:solidFill>
            <a:prstDash val="solid"/>
          </a:ln>
        </p:spPr>
      </p:sp>
      <p:sp>
        <p:nvSpPr>
          <p:cNvPr id="24" name="A6-fadeup-48"/>
          <p:cNvSpPr txBox="1"/>
          <p:nvPr/>
        </p:nvSpPr>
        <p:spPr>
          <a:xfrm>
            <a:off x="7086600" y="1234440"/>
            <a:ext cx="1554480" cy="411480"/>
          </a:xfrm>
          <a:prstGeom prst="rect">
            <a:avLst/>
          </a:prstGeom>
          <a:noFill/>
          <a:ln/>
        </p:spPr>
        <p:txBody>
          <a:bodyPr wrap="square" lIns="0" tIns="0" rIns="0" bIns="0" rtlCol="0" anchor="t"/>
          <a:lstStyle/>
          <a:p>
            <a:pPr algn="ctr" indent="0" marL="0">
              <a:buNone/>
            </a:pPr>
            <a:r>
              <a:rPr lang="en-US" sz="2400" b="1" dirty="0">
                <a:solidFill>
                  <a:srgbClr val="B98500"/>
                </a:solidFill>
                <a:latin typeface="Cambria" pitchFamily="34" charset="0"/>
                <a:ea typeface="Cambria" pitchFamily="34" charset="-122"/>
                <a:cs typeface="Cambria" pitchFamily="34" charset="-120"/>
              </a:rPr>
              <a:t>1993</a:t>
            </a:r>
            <a:endParaRPr lang="en-US" sz="2400" dirty="0"/>
          </a:p>
        </p:txBody>
      </p:sp>
      <p:sp>
        <p:nvSpPr>
          <p:cNvPr id="25" name="A6-fadeup-49"/>
          <p:cNvSpPr txBox="1"/>
          <p:nvPr/>
        </p:nvSpPr>
        <p:spPr>
          <a:xfrm>
            <a:off x="6995160" y="1645920"/>
            <a:ext cx="1737360" cy="274320"/>
          </a:xfrm>
          <a:prstGeom prst="rect">
            <a:avLst/>
          </a:prstGeom>
          <a:noFill/>
          <a:ln/>
        </p:spPr>
        <p:txBody>
          <a:bodyPr wrap="square" lIns="0" tIns="0" rIns="0" bIns="0" rtlCol="0" anchor="t"/>
          <a:lstStyle/>
          <a:p>
            <a:pPr algn="ctr" indent="0" marL="0">
              <a:buNone/>
            </a:pPr>
            <a:r>
              <a:rPr lang="en-US" sz="1250" b="1" dirty="0">
                <a:solidFill>
                  <a:srgbClr val="0B1F4B"/>
                </a:solidFill>
                <a:latin typeface="Calibri" pitchFamily="34" charset="0"/>
                <a:ea typeface="Calibri" pitchFamily="34" charset="-122"/>
                <a:cs typeface="Calibri" pitchFamily="34" charset="-120"/>
              </a:rPr>
              <a:t>Marché unique</a:t>
            </a:r>
            <a:endParaRPr lang="en-US" sz="1250" dirty="0"/>
          </a:p>
        </p:txBody>
      </p:sp>
      <p:sp>
        <p:nvSpPr>
          <p:cNvPr id="26" name="A6-fadeup-50"/>
          <p:cNvSpPr txBox="1"/>
          <p:nvPr/>
        </p:nvSpPr>
        <p:spPr>
          <a:xfrm>
            <a:off x="7059168" y="1929384"/>
            <a:ext cx="1609344" cy="548640"/>
          </a:xfrm>
          <a:prstGeom prst="rect">
            <a:avLst/>
          </a:prstGeom>
          <a:noFill/>
          <a:ln/>
        </p:spPr>
        <p:txBody>
          <a:bodyPr wrap="square" lIns="0" tIns="0" rIns="0" bIns="0" rtlCol="0" anchor="t"/>
          <a:lstStyle/>
          <a:p>
            <a:pPr algn="ctr" indent="0" marL="0">
              <a:buNone/>
            </a:pPr>
            <a:r>
              <a:rPr lang="en-US" sz="1000" dirty="0">
                <a:solidFill>
                  <a:srgbClr val="5B6478"/>
                </a:solidFill>
                <a:latin typeface="Calibri" pitchFamily="34" charset="0"/>
                <a:ea typeface="Calibri" pitchFamily="34" charset="-122"/>
                <a:cs typeface="Calibri" pitchFamily="34" charset="-120"/>
              </a:rPr>
              <a:t>Entrée en vigueur le 1er janvier 1993</a:t>
            </a:r>
            <a:endParaRPr lang="en-US" sz="1000" dirty="0"/>
          </a:p>
        </p:txBody>
      </p:sp>
      <p:sp>
        <p:nvSpPr>
          <p:cNvPr id="27" name="A7-fade-51"/>
          <p:cNvSpPr/>
          <p:nvPr/>
        </p:nvSpPr>
        <p:spPr>
          <a:xfrm>
            <a:off x="457200" y="4251960"/>
            <a:ext cx="8229600" cy="457200"/>
          </a:xfrm>
          <a:prstGeom prst="roundRect">
            <a:avLst>
              <a:gd name="adj" fmla="val 24000"/>
            </a:avLst>
          </a:prstGeom>
          <a:solidFill>
            <a:srgbClr val="EEF2FA"/>
          </a:solidFill>
          <a:ln w="12700">
            <a:solidFill>
              <a:srgbClr val="EEF2FA"/>
            </a:solidFill>
            <a:prstDash val="solid"/>
          </a:ln>
          <a:effectLst>
            <a:outerShdw sx="100000" sy="100000" kx="0" ky="0" algn="bl" rotWithShape="0" blurRad="101600" dist="25400" dir="5400000">
              <a:srgbClr val="0B1F4B">
                <a:alpha val="12000"/>
              </a:srgbClr>
            </a:outerShdw>
          </a:effectLst>
        </p:spPr>
      </p:sp>
      <p:sp>
        <p:nvSpPr>
          <p:cNvPr id="28" name="A7-fade-52"/>
          <p:cNvSpPr txBox="1"/>
          <p:nvPr/>
        </p:nvSpPr>
        <p:spPr>
          <a:xfrm>
            <a:off x="640080" y="4251960"/>
            <a:ext cx="7863840" cy="457200"/>
          </a:xfrm>
          <a:prstGeom prst="rect">
            <a:avLst/>
          </a:prstGeom>
          <a:noFill/>
          <a:ln/>
        </p:spPr>
        <p:txBody>
          <a:bodyPr wrap="square" lIns="0" tIns="0" rIns="0" bIns="0" rtlCol="0" anchor="ctr"/>
          <a:lstStyle/>
          <a:p>
            <a:pPr indent="0" marL="0">
              <a:buNone/>
            </a:pPr>
            <a:r>
              <a:rPr lang="en-US" sz="1150" b="1" dirty="0">
                <a:solidFill>
                  <a:srgbClr val="D9473F"/>
                </a:solidFill>
                <a:latin typeface="Calibri" pitchFamily="34" charset="0"/>
                <a:ea typeface="Calibri" pitchFamily="34" charset="-122"/>
                <a:cs typeface="Calibri" pitchFamily="34" charset="-120"/>
              </a:rPr>
              <a:t>Années 1970-80 : </a:t>
            </a:r>
            <a:pPr indent="0" marL="0">
              <a:buNone/>
            </a:pPr>
            <a:r>
              <a:rPr lang="en-US" sz="1150" dirty="0">
                <a:solidFill>
                  <a:srgbClr val="1B2333"/>
                </a:solidFill>
                <a:latin typeface="Calibri" pitchFamily="34" charset="0"/>
                <a:ea typeface="Calibri" pitchFamily="34" charset="-122"/>
                <a:cs typeface="Calibri" pitchFamily="34" charset="-120"/>
              </a:rPr>
              <a:t>plus de droits de douane, mais normes nationales, contrôles aux frontières, marchés publics réservés, TVA différentes → un espace fragmenté.</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112" fill="hold">
                      <p:stCondLst>
                        <p:cond delay="indefinite"/>
                        <p:cond evt="onBegin" delay="0">
                          <p:tn val="2"/>
                        </p:cond>
                      </p:stCondLst>
                      <p:childTnLst>
                        <p:par>
                          <p:cTn id="113" fill="hold">
                            <p:stCondLst>
                              <p:cond delay="0"/>
                            </p:stCondLst>
                            <p:childTnLst>
                              <p:par>
                                <p:cTn id="4" presetID="22" presetClass="entr" presetSubtype="8" fill="hold" grpId="0" nodeType="withEffect">
                                  <p:stCondLst>
                                    <p:cond delay="380"/>
                                  </p:stCondLst>
                                  <p:childTnLst>
                                    <p:set>
                                      <p:cBhvr>
                                        <p:cTn id="5" dur="1" fill="hold">
                                          <p:stCondLst>
                                            <p:cond delay="0"/>
                                          </p:stCondLst>
                                        </p:cTn>
                                        <p:tgtEl>
                                          <p:spTgt spid="6"/>
                                        </p:tgtEl>
                                        <p:attrNameLst>
                                          <p:attrName>style.visibility</p:attrName>
                                        </p:attrNameLst>
                                      </p:cBhvr>
                                      <p:to>
                                        <p:strVal val="visible"/>
                                      </p:to>
                                    </p:set>
                                    <p:animEffect transition="in" filter="wipe(left)">
                                      <p:cBhvr>
                                        <p:cTn id="3" dur="800"/>
                                        <p:tgtEl>
                                          <p:spTgt spid="6"/>
                                        </p:tgtEl>
                                      </p:cBhvr>
                                    </p:animEffect>
                                  </p:childTnLst>
                                </p:cTn>
                              </p:par>
                              <p:par>
                                <p:cTn id="9" presetID="53" presetClass="entr" presetSubtype="16" fill="hold" grpId="0" nodeType="withEffect">
                                  <p:stCondLst>
                                    <p:cond delay="76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6" dur="550" fill="hold"/>
                                        <p:tgtEl>
                                          <p:spTgt spid="7"/>
                                        </p:tgtEl>
                                        <p:attrNameLst>
                                          <p:attrName>ppt_w</p:attrName>
                                        </p:attrNameLst>
                                      </p:cBhvr>
                                      <p:tavLst>
                                        <p:tav tm="0">
                                          <p:val>
                                            <p:strVal val="0"/>
                                          </p:val>
                                        </p:tav>
                                        <p:tav tm="100000">
                                          <p:val>
                                            <p:strVal val="#ppt_w"/>
                                          </p:val>
                                        </p:tav>
                                      </p:tavLst>
                                    </p:anim>
                                    <p:anim calcmode="lin" valueType="num">
                                      <p:cBhvr additive="base">
                                        <p:cTn id="7" dur="550" fill="hold"/>
                                        <p:tgtEl>
                                          <p:spTgt spid="7"/>
                                        </p:tgtEl>
                                        <p:attrNameLst>
                                          <p:attrName>ppt_h</p:attrName>
                                        </p:attrNameLst>
                                      </p:cBhvr>
                                      <p:tavLst>
                                        <p:tav tm="0">
                                          <p:val>
                                            <p:strVal val="0"/>
                                          </p:val>
                                        </p:tav>
                                        <p:tav tm="100000">
                                          <p:val>
                                            <p:strVal val="#ppt_h"/>
                                          </p:val>
                                        </p:tav>
                                      </p:tavLst>
                                    </p:anim>
                                    <p:animEffect transition="in" filter="fade">
                                      <p:cBhvr>
                                        <p:cTn id="8" dur="550"/>
                                        <p:tgtEl>
                                          <p:spTgt spid="7"/>
                                        </p:tgtEl>
                                      </p:cBhvr>
                                    </p:animEffect>
                                  </p:childTnLst>
                                </p:cTn>
                              </p:par>
                              <p:par>
                                <p:cTn id="14" presetID="42" presetClass="entr" presetSubtype="0" fill="hold" grpId="0" nodeType="withEffect">
                                  <p:stCondLst>
                                    <p:cond delay="760"/>
                                  </p:stCondLst>
                                  <p:childTnLst>
                                    <p:set>
                                      <p:cBhvr>
                                        <p:cTn id="15" dur="1" fill="hold">
                                          <p:stCondLst>
                                            <p:cond delay="0"/>
                                          </p:stCondLst>
                                        </p:cTn>
                                        <p:tgtEl>
                                          <p:spTgt spid="8"/>
                                        </p:tgtEl>
                                        <p:attrNameLst>
                                          <p:attrName>style.visibility</p:attrName>
                                        </p:attrNameLst>
                                      </p:cBhvr>
                                      <p:to>
                                        <p:strVal val="visible"/>
                                      </p:to>
                                    </p:set>
                                    <p:animEffect transition="in" filter="fade">
                                      <p:cBhvr>
                                        <p:cTn id="11" dur="700"/>
                                        <p:tgtEl>
                                          <p:spTgt spid="8"/>
                                        </p:tgtEl>
                                      </p:cBhvr>
                                    </p:animEffect>
                                    <p:anim calcmode="lin" valueType="num">
                                      <p:cBhvr additive="base">
                                        <p:cTn id="12" dur="700" fill="hold"/>
                                        <p:tgtEl>
                                          <p:spTgt spid="8"/>
                                        </p:tgtEl>
                                        <p:attrNameLst>
                                          <p:attrName>ppt_x</p:attrName>
                                        </p:attrNameLst>
                                      </p:cBhvr>
                                      <p:tavLst>
                                        <p:tav tm="0">
                                          <p:val>
                                            <p:strVal val="#ppt_x"/>
                                          </p:val>
                                        </p:tav>
                                        <p:tav tm="100000">
                                          <p:val>
                                            <p:strVal val="#ppt_x"/>
                                          </p:val>
                                        </p:tav>
                                      </p:tavLst>
                                    </p:anim>
                                    <p:anim calcmode="lin" valueType="num">
                                      <p:cBhvr additive="base">
                                        <p:cTn id="13" dur="700" fill="hold"/>
                                        <p:tgtEl>
                                          <p:spTgt spid="8"/>
                                        </p:tgtEl>
                                        <p:attrNameLst>
                                          <p:attrName>ppt_y</p:attrName>
                                        </p:attrNameLst>
                                      </p:cBhvr>
                                      <p:tavLst>
                                        <p:tav tm="0">
                                          <p:val>
                                            <p:strVal val="#ppt_y+.08"/>
                                          </p:val>
                                        </p:tav>
                                        <p:tav tm="100000">
                                          <p:val>
                                            <p:strVal val="#ppt_y"/>
                                          </p:val>
                                        </p:tav>
                                      </p:tavLst>
                                    </p:anim>
                                  </p:childTnLst>
                                </p:cTn>
                              </p:par>
                              <p:par>
                                <p:cTn id="19" presetID="42" presetClass="entr" presetSubtype="0" fill="hold" grpId="0" nodeType="withEffect">
                                  <p:stCondLst>
                                    <p:cond delay="760"/>
                                  </p:stCondLst>
                                  <p:childTnLst>
                                    <p:set>
                                      <p:cBhvr>
                                        <p:cTn id="20" dur="1" fill="hold">
                                          <p:stCondLst>
                                            <p:cond delay="0"/>
                                          </p:stCondLst>
                                        </p:cTn>
                                        <p:tgtEl>
                                          <p:spTgt spid="9"/>
                                        </p:tgtEl>
                                        <p:attrNameLst>
                                          <p:attrName>style.visibility</p:attrName>
                                        </p:attrNameLst>
                                      </p:cBhvr>
                                      <p:to>
                                        <p:strVal val="visible"/>
                                      </p:to>
                                    </p:set>
                                    <p:animEffect transition="in" filter="fade">
                                      <p:cBhvr>
                                        <p:cTn id="16" dur="700"/>
                                        <p:tgtEl>
                                          <p:spTgt spid="9"/>
                                        </p:tgtEl>
                                      </p:cBhvr>
                                    </p:animEffect>
                                    <p:anim calcmode="lin" valueType="num">
                                      <p:cBhvr additive="base">
                                        <p:cTn id="17" dur="700" fill="hold"/>
                                        <p:tgtEl>
                                          <p:spTgt spid="9"/>
                                        </p:tgtEl>
                                        <p:attrNameLst>
                                          <p:attrName>ppt_x</p:attrName>
                                        </p:attrNameLst>
                                      </p:cBhvr>
                                      <p:tavLst>
                                        <p:tav tm="0">
                                          <p:val>
                                            <p:strVal val="#ppt_x"/>
                                          </p:val>
                                        </p:tav>
                                        <p:tav tm="100000">
                                          <p:val>
                                            <p:strVal val="#ppt_x"/>
                                          </p:val>
                                        </p:tav>
                                      </p:tavLst>
                                    </p:anim>
                                    <p:anim calcmode="lin" valueType="num">
                                      <p:cBhvr additive="base">
                                        <p:cTn id="18" dur="700" fill="hold"/>
                                        <p:tgtEl>
                                          <p:spTgt spid="9"/>
                                        </p:tgtEl>
                                        <p:attrNameLst>
                                          <p:attrName>ppt_y</p:attrName>
                                        </p:attrNameLst>
                                      </p:cBhvr>
                                      <p:tavLst>
                                        <p:tav tm="0">
                                          <p:val>
                                            <p:strVal val="#ppt_y+.08"/>
                                          </p:val>
                                        </p:tav>
                                        <p:tav tm="100000">
                                          <p:val>
                                            <p:strVal val="#ppt_y"/>
                                          </p:val>
                                        </p:tav>
                                      </p:tavLst>
                                    </p:anim>
                                  </p:childTnLst>
                                </p:cTn>
                              </p:par>
                              <p:par>
                                <p:cTn id="24" presetID="42" presetClass="entr" presetSubtype="0" fill="hold" grpId="0" nodeType="withEffect">
                                  <p:stCondLst>
                                    <p:cond delay="760"/>
                                  </p:stCondLst>
                                  <p:childTnLst>
                                    <p:set>
                                      <p:cBhvr>
                                        <p:cTn id="25" dur="1" fill="hold">
                                          <p:stCondLst>
                                            <p:cond delay="0"/>
                                          </p:stCondLst>
                                        </p:cTn>
                                        <p:tgtEl>
                                          <p:spTgt spid="10"/>
                                        </p:tgtEl>
                                        <p:attrNameLst>
                                          <p:attrName>style.visibility</p:attrName>
                                        </p:attrNameLst>
                                      </p:cBhvr>
                                      <p:to>
                                        <p:strVal val="visible"/>
                                      </p:to>
                                    </p:set>
                                    <p:animEffect transition="in" filter="fade">
                                      <p:cBhvr>
                                        <p:cTn id="21" dur="700"/>
                                        <p:tgtEl>
                                          <p:spTgt spid="10"/>
                                        </p:tgtEl>
                                      </p:cBhvr>
                                    </p:animEffect>
                                    <p:anim calcmode="lin" valueType="num">
                                      <p:cBhvr additive="base">
                                        <p:cTn id="22" dur="700" fill="hold"/>
                                        <p:tgtEl>
                                          <p:spTgt spid="10"/>
                                        </p:tgtEl>
                                        <p:attrNameLst>
                                          <p:attrName>ppt_x</p:attrName>
                                        </p:attrNameLst>
                                      </p:cBhvr>
                                      <p:tavLst>
                                        <p:tav tm="0">
                                          <p:val>
                                            <p:strVal val="#ppt_x"/>
                                          </p:val>
                                        </p:tav>
                                        <p:tav tm="100000">
                                          <p:val>
                                            <p:strVal val="#ppt_x"/>
                                          </p:val>
                                        </p:tav>
                                      </p:tavLst>
                                    </p:anim>
                                    <p:anim calcmode="lin" valueType="num">
                                      <p:cBhvr additive="base">
                                        <p:cTn id="23" dur="700" fill="hold"/>
                                        <p:tgtEl>
                                          <p:spTgt spid="10"/>
                                        </p:tgtEl>
                                        <p:attrNameLst>
                                          <p:attrName>ppt_y</p:attrName>
                                        </p:attrNameLst>
                                      </p:cBhvr>
                                      <p:tavLst>
                                        <p:tav tm="0">
                                          <p:val>
                                            <p:strVal val="#ppt_y+.08"/>
                                          </p:val>
                                        </p:tav>
                                        <p:tav tm="100000">
                                          <p:val>
                                            <p:strVal val="#ppt_y"/>
                                          </p:val>
                                        </p:tav>
                                      </p:tavLst>
                                    </p:anim>
                                  </p:childTnLst>
                                </p:cTn>
                              </p:par>
                              <p:par>
                                <p:cTn id="29" presetID="53" presetClass="entr" presetSubtype="16" fill="hold" grpId="0" nodeType="withEffect">
                                  <p:stCondLst>
                                    <p:cond delay="114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26" dur="550" fill="hold"/>
                                        <p:tgtEl>
                                          <p:spTgt spid="11"/>
                                        </p:tgtEl>
                                        <p:attrNameLst>
                                          <p:attrName>ppt_w</p:attrName>
                                        </p:attrNameLst>
                                      </p:cBhvr>
                                      <p:tavLst>
                                        <p:tav tm="0">
                                          <p:val>
                                            <p:strVal val="0"/>
                                          </p:val>
                                        </p:tav>
                                        <p:tav tm="100000">
                                          <p:val>
                                            <p:strVal val="#ppt_w"/>
                                          </p:val>
                                        </p:tav>
                                      </p:tavLst>
                                    </p:anim>
                                    <p:anim calcmode="lin" valueType="num">
                                      <p:cBhvr additive="base">
                                        <p:cTn id="27" dur="550" fill="hold"/>
                                        <p:tgtEl>
                                          <p:spTgt spid="11"/>
                                        </p:tgtEl>
                                        <p:attrNameLst>
                                          <p:attrName>ppt_h</p:attrName>
                                        </p:attrNameLst>
                                      </p:cBhvr>
                                      <p:tavLst>
                                        <p:tav tm="0">
                                          <p:val>
                                            <p:strVal val="0"/>
                                          </p:val>
                                        </p:tav>
                                        <p:tav tm="100000">
                                          <p:val>
                                            <p:strVal val="#ppt_h"/>
                                          </p:val>
                                        </p:tav>
                                      </p:tavLst>
                                    </p:anim>
                                    <p:animEffect transition="in" filter="fade">
                                      <p:cBhvr>
                                        <p:cTn id="28" dur="550"/>
                                        <p:tgtEl>
                                          <p:spTgt spid="11"/>
                                        </p:tgtEl>
                                      </p:cBhvr>
                                    </p:animEffect>
                                  </p:childTnLst>
                                </p:cTn>
                              </p:par>
                              <p:par>
                                <p:cTn id="34" presetID="42" presetClass="entr" presetSubtype="0" fill="hold" grpId="0" nodeType="withEffect">
                                  <p:stCondLst>
                                    <p:cond delay="1140"/>
                                  </p:stCondLst>
                                  <p:childTnLst>
                                    <p:set>
                                      <p:cBhvr>
                                        <p:cTn id="35" dur="1" fill="hold">
                                          <p:stCondLst>
                                            <p:cond delay="0"/>
                                          </p:stCondLst>
                                        </p:cTn>
                                        <p:tgtEl>
                                          <p:spTgt spid="12"/>
                                        </p:tgtEl>
                                        <p:attrNameLst>
                                          <p:attrName>style.visibility</p:attrName>
                                        </p:attrNameLst>
                                      </p:cBhvr>
                                      <p:to>
                                        <p:strVal val="visible"/>
                                      </p:to>
                                    </p:set>
                                    <p:animEffect transition="in" filter="fade">
                                      <p:cBhvr>
                                        <p:cTn id="31" dur="700"/>
                                        <p:tgtEl>
                                          <p:spTgt spid="12"/>
                                        </p:tgtEl>
                                      </p:cBhvr>
                                    </p:animEffect>
                                    <p:anim calcmode="lin" valueType="num">
                                      <p:cBhvr additive="base">
                                        <p:cTn id="32" dur="700" fill="hold"/>
                                        <p:tgtEl>
                                          <p:spTgt spid="12"/>
                                        </p:tgtEl>
                                        <p:attrNameLst>
                                          <p:attrName>ppt_x</p:attrName>
                                        </p:attrNameLst>
                                      </p:cBhvr>
                                      <p:tavLst>
                                        <p:tav tm="0">
                                          <p:val>
                                            <p:strVal val="#ppt_x"/>
                                          </p:val>
                                        </p:tav>
                                        <p:tav tm="100000">
                                          <p:val>
                                            <p:strVal val="#ppt_x"/>
                                          </p:val>
                                        </p:tav>
                                      </p:tavLst>
                                    </p:anim>
                                    <p:anim calcmode="lin" valueType="num">
                                      <p:cBhvr additive="base">
                                        <p:cTn id="33" dur="700" fill="hold"/>
                                        <p:tgtEl>
                                          <p:spTgt spid="12"/>
                                        </p:tgtEl>
                                        <p:attrNameLst>
                                          <p:attrName>ppt_y</p:attrName>
                                        </p:attrNameLst>
                                      </p:cBhvr>
                                      <p:tavLst>
                                        <p:tav tm="0">
                                          <p:val>
                                            <p:strVal val="#ppt_y+.08"/>
                                          </p:val>
                                        </p:tav>
                                        <p:tav tm="100000">
                                          <p:val>
                                            <p:strVal val="#ppt_y"/>
                                          </p:val>
                                        </p:tav>
                                      </p:tavLst>
                                    </p:anim>
                                  </p:childTnLst>
                                </p:cTn>
                              </p:par>
                              <p:par>
                                <p:cTn id="39" presetID="42" presetClass="entr" presetSubtype="0" fill="hold" grpId="0" nodeType="withEffect">
                                  <p:stCondLst>
                                    <p:cond delay="1140"/>
                                  </p:stCondLst>
                                  <p:childTnLst>
                                    <p:set>
                                      <p:cBhvr>
                                        <p:cTn id="40" dur="1" fill="hold">
                                          <p:stCondLst>
                                            <p:cond delay="0"/>
                                          </p:stCondLst>
                                        </p:cTn>
                                        <p:tgtEl>
                                          <p:spTgt spid="13"/>
                                        </p:tgtEl>
                                        <p:attrNameLst>
                                          <p:attrName>style.visibility</p:attrName>
                                        </p:attrNameLst>
                                      </p:cBhvr>
                                      <p:to>
                                        <p:strVal val="visible"/>
                                      </p:to>
                                    </p:set>
                                    <p:animEffect transition="in" filter="fade">
                                      <p:cBhvr>
                                        <p:cTn id="36" dur="700"/>
                                        <p:tgtEl>
                                          <p:spTgt spid="13"/>
                                        </p:tgtEl>
                                      </p:cBhvr>
                                    </p:animEffect>
                                    <p:anim calcmode="lin" valueType="num">
                                      <p:cBhvr additive="base">
                                        <p:cTn id="37" dur="700" fill="hold"/>
                                        <p:tgtEl>
                                          <p:spTgt spid="13"/>
                                        </p:tgtEl>
                                        <p:attrNameLst>
                                          <p:attrName>ppt_x</p:attrName>
                                        </p:attrNameLst>
                                      </p:cBhvr>
                                      <p:tavLst>
                                        <p:tav tm="0">
                                          <p:val>
                                            <p:strVal val="#ppt_x"/>
                                          </p:val>
                                        </p:tav>
                                        <p:tav tm="100000">
                                          <p:val>
                                            <p:strVal val="#ppt_x"/>
                                          </p:val>
                                        </p:tav>
                                      </p:tavLst>
                                    </p:anim>
                                    <p:anim calcmode="lin" valueType="num">
                                      <p:cBhvr additive="base">
                                        <p:cTn id="38" dur="700" fill="hold"/>
                                        <p:tgtEl>
                                          <p:spTgt spid="13"/>
                                        </p:tgtEl>
                                        <p:attrNameLst>
                                          <p:attrName>ppt_y</p:attrName>
                                        </p:attrNameLst>
                                      </p:cBhvr>
                                      <p:tavLst>
                                        <p:tav tm="0">
                                          <p:val>
                                            <p:strVal val="#ppt_y+.08"/>
                                          </p:val>
                                        </p:tav>
                                        <p:tav tm="100000">
                                          <p:val>
                                            <p:strVal val="#ppt_y"/>
                                          </p:val>
                                        </p:tav>
                                      </p:tavLst>
                                    </p:anim>
                                  </p:childTnLst>
                                </p:cTn>
                              </p:par>
                              <p:par>
                                <p:cTn id="44" presetID="42" presetClass="entr" presetSubtype="0" fill="hold" grpId="0" nodeType="withEffect">
                                  <p:stCondLst>
                                    <p:cond delay="1140"/>
                                  </p:stCondLst>
                                  <p:childTnLst>
                                    <p:set>
                                      <p:cBhvr>
                                        <p:cTn id="45" dur="1" fill="hold">
                                          <p:stCondLst>
                                            <p:cond delay="0"/>
                                          </p:stCondLst>
                                        </p:cTn>
                                        <p:tgtEl>
                                          <p:spTgt spid="14"/>
                                        </p:tgtEl>
                                        <p:attrNameLst>
                                          <p:attrName>style.visibility</p:attrName>
                                        </p:attrNameLst>
                                      </p:cBhvr>
                                      <p:to>
                                        <p:strVal val="visible"/>
                                      </p:to>
                                    </p:set>
                                    <p:animEffect transition="in" filter="fade">
                                      <p:cBhvr>
                                        <p:cTn id="41" dur="700"/>
                                        <p:tgtEl>
                                          <p:spTgt spid="14"/>
                                        </p:tgtEl>
                                      </p:cBhvr>
                                    </p:animEffect>
                                    <p:anim calcmode="lin" valueType="num">
                                      <p:cBhvr additive="base">
                                        <p:cTn id="42" dur="700" fill="hold"/>
                                        <p:tgtEl>
                                          <p:spTgt spid="14"/>
                                        </p:tgtEl>
                                        <p:attrNameLst>
                                          <p:attrName>ppt_x</p:attrName>
                                        </p:attrNameLst>
                                      </p:cBhvr>
                                      <p:tavLst>
                                        <p:tav tm="0">
                                          <p:val>
                                            <p:strVal val="#ppt_x"/>
                                          </p:val>
                                        </p:tav>
                                        <p:tav tm="100000">
                                          <p:val>
                                            <p:strVal val="#ppt_x"/>
                                          </p:val>
                                        </p:tav>
                                      </p:tavLst>
                                    </p:anim>
                                    <p:anim calcmode="lin" valueType="num">
                                      <p:cBhvr additive="base">
                                        <p:cTn id="43" dur="700" fill="hold"/>
                                        <p:tgtEl>
                                          <p:spTgt spid="14"/>
                                        </p:tgtEl>
                                        <p:attrNameLst>
                                          <p:attrName>ppt_y</p:attrName>
                                        </p:attrNameLst>
                                      </p:cBhvr>
                                      <p:tavLst>
                                        <p:tav tm="0">
                                          <p:val>
                                            <p:strVal val="#ppt_y+.08"/>
                                          </p:val>
                                        </p:tav>
                                        <p:tav tm="100000">
                                          <p:val>
                                            <p:strVal val="#ppt_y"/>
                                          </p:val>
                                        </p:tav>
                                      </p:tavLst>
                                    </p:anim>
                                  </p:childTnLst>
                                </p:cTn>
                              </p:par>
                              <p:par>
                                <p:cTn id="49" presetID="53" presetClass="entr" presetSubtype="16" fill="hold" grpId="0" nodeType="withEffect">
                                  <p:stCondLst>
                                    <p:cond delay="152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46" dur="550" fill="hold"/>
                                        <p:tgtEl>
                                          <p:spTgt spid="15"/>
                                        </p:tgtEl>
                                        <p:attrNameLst>
                                          <p:attrName>ppt_w</p:attrName>
                                        </p:attrNameLst>
                                      </p:cBhvr>
                                      <p:tavLst>
                                        <p:tav tm="0">
                                          <p:val>
                                            <p:strVal val="0"/>
                                          </p:val>
                                        </p:tav>
                                        <p:tav tm="100000">
                                          <p:val>
                                            <p:strVal val="#ppt_w"/>
                                          </p:val>
                                        </p:tav>
                                      </p:tavLst>
                                    </p:anim>
                                    <p:anim calcmode="lin" valueType="num">
                                      <p:cBhvr additive="base">
                                        <p:cTn id="47" dur="550" fill="hold"/>
                                        <p:tgtEl>
                                          <p:spTgt spid="15"/>
                                        </p:tgtEl>
                                        <p:attrNameLst>
                                          <p:attrName>ppt_h</p:attrName>
                                        </p:attrNameLst>
                                      </p:cBhvr>
                                      <p:tavLst>
                                        <p:tav tm="0">
                                          <p:val>
                                            <p:strVal val="0"/>
                                          </p:val>
                                        </p:tav>
                                        <p:tav tm="100000">
                                          <p:val>
                                            <p:strVal val="#ppt_h"/>
                                          </p:val>
                                        </p:tav>
                                      </p:tavLst>
                                    </p:anim>
                                    <p:animEffect transition="in" filter="fade">
                                      <p:cBhvr>
                                        <p:cTn id="48" dur="550"/>
                                        <p:tgtEl>
                                          <p:spTgt spid="15"/>
                                        </p:tgtEl>
                                      </p:cBhvr>
                                    </p:animEffect>
                                  </p:childTnLst>
                                </p:cTn>
                              </p:par>
                              <p:par>
                                <p:cTn id="54" presetID="42" presetClass="entr" presetSubtype="0" fill="hold" grpId="0" nodeType="withEffect">
                                  <p:stCondLst>
                                    <p:cond delay="1520"/>
                                  </p:stCondLst>
                                  <p:childTnLst>
                                    <p:set>
                                      <p:cBhvr>
                                        <p:cTn id="55" dur="1" fill="hold">
                                          <p:stCondLst>
                                            <p:cond delay="0"/>
                                          </p:stCondLst>
                                        </p:cTn>
                                        <p:tgtEl>
                                          <p:spTgt spid="16"/>
                                        </p:tgtEl>
                                        <p:attrNameLst>
                                          <p:attrName>style.visibility</p:attrName>
                                        </p:attrNameLst>
                                      </p:cBhvr>
                                      <p:to>
                                        <p:strVal val="visible"/>
                                      </p:to>
                                    </p:set>
                                    <p:animEffect transition="in" filter="fade">
                                      <p:cBhvr>
                                        <p:cTn id="51" dur="700"/>
                                        <p:tgtEl>
                                          <p:spTgt spid="16"/>
                                        </p:tgtEl>
                                      </p:cBhvr>
                                    </p:animEffect>
                                    <p:anim calcmode="lin" valueType="num">
                                      <p:cBhvr additive="base">
                                        <p:cTn id="52" dur="700" fill="hold"/>
                                        <p:tgtEl>
                                          <p:spTgt spid="16"/>
                                        </p:tgtEl>
                                        <p:attrNameLst>
                                          <p:attrName>ppt_x</p:attrName>
                                        </p:attrNameLst>
                                      </p:cBhvr>
                                      <p:tavLst>
                                        <p:tav tm="0">
                                          <p:val>
                                            <p:strVal val="#ppt_x"/>
                                          </p:val>
                                        </p:tav>
                                        <p:tav tm="100000">
                                          <p:val>
                                            <p:strVal val="#ppt_x"/>
                                          </p:val>
                                        </p:tav>
                                      </p:tavLst>
                                    </p:anim>
                                    <p:anim calcmode="lin" valueType="num">
                                      <p:cBhvr additive="base">
                                        <p:cTn id="53" dur="700" fill="hold"/>
                                        <p:tgtEl>
                                          <p:spTgt spid="16"/>
                                        </p:tgtEl>
                                        <p:attrNameLst>
                                          <p:attrName>ppt_y</p:attrName>
                                        </p:attrNameLst>
                                      </p:cBhvr>
                                      <p:tavLst>
                                        <p:tav tm="0">
                                          <p:val>
                                            <p:strVal val="#ppt_y+.08"/>
                                          </p:val>
                                        </p:tav>
                                        <p:tav tm="100000">
                                          <p:val>
                                            <p:strVal val="#ppt_y"/>
                                          </p:val>
                                        </p:tav>
                                      </p:tavLst>
                                    </p:anim>
                                  </p:childTnLst>
                                </p:cTn>
                              </p:par>
                              <p:par>
                                <p:cTn id="59" presetID="42" presetClass="entr" presetSubtype="0" fill="hold" grpId="0" nodeType="withEffect">
                                  <p:stCondLst>
                                    <p:cond delay="1520"/>
                                  </p:stCondLst>
                                  <p:childTnLst>
                                    <p:set>
                                      <p:cBhvr>
                                        <p:cTn id="60" dur="1" fill="hold">
                                          <p:stCondLst>
                                            <p:cond delay="0"/>
                                          </p:stCondLst>
                                        </p:cTn>
                                        <p:tgtEl>
                                          <p:spTgt spid="17"/>
                                        </p:tgtEl>
                                        <p:attrNameLst>
                                          <p:attrName>style.visibility</p:attrName>
                                        </p:attrNameLst>
                                      </p:cBhvr>
                                      <p:to>
                                        <p:strVal val="visible"/>
                                      </p:to>
                                    </p:set>
                                    <p:animEffect transition="in" filter="fade">
                                      <p:cBhvr>
                                        <p:cTn id="56" dur="700"/>
                                        <p:tgtEl>
                                          <p:spTgt spid="17"/>
                                        </p:tgtEl>
                                      </p:cBhvr>
                                    </p:animEffect>
                                    <p:anim calcmode="lin" valueType="num">
                                      <p:cBhvr additive="base">
                                        <p:cTn id="57" dur="700" fill="hold"/>
                                        <p:tgtEl>
                                          <p:spTgt spid="17"/>
                                        </p:tgtEl>
                                        <p:attrNameLst>
                                          <p:attrName>ppt_x</p:attrName>
                                        </p:attrNameLst>
                                      </p:cBhvr>
                                      <p:tavLst>
                                        <p:tav tm="0">
                                          <p:val>
                                            <p:strVal val="#ppt_x"/>
                                          </p:val>
                                        </p:tav>
                                        <p:tav tm="100000">
                                          <p:val>
                                            <p:strVal val="#ppt_x"/>
                                          </p:val>
                                        </p:tav>
                                      </p:tavLst>
                                    </p:anim>
                                    <p:anim calcmode="lin" valueType="num">
                                      <p:cBhvr additive="base">
                                        <p:cTn id="58" dur="700" fill="hold"/>
                                        <p:tgtEl>
                                          <p:spTgt spid="17"/>
                                        </p:tgtEl>
                                        <p:attrNameLst>
                                          <p:attrName>ppt_y</p:attrName>
                                        </p:attrNameLst>
                                      </p:cBhvr>
                                      <p:tavLst>
                                        <p:tav tm="0">
                                          <p:val>
                                            <p:strVal val="#ppt_y+.08"/>
                                          </p:val>
                                        </p:tav>
                                        <p:tav tm="100000">
                                          <p:val>
                                            <p:strVal val="#ppt_y"/>
                                          </p:val>
                                        </p:tav>
                                      </p:tavLst>
                                    </p:anim>
                                  </p:childTnLst>
                                </p:cTn>
                              </p:par>
                              <p:par>
                                <p:cTn id="64" presetID="42" presetClass="entr" presetSubtype="0" fill="hold" grpId="0" nodeType="withEffect">
                                  <p:stCondLst>
                                    <p:cond delay="1520"/>
                                  </p:stCondLst>
                                  <p:childTnLst>
                                    <p:set>
                                      <p:cBhvr>
                                        <p:cTn id="65" dur="1" fill="hold">
                                          <p:stCondLst>
                                            <p:cond delay="0"/>
                                          </p:stCondLst>
                                        </p:cTn>
                                        <p:tgtEl>
                                          <p:spTgt spid="18"/>
                                        </p:tgtEl>
                                        <p:attrNameLst>
                                          <p:attrName>style.visibility</p:attrName>
                                        </p:attrNameLst>
                                      </p:cBhvr>
                                      <p:to>
                                        <p:strVal val="visible"/>
                                      </p:to>
                                    </p:set>
                                    <p:animEffect transition="in" filter="fade">
                                      <p:cBhvr>
                                        <p:cTn id="61" dur="700"/>
                                        <p:tgtEl>
                                          <p:spTgt spid="18"/>
                                        </p:tgtEl>
                                      </p:cBhvr>
                                    </p:animEffect>
                                    <p:anim calcmode="lin" valueType="num">
                                      <p:cBhvr additive="base">
                                        <p:cTn id="62" dur="700" fill="hold"/>
                                        <p:tgtEl>
                                          <p:spTgt spid="18"/>
                                        </p:tgtEl>
                                        <p:attrNameLst>
                                          <p:attrName>ppt_x</p:attrName>
                                        </p:attrNameLst>
                                      </p:cBhvr>
                                      <p:tavLst>
                                        <p:tav tm="0">
                                          <p:val>
                                            <p:strVal val="#ppt_x"/>
                                          </p:val>
                                        </p:tav>
                                        <p:tav tm="100000">
                                          <p:val>
                                            <p:strVal val="#ppt_x"/>
                                          </p:val>
                                        </p:tav>
                                      </p:tavLst>
                                    </p:anim>
                                    <p:anim calcmode="lin" valueType="num">
                                      <p:cBhvr additive="base">
                                        <p:cTn id="63" dur="700" fill="hold"/>
                                        <p:tgtEl>
                                          <p:spTgt spid="18"/>
                                        </p:tgtEl>
                                        <p:attrNameLst>
                                          <p:attrName>ppt_y</p:attrName>
                                        </p:attrNameLst>
                                      </p:cBhvr>
                                      <p:tavLst>
                                        <p:tav tm="0">
                                          <p:val>
                                            <p:strVal val="#ppt_y+.08"/>
                                          </p:val>
                                        </p:tav>
                                        <p:tav tm="100000">
                                          <p:val>
                                            <p:strVal val="#ppt_y"/>
                                          </p:val>
                                        </p:tav>
                                      </p:tavLst>
                                    </p:anim>
                                  </p:childTnLst>
                                </p:cTn>
                              </p:par>
                              <p:par>
                                <p:cTn id="69" presetID="53" presetClass="entr" presetSubtype="16" fill="hold" grpId="0" nodeType="withEffect">
                                  <p:stCondLst>
                                    <p:cond delay="1900"/>
                                  </p:stCondLst>
                                  <p:childTnLst>
                                    <p:set>
                                      <p:cBhvr>
                                        <p:cTn id="70" dur="1" fill="hold">
                                          <p:stCondLst>
                                            <p:cond delay="0"/>
                                          </p:stCondLst>
                                        </p:cTn>
                                        <p:tgtEl>
                                          <p:spTgt spid="19"/>
                                        </p:tgtEl>
                                        <p:attrNameLst>
                                          <p:attrName>style.visibility</p:attrName>
                                        </p:attrNameLst>
                                      </p:cBhvr>
                                      <p:to>
                                        <p:strVal val="visible"/>
                                      </p:to>
                                    </p:set>
                                    <p:anim calcmode="lin" valueType="num">
                                      <p:cBhvr additive="base">
                                        <p:cTn id="66" dur="550" fill="hold"/>
                                        <p:tgtEl>
                                          <p:spTgt spid="19"/>
                                        </p:tgtEl>
                                        <p:attrNameLst>
                                          <p:attrName>ppt_w</p:attrName>
                                        </p:attrNameLst>
                                      </p:cBhvr>
                                      <p:tavLst>
                                        <p:tav tm="0">
                                          <p:val>
                                            <p:strVal val="0"/>
                                          </p:val>
                                        </p:tav>
                                        <p:tav tm="100000">
                                          <p:val>
                                            <p:strVal val="#ppt_w"/>
                                          </p:val>
                                        </p:tav>
                                      </p:tavLst>
                                    </p:anim>
                                    <p:anim calcmode="lin" valueType="num">
                                      <p:cBhvr additive="base">
                                        <p:cTn id="67" dur="550" fill="hold"/>
                                        <p:tgtEl>
                                          <p:spTgt spid="19"/>
                                        </p:tgtEl>
                                        <p:attrNameLst>
                                          <p:attrName>ppt_h</p:attrName>
                                        </p:attrNameLst>
                                      </p:cBhvr>
                                      <p:tavLst>
                                        <p:tav tm="0">
                                          <p:val>
                                            <p:strVal val="0"/>
                                          </p:val>
                                        </p:tav>
                                        <p:tav tm="100000">
                                          <p:val>
                                            <p:strVal val="#ppt_h"/>
                                          </p:val>
                                        </p:tav>
                                      </p:tavLst>
                                    </p:anim>
                                    <p:animEffect transition="in" filter="fade">
                                      <p:cBhvr>
                                        <p:cTn id="68" dur="550"/>
                                        <p:tgtEl>
                                          <p:spTgt spid="19"/>
                                        </p:tgtEl>
                                      </p:cBhvr>
                                    </p:animEffect>
                                  </p:childTnLst>
                                </p:cTn>
                              </p:par>
                              <p:par>
                                <p:cTn id="74" presetID="42" presetClass="entr" presetSubtype="0" fill="hold" grpId="0" nodeType="withEffect">
                                  <p:stCondLst>
                                    <p:cond delay="1900"/>
                                  </p:stCondLst>
                                  <p:childTnLst>
                                    <p:set>
                                      <p:cBhvr>
                                        <p:cTn id="75" dur="1" fill="hold">
                                          <p:stCondLst>
                                            <p:cond delay="0"/>
                                          </p:stCondLst>
                                        </p:cTn>
                                        <p:tgtEl>
                                          <p:spTgt spid="20"/>
                                        </p:tgtEl>
                                        <p:attrNameLst>
                                          <p:attrName>style.visibility</p:attrName>
                                        </p:attrNameLst>
                                      </p:cBhvr>
                                      <p:to>
                                        <p:strVal val="visible"/>
                                      </p:to>
                                    </p:set>
                                    <p:animEffect transition="in" filter="fade">
                                      <p:cBhvr>
                                        <p:cTn id="71" dur="700"/>
                                        <p:tgtEl>
                                          <p:spTgt spid="20"/>
                                        </p:tgtEl>
                                      </p:cBhvr>
                                    </p:animEffect>
                                    <p:anim calcmode="lin" valueType="num">
                                      <p:cBhvr additive="base">
                                        <p:cTn id="72" dur="700" fill="hold"/>
                                        <p:tgtEl>
                                          <p:spTgt spid="20"/>
                                        </p:tgtEl>
                                        <p:attrNameLst>
                                          <p:attrName>ppt_x</p:attrName>
                                        </p:attrNameLst>
                                      </p:cBhvr>
                                      <p:tavLst>
                                        <p:tav tm="0">
                                          <p:val>
                                            <p:strVal val="#ppt_x"/>
                                          </p:val>
                                        </p:tav>
                                        <p:tav tm="100000">
                                          <p:val>
                                            <p:strVal val="#ppt_x"/>
                                          </p:val>
                                        </p:tav>
                                      </p:tavLst>
                                    </p:anim>
                                    <p:anim calcmode="lin" valueType="num">
                                      <p:cBhvr additive="base">
                                        <p:cTn id="73" dur="700" fill="hold"/>
                                        <p:tgtEl>
                                          <p:spTgt spid="20"/>
                                        </p:tgtEl>
                                        <p:attrNameLst>
                                          <p:attrName>ppt_y</p:attrName>
                                        </p:attrNameLst>
                                      </p:cBhvr>
                                      <p:tavLst>
                                        <p:tav tm="0">
                                          <p:val>
                                            <p:strVal val="#ppt_y+.08"/>
                                          </p:val>
                                        </p:tav>
                                        <p:tav tm="100000">
                                          <p:val>
                                            <p:strVal val="#ppt_y"/>
                                          </p:val>
                                        </p:tav>
                                      </p:tavLst>
                                    </p:anim>
                                  </p:childTnLst>
                                </p:cTn>
                              </p:par>
                              <p:par>
                                <p:cTn id="79" presetID="42" presetClass="entr" presetSubtype="0" fill="hold" grpId="0" nodeType="withEffect">
                                  <p:stCondLst>
                                    <p:cond delay="1900"/>
                                  </p:stCondLst>
                                  <p:childTnLst>
                                    <p:set>
                                      <p:cBhvr>
                                        <p:cTn id="80" dur="1" fill="hold">
                                          <p:stCondLst>
                                            <p:cond delay="0"/>
                                          </p:stCondLst>
                                        </p:cTn>
                                        <p:tgtEl>
                                          <p:spTgt spid="21"/>
                                        </p:tgtEl>
                                        <p:attrNameLst>
                                          <p:attrName>style.visibility</p:attrName>
                                        </p:attrNameLst>
                                      </p:cBhvr>
                                      <p:to>
                                        <p:strVal val="visible"/>
                                      </p:to>
                                    </p:set>
                                    <p:animEffect transition="in" filter="fade">
                                      <p:cBhvr>
                                        <p:cTn id="76" dur="700"/>
                                        <p:tgtEl>
                                          <p:spTgt spid="21"/>
                                        </p:tgtEl>
                                      </p:cBhvr>
                                    </p:animEffect>
                                    <p:anim calcmode="lin" valueType="num">
                                      <p:cBhvr additive="base">
                                        <p:cTn id="77" dur="700" fill="hold"/>
                                        <p:tgtEl>
                                          <p:spTgt spid="21"/>
                                        </p:tgtEl>
                                        <p:attrNameLst>
                                          <p:attrName>ppt_x</p:attrName>
                                        </p:attrNameLst>
                                      </p:cBhvr>
                                      <p:tavLst>
                                        <p:tav tm="0">
                                          <p:val>
                                            <p:strVal val="#ppt_x"/>
                                          </p:val>
                                        </p:tav>
                                        <p:tav tm="100000">
                                          <p:val>
                                            <p:strVal val="#ppt_x"/>
                                          </p:val>
                                        </p:tav>
                                      </p:tavLst>
                                    </p:anim>
                                    <p:anim calcmode="lin" valueType="num">
                                      <p:cBhvr additive="base">
                                        <p:cTn id="78" dur="700" fill="hold"/>
                                        <p:tgtEl>
                                          <p:spTgt spid="21"/>
                                        </p:tgtEl>
                                        <p:attrNameLst>
                                          <p:attrName>ppt_y</p:attrName>
                                        </p:attrNameLst>
                                      </p:cBhvr>
                                      <p:tavLst>
                                        <p:tav tm="0">
                                          <p:val>
                                            <p:strVal val="#ppt_y+.08"/>
                                          </p:val>
                                        </p:tav>
                                        <p:tav tm="100000">
                                          <p:val>
                                            <p:strVal val="#ppt_y"/>
                                          </p:val>
                                        </p:tav>
                                      </p:tavLst>
                                    </p:anim>
                                  </p:childTnLst>
                                </p:cTn>
                              </p:par>
                              <p:par>
                                <p:cTn id="84" presetID="42" presetClass="entr" presetSubtype="0" fill="hold" grpId="0" nodeType="withEffect">
                                  <p:stCondLst>
                                    <p:cond delay="1900"/>
                                  </p:stCondLst>
                                  <p:childTnLst>
                                    <p:set>
                                      <p:cBhvr>
                                        <p:cTn id="85" dur="1" fill="hold">
                                          <p:stCondLst>
                                            <p:cond delay="0"/>
                                          </p:stCondLst>
                                        </p:cTn>
                                        <p:tgtEl>
                                          <p:spTgt spid="22"/>
                                        </p:tgtEl>
                                        <p:attrNameLst>
                                          <p:attrName>style.visibility</p:attrName>
                                        </p:attrNameLst>
                                      </p:cBhvr>
                                      <p:to>
                                        <p:strVal val="visible"/>
                                      </p:to>
                                    </p:set>
                                    <p:animEffect transition="in" filter="fade">
                                      <p:cBhvr>
                                        <p:cTn id="81" dur="700"/>
                                        <p:tgtEl>
                                          <p:spTgt spid="22"/>
                                        </p:tgtEl>
                                      </p:cBhvr>
                                    </p:animEffect>
                                    <p:anim calcmode="lin" valueType="num">
                                      <p:cBhvr additive="base">
                                        <p:cTn id="82" dur="700" fill="hold"/>
                                        <p:tgtEl>
                                          <p:spTgt spid="22"/>
                                        </p:tgtEl>
                                        <p:attrNameLst>
                                          <p:attrName>ppt_x</p:attrName>
                                        </p:attrNameLst>
                                      </p:cBhvr>
                                      <p:tavLst>
                                        <p:tav tm="0">
                                          <p:val>
                                            <p:strVal val="#ppt_x"/>
                                          </p:val>
                                        </p:tav>
                                        <p:tav tm="100000">
                                          <p:val>
                                            <p:strVal val="#ppt_x"/>
                                          </p:val>
                                        </p:tav>
                                      </p:tavLst>
                                    </p:anim>
                                    <p:anim calcmode="lin" valueType="num">
                                      <p:cBhvr additive="base">
                                        <p:cTn id="83" dur="700" fill="hold"/>
                                        <p:tgtEl>
                                          <p:spTgt spid="22"/>
                                        </p:tgtEl>
                                        <p:attrNameLst>
                                          <p:attrName>ppt_y</p:attrName>
                                        </p:attrNameLst>
                                      </p:cBhvr>
                                      <p:tavLst>
                                        <p:tav tm="0">
                                          <p:val>
                                            <p:strVal val="#ppt_y+.08"/>
                                          </p:val>
                                        </p:tav>
                                        <p:tav tm="100000">
                                          <p:val>
                                            <p:strVal val="#ppt_y"/>
                                          </p:val>
                                        </p:tav>
                                      </p:tavLst>
                                    </p:anim>
                                  </p:childTnLst>
                                </p:cTn>
                              </p:par>
                              <p:par>
                                <p:cTn id="89" presetID="53" presetClass="entr" presetSubtype="16" fill="hold" grpId="0" nodeType="withEffect">
                                  <p:stCondLst>
                                    <p:cond delay="2280"/>
                                  </p:stCondLst>
                                  <p:childTnLst>
                                    <p:set>
                                      <p:cBhvr>
                                        <p:cTn id="90" dur="1" fill="hold">
                                          <p:stCondLst>
                                            <p:cond delay="0"/>
                                          </p:stCondLst>
                                        </p:cTn>
                                        <p:tgtEl>
                                          <p:spTgt spid="23"/>
                                        </p:tgtEl>
                                        <p:attrNameLst>
                                          <p:attrName>style.visibility</p:attrName>
                                        </p:attrNameLst>
                                      </p:cBhvr>
                                      <p:to>
                                        <p:strVal val="visible"/>
                                      </p:to>
                                    </p:set>
                                    <p:anim calcmode="lin" valueType="num">
                                      <p:cBhvr additive="base">
                                        <p:cTn id="86" dur="550" fill="hold"/>
                                        <p:tgtEl>
                                          <p:spTgt spid="23"/>
                                        </p:tgtEl>
                                        <p:attrNameLst>
                                          <p:attrName>ppt_w</p:attrName>
                                        </p:attrNameLst>
                                      </p:cBhvr>
                                      <p:tavLst>
                                        <p:tav tm="0">
                                          <p:val>
                                            <p:strVal val="0"/>
                                          </p:val>
                                        </p:tav>
                                        <p:tav tm="100000">
                                          <p:val>
                                            <p:strVal val="#ppt_w"/>
                                          </p:val>
                                        </p:tav>
                                      </p:tavLst>
                                    </p:anim>
                                    <p:anim calcmode="lin" valueType="num">
                                      <p:cBhvr additive="base">
                                        <p:cTn id="87" dur="550" fill="hold"/>
                                        <p:tgtEl>
                                          <p:spTgt spid="23"/>
                                        </p:tgtEl>
                                        <p:attrNameLst>
                                          <p:attrName>ppt_h</p:attrName>
                                        </p:attrNameLst>
                                      </p:cBhvr>
                                      <p:tavLst>
                                        <p:tav tm="0">
                                          <p:val>
                                            <p:strVal val="0"/>
                                          </p:val>
                                        </p:tav>
                                        <p:tav tm="100000">
                                          <p:val>
                                            <p:strVal val="#ppt_h"/>
                                          </p:val>
                                        </p:tav>
                                      </p:tavLst>
                                    </p:anim>
                                    <p:animEffect transition="in" filter="fade">
                                      <p:cBhvr>
                                        <p:cTn id="88" dur="550"/>
                                        <p:tgtEl>
                                          <p:spTgt spid="23"/>
                                        </p:tgtEl>
                                      </p:cBhvr>
                                    </p:animEffect>
                                  </p:childTnLst>
                                </p:cTn>
                              </p:par>
                              <p:par>
                                <p:cTn id="94" presetID="42" presetClass="entr" presetSubtype="0" fill="hold" grpId="0" nodeType="withEffect">
                                  <p:stCondLst>
                                    <p:cond delay="2280"/>
                                  </p:stCondLst>
                                  <p:childTnLst>
                                    <p:set>
                                      <p:cBhvr>
                                        <p:cTn id="95" dur="1" fill="hold">
                                          <p:stCondLst>
                                            <p:cond delay="0"/>
                                          </p:stCondLst>
                                        </p:cTn>
                                        <p:tgtEl>
                                          <p:spTgt spid="24"/>
                                        </p:tgtEl>
                                        <p:attrNameLst>
                                          <p:attrName>style.visibility</p:attrName>
                                        </p:attrNameLst>
                                      </p:cBhvr>
                                      <p:to>
                                        <p:strVal val="visible"/>
                                      </p:to>
                                    </p:set>
                                    <p:animEffect transition="in" filter="fade">
                                      <p:cBhvr>
                                        <p:cTn id="91" dur="700"/>
                                        <p:tgtEl>
                                          <p:spTgt spid="24"/>
                                        </p:tgtEl>
                                      </p:cBhvr>
                                    </p:animEffect>
                                    <p:anim calcmode="lin" valueType="num">
                                      <p:cBhvr additive="base">
                                        <p:cTn id="92" dur="700" fill="hold"/>
                                        <p:tgtEl>
                                          <p:spTgt spid="24"/>
                                        </p:tgtEl>
                                        <p:attrNameLst>
                                          <p:attrName>ppt_x</p:attrName>
                                        </p:attrNameLst>
                                      </p:cBhvr>
                                      <p:tavLst>
                                        <p:tav tm="0">
                                          <p:val>
                                            <p:strVal val="#ppt_x"/>
                                          </p:val>
                                        </p:tav>
                                        <p:tav tm="100000">
                                          <p:val>
                                            <p:strVal val="#ppt_x"/>
                                          </p:val>
                                        </p:tav>
                                      </p:tavLst>
                                    </p:anim>
                                    <p:anim calcmode="lin" valueType="num">
                                      <p:cBhvr additive="base">
                                        <p:cTn id="93" dur="700" fill="hold"/>
                                        <p:tgtEl>
                                          <p:spTgt spid="24"/>
                                        </p:tgtEl>
                                        <p:attrNameLst>
                                          <p:attrName>ppt_y</p:attrName>
                                        </p:attrNameLst>
                                      </p:cBhvr>
                                      <p:tavLst>
                                        <p:tav tm="0">
                                          <p:val>
                                            <p:strVal val="#ppt_y+.08"/>
                                          </p:val>
                                        </p:tav>
                                        <p:tav tm="100000">
                                          <p:val>
                                            <p:strVal val="#ppt_y"/>
                                          </p:val>
                                        </p:tav>
                                      </p:tavLst>
                                    </p:anim>
                                  </p:childTnLst>
                                </p:cTn>
                              </p:par>
                              <p:par>
                                <p:cTn id="99" presetID="42" presetClass="entr" presetSubtype="0" fill="hold" grpId="0" nodeType="withEffect">
                                  <p:stCondLst>
                                    <p:cond delay="2280"/>
                                  </p:stCondLst>
                                  <p:childTnLst>
                                    <p:set>
                                      <p:cBhvr>
                                        <p:cTn id="100" dur="1" fill="hold">
                                          <p:stCondLst>
                                            <p:cond delay="0"/>
                                          </p:stCondLst>
                                        </p:cTn>
                                        <p:tgtEl>
                                          <p:spTgt spid="25"/>
                                        </p:tgtEl>
                                        <p:attrNameLst>
                                          <p:attrName>style.visibility</p:attrName>
                                        </p:attrNameLst>
                                      </p:cBhvr>
                                      <p:to>
                                        <p:strVal val="visible"/>
                                      </p:to>
                                    </p:set>
                                    <p:animEffect transition="in" filter="fade">
                                      <p:cBhvr>
                                        <p:cTn id="96" dur="700"/>
                                        <p:tgtEl>
                                          <p:spTgt spid="25"/>
                                        </p:tgtEl>
                                      </p:cBhvr>
                                    </p:animEffect>
                                    <p:anim calcmode="lin" valueType="num">
                                      <p:cBhvr additive="base">
                                        <p:cTn id="97" dur="700" fill="hold"/>
                                        <p:tgtEl>
                                          <p:spTgt spid="25"/>
                                        </p:tgtEl>
                                        <p:attrNameLst>
                                          <p:attrName>ppt_x</p:attrName>
                                        </p:attrNameLst>
                                      </p:cBhvr>
                                      <p:tavLst>
                                        <p:tav tm="0">
                                          <p:val>
                                            <p:strVal val="#ppt_x"/>
                                          </p:val>
                                        </p:tav>
                                        <p:tav tm="100000">
                                          <p:val>
                                            <p:strVal val="#ppt_x"/>
                                          </p:val>
                                        </p:tav>
                                      </p:tavLst>
                                    </p:anim>
                                    <p:anim calcmode="lin" valueType="num">
                                      <p:cBhvr additive="base">
                                        <p:cTn id="98" dur="700" fill="hold"/>
                                        <p:tgtEl>
                                          <p:spTgt spid="25"/>
                                        </p:tgtEl>
                                        <p:attrNameLst>
                                          <p:attrName>ppt_y</p:attrName>
                                        </p:attrNameLst>
                                      </p:cBhvr>
                                      <p:tavLst>
                                        <p:tav tm="0">
                                          <p:val>
                                            <p:strVal val="#ppt_y+.08"/>
                                          </p:val>
                                        </p:tav>
                                        <p:tav tm="100000">
                                          <p:val>
                                            <p:strVal val="#ppt_y"/>
                                          </p:val>
                                        </p:tav>
                                      </p:tavLst>
                                    </p:anim>
                                  </p:childTnLst>
                                </p:cTn>
                              </p:par>
                              <p:par>
                                <p:cTn id="104" presetID="42" presetClass="entr" presetSubtype="0" fill="hold" grpId="0" nodeType="withEffect">
                                  <p:stCondLst>
                                    <p:cond delay="2280"/>
                                  </p:stCondLst>
                                  <p:childTnLst>
                                    <p:set>
                                      <p:cBhvr>
                                        <p:cTn id="105" dur="1" fill="hold">
                                          <p:stCondLst>
                                            <p:cond delay="0"/>
                                          </p:stCondLst>
                                        </p:cTn>
                                        <p:tgtEl>
                                          <p:spTgt spid="26"/>
                                        </p:tgtEl>
                                        <p:attrNameLst>
                                          <p:attrName>style.visibility</p:attrName>
                                        </p:attrNameLst>
                                      </p:cBhvr>
                                      <p:to>
                                        <p:strVal val="visible"/>
                                      </p:to>
                                    </p:set>
                                    <p:animEffect transition="in" filter="fade">
                                      <p:cBhvr>
                                        <p:cTn id="101" dur="700"/>
                                        <p:tgtEl>
                                          <p:spTgt spid="26"/>
                                        </p:tgtEl>
                                      </p:cBhvr>
                                    </p:animEffect>
                                    <p:anim calcmode="lin" valueType="num">
                                      <p:cBhvr additive="base">
                                        <p:cTn id="102" dur="700" fill="hold"/>
                                        <p:tgtEl>
                                          <p:spTgt spid="26"/>
                                        </p:tgtEl>
                                        <p:attrNameLst>
                                          <p:attrName>ppt_x</p:attrName>
                                        </p:attrNameLst>
                                      </p:cBhvr>
                                      <p:tavLst>
                                        <p:tav tm="0">
                                          <p:val>
                                            <p:strVal val="#ppt_x"/>
                                          </p:val>
                                        </p:tav>
                                        <p:tav tm="100000">
                                          <p:val>
                                            <p:strVal val="#ppt_x"/>
                                          </p:val>
                                        </p:tav>
                                      </p:tavLst>
                                    </p:anim>
                                    <p:anim calcmode="lin" valueType="num">
                                      <p:cBhvr additive="base">
                                        <p:cTn id="103" dur="700" fill="hold"/>
                                        <p:tgtEl>
                                          <p:spTgt spid="26"/>
                                        </p:tgtEl>
                                        <p:attrNameLst>
                                          <p:attrName>ppt_y</p:attrName>
                                        </p:attrNameLst>
                                      </p:cBhvr>
                                      <p:tavLst>
                                        <p:tav tm="0">
                                          <p:val>
                                            <p:strVal val="#ppt_y+.08"/>
                                          </p:val>
                                        </p:tav>
                                        <p:tav tm="100000">
                                          <p:val>
                                            <p:strVal val="#ppt_y"/>
                                          </p:val>
                                        </p:tav>
                                      </p:tavLst>
                                    </p:anim>
                                  </p:childTnLst>
                                </p:cTn>
                              </p:par>
                              <p:par>
                                <p:cTn id="107" presetID="10" presetClass="entr" presetSubtype="0" fill="hold" grpId="0" nodeType="withEffect">
                                  <p:stCondLst>
                                    <p:cond delay="2660"/>
                                  </p:stCondLst>
                                  <p:childTnLst>
                                    <p:set>
                                      <p:cBhvr>
                                        <p:cTn id="108" dur="1" fill="hold">
                                          <p:stCondLst>
                                            <p:cond delay="0"/>
                                          </p:stCondLst>
                                        </p:cTn>
                                        <p:tgtEl>
                                          <p:spTgt spid="27"/>
                                        </p:tgtEl>
                                        <p:attrNameLst>
                                          <p:attrName>style.visibility</p:attrName>
                                        </p:attrNameLst>
                                      </p:cBhvr>
                                      <p:to>
                                        <p:strVal val="visible"/>
                                      </p:to>
                                    </p:set>
                                    <p:animEffect transition="in" filter="fade">
                                      <p:cBhvr>
                                        <p:cTn id="106" dur="600"/>
                                        <p:tgtEl>
                                          <p:spTgt spid="27"/>
                                        </p:tgtEl>
                                      </p:cBhvr>
                                    </p:animEffect>
                                  </p:childTnLst>
                                </p:cTn>
                              </p:par>
                              <p:par>
                                <p:cTn id="110" presetID="10" presetClass="entr" presetSubtype="0" fill="hold" grpId="0" nodeType="withEffect">
                                  <p:stCondLst>
                                    <p:cond delay="2660"/>
                                  </p:stCondLst>
                                  <p:childTnLst>
                                    <p:set>
                                      <p:cBhvr>
                                        <p:cTn id="111" dur="1" fill="hold">
                                          <p:stCondLst>
                                            <p:cond delay="0"/>
                                          </p:stCondLst>
                                        </p:cTn>
                                        <p:tgtEl>
                                          <p:spTgt spid="28"/>
                                        </p:tgtEl>
                                        <p:attrNameLst>
                                          <p:attrName>style.visibility</p:attrName>
                                        </p:attrNameLst>
                                      </p:cBhvr>
                                      <p:to>
                                        <p:strVal val="visible"/>
                                      </p:to>
                                    </p:set>
                                    <p:animEffect transition="in" filter="fade">
                                      <p:cBhvr>
                                        <p:cTn id="109" dur="6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2" grpId="0" animBg="1"/>
      <p:bldP spid="13" grpId="0" animBg="1"/>
      <p:bldP spid="14" grpId="0" animBg="1"/>
      <p:bldP spid="16" grpId="0" animBg="1"/>
      <p:bldP spid="17" grpId="0" animBg="1"/>
      <p:bldP spid="18" grpId="0" animBg="1"/>
      <p:bldP spid="20" grpId="0" animBg="1"/>
      <p:bldP spid="21" grpId="0" animBg="1"/>
      <p:bldP spid="22" grpId="0" animBg="1"/>
      <p:bldP spid="24" grpId="0" animBg="1"/>
      <p:bldP spid="25" grpId="0" animBg="1"/>
      <p:bldP spid="26" grpId="0" animBg="1"/>
      <p:bldP spid="2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7406640" y="-1005840"/>
            <a:ext cx="2560320" cy="2560320"/>
          </a:xfrm>
          <a:prstGeom prst="rect">
            <a:avLst/>
          </a:prstGeom>
        </p:spPr>
      </p:pic>
      <p:sp>
        <p:nvSpPr>
          <p:cNvPr id="3" name="Text 0"/>
          <p:cNvSpPr txBox="1"/>
          <p:nvPr/>
        </p:nvSpPr>
        <p:spPr>
          <a:xfrm>
            <a:off x="457200" y="274320"/>
            <a:ext cx="6858000" cy="228600"/>
          </a:xfrm>
          <a:prstGeom prst="rect">
            <a:avLst/>
          </a:prstGeom>
          <a:noFill/>
          <a:ln/>
        </p:spPr>
        <p:txBody>
          <a:bodyPr wrap="square" lIns="0" tIns="0" rIns="0" bIns="0" rtlCol="0" anchor="t"/>
          <a:lstStyle/>
          <a:p>
            <a:pPr indent="0" marL="0">
              <a:buNone/>
            </a:pPr>
            <a:r>
              <a:rPr lang="en-US" sz="1050" b="1" spc="200" kern="0" dirty="0">
                <a:solidFill>
                  <a:srgbClr val="1F4FA8"/>
                </a:solidFill>
                <a:latin typeface="Calibri" pitchFamily="34" charset="0"/>
                <a:ea typeface="Calibri" pitchFamily="34" charset="-122"/>
                <a:cs typeface="Calibri" pitchFamily="34" charset="-120"/>
              </a:rPr>
              <a:t>INTRODUCTION</a:t>
            </a:r>
            <a:endParaRPr lang="en-US" sz="1050" dirty="0"/>
          </a:p>
        </p:txBody>
      </p:sp>
      <p:sp>
        <p:nvSpPr>
          <p:cNvPr id="4" name="Text 1"/>
          <p:cNvSpPr txBox="1"/>
          <p:nvPr/>
        </p:nvSpPr>
        <p:spPr>
          <a:xfrm>
            <a:off x="457200" y="502920"/>
            <a:ext cx="7863840" cy="548640"/>
          </a:xfrm>
          <a:prstGeom prst="rect">
            <a:avLst/>
          </a:prstGeom>
          <a:noFill/>
          <a:ln/>
        </p:spPr>
        <p:txBody>
          <a:bodyPr wrap="square" lIns="0" tIns="0" rIns="0" bIns="0" rtlCol="0" anchor="ctr"/>
          <a:lstStyle/>
          <a:p>
            <a:pPr indent="0" marL="0">
              <a:buNone/>
            </a:pPr>
            <a:r>
              <a:rPr lang="en-US" sz="2600" b="1" dirty="0">
                <a:solidFill>
                  <a:srgbClr val="0B1F4B"/>
                </a:solidFill>
                <a:latin typeface="Cambria" pitchFamily="34" charset="0"/>
                <a:ea typeface="Cambria" pitchFamily="34" charset="-122"/>
                <a:cs typeface="Cambria" pitchFamily="34" charset="-120"/>
              </a:rPr>
              <a:t>Le marché unique repose sur quatre libertés</a:t>
            </a:r>
            <a:endParaRPr lang="en-US" sz="2600" dirty="0"/>
          </a:p>
        </p:txBody>
      </p:sp>
      <p:sp>
        <p:nvSpPr>
          <p:cNvPr id="5" name="Text 2"/>
          <p:cNvSpPr txBox="1"/>
          <p:nvPr/>
        </p:nvSpPr>
        <p:spPr>
          <a:xfrm>
            <a:off x="8321040" y="4773168"/>
            <a:ext cx="365760" cy="228600"/>
          </a:xfrm>
          <a:prstGeom prst="rect">
            <a:avLst/>
          </a:prstGeom>
          <a:noFill/>
          <a:ln/>
        </p:spPr>
        <p:txBody>
          <a:bodyPr wrap="square" lIns="0" tIns="0" rIns="0" bIns="0" rtlCol="0" anchor="t"/>
          <a:lstStyle/>
          <a:p>
            <a:pPr algn="r" indent="0" marL="0">
              <a:buNone/>
            </a:pPr>
            <a:r>
              <a:rPr lang="en-US" sz="1000" dirty="0">
                <a:solidFill>
                  <a:srgbClr val="5B6478"/>
                </a:solidFill>
                <a:latin typeface="Calibri" pitchFamily="34" charset="0"/>
                <a:ea typeface="Calibri" pitchFamily="34" charset="-122"/>
                <a:cs typeface="Calibri" pitchFamily="34" charset="-120"/>
              </a:rPr>
              <a:t>4</a:t>
            </a:r>
            <a:endParaRPr lang="en-US" sz="1000" dirty="0"/>
          </a:p>
        </p:txBody>
      </p:sp>
      <p:sp>
        <p:nvSpPr>
          <p:cNvPr id="6" name="A1-fadeup-53"/>
          <p:cNvSpPr/>
          <p:nvPr/>
        </p:nvSpPr>
        <p:spPr>
          <a:xfrm>
            <a:off x="457200" y="1325880"/>
            <a:ext cx="1920240" cy="2514600"/>
          </a:xfrm>
          <a:prstGeom prst="roundRect">
            <a:avLst>
              <a:gd name="adj" fmla="val 5714"/>
            </a:avLst>
          </a:prstGeom>
          <a:solidFill>
            <a:srgbClr val="FFFFFF"/>
          </a:solidFill>
          <a:ln w="12700">
            <a:solidFill>
              <a:srgbClr val="FFFFFF"/>
            </a:solidFill>
            <a:prstDash val="solid"/>
          </a:ln>
          <a:effectLst>
            <a:outerShdw sx="100000" sy="100000" kx="0" ky="0" algn="bl" rotWithShape="0" blurRad="101600" dist="25400" dir="5400000">
              <a:srgbClr val="0B1F4B">
                <a:alpha val="12000"/>
              </a:srgbClr>
            </a:outerShdw>
          </a:effectLst>
        </p:spPr>
      </p:sp>
      <p:sp>
        <p:nvSpPr>
          <p:cNvPr id="7" name="A1-zoom-54"/>
          <p:cNvSpPr/>
          <p:nvPr/>
        </p:nvSpPr>
        <p:spPr>
          <a:xfrm>
            <a:off x="1033272" y="1554480"/>
            <a:ext cx="768096" cy="768096"/>
          </a:xfrm>
          <a:prstGeom prst="ellipse">
            <a:avLst/>
          </a:prstGeom>
          <a:solidFill>
            <a:srgbClr val="0B1F4B"/>
          </a:solidFill>
          <a:ln w="12700">
            <a:solidFill>
              <a:srgbClr val="0B1F4B"/>
            </a:solidFill>
            <a:prstDash val="solid"/>
          </a:ln>
        </p:spPr>
      </p:sp>
      <p:pic>
        <p:nvPicPr>
          <p:cNvPr id="8" name="A1-zoom-55" descr="preencoded.png">    </p:cNvPr>
          <p:cNvPicPr>
            <a:picLocks noChangeAspect="1"/>
          </p:cNvPicPr>
          <p:nvPr/>
        </p:nvPicPr>
        <p:blipFill>
          <a:blip r:embed="rId3"/>
          <a:stretch>
            <a:fillRect/>
          </a:stretch>
        </p:blipFill>
        <p:spPr>
          <a:xfrm>
            <a:off x="1240658" y="1761866"/>
            <a:ext cx="353324" cy="353324"/>
          </a:xfrm>
          <a:prstGeom prst="rect">
            <a:avLst/>
          </a:prstGeom>
        </p:spPr>
      </p:pic>
      <p:sp>
        <p:nvSpPr>
          <p:cNvPr id="9" name="A1-fadeup-56"/>
          <p:cNvSpPr txBox="1"/>
          <p:nvPr/>
        </p:nvSpPr>
        <p:spPr>
          <a:xfrm>
            <a:off x="548640" y="2468880"/>
            <a:ext cx="1737360" cy="365760"/>
          </a:xfrm>
          <a:prstGeom prst="rect">
            <a:avLst/>
          </a:prstGeom>
          <a:noFill/>
          <a:ln/>
        </p:spPr>
        <p:txBody>
          <a:bodyPr wrap="square" lIns="0" tIns="0" rIns="0" bIns="0" rtlCol="0" anchor="t"/>
          <a:lstStyle/>
          <a:p>
            <a:pPr algn="ctr" indent="0" marL="0">
              <a:buNone/>
            </a:pPr>
            <a:r>
              <a:rPr lang="en-US" sz="1700" b="1" dirty="0">
                <a:solidFill>
                  <a:srgbClr val="0B1F4B"/>
                </a:solidFill>
                <a:latin typeface="Cambria" pitchFamily="34" charset="0"/>
                <a:ea typeface="Cambria" pitchFamily="34" charset="-122"/>
                <a:cs typeface="Cambria" pitchFamily="34" charset="-120"/>
              </a:rPr>
              <a:t>Marchandises</a:t>
            </a:r>
            <a:endParaRPr lang="en-US" sz="1700" dirty="0"/>
          </a:p>
        </p:txBody>
      </p:sp>
      <p:sp>
        <p:nvSpPr>
          <p:cNvPr id="10" name="A1-fadeup-57"/>
          <p:cNvSpPr txBox="1"/>
          <p:nvPr/>
        </p:nvSpPr>
        <p:spPr>
          <a:xfrm>
            <a:off x="621792" y="2852928"/>
            <a:ext cx="1591056" cy="868680"/>
          </a:xfrm>
          <a:prstGeom prst="rect">
            <a:avLst/>
          </a:prstGeom>
          <a:noFill/>
          <a:ln/>
        </p:spPr>
        <p:txBody>
          <a:bodyPr wrap="square" lIns="0" tIns="0" rIns="0" bIns="0" rtlCol="0" anchor="t"/>
          <a:lstStyle/>
          <a:p>
            <a:pPr algn="ctr" indent="0" marL="0">
              <a:buNone/>
            </a:pPr>
            <a:r>
              <a:rPr lang="en-US" sz="1150" dirty="0">
                <a:solidFill>
                  <a:srgbClr val="5B6478"/>
                </a:solidFill>
                <a:latin typeface="Calibri" pitchFamily="34" charset="0"/>
                <a:ea typeface="Calibri" pitchFamily="34" charset="-122"/>
                <a:cs typeface="Calibri" pitchFamily="34" charset="-120"/>
              </a:rPr>
              <a:t>Plus de contrôles douaniers internes, reconnaissance mutuelle des normes</a:t>
            </a:r>
            <a:endParaRPr lang="en-US" sz="1150" dirty="0"/>
          </a:p>
        </p:txBody>
      </p:sp>
      <p:sp>
        <p:nvSpPr>
          <p:cNvPr id="11" name="A2-fadeup-58"/>
          <p:cNvSpPr/>
          <p:nvPr/>
        </p:nvSpPr>
        <p:spPr>
          <a:xfrm>
            <a:off x="2551176" y="1325880"/>
            <a:ext cx="1920240" cy="2514600"/>
          </a:xfrm>
          <a:prstGeom prst="roundRect">
            <a:avLst>
              <a:gd name="adj" fmla="val 5714"/>
            </a:avLst>
          </a:prstGeom>
          <a:solidFill>
            <a:srgbClr val="FFFFFF"/>
          </a:solidFill>
          <a:ln w="12700">
            <a:solidFill>
              <a:srgbClr val="FFFFFF"/>
            </a:solidFill>
            <a:prstDash val="solid"/>
          </a:ln>
          <a:effectLst>
            <a:outerShdw sx="100000" sy="100000" kx="0" ky="0" algn="bl" rotWithShape="0" blurRad="101600" dist="25400" dir="5400000">
              <a:srgbClr val="0B1F4B">
                <a:alpha val="12000"/>
              </a:srgbClr>
            </a:outerShdw>
          </a:effectLst>
        </p:spPr>
      </p:sp>
      <p:sp>
        <p:nvSpPr>
          <p:cNvPr id="12" name="A2-zoom-59"/>
          <p:cNvSpPr/>
          <p:nvPr/>
        </p:nvSpPr>
        <p:spPr>
          <a:xfrm>
            <a:off x="3127248" y="1554480"/>
            <a:ext cx="768096" cy="768096"/>
          </a:xfrm>
          <a:prstGeom prst="ellipse">
            <a:avLst/>
          </a:prstGeom>
          <a:solidFill>
            <a:srgbClr val="0B1F4B"/>
          </a:solidFill>
          <a:ln w="12700">
            <a:solidFill>
              <a:srgbClr val="0B1F4B"/>
            </a:solidFill>
            <a:prstDash val="solid"/>
          </a:ln>
        </p:spPr>
      </p:sp>
      <p:pic>
        <p:nvPicPr>
          <p:cNvPr id="13" name="A2-zoom-60" descr="preencoded.png">    </p:cNvPr>
          <p:cNvPicPr>
            <a:picLocks noChangeAspect="1"/>
          </p:cNvPicPr>
          <p:nvPr/>
        </p:nvPicPr>
        <p:blipFill>
          <a:blip r:embed="rId4"/>
          <a:stretch>
            <a:fillRect/>
          </a:stretch>
        </p:blipFill>
        <p:spPr>
          <a:xfrm>
            <a:off x="3334634" y="1761866"/>
            <a:ext cx="353324" cy="353324"/>
          </a:xfrm>
          <a:prstGeom prst="rect">
            <a:avLst/>
          </a:prstGeom>
        </p:spPr>
      </p:pic>
      <p:sp>
        <p:nvSpPr>
          <p:cNvPr id="14" name="A2-fadeup-61"/>
          <p:cNvSpPr txBox="1"/>
          <p:nvPr/>
        </p:nvSpPr>
        <p:spPr>
          <a:xfrm>
            <a:off x="2642616" y="2468880"/>
            <a:ext cx="1737360" cy="365760"/>
          </a:xfrm>
          <a:prstGeom prst="rect">
            <a:avLst/>
          </a:prstGeom>
          <a:noFill/>
          <a:ln/>
        </p:spPr>
        <p:txBody>
          <a:bodyPr wrap="square" lIns="0" tIns="0" rIns="0" bIns="0" rtlCol="0" anchor="t"/>
          <a:lstStyle/>
          <a:p>
            <a:pPr algn="ctr" indent="0" marL="0">
              <a:buNone/>
            </a:pPr>
            <a:r>
              <a:rPr lang="en-US" sz="1700" b="1" dirty="0">
                <a:solidFill>
                  <a:srgbClr val="0B1F4B"/>
                </a:solidFill>
                <a:latin typeface="Cambria" pitchFamily="34" charset="0"/>
                <a:ea typeface="Cambria" pitchFamily="34" charset="-122"/>
                <a:cs typeface="Cambria" pitchFamily="34" charset="-120"/>
              </a:rPr>
              <a:t>Services</a:t>
            </a:r>
            <a:endParaRPr lang="en-US" sz="1700" dirty="0"/>
          </a:p>
        </p:txBody>
      </p:sp>
      <p:sp>
        <p:nvSpPr>
          <p:cNvPr id="15" name="A2-fadeup-62"/>
          <p:cNvSpPr txBox="1"/>
          <p:nvPr/>
        </p:nvSpPr>
        <p:spPr>
          <a:xfrm>
            <a:off x="2715768" y="2852928"/>
            <a:ext cx="1591056" cy="868680"/>
          </a:xfrm>
          <a:prstGeom prst="rect">
            <a:avLst/>
          </a:prstGeom>
          <a:noFill/>
          <a:ln/>
        </p:spPr>
        <p:txBody>
          <a:bodyPr wrap="square" lIns="0" tIns="0" rIns="0" bIns="0" rtlCol="0" anchor="t"/>
          <a:lstStyle/>
          <a:p>
            <a:pPr algn="ctr" indent="0" marL="0">
              <a:buNone/>
            </a:pPr>
            <a:r>
              <a:rPr lang="en-US" sz="1150" dirty="0">
                <a:solidFill>
                  <a:srgbClr val="5B6478"/>
                </a:solidFill>
                <a:latin typeface="Calibri" pitchFamily="34" charset="0"/>
                <a:ea typeface="Calibri" pitchFamily="34" charset="-122"/>
                <a:cs typeface="Calibri" pitchFamily="34" charset="-120"/>
              </a:rPr>
              <a:t>Fournir un service ou s'établir dans un autre État membre</a:t>
            </a:r>
            <a:endParaRPr lang="en-US" sz="1150" dirty="0"/>
          </a:p>
        </p:txBody>
      </p:sp>
      <p:sp>
        <p:nvSpPr>
          <p:cNvPr id="16" name="A3-fadeup-63"/>
          <p:cNvSpPr/>
          <p:nvPr/>
        </p:nvSpPr>
        <p:spPr>
          <a:xfrm>
            <a:off x="4645152" y="1325880"/>
            <a:ext cx="1920240" cy="2514600"/>
          </a:xfrm>
          <a:prstGeom prst="roundRect">
            <a:avLst>
              <a:gd name="adj" fmla="val 5714"/>
            </a:avLst>
          </a:prstGeom>
          <a:solidFill>
            <a:srgbClr val="FFFFFF"/>
          </a:solidFill>
          <a:ln w="12700">
            <a:solidFill>
              <a:srgbClr val="FFFFFF"/>
            </a:solidFill>
            <a:prstDash val="solid"/>
          </a:ln>
          <a:effectLst>
            <a:outerShdw sx="100000" sy="100000" kx="0" ky="0" algn="bl" rotWithShape="0" blurRad="101600" dist="25400" dir="5400000">
              <a:srgbClr val="0B1F4B">
                <a:alpha val="12000"/>
              </a:srgbClr>
            </a:outerShdw>
          </a:effectLst>
        </p:spPr>
      </p:sp>
      <p:sp>
        <p:nvSpPr>
          <p:cNvPr id="17" name="A3-zoom-64"/>
          <p:cNvSpPr/>
          <p:nvPr/>
        </p:nvSpPr>
        <p:spPr>
          <a:xfrm>
            <a:off x="5221224" y="1554480"/>
            <a:ext cx="768096" cy="768096"/>
          </a:xfrm>
          <a:prstGeom prst="ellipse">
            <a:avLst/>
          </a:prstGeom>
          <a:solidFill>
            <a:srgbClr val="0B1F4B"/>
          </a:solidFill>
          <a:ln w="12700">
            <a:solidFill>
              <a:srgbClr val="0B1F4B"/>
            </a:solidFill>
            <a:prstDash val="solid"/>
          </a:ln>
        </p:spPr>
      </p:sp>
      <p:pic>
        <p:nvPicPr>
          <p:cNvPr id="18" name="A3-zoom-65" descr="preencoded.png">    </p:cNvPr>
          <p:cNvPicPr>
            <a:picLocks noChangeAspect="1"/>
          </p:cNvPicPr>
          <p:nvPr/>
        </p:nvPicPr>
        <p:blipFill>
          <a:blip r:embed="rId5"/>
          <a:stretch>
            <a:fillRect/>
          </a:stretch>
        </p:blipFill>
        <p:spPr>
          <a:xfrm>
            <a:off x="5428610" y="1761866"/>
            <a:ext cx="353324" cy="353324"/>
          </a:xfrm>
          <a:prstGeom prst="rect">
            <a:avLst/>
          </a:prstGeom>
        </p:spPr>
      </p:pic>
      <p:sp>
        <p:nvSpPr>
          <p:cNvPr id="19" name="A3-fadeup-66"/>
          <p:cNvSpPr txBox="1"/>
          <p:nvPr/>
        </p:nvSpPr>
        <p:spPr>
          <a:xfrm>
            <a:off x="4736592" y="2468880"/>
            <a:ext cx="1737360" cy="365760"/>
          </a:xfrm>
          <a:prstGeom prst="rect">
            <a:avLst/>
          </a:prstGeom>
          <a:noFill/>
          <a:ln/>
        </p:spPr>
        <p:txBody>
          <a:bodyPr wrap="square" lIns="0" tIns="0" rIns="0" bIns="0" rtlCol="0" anchor="t"/>
          <a:lstStyle/>
          <a:p>
            <a:pPr algn="ctr" indent="0" marL="0">
              <a:buNone/>
            </a:pPr>
            <a:r>
              <a:rPr lang="en-US" sz="1700" b="1" dirty="0">
                <a:solidFill>
                  <a:srgbClr val="0B1F4B"/>
                </a:solidFill>
                <a:latin typeface="Cambria" pitchFamily="34" charset="0"/>
                <a:ea typeface="Cambria" pitchFamily="34" charset="-122"/>
                <a:cs typeface="Cambria" pitchFamily="34" charset="-120"/>
              </a:rPr>
              <a:t>Capitaux</a:t>
            </a:r>
            <a:endParaRPr lang="en-US" sz="1700" dirty="0"/>
          </a:p>
        </p:txBody>
      </p:sp>
      <p:sp>
        <p:nvSpPr>
          <p:cNvPr id="20" name="A3-fadeup-67"/>
          <p:cNvSpPr txBox="1"/>
          <p:nvPr/>
        </p:nvSpPr>
        <p:spPr>
          <a:xfrm>
            <a:off x="4809744" y="2852928"/>
            <a:ext cx="1591056" cy="868680"/>
          </a:xfrm>
          <a:prstGeom prst="rect">
            <a:avLst/>
          </a:prstGeom>
          <a:noFill/>
          <a:ln/>
        </p:spPr>
        <p:txBody>
          <a:bodyPr wrap="square" lIns="0" tIns="0" rIns="0" bIns="0" rtlCol="0" anchor="t"/>
          <a:lstStyle/>
          <a:p>
            <a:pPr algn="ctr" indent="0" marL="0">
              <a:buNone/>
            </a:pPr>
            <a:r>
              <a:rPr lang="en-US" sz="1150" dirty="0">
                <a:solidFill>
                  <a:srgbClr val="5B6478"/>
                </a:solidFill>
                <a:latin typeface="Calibri" pitchFamily="34" charset="0"/>
                <a:ea typeface="Calibri" pitchFamily="34" charset="-122"/>
                <a:cs typeface="Calibri" pitchFamily="34" charset="-120"/>
              </a:rPr>
              <a:t>Libéralisation complète effective depuis 1990</a:t>
            </a:r>
            <a:endParaRPr lang="en-US" sz="1150" dirty="0"/>
          </a:p>
        </p:txBody>
      </p:sp>
      <p:sp>
        <p:nvSpPr>
          <p:cNvPr id="21" name="A4-fadeup-68"/>
          <p:cNvSpPr/>
          <p:nvPr/>
        </p:nvSpPr>
        <p:spPr>
          <a:xfrm>
            <a:off x="6739128" y="1325880"/>
            <a:ext cx="1920240" cy="2514600"/>
          </a:xfrm>
          <a:prstGeom prst="roundRect">
            <a:avLst>
              <a:gd name="adj" fmla="val 5714"/>
            </a:avLst>
          </a:prstGeom>
          <a:solidFill>
            <a:srgbClr val="FFFFFF"/>
          </a:solidFill>
          <a:ln w="12700">
            <a:solidFill>
              <a:srgbClr val="FFFFFF"/>
            </a:solidFill>
            <a:prstDash val="solid"/>
          </a:ln>
          <a:effectLst>
            <a:outerShdw sx="100000" sy="100000" kx="0" ky="0" algn="bl" rotWithShape="0" blurRad="101600" dist="25400" dir="5400000">
              <a:srgbClr val="0B1F4B">
                <a:alpha val="12000"/>
              </a:srgbClr>
            </a:outerShdw>
          </a:effectLst>
        </p:spPr>
      </p:sp>
      <p:sp>
        <p:nvSpPr>
          <p:cNvPr id="22" name="A4-zoom-69"/>
          <p:cNvSpPr/>
          <p:nvPr/>
        </p:nvSpPr>
        <p:spPr>
          <a:xfrm>
            <a:off x="7315200" y="1554480"/>
            <a:ext cx="768096" cy="768096"/>
          </a:xfrm>
          <a:prstGeom prst="ellipse">
            <a:avLst/>
          </a:prstGeom>
          <a:solidFill>
            <a:srgbClr val="0B1F4B"/>
          </a:solidFill>
          <a:ln w="12700">
            <a:solidFill>
              <a:srgbClr val="0B1F4B"/>
            </a:solidFill>
            <a:prstDash val="solid"/>
          </a:ln>
        </p:spPr>
      </p:sp>
      <p:pic>
        <p:nvPicPr>
          <p:cNvPr id="23" name="A4-zoom-70" descr="preencoded.png">    </p:cNvPr>
          <p:cNvPicPr>
            <a:picLocks noChangeAspect="1"/>
          </p:cNvPicPr>
          <p:nvPr/>
        </p:nvPicPr>
        <p:blipFill>
          <a:blip r:embed="rId6"/>
          <a:stretch>
            <a:fillRect/>
          </a:stretch>
        </p:blipFill>
        <p:spPr>
          <a:xfrm>
            <a:off x="7522586" y="1761866"/>
            <a:ext cx="353324" cy="353324"/>
          </a:xfrm>
          <a:prstGeom prst="rect">
            <a:avLst/>
          </a:prstGeom>
        </p:spPr>
      </p:pic>
      <p:sp>
        <p:nvSpPr>
          <p:cNvPr id="24" name="A4-fadeup-71"/>
          <p:cNvSpPr txBox="1"/>
          <p:nvPr/>
        </p:nvSpPr>
        <p:spPr>
          <a:xfrm>
            <a:off x="6830568" y="2468880"/>
            <a:ext cx="1737360" cy="365760"/>
          </a:xfrm>
          <a:prstGeom prst="rect">
            <a:avLst/>
          </a:prstGeom>
          <a:noFill/>
          <a:ln/>
        </p:spPr>
        <p:txBody>
          <a:bodyPr wrap="square" lIns="0" tIns="0" rIns="0" bIns="0" rtlCol="0" anchor="t"/>
          <a:lstStyle/>
          <a:p>
            <a:pPr algn="ctr" indent="0" marL="0">
              <a:buNone/>
            </a:pPr>
            <a:r>
              <a:rPr lang="en-US" sz="1700" b="1" dirty="0">
                <a:solidFill>
                  <a:srgbClr val="0B1F4B"/>
                </a:solidFill>
                <a:latin typeface="Cambria" pitchFamily="34" charset="0"/>
                <a:ea typeface="Cambria" pitchFamily="34" charset="-122"/>
                <a:cs typeface="Cambria" pitchFamily="34" charset="-120"/>
              </a:rPr>
              <a:t>Personnes</a:t>
            </a:r>
            <a:endParaRPr lang="en-US" sz="1700" dirty="0"/>
          </a:p>
        </p:txBody>
      </p:sp>
      <p:sp>
        <p:nvSpPr>
          <p:cNvPr id="25" name="A4-fadeup-72"/>
          <p:cNvSpPr txBox="1"/>
          <p:nvPr/>
        </p:nvSpPr>
        <p:spPr>
          <a:xfrm>
            <a:off x="6903720" y="2852928"/>
            <a:ext cx="1591056" cy="868680"/>
          </a:xfrm>
          <a:prstGeom prst="rect">
            <a:avLst/>
          </a:prstGeom>
          <a:noFill/>
          <a:ln/>
        </p:spPr>
        <p:txBody>
          <a:bodyPr wrap="square" lIns="0" tIns="0" rIns="0" bIns="0" rtlCol="0" anchor="t"/>
          <a:lstStyle/>
          <a:p>
            <a:pPr algn="ctr" indent="0" marL="0">
              <a:buNone/>
            </a:pPr>
            <a:r>
              <a:rPr lang="en-US" sz="1150" dirty="0">
                <a:solidFill>
                  <a:srgbClr val="5B6478"/>
                </a:solidFill>
                <a:latin typeface="Calibri" pitchFamily="34" charset="0"/>
                <a:ea typeface="Calibri" pitchFamily="34" charset="-122"/>
                <a:cs typeface="Calibri" pitchFamily="34" charset="-120"/>
              </a:rPr>
              <a:t>Vivre et travailler dans n'importe quel État membre</a:t>
            </a:r>
            <a:endParaRPr lang="en-US" sz="1150" dirty="0"/>
          </a:p>
        </p:txBody>
      </p:sp>
      <p:sp>
        <p:nvSpPr>
          <p:cNvPr id="26" name="A5-zoom-73"/>
          <p:cNvSpPr/>
          <p:nvPr/>
        </p:nvSpPr>
        <p:spPr>
          <a:xfrm>
            <a:off x="457200" y="4114800"/>
            <a:ext cx="502920" cy="502920"/>
          </a:xfrm>
          <a:prstGeom prst="ellipse">
            <a:avLst/>
          </a:prstGeom>
          <a:solidFill>
            <a:srgbClr val="FFC21A"/>
          </a:solidFill>
          <a:ln w="12700">
            <a:solidFill>
              <a:srgbClr val="FFC21A"/>
            </a:solidFill>
            <a:prstDash val="solid"/>
          </a:ln>
        </p:spPr>
      </p:sp>
      <p:pic>
        <p:nvPicPr>
          <p:cNvPr id="27" name="A5-zoom-74" descr="preencoded.png">    </p:cNvPr>
          <p:cNvPicPr>
            <a:picLocks noChangeAspect="1"/>
          </p:cNvPicPr>
          <p:nvPr/>
        </p:nvPicPr>
        <p:blipFill>
          <a:blip r:embed="rId7"/>
          <a:stretch>
            <a:fillRect/>
          </a:stretch>
        </p:blipFill>
        <p:spPr>
          <a:xfrm>
            <a:off x="592988" y="4250588"/>
            <a:ext cx="231343" cy="231343"/>
          </a:xfrm>
          <a:prstGeom prst="rect">
            <a:avLst/>
          </a:prstGeom>
        </p:spPr>
      </p:pic>
      <p:sp>
        <p:nvSpPr>
          <p:cNvPr id="28" name="A5-fadeleft-75"/>
          <p:cNvSpPr txBox="1"/>
          <p:nvPr/>
        </p:nvSpPr>
        <p:spPr>
          <a:xfrm>
            <a:off x="1143000" y="4069080"/>
            <a:ext cx="7543800" cy="594360"/>
          </a:xfrm>
          <a:prstGeom prst="rect">
            <a:avLst/>
          </a:prstGeom>
          <a:noFill/>
          <a:ln/>
        </p:spPr>
        <p:txBody>
          <a:bodyPr wrap="square" lIns="0" tIns="0" rIns="0" bIns="0" rtlCol="0" anchor="ctr"/>
          <a:lstStyle/>
          <a:p>
            <a:pPr indent="0" marL="0">
              <a:buNone/>
            </a:pPr>
            <a:r>
              <a:rPr lang="en-US" sz="1300" b="1" dirty="0">
                <a:solidFill>
                  <a:srgbClr val="0B1F4B"/>
                </a:solidFill>
                <a:latin typeface="Calibri" pitchFamily="34" charset="0"/>
                <a:ea typeface="Calibri" pitchFamily="34" charset="-122"/>
                <a:cs typeface="Calibri" pitchFamily="34" charset="-120"/>
              </a:rPr>
              <a:t>Le basculement : </a:t>
            </a:r>
            <a:pPr indent="0" marL="0">
              <a:buNone/>
            </a:pPr>
            <a:r>
              <a:rPr lang="en-US" sz="1300" dirty="0">
                <a:solidFill>
                  <a:srgbClr val="1B2333"/>
                </a:solidFill>
                <a:latin typeface="Calibri" pitchFamily="34" charset="0"/>
                <a:ea typeface="Calibri" pitchFamily="34" charset="-122"/>
                <a:cs typeface="Calibri" pitchFamily="34" charset="-120"/>
              </a:rPr>
              <a:t>d'une logique de suppression des droits de douane à une logique d'intégration réglementaire, bien plus exigeante pour les États.</a:t>
            </a:r>
            <a:endParaRPr lang="en-US" sz="13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118" fill="hold">
                      <p:stCondLst>
                        <p:cond delay="indefinite"/>
                        <p:cond evt="onBegin" delay="0">
                          <p:tn val="2"/>
                        </p:cond>
                      </p:stCondLst>
                      <p:childTnLst>
                        <p:par>
                          <p:cTn id="119" fill="hold">
                            <p:stCondLst>
                              <p:cond delay="0"/>
                            </p:stCondLst>
                            <p:childTnLst>
                              <p:par>
                                <p:cTn id="6" presetID="42" presetClass="entr" presetSubtype="0" fill="hold" grpId="0" nodeType="withEffect">
                                  <p:stCondLst>
                                    <p:cond delay="380"/>
                                  </p:stCondLst>
                                  <p:childTnLst>
                                    <p:set>
                                      <p:cBhvr>
                                        <p:cTn id="7" dur="1" fill="hold">
                                          <p:stCondLst>
                                            <p:cond delay="0"/>
                                          </p:stCondLst>
                                        </p:cTn>
                                        <p:tgtEl>
                                          <p:spTgt spid="6"/>
                                        </p:tgtEl>
                                        <p:attrNameLst>
                                          <p:attrName>style.visibility</p:attrName>
                                        </p:attrNameLst>
                                      </p:cBhvr>
                                      <p:to>
                                        <p:strVal val="visible"/>
                                      </p:to>
                                    </p:set>
                                    <p:animEffect transition="in" filter="fade">
                                      <p:cBhvr>
                                        <p:cTn id="3" dur="700"/>
                                        <p:tgtEl>
                                          <p:spTgt spid="6"/>
                                        </p:tgtEl>
                                      </p:cBhvr>
                                    </p:animEffect>
                                    <p:anim calcmode="lin" valueType="num">
                                      <p:cBhvr additive="base">
                                        <p:cTn id="4" dur="700" fill="hold"/>
                                        <p:tgtEl>
                                          <p:spTgt spid="6"/>
                                        </p:tgtEl>
                                        <p:attrNameLst>
                                          <p:attrName>ppt_x</p:attrName>
                                        </p:attrNameLst>
                                      </p:cBhvr>
                                      <p:tavLst>
                                        <p:tav tm="0">
                                          <p:val>
                                            <p:strVal val="#ppt_x"/>
                                          </p:val>
                                        </p:tav>
                                        <p:tav tm="100000">
                                          <p:val>
                                            <p:strVal val="#ppt_x"/>
                                          </p:val>
                                        </p:tav>
                                      </p:tavLst>
                                    </p:anim>
                                    <p:anim calcmode="lin" valueType="num">
                                      <p:cBhvr additive="base">
                                        <p:cTn id="5" dur="700" fill="hold"/>
                                        <p:tgtEl>
                                          <p:spTgt spid="6"/>
                                        </p:tgtEl>
                                        <p:attrNameLst>
                                          <p:attrName>ppt_y</p:attrName>
                                        </p:attrNameLst>
                                      </p:cBhvr>
                                      <p:tavLst>
                                        <p:tav tm="0">
                                          <p:val>
                                            <p:strVal val="#ppt_y+.08"/>
                                          </p:val>
                                        </p:tav>
                                        <p:tav tm="100000">
                                          <p:val>
                                            <p:strVal val="#ppt_y"/>
                                          </p:val>
                                        </p:tav>
                                      </p:tavLst>
                                    </p:anim>
                                  </p:childTnLst>
                                </p:cTn>
                              </p:par>
                              <p:par>
                                <p:cTn id="11" presetID="53" presetClass="entr" presetSubtype="16" fill="hold" grpId="0" nodeType="withEffect">
                                  <p:stCondLst>
                                    <p:cond delay="38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8" dur="550" fill="hold"/>
                                        <p:tgtEl>
                                          <p:spTgt spid="7"/>
                                        </p:tgtEl>
                                        <p:attrNameLst>
                                          <p:attrName>ppt_w</p:attrName>
                                        </p:attrNameLst>
                                      </p:cBhvr>
                                      <p:tavLst>
                                        <p:tav tm="0">
                                          <p:val>
                                            <p:strVal val="0"/>
                                          </p:val>
                                        </p:tav>
                                        <p:tav tm="100000">
                                          <p:val>
                                            <p:strVal val="#ppt_w"/>
                                          </p:val>
                                        </p:tav>
                                      </p:tavLst>
                                    </p:anim>
                                    <p:anim calcmode="lin" valueType="num">
                                      <p:cBhvr additive="base">
                                        <p:cTn id="9" dur="550" fill="hold"/>
                                        <p:tgtEl>
                                          <p:spTgt spid="7"/>
                                        </p:tgtEl>
                                        <p:attrNameLst>
                                          <p:attrName>ppt_h</p:attrName>
                                        </p:attrNameLst>
                                      </p:cBhvr>
                                      <p:tavLst>
                                        <p:tav tm="0">
                                          <p:val>
                                            <p:strVal val="0"/>
                                          </p:val>
                                        </p:tav>
                                        <p:tav tm="100000">
                                          <p:val>
                                            <p:strVal val="#ppt_h"/>
                                          </p:val>
                                        </p:tav>
                                      </p:tavLst>
                                    </p:anim>
                                    <p:animEffect transition="in" filter="fade">
                                      <p:cBhvr>
                                        <p:cTn id="10" dur="550"/>
                                        <p:tgtEl>
                                          <p:spTgt spid="7"/>
                                        </p:tgtEl>
                                      </p:cBhvr>
                                    </p:animEffect>
                                  </p:childTnLst>
                                </p:cTn>
                              </p:par>
                              <p:par>
                                <p:cTn id="16" presetID="53" presetClass="entr" presetSubtype="16" fill="hold" grpId="0" nodeType="withEffect">
                                  <p:stCondLst>
                                    <p:cond delay="38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3" dur="550" fill="hold"/>
                                        <p:tgtEl>
                                          <p:spTgt spid="8"/>
                                        </p:tgtEl>
                                        <p:attrNameLst>
                                          <p:attrName>ppt_w</p:attrName>
                                        </p:attrNameLst>
                                      </p:cBhvr>
                                      <p:tavLst>
                                        <p:tav tm="0">
                                          <p:val>
                                            <p:strVal val="0"/>
                                          </p:val>
                                        </p:tav>
                                        <p:tav tm="100000">
                                          <p:val>
                                            <p:strVal val="#ppt_w"/>
                                          </p:val>
                                        </p:tav>
                                      </p:tavLst>
                                    </p:anim>
                                    <p:anim calcmode="lin" valueType="num">
                                      <p:cBhvr additive="base">
                                        <p:cTn id="14" dur="550" fill="hold"/>
                                        <p:tgtEl>
                                          <p:spTgt spid="8"/>
                                        </p:tgtEl>
                                        <p:attrNameLst>
                                          <p:attrName>ppt_h</p:attrName>
                                        </p:attrNameLst>
                                      </p:cBhvr>
                                      <p:tavLst>
                                        <p:tav tm="0">
                                          <p:val>
                                            <p:strVal val="0"/>
                                          </p:val>
                                        </p:tav>
                                        <p:tav tm="100000">
                                          <p:val>
                                            <p:strVal val="#ppt_h"/>
                                          </p:val>
                                        </p:tav>
                                      </p:tavLst>
                                    </p:anim>
                                    <p:animEffect transition="in" filter="fade">
                                      <p:cBhvr>
                                        <p:cTn id="15" dur="550"/>
                                        <p:tgtEl>
                                          <p:spTgt spid="8"/>
                                        </p:tgtEl>
                                      </p:cBhvr>
                                    </p:animEffect>
                                  </p:childTnLst>
                                </p:cTn>
                              </p:par>
                              <p:par>
                                <p:cTn id="21" presetID="42" presetClass="entr" presetSubtype="0" fill="hold" grpId="0" nodeType="withEffect">
                                  <p:stCondLst>
                                    <p:cond delay="380"/>
                                  </p:stCondLst>
                                  <p:childTnLst>
                                    <p:set>
                                      <p:cBhvr>
                                        <p:cTn id="22" dur="1" fill="hold">
                                          <p:stCondLst>
                                            <p:cond delay="0"/>
                                          </p:stCondLst>
                                        </p:cTn>
                                        <p:tgtEl>
                                          <p:spTgt spid="9"/>
                                        </p:tgtEl>
                                        <p:attrNameLst>
                                          <p:attrName>style.visibility</p:attrName>
                                        </p:attrNameLst>
                                      </p:cBhvr>
                                      <p:to>
                                        <p:strVal val="visible"/>
                                      </p:to>
                                    </p:set>
                                    <p:animEffect transition="in" filter="fade">
                                      <p:cBhvr>
                                        <p:cTn id="18" dur="700"/>
                                        <p:tgtEl>
                                          <p:spTgt spid="9"/>
                                        </p:tgtEl>
                                      </p:cBhvr>
                                    </p:animEffect>
                                    <p:anim calcmode="lin" valueType="num">
                                      <p:cBhvr additive="base">
                                        <p:cTn id="19" dur="700" fill="hold"/>
                                        <p:tgtEl>
                                          <p:spTgt spid="9"/>
                                        </p:tgtEl>
                                        <p:attrNameLst>
                                          <p:attrName>ppt_x</p:attrName>
                                        </p:attrNameLst>
                                      </p:cBhvr>
                                      <p:tavLst>
                                        <p:tav tm="0">
                                          <p:val>
                                            <p:strVal val="#ppt_x"/>
                                          </p:val>
                                        </p:tav>
                                        <p:tav tm="100000">
                                          <p:val>
                                            <p:strVal val="#ppt_x"/>
                                          </p:val>
                                        </p:tav>
                                      </p:tavLst>
                                    </p:anim>
                                    <p:anim calcmode="lin" valueType="num">
                                      <p:cBhvr additive="base">
                                        <p:cTn id="20" dur="700" fill="hold"/>
                                        <p:tgtEl>
                                          <p:spTgt spid="9"/>
                                        </p:tgtEl>
                                        <p:attrNameLst>
                                          <p:attrName>ppt_y</p:attrName>
                                        </p:attrNameLst>
                                      </p:cBhvr>
                                      <p:tavLst>
                                        <p:tav tm="0">
                                          <p:val>
                                            <p:strVal val="#ppt_y+.08"/>
                                          </p:val>
                                        </p:tav>
                                        <p:tav tm="100000">
                                          <p:val>
                                            <p:strVal val="#ppt_y"/>
                                          </p:val>
                                        </p:tav>
                                      </p:tavLst>
                                    </p:anim>
                                  </p:childTnLst>
                                </p:cTn>
                              </p:par>
                              <p:par>
                                <p:cTn id="26" presetID="42" presetClass="entr" presetSubtype="0" fill="hold" grpId="0" nodeType="withEffect">
                                  <p:stCondLst>
                                    <p:cond delay="380"/>
                                  </p:stCondLst>
                                  <p:childTnLst>
                                    <p:set>
                                      <p:cBhvr>
                                        <p:cTn id="27" dur="1" fill="hold">
                                          <p:stCondLst>
                                            <p:cond delay="0"/>
                                          </p:stCondLst>
                                        </p:cTn>
                                        <p:tgtEl>
                                          <p:spTgt spid="10"/>
                                        </p:tgtEl>
                                        <p:attrNameLst>
                                          <p:attrName>style.visibility</p:attrName>
                                        </p:attrNameLst>
                                      </p:cBhvr>
                                      <p:to>
                                        <p:strVal val="visible"/>
                                      </p:to>
                                    </p:set>
                                    <p:animEffect transition="in" filter="fade">
                                      <p:cBhvr>
                                        <p:cTn id="23" dur="700"/>
                                        <p:tgtEl>
                                          <p:spTgt spid="10"/>
                                        </p:tgtEl>
                                      </p:cBhvr>
                                    </p:animEffect>
                                    <p:anim calcmode="lin" valueType="num">
                                      <p:cBhvr additive="base">
                                        <p:cTn id="24" dur="700" fill="hold"/>
                                        <p:tgtEl>
                                          <p:spTgt spid="10"/>
                                        </p:tgtEl>
                                        <p:attrNameLst>
                                          <p:attrName>ppt_x</p:attrName>
                                        </p:attrNameLst>
                                      </p:cBhvr>
                                      <p:tavLst>
                                        <p:tav tm="0">
                                          <p:val>
                                            <p:strVal val="#ppt_x"/>
                                          </p:val>
                                        </p:tav>
                                        <p:tav tm="100000">
                                          <p:val>
                                            <p:strVal val="#ppt_x"/>
                                          </p:val>
                                        </p:tav>
                                      </p:tavLst>
                                    </p:anim>
                                    <p:anim calcmode="lin" valueType="num">
                                      <p:cBhvr additive="base">
                                        <p:cTn id="25" dur="700" fill="hold"/>
                                        <p:tgtEl>
                                          <p:spTgt spid="10"/>
                                        </p:tgtEl>
                                        <p:attrNameLst>
                                          <p:attrName>ppt_y</p:attrName>
                                        </p:attrNameLst>
                                      </p:cBhvr>
                                      <p:tavLst>
                                        <p:tav tm="0">
                                          <p:val>
                                            <p:strVal val="#ppt_y+.08"/>
                                          </p:val>
                                        </p:tav>
                                        <p:tav tm="100000">
                                          <p:val>
                                            <p:strVal val="#ppt_y"/>
                                          </p:val>
                                        </p:tav>
                                      </p:tavLst>
                                    </p:anim>
                                  </p:childTnLst>
                                </p:cTn>
                              </p:par>
                              <p:par>
                                <p:cTn id="31" presetID="42" presetClass="entr" presetSubtype="0" fill="hold" grpId="0" nodeType="withEffect">
                                  <p:stCondLst>
                                    <p:cond delay="760"/>
                                  </p:stCondLst>
                                  <p:childTnLst>
                                    <p:set>
                                      <p:cBhvr>
                                        <p:cTn id="32" dur="1" fill="hold">
                                          <p:stCondLst>
                                            <p:cond delay="0"/>
                                          </p:stCondLst>
                                        </p:cTn>
                                        <p:tgtEl>
                                          <p:spTgt spid="11"/>
                                        </p:tgtEl>
                                        <p:attrNameLst>
                                          <p:attrName>style.visibility</p:attrName>
                                        </p:attrNameLst>
                                      </p:cBhvr>
                                      <p:to>
                                        <p:strVal val="visible"/>
                                      </p:to>
                                    </p:set>
                                    <p:animEffect transition="in" filter="fade">
                                      <p:cBhvr>
                                        <p:cTn id="28" dur="700"/>
                                        <p:tgtEl>
                                          <p:spTgt spid="11"/>
                                        </p:tgtEl>
                                      </p:cBhvr>
                                    </p:animEffect>
                                    <p:anim calcmode="lin" valueType="num">
                                      <p:cBhvr additive="base">
                                        <p:cTn id="29" dur="700" fill="hold"/>
                                        <p:tgtEl>
                                          <p:spTgt spid="11"/>
                                        </p:tgtEl>
                                        <p:attrNameLst>
                                          <p:attrName>ppt_x</p:attrName>
                                        </p:attrNameLst>
                                      </p:cBhvr>
                                      <p:tavLst>
                                        <p:tav tm="0">
                                          <p:val>
                                            <p:strVal val="#ppt_x"/>
                                          </p:val>
                                        </p:tav>
                                        <p:tav tm="100000">
                                          <p:val>
                                            <p:strVal val="#ppt_x"/>
                                          </p:val>
                                        </p:tav>
                                      </p:tavLst>
                                    </p:anim>
                                    <p:anim calcmode="lin" valueType="num">
                                      <p:cBhvr additive="base">
                                        <p:cTn id="30" dur="700" fill="hold"/>
                                        <p:tgtEl>
                                          <p:spTgt spid="11"/>
                                        </p:tgtEl>
                                        <p:attrNameLst>
                                          <p:attrName>ppt_y</p:attrName>
                                        </p:attrNameLst>
                                      </p:cBhvr>
                                      <p:tavLst>
                                        <p:tav tm="0">
                                          <p:val>
                                            <p:strVal val="#ppt_y+.08"/>
                                          </p:val>
                                        </p:tav>
                                        <p:tav tm="100000">
                                          <p:val>
                                            <p:strVal val="#ppt_y"/>
                                          </p:val>
                                        </p:tav>
                                      </p:tavLst>
                                    </p:anim>
                                  </p:childTnLst>
                                </p:cTn>
                              </p:par>
                              <p:par>
                                <p:cTn id="36" presetID="53" presetClass="entr" presetSubtype="16" fill="hold" grpId="0" nodeType="withEffect">
                                  <p:stCondLst>
                                    <p:cond delay="760"/>
                                  </p:stCondLst>
                                  <p:childTnLst>
                                    <p:set>
                                      <p:cBhvr>
                                        <p:cTn id="37" dur="1" fill="hold">
                                          <p:stCondLst>
                                            <p:cond delay="0"/>
                                          </p:stCondLst>
                                        </p:cTn>
                                        <p:tgtEl>
                                          <p:spTgt spid="12"/>
                                        </p:tgtEl>
                                        <p:attrNameLst>
                                          <p:attrName>style.visibility</p:attrName>
                                        </p:attrNameLst>
                                      </p:cBhvr>
                                      <p:to>
                                        <p:strVal val="visible"/>
                                      </p:to>
                                    </p:set>
                                    <p:anim calcmode="lin" valueType="num">
                                      <p:cBhvr additive="base">
                                        <p:cTn id="33" dur="550" fill="hold"/>
                                        <p:tgtEl>
                                          <p:spTgt spid="12"/>
                                        </p:tgtEl>
                                        <p:attrNameLst>
                                          <p:attrName>ppt_w</p:attrName>
                                        </p:attrNameLst>
                                      </p:cBhvr>
                                      <p:tavLst>
                                        <p:tav tm="0">
                                          <p:val>
                                            <p:strVal val="0"/>
                                          </p:val>
                                        </p:tav>
                                        <p:tav tm="100000">
                                          <p:val>
                                            <p:strVal val="#ppt_w"/>
                                          </p:val>
                                        </p:tav>
                                      </p:tavLst>
                                    </p:anim>
                                    <p:anim calcmode="lin" valueType="num">
                                      <p:cBhvr additive="base">
                                        <p:cTn id="34" dur="550" fill="hold"/>
                                        <p:tgtEl>
                                          <p:spTgt spid="12"/>
                                        </p:tgtEl>
                                        <p:attrNameLst>
                                          <p:attrName>ppt_h</p:attrName>
                                        </p:attrNameLst>
                                      </p:cBhvr>
                                      <p:tavLst>
                                        <p:tav tm="0">
                                          <p:val>
                                            <p:strVal val="0"/>
                                          </p:val>
                                        </p:tav>
                                        <p:tav tm="100000">
                                          <p:val>
                                            <p:strVal val="#ppt_h"/>
                                          </p:val>
                                        </p:tav>
                                      </p:tavLst>
                                    </p:anim>
                                    <p:animEffect transition="in" filter="fade">
                                      <p:cBhvr>
                                        <p:cTn id="35" dur="550"/>
                                        <p:tgtEl>
                                          <p:spTgt spid="12"/>
                                        </p:tgtEl>
                                      </p:cBhvr>
                                    </p:animEffect>
                                  </p:childTnLst>
                                </p:cTn>
                              </p:par>
                              <p:par>
                                <p:cTn id="41" presetID="53" presetClass="entr" presetSubtype="16" fill="hold" grpId="0" nodeType="withEffect">
                                  <p:stCondLst>
                                    <p:cond delay="76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38" dur="550" fill="hold"/>
                                        <p:tgtEl>
                                          <p:spTgt spid="13"/>
                                        </p:tgtEl>
                                        <p:attrNameLst>
                                          <p:attrName>ppt_w</p:attrName>
                                        </p:attrNameLst>
                                      </p:cBhvr>
                                      <p:tavLst>
                                        <p:tav tm="0">
                                          <p:val>
                                            <p:strVal val="0"/>
                                          </p:val>
                                        </p:tav>
                                        <p:tav tm="100000">
                                          <p:val>
                                            <p:strVal val="#ppt_w"/>
                                          </p:val>
                                        </p:tav>
                                      </p:tavLst>
                                    </p:anim>
                                    <p:anim calcmode="lin" valueType="num">
                                      <p:cBhvr additive="base">
                                        <p:cTn id="39" dur="550" fill="hold"/>
                                        <p:tgtEl>
                                          <p:spTgt spid="13"/>
                                        </p:tgtEl>
                                        <p:attrNameLst>
                                          <p:attrName>ppt_h</p:attrName>
                                        </p:attrNameLst>
                                      </p:cBhvr>
                                      <p:tavLst>
                                        <p:tav tm="0">
                                          <p:val>
                                            <p:strVal val="0"/>
                                          </p:val>
                                        </p:tav>
                                        <p:tav tm="100000">
                                          <p:val>
                                            <p:strVal val="#ppt_h"/>
                                          </p:val>
                                        </p:tav>
                                      </p:tavLst>
                                    </p:anim>
                                    <p:animEffect transition="in" filter="fade">
                                      <p:cBhvr>
                                        <p:cTn id="40" dur="550"/>
                                        <p:tgtEl>
                                          <p:spTgt spid="13"/>
                                        </p:tgtEl>
                                      </p:cBhvr>
                                    </p:animEffect>
                                  </p:childTnLst>
                                </p:cTn>
                              </p:par>
                              <p:par>
                                <p:cTn id="46" presetID="42" presetClass="entr" presetSubtype="0" fill="hold" grpId="0" nodeType="withEffect">
                                  <p:stCondLst>
                                    <p:cond delay="760"/>
                                  </p:stCondLst>
                                  <p:childTnLst>
                                    <p:set>
                                      <p:cBhvr>
                                        <p:cTn id="47" dur="1" fill="hold">
                                          <p:stCondLst>
                                            <p:cond delay="0"/>
                                          </p:stCondLst>
                                        </p:cTn>
                                        <p:tgtEl>
                                          <p:spTgt spid="14"/>
                                        </p:tgtEl>
                                        <p:attrNameLst>
                                          <p:attrName>style.visibility</p:attrName>
                                        </p:attrNameLst>
                                      </p:cBhvr>
                                      <p:to>
                                        <p:strVal val="visible"/>
                                      </p:to>
                                    </p:set>
                                    <p:animEffect transition="in" filter="fade">
                                      <p:cBhvr>
                                        <p:cTn id="43" dur="700"/>
                                        <p:tgtEl>
                                          <p:spTgt spid="14"/>
                                        </p:tgtEl>
                                      </p:cBhvr>
                                    </p:animEffect>
                                    <p:anim calcmode="lin" valueType="num">
                                      <p:cBhvr additive="base">
                                        <p:cTn id="44" dur="700" fill="hold"/>
                                        <p:tgtEl>
                                          <p:spTgt spid="14"/>
                                        </p:tgtEl>
                                        <p:attrNameLst>
                                          <p:attrName>ppt_x</p:attrName>
                                        </p:attrNameLst>
                                      </p:cBhvr>
                                      <p:tavLst>
                                        <p:tav tm="0">
                                          <p:val>
                                            <p:strVal val="#ppt_x"/>
                                          </p:val>
                                        </p:tav>
                                        <p:tav tm="100000">
                                          <p:val>
                                            <p:strVal val="#ppt_x"/>
                                          </p:val>
                                        </p:tav>
                                      </p:tavLst>
                                    </p:anim>
                                    <p:anim calcmode="lin" valueType="num">
                                      <p:cBhvr additive="base">
                                        <p:cTn id="45" dur="700" fill="hold"/>
                                        <p:tgtEl>
                                          <p:spTgt spid="14"/>
                                        </p:tgtEl>
                                        <p:attrNameLst>
                                          <p:attrName>ppt_y</p:attrName>
                                        </p:attrNameLst>
                                      </p:cBhvr>
                                      <p:tavLst>
                                        <p:tav tm="0">
                                          <p:val>
                                            <p:strVal val="#ppt_y+.08"/>
                                          </p:val>
                                        </p:tav>
                                        <p:tav tm="100000">
                                          <p:val>
                                            <p:strVal val="#ppt_y"/>
                                          </p:val>
                                        </p:tav>
                                      </p:tavLst>
                                    </p:anim>
                                  </p:childTnLst>
                                </p:cTn>
                              </p:par>
                              <p:par>
                                <p:cTn id="51" presetID="42" presetClass="entr" presetSubtype="0" fill="hold" grpId="0" nodeType="withEffect">
                                  <p:stCondLst>
                                    <p:cond delay="760"/>
                                  </p:stCondLst>
                                  <p:childTnLst>
                                    <p:set>
                                      <p:cBhvr>
                                        <p:cTn id="52" dur="1" fill="hold">
                                          <p:stCondLst>
                                            <p:cond delay="0"/>
                                          </p:stCondLst>
                                        </p:cTn>
                                        <p:tgtEl>
                                          <p:spTgt spid="15"/>
                                        </p:tgtEl>
                                        <p:attrNameLst>
                                          <p:attrName>style.visibility</p:attrName>
                                        </p:attrNameLst>
                                      </p:cBhvr>
                                      <p:to>
                                        <p:strVal val="visible"/>
                                      </p:to>
                                    </p:set>
                                    <p:animEffect transition="in" filter="fade">
                                      <p:cBhvr>
                                        <p:cTn id="48" dur="700"/>
                                        <p:tgtEl>
                                          <p:spTgt spid="15"/>
                                        </p:tgtEl>
                                      </p:cBhvr>
                                    </p:animEffect>
                                    <p:anim calcmode="lin" valueType="num">
                                      <p:cBhvr additive="base">
                                        <p:cTn id="49" dur="700" fill="hold"/>
                                        <p:tgtEl>
                                          <p:spTgt spid="15"/>
                                        </p:tgtEl>
                                        <p:attrNameLst>
                                          <p:attrName>ppt_x</p:attrName>
                                        </p:attrNameLst>
                                      </p:cBhvr>
                                      <p:tavLst>
                                        <p:tav tm="0">
                                          <p:val>
                                            <p:strVal val="#ppt_x"/>
                                          </p:val>
                                        </p:tav>
                                        <p:tav tm="100000">
                                          <p:val>
                                            <p:strVal val="#ppt_x"/>
                                          </p:val>
                                        </p:tav>
                                      </p:tavLst>
                                    </p:anim>
                                    <p:anim calcmode="lin" valueType="num">
                                      <p:cBhvr additive="base">
                                        <p:cTn id="50" dur="700" fill="hold"/>
                                        <p:tgtEl>
                                          <p:spTgt spid="15"/>
                                        </p:tgtEl>
                                        <p:attrNameLst>
                                          <p:attrName>ppt_y</p:attrName>
                                        </p:attrNameLst>
                                      </p:cBhvr>
                                      <p:tavLst>
                                        <p:tav tm="0">
                                          <p:val>
                                            <p:strVal val="#ppt_y+.08"/>
                                          </p:val>
                                        </p:tav>
                                        <p:tav tm="100000">
                                          <p:val>
                                            <p:strVal val="#ppt_y"/>
                                          </p:val>
                                        </p:tav>
                                      </p:tavLst>
                                    </p:anim>
                                  </p:childTnLst>
                                </p:cTn>
                              </p:par>
                              <p:par>
                                <p:cTn id="56" presetID="42" presetClass="entr" presetSubtype="0" fill="hold" grpId="0" nodeType="withEffect">
                                  <p:stCondLst>
                                    <p:cond delay="1140"/>
                                  </p:stCondLst>
                                  <p:childTnLst>
                                    <p:set>
                                      <p:cBhvr>
                                        <p:cTn id="57" dur="1" fill="hold">
                                          <p:stCondLst>
                                            <p:cond delay="0"/>
                                          </p:stCondLst>
                                        </p:cTn>
                                        <p:tgtEl>
                                          <p:spTgt spid="16"/>
                                        </p:tgtEl>
                                        <p:attrNameLst>
                                          <p:attrName>style.visibility</p:attrName>
                                        </p:attrNameLst>
                                      </p:cBhvr>
                                      <p:to>
                                        <p:strVal val="visible"/>
                                      </p:to>
                                    </p:set>
                                    <p:animEffect transition="in" filter="fade">
                                      <p:cBhvr>
                                        <p:cTn id="53" dur="700"/>
                                        <p:tgtEl>
                                          <p:spTgt spid="16"/>
                                        </p:tgtEl>
                                      </p:cBhvr>
                                    </p:animEffect>
                                    <p:anim calcmode="lin" valueType="num">
                                      <p:cBhvr additive="base">
                                        <p:cTn id="54" dur="700" fill="hold"/>
                                        <p:tgtEl>
                                          <p:spTgt spid="16"/>
                                        </p:tgtEl>
                                        <p:attrNameLst>
                                          <p:attrName>ppt_x</p:attrName>
                                        </p:attrNameLst>
                                      </p:cBhvr>
                                      <p:tavLst>
                                        <p:tav tm="0">
                                          <p:val>
                                            <p:strVal val="#ppt_x"/>
                                          </p:val>
                                        </p:tav>
                                        <p:tav tm="100000">
                                          <p:val>
                                            <p:strVal val="#ppt_x"/>
                                          </p:val>
                                        </p:tav>
                                      </p:tavLst>
                                    </p:anim>
                                    <p:anim calcmode="lin" valueType="num">
                                      <p:cBhvr additive="base">
                                        <p:cTn id="55" dur="700" fill="hold"/>
                                        <p:tgtEl>
                                          <p:spTgt spid="16"/>
                                        </p:tgtEl>
                                        <p:attrNameLst>
                                          <p:attrName>ppt_y</p:attrName>
                                        </p:attrNameLst>
                                      </p:cBhvr>
                                      <p:tavLst>
                                        <p:tav tm="0">
                                          <p:val>
                                            <p:strVal val="#ppt_y+.08"/>
                                          </p:val>
                                        </p:tav>
                                        <p:tav tm="100000">
                                          <p:val>
                                            <p:strVal val="#ppt_y"/>
                                          </p:val>
                                        </p:tav>
                                      </p:tavLst>
                                    </p:anim>
                                  </p:childTnLst>
                                </p:cTn>
                              </p:par>
                              <p:par>
                                <p:cTn id="61" presetID="53" presetClass="entr" presetSubtype="16" fill="hold" grpId="0" nodeType="withEffect">
                                  <p:stCondLst>
                                    <p:cond delay="1140"/>
                                  </p:stCondLst>
                                  <p:childTnLst>
                                    <p:set>
                                      <p:cBhvr>
                                        <p:cTn id="62" dur="1" fill="hold">
                                          <p:stCondLst>
                                            <p:cond delay="0"/>
                                          </p:stCondLst>
                                        </p:cTn>
                                        <p:tgtEl>
                                          <p:spTgt spid="17"/>
                                        </p:tgtEl>
                                        <p:attrNameLst>
                                          <p:attrName>style.visibility</p:attrName>
                                        </p:attrNameLst>
                                      </p:cBhvr>
                                      <p:to>
                                        <p:strVal val="visible"/>
                                      </p:to>
                                    </p:set>
                                    <p:anim calcmode="lin" valueType="num">
                                      <p:cBhvr additive="base">
                                        <p:cTn id="58" dur="550" fill="hold"/>
                                        <p:tgtEl>
                                          <p:spTgt spid="17"/>
                                        </p:tgtEl>
                                        <p:attrNameLst>
                                          <p:attrName>ppt_w</p:attrName>
                                        </p:attrNameLst>
                                      </p:cBhvr>
                                      <p:tavLst>
                                        <p:tav tm="0">
                                          <p:val>
                                            <p:strVal val="0"/>
                                          </p:val>
                                        </p:tav>
                                        <p:tav tm="100000">
                                          <p:val>
                                            <p:strVal val="#ppt_w"/>
                                          </p:val>
                                        </p:tav>
                                      </p:tavLst>
                                    </p:anim>
                                    <p:anim calcmode="lin" valueType="num">
                                      <p:cBhvr additive="base">
                                        <p:cTn id="59" dur="550" fill="hold"/>
                                        <p:tgtEl>
                                          <p:spTgt spid="17"/>
                                        </p:tgtEl>
                                        <p:attrNameLst>
                                          <p:attrName>ppt_h</p:attrName>
                                        </p:attrNameLst>
                                      </p:cBhvr>
                                      <p:tavLst>
                                        <p:tav tm="0">
                                          <p:val>
                                            <p:strVal val="0"/>
                                          </p:val>
                                        </p:tav>
                                        <p:tav tm="100000">
                                          <p:val>
                                            <p:strVal val="#ppt_h"/>
                                          </p:val>
                                        </p:tav>
                                      </p:tavLst>
                                    </p:anim>
                                    <p:animEffect transition="in" filter="fade">
                                      <p:cBhvr>
                                        <p:cTn id="60" dur="550"/>
                                        <p:tgtEl>
                                          <p:spTgt spid="17"/>
                                        </p:tgtEl>
                                      </p:cBhvr>
                                    </p:animEffect>
                                  </p:childTnLst>
                                </p:cTn>
                              </p:par>
                              <p:par>
                                <p:cTn id="66" presetID="53" presetClass="entr" presetSubtype="16" fill="hold" grpId="0" nodeType="withEffect">
                                  <p:stCondLst>
                                    <p:cond delay="1140"/>
                                  </p:stCondLst>
                                  <p:childTnLst>
                                    <p:set>
                                      <p:cBhvr>
                                        <p:cTn id="67" dur="1" fill="hold">
                                          <p:stCondLst>
                                            <p:cond delay="0"/>
                                          </p:stCondLst>
                                        </p:cTn>
                                        <p:tgtEl>
                                          <p:spTgt spid="18"/>
                                        </p:tgtEl>
                                        <p:attrNameLst>
                                          <p:attrName>style.visibility</p:attrName>
                                        </p:attrNameLst>
                                      </p:cBhvr>
                                      <p:to>
                                        <p:strVal val="visible"/>
                                      </p:to>
                                    </p:set>
                                    <p:anim calcmode="lin" valueType="num">
                                      <p:cBhvr additive="base">
                                        <p:cTn id="63" dur="550" fill="hold"/>
                                        <p:tgtEl>
                                          <p:spTgt spid="18"/>
                                        </p:tgtEl>
                                        <p:attrNameLst>
                                          <p:attrName>ppt_w</p:attrName>
                                        </p:attrNameLst>
                                      </p:cBhvr>
                                      <p:tavLst>
                                        <p:tav tm="0">
                                          <p:val>
                                            <p:strVal val="0"/>
                                          </p:val>
                                        </p:tav>
                                        <p:tav tm="100000">
                                          <p:val>
                                            <p:strVal val="#ppt_w"/>
                                          </p:val>
                                        </p:tav>
                                      </p:tavLst>
                                    </p:anim>
                                    <p:anim calcmode="lin" valueType="num">
                                      <p:cBhvr additive="base">
                                        <p:cTn id="64" dur="550" fill="hold"/>
                                        <p:tgtEl>
                                          <p:spTgt spid="18"/>
                                        </p:tgtEl>
                                        <p:attrNameLst>
                                          <p:attrName>ppt_h</p:attrName>
                                        </p:attrNameLst>
                                      </p:cBhvr>
                                      <p:tavLst>
                                        <p:tav tm="0">
                                          <p:val>
                                            <p:strVal val="0"/>
                                          </p:val>
                                        </p:tav>
                                        <p:tav tm="100000">
                                          <p:val>
                                            <p:strVal val="#ppt_h"/>
                                          </p:val>
                                        </p:tav>
                                      </p:tavLst>
                                    </p:anim>
                                    <p:animEffect transition="in" filter="fade">
                                      <p:cBhvr>
                                        <p:cTn id="65" dur="550"/>
                                        <p:tgtEl>
                                          <p:spTgt spid="18"/>
                                        </p:tgtEl>
                                      </p:cBhvr>
                                    </p:animEffect>
                                  </p:childTnLst>
                                </p:cTn>
                              </p:par>
                              <p:par>
                                <p:cTn id="71" presetID="42" presetClass="entr" presetSubtype="0" fill="hold" grpId="0" nodeType="withEffect">
                                  <p:stCondLst>
                                    <p:cond delay="1140"/>
                                  </p:stCondLst>
                                  <p:childTnLst>
                                    <p:set>
                                      <p:cBhvr>
                                        <p:cTn id="72" dur="1" fill="hold">
                                          <p:stCondLst>
                                            <p:cond delay="0"/>
                                          </p:stCondLst>
                                        </p:cTn>
                                        <p:tgtEl>
                                          <p:spTgt spid="19"/>
                                        </p:tgtEl>
                                        <p:attrNameLst>
                                          <p:attrName>style.visibility</p:attrName>
                                        </p:attrNameLst>
                                      </p:cBhvr>
                                      <p:to>
                                        <p:strVal val="visible"/>
                                      </p:to>
                                    </p:set>
                                    <p:animEffect transition="in" filter="fade">
                                      <p:cBhvr>
                                        <p:cTn id="68" dur="700"/>
                                        <p:tgtEl>
                                          <p:spTgt spid="19"/>
                                        </p:tgtEl>
                                      </p:cBhvr>
                                    </p:animEffect>
                                    <p:anim calcmode="lin" valueType="num">
                                      <p:cBhvr additive="base">
                                        <p:cTn id="69" dur="700" fill="hold"/>
                                        <p:tgtEl>
                                          <p:spTgt spid="19"/>
                                        </p:tgtEl>
                                        <p:attrNameLst>
                                          <p:attrName>ppt_x</p:attrName>
                                        </p:attrNameLst>
                                      </p:cBhvr>
                                      <p:tavLst>
                                        <p:tav tm="0">
                                          <p:val>
                                            <p:strVal val="#ppt_x"/>
                                          </p:val>
                                        </p:tav>
                                        <p:tav tm="100000">
                                          <p:val>
                                            <p:strVal val="#ppt_x"/>
                                          </p:val>
                                        </p:tav>
                                      </p:tavLst>
                                    </p:anim>
                                    <p:anim calcmode="lin" valueType="num">
                                      <p:cBhvr additive="base">
                                        <p:cTn id="70" dur="700" fill="hold"/>
                                        <p:tgtEl>
                                          <p:spTgt spid="19"/>
                                        </p:tgtEl>
                                        <p:attrNameLst>
                                          <p:attrName>ppt_y</p:attrName>
                                        </p:attrNameLst>
                                      </p:cBhvr>
                                      <p:tavLst>
                                        <p:tav tm="0">
                                          <p:val>
                                            <p:strVal val="#ppt_y+.08"/>
                                          </p:val>
                                        </p:tav>
                                        <p:tav tm="100000">
                                          <p:val>
                                            <p:strVal val="#ppt_y"/>
                                          </p:val>
                                        </p:tav>
                                      </p:tavLst>
                                    </p:anim>
                                  </p:childTnLst>
                                </p:cTn>
                              </p:par>
                              <p:par>
                                <p:cTn id="76" presetID="42" presetClass="entr" presetSubtype="0" fill="hold" grpId="0" nodeType="withEffect">
                                  <p:stCondLst>
                                    <p:cond delay="1140"/>
                                  </p:stCondLst>
                                  <p:childTnLst>
                                    <p:set>
                                      <p:cBhvr>
                                        <p:cTn id="77" dur="1" fill="hold">
                                          <p:stCondLst>
                                            <p:cond delay="0"/>
                                          </p:stCondLst>
                                        </p:cTn>
                                        <p:tgtEl>
                                          <p:spTgt spid="20"/>
                                        </p:tgtEl>
                                        <p:attrNameLst>
                                          <p:attrName>style.visibility</p:attrName>
                                        </p:attrNameLst>
                                      </p:cBhvr>
                                      <p:to>
                                        <p:strVal val="visible"/>
                                      </p:to>
                                    </p:set>
                                    <p:animEffect transition="in" filter="fade">
                                      <p:cBhvr>
                                        <p:cTn id="73" dur="700"/>
                                        <p:tgtEl>
                                          <p:spTgt spid="20"/>
                                        </p:tgtEl>
                                      </p:cBhvr>
                                    </p:animEffect>
                                    <p:anim calcmode="lin" valueType="num">
                                      <p:cBhvr additive="base">
                                        <p:cTn id="74" dur="700" fill="hold"/>
                                        <p:tgtEl>
                                          <p:spTgt spid="20"/>
                                        </p:tgtEl>
                                        <p:attrNameLst>
                                          <p:attrName>ppt_x</p:attrName>
                                        </p:attrNameLst>
                                      </p:cBhvr>
                                      <p:tavLst>
                                        <p:tav tm="0">
                                          <p:val>
                                            <p:strVal val="#ppt_x"/>
                                          </p:val>
                                        </p:tav>
                                        <p:tav tm="100000">
                                          <p:val>
                                            <p:strVal val="#ppt_x"/>
                                          </p:val>
                                        </p:tav>
                                      </p:tavLst>
                                    </p:anim>
                                    <p:anim calcmode="lin" valueType="num">
                                      <p:cBhvr additive="base">
                                        <p:cTn id="75" dur="700" fill="hold"/>
                                        <p:tgtEl>
                                          <p:spTgt spid="20"/>
                                        </p:tgtEl>
                                        <p:attrNameLst>
                                          <p:attrName>ppt_y</p:attrName>
                                        </p:attrNameLst>
                                      </p:cBhvr>
                                      <p:tavLst>
                                        <p:tav tm="0">
                                          <p:val>
                                            <p:strVal val="#ppt_y+.08"/>
                                          </p:val>
                                        </p:tav>
                                        <p:tav tm="100000">
                                          <p:val>
                                            <p:strVal val="#ppt_y"/>
                                          </p:val>
                                        </p:tav>
                                      </p:tavLst>
                                    </p:anim>
                                  </p:childTnLst>
                                </p:cTn>
                              </p:par>
                              <p:par>
                                <p:cTn id="81" presetID="42" presetClass="entr" presetSubtype="0" fill="hold" grpId="0" nodeType="withEffect">
                                  <p:stCondLst>
                                    <p:cond delay="1520"/>
                                  </p:stCondLst>
                                  <p:childTnLst>
                                    <p:set>
                                      <p:cBhvr>
                                        <p:cTn id="82" dur="1" fill="hold">
                                          <p:stCondLst>
                                            <p:cond delay="0"/>
                                          </p:stCondLst>
                                        </p:cTn>
                                        <p:tgtEl>
                                          <p:spTgt spid="21"/>
                                        </p:tgtEl>
                                        <p:attrNameLst>
                                          <p:attrName>style.visibility</p:attrName>
                                        </p:attrNameLst>
                                      </p:cBhvr>
                                      <p:to>
                                        <p:strVal val="visible"/>
                                      </p:to>
                                    </p:set>
                                    <p:animEffect transition="in" filter="fade">
                                      <p:cBhvr>
                                        <p:cTn id="78" dur="700"/>
                                        <p:tgtEl>
                                          <p:spTgt spid="21"/>
                                        </p:tgtEl>
                                      </p:cBhvr>
                                    </p:animEffect>
                                    <p:anim calcmode="lin" valueType="num">
                                      <p:cBhvr additive="base">
                                        <p:cTn id="79" dur="700" fill="hold"/>
                                        <p:tgtEl>
                                          <p:spTgt spid="21"/>
                                        </p:tgtEl>
                                        <p:attrNameLst>
                                          <p:attrName>ppt_x</p:attrName>
                                        </p:attrNameLst>
                                      </p:cBhvr>
                                      <p:tavLst>
                                        <p:tav tm="0">
                                          <p:val>
                                            <p:strVal val="#ppt_x"/>
                                          </p:val>
                                        </p:tav>
                                        <p:tav tm="100000">
                                          <p:val>
                                            <p:strVal val="#ppt_x"/>
                                          </p:val>
                                        </p:tav>
                                      </p:tavLst>
                                    </p:anim>
                                    <p:anim calcmode="lin" valueType="num">
                                      <p:cBhvr additive="base">
                                        <p:cTn id="80" dur="700" fill="hold"/>
                                        <p:tgtEl>
                                          <p:spTgt spid="21"/>
                                        </p:tgtEl>
                                        <p:attrNameLst>
                                          <p:attrName>ppt_y</p:attrName>
                                        </p:attrNameLst>
                                      </p:cBhvr>
                                      <p:tavLst>
                                        <p:tav tm="0">
                                          <p:val>
                                            <p:strVal val="#ppt_y+.08"/>
                                          </p:val>
                                        </p:tav>
                                        <p:tav tm="100000">
                                          <p:val>
                                            <p:strVal val="#ppt_y"/>
                                          </p:val>
                                        </p:tav>
                                      </p:tavLst>
                                    </p:anim>
                                  </p:childTnLst>
                                </p:cTn>
                              </p:par>
                              <p:par>
                                <p:cTn id="86" presetID="53" presetClass="entr" presetSubtype="16" fill="hold" grpId="0" nodeType="withEffect">
                                  <p:stCondLst>
                                    <p:cond delay="1520"/>
                                  </p:stCondLst>
                                  <p:childTnLst>
                                    <p:set>
                                      <p:cBhvr>
                                        <p:cTn id="87" dur="1" fill="hold">
                                          <p:stCondLst>
                                            <p:cond delay="0"/>
                                          </p:stCondLst>
                                        </p:cTn>
                                        <p:tgtEl>
                                          <p:spTgt spid="22"/>
                                        </p:tgtEl>
                                        <p:attrNameLst>
                                          <p:attrName>style.visibility</p:attrName>
                                        </p:attrNameLst>
                                      </p:cBhvr>
                                      <p:to>
                                        <p:strVal val="visible"/>
                                      </p:to>
                                    </p:set>
                                    <p:anim calcmode="lin" valueType="num">
                                      <p:cBhvr additive="base">
                                        <p:cTn id="83" dur="550" fill="hold"/>
                                        <p:tgtEl>
                                          <p:spTgt spid="22"/>
                                        </p:tgtEl>
                                        <p:attrNameLst>
                                          <p:attrName>ppt_w</p:attrName>
                                        </p:attrNameLst>
                                      </p:cBhvr>
                                      <p:tavLst>
                                        <p:tav tm="0">
                                          <p:val>
                                            <p:strVal val="0"/>
                                          </p:val>
                                        </p:tav>
                                        <p:tav tm="100000">
                                          <p:val>
                                            <p:strVal val="#ppt_w"/>
                                          </p:val>
                                        </p:tav>
                                      </p:tavLst>
                                    </p:anim>
                                    <p:anim calcmode="lin" valueType="num">
                                      <p:cBhvr additive="base">
                                        <p:cTn id="84" dur="550" fill="hold"/>
                                        <p:tgtEl>
                                          <p:spTgt spid="22"/>
                                        </p:tgtEl>
                                        <p:attrNameLst>
                                          <p:attrName>ppt_h</p:attrName>
                                        </p:attrNameLst>
                                      </p:cBhvr>
                                      <p:tavLst>
                                        <p:tav tm="0">
                                          <p:val>
                                            <p:strVal val="0"/>
                                          </p:val>
                                        </p:tav>
                                        <p:tav tm="100000">
                                          <p:val>
                                            <p:strVal val="#ppt_h"/>
                                          </p:val>
                                        </p:tav>
                                      </p:tavLst>
                                    </p:anim>
                                    <p:animEffect transition="in" filter="fade">
                                      <p:cBhvr>
                                        <p:cTn id="85" dur="550"/>
                                        <p:tgtEl>
                                          <p:spTgt spid="22"/>
                                        </p:tgtEl>
                                      </p:cBhvr>
                                    </p:animEffect>
                                  </p:childTnLst>
                                </p:cTn>
                              </p:par>
                              <p:par>
                                <p:cTn id="91" presetID="53" presetClass="entr" presetSubtype="16" fill="hold" grpId="0" nodeType="withEffect">
                                  <p:stCondLst>
                                    <p:cond delay="1520"/>
                                  </p:stCondLst>
                                  <p:childTnLst>
                                    <p:set>
                                      <p:cBhvr>
                                        <p:cTn id="92" dur="1" fill="hold">
                                          <p:stCondLst>
                                            <p:cond delay="0"/>
                                          </p:stCondLst>
                                        </p:cTn>
                                        <p:tgtEl>
                                          <p:spTgt spid="23"/>
                                        </p:tgtEl>
                                        <p:attrNameLst>
                                          <p:attrName>style.visibility</p:attrName>
                                        </p:attrNameLst>
                                      </p:cBhvr>
                                      <p:to>
                                        <p:strVal val="visible"/>
                                      </p:to>
                                    </p:set>
                                    <p:anim calcmode="lin" valueType="num">
                                      <p:cBhvr additive="base">
                                        <p:cTn id="88" dur="550" fill="hold"/>
                                        <p:tgtEl>
                                          <p:spTgt spid="23"/>
                                        </p:tgtEl>
                                        <p:attrNameLst>
                                          <p:attrName>ppt_w</p:attrName>
                                        </p:attrNameLst>
                                      </p:cBhvr>
                                      <p:tavLst>
                                        <p:tav tm="0">
                                          <p:val>
                                            <p:strVal val="0"/>
                                          </p:val>
                                        </p:tav>
                                        <p:tav tm="100000">
                                          <p:val>
                                            <p:strVal val="#ppt_w"/>
                                          </p:val>
                                        </p:tav>
                                      </p:tavLst>
                                    </p:anim>
                                    <p:anim calcmode="lin" valueType="num">
                                      <p:cBhvr additive="base">
                                        <p:cTn id="89" dur="550" fill="hold"/>
                                        <p:tgtEl>
                                          <p:spTgt spid="23"/>
                                        </p:tgtEl>
                                        <p:attrNameLst>
                                          <p:attrName>ppt_h</p:attrName>
                                        </p:attrNameLst>
                                      </p:cBhvr>
                                      <p:tavLst>
                                        <p:tav tm="0">
                                          <p:val>
                                            <p:strVal val="0"/>
                                          </p:val>
                                        </p:tav>
                                        <p:tav tm="100000">
                                          <p:val>
                                            <p:strVal val="#ppt_h"/>
                                          </p:val>
                                        </p:tav>
                                      </p:tavLst>
                                    </p:anim>
                                    <p:animEffect transition="in" filter="fade">
                                      <p:cBhvr>
                                        <p:cTn id="90" dur="550"/>
                                        <p:tgtEl>
                                          <p:spTgt spid="23"/>
                                        </p:tgtEl>
                                      </p:cBhvr>
                                    </p:animEffect>
                                  </p:childTnLst>
                                </p:cTn>
                              </p:par>
                              <p:par>
                                <p:cTn id="96" presetID="42" presetClass="entr" presetSubtype="0" fill="hold" grpId="0" nodeType="withEffect">
                                  <p:stCondLst>
                                    <p:cond delay="1520"/>
                                  </p:stCondLst>
                                  <p:childTnLst>
                                    <p:set>
                                      <p:cBhvr>
                                        <p:cTn id="97" dur="1" fill="hold">
                                          <p:stCondLst>
                                            <p:cond delay="0"/>
                                          </p:stCondLst>
                                        </p:cTn>
                                        <p:tgtEl>
                                          <p:spTgt spid="24"/>
                                        </p:tgtEl>
                                        <p:attrNameLst>
                                          <p:attrName>style.visibility</p:attrName>
                                        </p:attrNameLst>
                                      </p:cBhvr>
                                      <p:to>
                                        <p:strVal val="visible"/>
                                      </p:to>
                                    </p:set>
                                    <p:animEffect transition="in" filter="fade">
                                      <p:cBhvr>
                                        <p:cTn id="93" dur="700"/>
                                        <p:tgtEl>
                                          <p:spTgt spid="24"/>
                                        </p:tgtEl>
                                      </p:cBhvr>
                                    </p:animEffect>
                                    <p:anim calcmode="lin" valueType="num">
                                      <p:cBhvr additive="base">
                                        <p:cTn id="94" dur="700" fill="hold"/>
                                        <p:tgtEl>
                                          <p:spTgt spid="24"/>
                                        </p:tgtEl>
                                        <p:attrNameLst>
                                          <p:attrName>ppt_x</p:attrName>
                                        </p:attrNameLst>
                                      </p:cBhvr>
                                      <p:tavLst>
                                        <p:tav tm="0">
                                          <p:val>
                                            <p:strVal val="#ppt_x"/>
                                          </p:val>
                                        </p:tav>
                                        <p:tav tm="100000">
                                          <p:val>
                                            <p:strVal val="#ppt_x"/>
                                          </p:val>
                                        </p:tav>
                                      </p:tavLst>
                                    </p:anim>
                                    <p:anim calcmode="lin" valueType="num">
                                      <p:cBhvr additive="base">
                                        <p:cTn id="95" dur="700" fill="hold"/>
                                        <p:tgtEl>
                                          <p:spTgt spid="24"/>
                                        </p:tgtEl>
                                        <p:attrNameLst>
                                          <p:attrName>ppt_y</p:attrName>
                                        </p:attrNameLst>
                                      </p:cBhvr>
                                      <p:tavLst>
                                        <p:tav tm="0">
                                          <p:val>
                                            <p:strVal val="#ppt_y+.08"/>
                                          </p:val>
                                        </p:tav>
                                        <p:tav tm="100000">
                                          <p:val>
                                            <p:strVal val="#ppt_y"/>
                                          </p:val>
                                        </p:tav>
                                      </p:tavLst>
                                    </p:anim>
                                  </p:childTnLst>
                                </p:cTn>
                              </p:par>
                              <p:par>
                                <p:cTn id="101" presetID="42" presetClass="entr" presetSubtype="0" fill="hold" grpId="0" nodeType="withEffect">
                                  <p:stCondLst>
                                    <p:cond delay="1520"/>
                                  </p:stCondLst>
                                  <p:childTnLst>
                                    <p:set>
                                      <p:cBhvr>
                                        <p:cTn id="102" dur="1" fill="hold">
                                          <p:stCondLst>
                                            <p:cond delay="0"/>
                                          </p:stCondLst>
                                        </p:cTn>
                                        <p:tgtEl>
                                          <p:spTgt spid="25"/>
                                        </p:tgtEl>
                                        <p:attrNameLst>
                                          <p:attrName>style.visibility</p:attrName>
                                        </p:attrNameLst>
                                      </p:cBhvr>
                                      <p:to>
                                        <p:strVal val="visible"/>
                                      </p:to>
                                    </p:set>
                                    <p:animEffect transition="in" filter="fade">
                                      <p:cBhvr>
                                        <p:cTn id="98" dur="700"/>
                                        <p:tgtEl>
                                          <p:spTgt spid="25"/>
                                        </p:tgtEl>
                                      </p:cBhvr>
                                    </p:animEffect>
                                    <p:anim calcmode="lin" valueType="num">
                                      <p:cBhvr additive="base">
                                        <p:cTn id="99" dur="700" fill="hold"/>
                                        <p:tgtEl>
                                          <p:spTgt spid="25"/>
                                        </p:tgtEl>
                                        <p:attrNameLst>
                                          <p:attrName>ppt_x</p:attrName>
                                        </p:attrNameLst>
                                      </p:cBhvr>
                                      <p:tavLst>
                                        <p:tav tm="0">
                                          <p:val>
                                            <p:strVal val="#ppt_x"/>
                                          </p:val>
                                        </p:tav>
                                        <p:tav tm="100000">
                                          <p:val>
                                            <p:strVal val="#ppt_x"/>
                                          </p:val>
                                        </p:tav>
                                      </p:tavLst>
                                    </p:anim>
                                    <p:anim calcmode="lin" valueType="num">
                                      <p:cBhvr additive="base">
                                        <p:cTn id="100" dur="700" fill="hold"/>
                                        <p:tgtEl>
                                          <p:spTgt spid="25"/>
                                        </p:tgtEl>
                                        <p:attrNameLst>
                                          <p:attrName>ppt_y</p:attrName>
                                        </p:attrNameLst>
                                      </p:cBhvr>
                                      <p:tavLst>
                                        <p:tav tm="0">
                                          <p:val>
                                            <p:strVal val="#ppt_y+.08"/>
                                          </p:val>
                                        </p:tav>
                                        <p:tav tm="100000">
                                          <p:val>
                                            <p:strVal val="#ppt_y"/>
                                          </p:val>
                                        </p:tav>
                                      </p:tavLst>
                                    </p:anim>
                                  </p:childTnLst>
                                </p:cTn>
                              </p:par>
                              <p:par>
                                <p:cTn id="106" presetID="53" presetClass="entr" presetSubtype="16" fill="hold" grpId="0" nodeType="withEffect">
                                  <p:stCondLst>
                                    <p:cond delay="1900"/>
                                  </p:stCondLst>
                                  <p:childTnLst>
                                    <p:set>
                                      <p:cBhvr>
                                        <p:cTn id="107" dur="1" fill="hold">
                                          <p:stCondLst>
                                            <p:cond delay="0"/>
                                          </p:stCondLst>
                                        </p:cTn>
                                        <p:tgtEl>
                                          <p:spTgt spid="26"/>
                                        </p:tgtEl>
                                        <p:attrNameLst>
                                          <p:attrName>style.visibility</p:attrName>
                                        </p:attrNameLst>
                                      </p:cBhvr>
                                      <p:to>
                                        <p:strVal val="visible"/>
                                      </p:to>
                                    </p:set>
                                    <p:anim calcmode="lin" valueType="num">
                                      <p:cBhvr additive="base">
                                        <p:cTn id="103" dur="550" fill="hold"/>
                                        <p:tgtEl>
                                          <p:spTgt spid="26"/>
                                        </p:tgtEl>
                                        <p:attrNameLst>
                                          <p:attrName>ppt_w</p:attrName>
                                        </p:attrNameLst>
                                      </p:cBhvr>
                                      <p:tavLst>
                                        <p:tav tm="0">
                                          <p:val>
                                            <p:strVal val="0"/>
                                          </p:val>
                                        </p:tav>
                                        <p:tav tm="100000">
                                          <p:val>
                                            <p:strVal val="#ppt_w"/>
                                          </p:val>
                                        </p:tav>
                                      </p:tavLst>
                                    </p:anim>
                                    <p:anim calcmode="lin" valueType="num">
                                      <p:cBhvr additive="base">
                                        <p:cTn id="104" dur="550" fill="hold"/>
                                        <p:tgtEl>
                                          <p:spTgt spid="26"/>
                                        </p:tgtEl>
                                        <p:attrNameLst>
                                          <p:attrName>ppt_h</p:attrName>
                                        </p:attrNameLst>
                                      </p:cBhvr>
                                      <p:tavLst>
                                        <p:tav tm="0">
                                          <p:val>
                                            <p:strVal val="0"/>
                                          </p:val>
                                        </p:tav>
                                        <p:tav tm="100000">
                                          <p:val>
                                            <p:strVal val="#ppt_h"/>
                                          </p:val>
                                        </p:tav>
                                      </p:tavLst>
                                    </p:anim>
                                    <p:animEffect transition="in" filter="fade">
                                      <p:cBhvr>
                                        <p:cTn id="105" dur="550"/>
                                        <p:tgtEl>
                                          <p:spTgt spid="26"/>
                                        </p:tgtEl>
                                      </p:cBhvr>
                                    </p:animEffect>
                                  </p:childTnLst>
                                </p:cTn>
                              </p:par>
                              <p:par>
                                <p:cTn id="111" presetID="53" presetClass="entr" presetSubtype="16" fill="hold" grpId="0" nodeType="withEffect">
                                  <p:stCondLst>
                                    <p:cond delay="1900"/>
                                  </p:stCondLst>
                                  <p:childTnLst>
                                    <p:set>
                                      <p:cBhvr>
                                        <p:cTn id="112" dur="1" fill="hold">
                                          <p:stCondLst>
                                            <p:cond delay="0"/>
                                          </p:stCondLst>
                                        </p:cTn>
                                        <p:tgtEl>
                                          <p:spTgt spid="27"/>
                                        </p:tgtEl>
                                        <p:attrNameLst>
                                          <p:attrName>style.visibility</p:attrName>
                                        </p:attrNameLst>
                                      </p:cBhvr>
                                      <p:to>
                                        <p:strVal val="visible"/>
                                      </p:to>
                                    </p:set>
                                    <p:anim calcmode="lin" valueType="num">
                                      <p:cBhvr additive="base">
                                        <p:cTn id="108" dur="550" fill="hold"/>
                                        <p:tgtEl>
                                          <p:spTgt spid="27"/>
                                        </p:tgtEl>
                                        <p:attrNameLst>
                                          <p:attrName>ppt_w</p:attrName>
                                        </p:attrNameLst>
                                      </p:cBhvr>
                                      <p:tavLst>
                                        <p:tav tm="0">
                                          <p:val>
                                            <p:strVal val="0"/>
                                          </p:val>
                                        </p:tav>
                                        <p:tav tm="100000">
                                          <p:val>
                                            <p:strVal val="#ppt_w"/>
                                          </p:val>
                                        </p:tav>
                                      </p:tavLst>
                                    </p:anim>
                                    <p:anim calcmode="lin" valueType="num">
                                      <p:cBhvr additive="base">
                                        <p:cTn id="109" dur="550" fill="hold"/>
                                        <p:tgtEl>
                                          <p:spTgt spid="27"/>
                                        </p:tgtEl>
                                        <p:attrNameLst>
                                          <p:attrName>ppt_h</p:attrName>
                                        </p:attrNameLst>
                                      </p:cBhvr>
                                      <p:tavLst>
                                        <p:tav tm="0">
                                          <p:val>
                                            <p:strVal val="0"/>
                                          </p:val>
                                        </p:tav>
                                        <p:tav tm="100000">
                                          <p:val>
                                            <p:strVal val="#ppt_h"/>
                                          </p:val>
                                        </p:tav>
                                      </p:tavLst>
                                    </p:anim>
                                    <p:animEffect transition="in" filter="fade">
                                      <p:cBhvr>
                                        <p:cTn id="110" dur="550"/>
                                        <p:tgtEl>
                                          <p:spTgt spid="27"/>
                                        </p:tgtEl>
                                      </p:cBhvr>
                                    </p:animEffect>
                                  </p:childTnLst>
                                </p:cTn>
                              </p:par>
                              <p:par>
                                <p:cTn id="116" presetID="42" presetClass="entr" presetSubtype="0" fill="hold" grpId="0" nodeType="withEffect">
                                  <p:stCondLst>
                                    <p:cond delay="1900"/>
                                  </p:stCondLst>
                                  <p:childTnLst>
                                    <p:set>
                                      <p:cBhvr>
                                        <p:cTn id="117" dur="1" fill="hold">
                                          <p:stCondLst>
                                            <p:cond delay="0"/>
                                          </p:stCondLst>
                                        </p:cTn>
                                        <p:tgtEl>
                                          <p:spTgt spid="28"/>
                                        </p:tgtEl>
                                        <p:attrNameLst>
                                          <p:attrName>style.visibility</p:attrName>
                                        </p:attrNameLst>
                                      </p:cBhvr>
                                      <p:to>
                                        <p:strVal val="visible"/>
                                      </p:to>
                                    </p:set>
                                    <p:animEffect transition="in" filter="fade">
                                      <p:cBhvr>
                                        <p:cTn id="113" dur="650"/>
                                        <p:tgtEl>
                                          <p:spTgt spid="28"/>
                                        </p:tgtEl>
                                      </p:cBhvr>
                                    </p:animEffect>
                                    <p:anim calcmode="lin" valueType="num">
                                      <p:cBhvr additive="base">
                                        <p:cTn id="114" dur="650" fill="hold"/>
                                        <p:tgtEl>
                                          <p:spTgt spid="28"/>
                                        </p:tgtEl>
                                        <p:attrNameLst>
                                          <p:attrName>ppt_x</p:attrName>
                                        </p:attrNameLst>
                                      </p:cBhvr>
                                      <p:tavLst>
                                        <p:tav tm="0">
                                          <p:val>
                                            <p:strVal val="#ppt_x-.06"/>
                                          </p:val>
                                        </p:tav>
                                        <p:tav tm="100000">
                                          <p:val>
                                            <p:strVal val="#ppt_x"/>
                                          </p:val>
                                        </p:tav>
                                      </p:tavLst>
                                    </p:anim>
                                    <p:anim calcmode="lin" valueType="num">
                                      <p:cBhvr additive="base">
                                        <p:cTn id="115" dur="65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4" grpId="0" animBg="1"/>
      <p:bldP spid="15" grpId="0" animBg="1"/>
      <p:bldP spid="19" grpId="0" animBg="1"/>
      <p:bldP spid="20" grpId="0" animBg="1"/>
      <p:bldP spid="24" grpId="0" animBg="1"/>
      <p:bldP spid="25" grpId="0" animBg="1"/>
      <p:bldP spid="2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7406640" y="-1005840"/>
            <a:ext cx="2560320" cy="2560320"/>
          </a:xfrm>
          <a:prstGeom prst="rect">
            <a:avLst/>
          </a:prstGeom>
        </p:spPr>
      </p:pic>
      <p:sp>
        <p:nvSpPr>
          <p:cNvPr id="3" name="Text 0"/>
          <p:cNvSpPr txBox="1"/>
          <p:nvPr/>
        </p:nvSpPr>
        <p:spPr>
          <a:xfrm>
            <a:off x="457200" y="274320"/>
            <a:ext cx="6858000" cy="228600"/>
          </a:xfrm>
          <a:prstGeom prst="rect">
            <a:avLst/>
          </a:prstGeom>
          <a:noFill/>
          <a:ln/>
        </p:spPr>
        <p:txBody>
          <a:bodyPr wrap="square" lIns="0" tIns="0" rIns="0" bIns="0" rtlCol="0" anchor="t"/>
          <a:lstStyle/>
          <a:p>
            <a:pPr indent="0" marL="0">
              <a:buNone/>
            </a:pPr>
            <a:r>
              <a:rPr lang="en-US" sz="1050" b="1" spc="200" kern="0" dirty="0">
                <a:solidFill>
                  <a:srgbClr val="1F4FA8"/>
                </a:solidFill>
                <a:latin typeface="Calibri" pitchFamily="34" charset="0"/>
                <a:ea typeface="Calibri" pitchFamily="34" charset="-122"/>
                <a:cs typeface="Calibri" pitchFamily="34" charset="-120"/>
              </a:rPr>
              <a:t>INTRODUCTION</a:t>
            </a:r>
            <a:endParaRPr lang="en-US" sz="1050" dirty="0"/>
          </a:p>
        </p:txBody>
      </p:sp>
      <p:sp>
        <p:nvSpPr>
          <p:cNvPr id="4" name="Text 1"/>
          <p:cNvSpPr txBox="1"/>
          <p:nvPr/>
        </p:nvSpPr>
        <p:spPr>
          <a:xfrm>
            <a:off x="457200" y="502920"/>
            <a:ext cx="7863840" cy="548640"/>
          </a:xfrm>
          <a:prstGeom prst="rect">
            <a:avLst/>
          </a:prstGeom>
          <a:noFill/>
          <a:ln/>
        </p:spPr>
        <p:txBody>
          <a:bodyPr wrap="square" lIns="0" tIns="0" rIns="0" bIns="0" rtlCol="0" anchor="ctr"/>
          <a:lstStyle/>
          <a:p>
            <a:pPr indent="0" marL="0">
              <a:buNone/>
            </a:pPr>
            <a:r>
              <a:rPr lang="en-US" sz="2600" b="1" dirty="0">
                <a:solidFill>
                  <a:srgbClr val="0B1F4B"/>
                </a:solidFill>
                <a:latin typeface="Cambria" pitchFamily="34" charset="0"/>
                <a:ea typeface="Cambria" pitchFamily="34" charset="-122"/>
                <a:cs typeface="Cambria" pitchFamily="34" charset="-120"/>
              </a:rPr>
              <a:t>Trente ans après : un poids économique mondial</a:t>
            </a:r>
            <a:endParaRPr lang="en-US" sz="2600" dirty="0"/>
          </a:p>
        </p:txBody>
      </p:sp>
      <p:sp>
        <p:nvSpPr>
          <p:cNvPr id="5" name="Text 2"/>
          <p:cNvSpPr txBox="1"/>
          <p:nvPr/>
        </p:nvSpPr>
        <p:spPr>
          <a:xfrm>
            <a:off x="8321040" y="4773168"/>
            <a:ext cx="365760" cy="228600"/>
          </a:xfrm>
          <a:prstGeom prst="rect">
            <a:avLst/>
          </a:prstGeom>
          <a:noFill/>
          <a:ln/>
        </p:spPr>
        <p:txBody>
          <a:bodyPr wrap="square" lIns="0" tIns="0" rIns="0" bIns="0" rtlCol="0" anchor="t"/>
          <a:lstStyle/>
          <a:p>
            <a:pPr algn="r" indent="0" marL="0">
              <a:buNone/>
            </a:pPr>
            <a:r>
              <a:rPr lang="en-US" sz="1000" dirty="0">
                <a:solidFill>
                  <a:srgbClr val="5B6478"/>
                </a:solidFill>
                <a:latin typeface="Calibri" pitchFamily="34" charset="0"/>
                <a:ea typeface="Calibri" pitchFamily="34" charset="-122"/>
                <a:cs typeface="Calibri" pitchFamily="34" charset="-120"/>
              </a:rPr>
              <a:t>5</a:t>
            </a:r>
            <a:endParaRPr lang="en-US" sz="1000" dirty="0"/>
          </a:p>
        </p:txBody>
      </p:sp>
      <p:sp>
        <p:nvSpPr>
          <p:cNvPr id="6" name="A1-zoom-76"/>
          <p:cNvSpPr/>
          <p:nvPr/>
        </p:nvSpPr>
        <p:spPr>
          <a:xfrm>
            <a:off x="457200" y="1371600"/>
            <a:ext cx="1920240" cy="2103120"/>
          </a:xfrm>
          <a:prstGeom prst="roundRect">
            <a:avLst>
              <a:gd name="adj" fmla="val 5714"/>
            </a:avLst>
          </a:prstGeom>
          <a:solidFill>
            <a:srgbClr val="0B1F4B"/>
          </a:solidFill>
          <a:ln w="12700">
            <a:solidFill>
              <a:srgbClr val="0B1F4B"/>
            </a:solidFill>
            <a:prstDash val="solid"/>
          </a:ln>
          <a:effectLst>
            <a:outerShdw sx="100000" sy="100000" kx="0" ky="0" algn="bl" rotWithShape="0" blurRad="101600" dist="25400" dir="5400000">
              <a:srgbClr val="0B1F4B">
                <a:alpha val="12000"/>
              </a:srgbClr>
            </a:outerShdw>
          </a:effectLst>
        </p:spPr>
      </p:sp>
      <p:sp>
        <p:nvSpPr>
          <p:cNvPr id="7" name="A1-zoom-77"/>
          <p:cNvSpPr/>
          <p:nvPr/>
        </p:nvSpPr>
        <p:spPr>
          <a:xfrm>
            <a:off x="1170432" y="1572768"/>
            <a:ext cx="502920" cy="502920"/>
          </a:xfrm>
          <a:prstGeom prst="ellipse">
            <a:avLst/>
          </a:prstGeom>
          <a:solidFill>
            <a:srgbClr val="FFC21A"/>
          </a:solidFill>
          <a:ln w="12700">
            <a:solidFill>
              <a:srgbClr val="FFC21A"/>
            </a:solidFill>
            <a:prstDash val="solid"/>
          </a:ln>
        </p:spPr>
      </p:sp>
      <p:pic>
        <p:nvPicPr>
          <p:cNvPr id="8" name="A1-zoom-78" descr="preencoded.png">    </p:cNvPr>
          <p:cNvPicPr>
            <a:picLocks noChangeAspect="1"/>
          </p:cNvPicPr>
          <p:nvPr/>
        </p:nvPicPr>
        <p:blipFill>
          <a:blip r:embed="rId3"/>
          <a:stretch>
            <a:fillRect/>
          </a:stretch>
        </p:blipFill>
        <p:spPr>
          <a:xfrm>
            <a:off x="1306220" y="1708556"/>
            <a:ext cx="231343" cy="231343"/>
          </a:xfrm>
          <a:prstGeom prst="rect">
            <a:avLst/>
          </a:prstGeom>
        </p:spPr>
      </p:pic>
      <p:sp>
        <p:nvSpPr>
          <p:cNvPr id="9" name="A1-zoom-79"/>
          <p:cNvSpPr txBox="1"/>
          <p:nvPr/>
        </p:nvSpPr>
        <p:spPr>
          <a:xfrm>
            <a:off x="502920" y="2194560"/>
            <a:ext cx="1828800" cy="64008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27</a:t>
            </a:r>
            <a:endParaRPr lang="en-US" sz="3200" dirty="0"/>
          </a:p>
        </p:txBody>
      </p:sp>
      <p:sp>
        <p:nvSpPr>
          <p:cNvPr id="10" name="A1-fade-80"/>
          <p:cNvSpPr txBox="1"/>
          <p:nvPr/>
        </p:nvSpPr>
        <p:spPr>
          <a:xfrm>
            <a:off x="502920" y="2852928"/>
            <a:ext cx="1828800" cy="365760"/>
          </a:xfrm>
          <a:prstGeom prst="rect">
            <a:avLst/>
          </a:prstGeom>
          <a:noFill/>
          <a:ln/>
        </p:spPr>
        <p:txBody>
          <a:bodyPr wrap="square" lIns="0" tIns="0" rIns="0" bIns="0" rtlCol="0" anchor="t"/>
          <a:lstStyle/>
          <a:p>
            <a:pPr algn="ctr" indent="0" marL="0">
              <a:buNone/>
            </a:pPr>
            <a:r>
              <a:rPr lang="en-US" sz="1300" dirty="0">
                <a:solidFill>
                  <a:srgbClr val="C9D5F0"/>
                </a:solidFill>
                <a:latin typeface="Calibri" pitchFamily="34" charset="0"/>
                <a:ea typeface="Calibri" pitchFamily="34" charset="-122"/>
                <a:cs typeface="Calibri" pitchFamily="34" charset="-120"/>
              </a:rPr>
              <a:t>États membres</a:t>
            </a:r>
            <a:endParaRPr lang="en-US" sz="1300" dirty="0"/>
          </a:p>
        </p:txBody>
      </p:sp>
      <p:sp>
        <p:nvSpPr>
          <p:cNvPr id="11" name="A2-zoom-81"/>
          <p:cNvSpPr/>
          <p:nvPr/>
        </p:nvSpPr>
        <p:spPr>
          <a:xfrm>
            <a:off x="2551176" y="1371600"/>
            <a:ext cx="1920240" cy="2103120"/>
          </a:xfrm>
          <a:prstGeom prst="roundRect">
            <a:avLst>
              <a:gd name="adj" fmla="val 5714"/>
            </a:avLst>
          </a:prstGeom>
          <a:solidFill>
            <a:srgbClr val="0B1F4B"/>
          </a:solidFill>
          <a:ln w="12700">
            <a:solidFill>
              <a:srgbClr val="0B1F4B"/>
            </a:solidFill>
            <a:prstDash val="solid"/>
          </a:ln>
          <a:effectLst>
            <a:outerShdw sx="100000" sy="100000" kx="0" ky="0" algn="bl" rotWithShape="0" blurRad="101600" dist="25400" dir="5400000">
              <a:srgbClr val="0B1F4B">
                <a:alpha val="12000"/>
              </a:srgbClr>
            </a:outerShdw>
          </a:effectLst>
        </p:spPr>
      </p:sp>
      <p:sp>
        <p:nvSpPr>
          <p:cNvPr id="12" name="A2-zoom-82"/>
          <p:cNvSpPr/>
          <p:nvPr/>
        </p:nvSpPr>
        <p:spPr>
          <a:xfrm>
            <a:off x="3264408" y="1572768"/>
            <a:ext cx="502920" cy="502920"/>
          </a:xfrm>
          <a:prstGeom prst="ellipse">
            <a:avLst/>
          </a:prstGeom>
          <a:solidFill>
            <a:srgbClr val="FFC21A"/>
          </a:solidFill>
          <a:ln w="12700">
            <a:solidFill>
              <a:srgbClr val="FFC21A"/>
            </a:solidFill>
            <a:prstDash val="solid"/>
          </a:ln>
        </p:spPr>
      </p:sp>
      <p:pic>
        <p:nvPicPr>
          <p:cNvPr id="13" name="A2-zoom-83" descr="preencoded.png">    </p:cNvPr>
          <p:cNvPicPr>
            <a:picLocks noChangeAspect="1"/>
          </p:cNvPicPr>
          <p:nvPr/>
        </p:nvPicPr>
        <p:blipFill>
          <a:blip r:embed="rId4"/>
          <a:stretch>
            <a:fillRect/>
          </a:stretch>
        </p:blipFill>
        <p:spPr>
          <a:xfrm>
            <a:off x="3400196" y="1708556"/>
            <a:ext cx="231343" cy="231343"/>
          </a:xfrm>
          <a:prstGeom prst="rect">
            <a:avLst/>
          </a:prstGeom>
        </p:spPr>
      </p:pic>
      <p:sp>
        <p:nvSpPr>
          <p:cNvPr id="14" name="A2-zoom-84"/>
          <p:cNvSpPr txBox="1"/>
          <p:nvPr/>
        </p:nvSpPr>
        <p:spPr>
          <a:xfrm>
            <a:off x="2596896" y="2194560"/>
            <a:ext cx="1828800" cy="64008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450 M</a:t>
            </a:r>
            <a:endParaRPr lang="en-US" sz="3200" dirty="0"/>
          </a:p>
        </p:txBody>
      </p:sp>
      <p:sp>
        <p:nvSpPr>
          <p:cNvPr id="15" name="A2-fade-85"/>
          <p:cNvSpPr txBox="1"/>
          <p:nvPr/>
        </p:nvSpPr>
        <p:spPr>
          <a:xfrm>
            <a:off x="2596896" y="2852928"/>
            <a:ext cx="1828800" cy="365760"/>
          </a:xfrm>
          <a:prstGeom prst="rect">
            <a:avLst/>
          </a:prstGeom>
          <a:noFill/>
          <a:ln/>
        </p:spPr>
        <p:txBody>
          <a:bodyPr wrap="square" lIns="0" tIns="0" rIns="0" bIns="0" rtlCol="0" anchor="t"/>
          <a:lstStyle/>
          <a:p>
            <a:pPr algn="ctr" indent="0" marL="0">
              <a:buNone/>
            </a:pPr>
            <a:r>
              <a:rPr lang="en-US" sz="1300" dirty="0">
                <a:solidFill>
                  <a:srgbClr val="C9D5F0"/>
                </a:solidFill>
                <a:latin typeface="Calibri" pitchFamily="34" charset="0"/>
                <a:ea typeface="Calibri" pitchFamily="34" charset="-122"/>
                <a:cs typeface="Calibri" pitchFamily="34" charset="-120"/>
              </a:rPr>
              <a:t>consommateurs</a:t>
            </a:r>
            <a:endParaRPr lang="en-US" sz="1300" dirty="0"/>
          </a:p>
        </p:txBody>
      </p:sp>
      <p:sp>
        <p:nvSpPr>
          <p:cNvPr id="16" name="A3-zoom-86"/>
          <p:cNvSpPr/>
          <p:nvPr/>
        </p:nvSpPr>
        <p:spPr>
          <a:xfrm>
            <a:off x="4645152" y="1371600"/>
            <a:ext cx="1920240" cy="2103120"/>
          </a:xfrm>
          <a:prstGeom prst="roundRect">
            <a:avLst>
              <a:gd name="adj" fmla="val 5714"/>
            </a:avLst>
          </a:prstGeom>
          <a:solidFill>
            <a:srgbClr val="0B1F4B"/>
          </a:solidFill>
          <a:ln w="12700">
            <a:solidFill>
              <a:srgbClr val="0B1F4B"/>
            </a:solidFill>
            <a:prstDash val="solid"/>
          </a:ln>
          <a:effectLst>
            <a:outerShdw sx="100000" sy="100000" kx="0" ky="0" algn="bl" rotWithShape="0" blurRad="101600" dist="25400" dir="5400000">
              <a:srgbClr val="0B1F4B">
                <a:alpha val="12000"/>
              </a:srgbClr>
            </a:outerShdw>
          </a:effectLst>
        </p:spPr>
      </p:sp>
      <p:sp>
        <p:nvSpPr>
          <p:cNvPr id="17" name="A3-zoom-87"/>
          <p:cNvSpPr/>
          <p:nvPr/>
        </p:nvSpPr>
        <p:spPr>
          <a:xfrm>
            <a:off x="5358384" y="1572768"/>
            <a:ext cx="502920" cy="502920"/>
          </a:xfrm>
          <a:prstGeom prst="ellipse">
            <a:avLst/>
          </a:prstGeom>
          <a:solidFill>
            <a:srgbClr val="FFC21A"/>
          </a:solidFill>
          <a:ln w="12700">
            <a:solidFill>
              <a:srgbClr val="FFC21A"/>
            </a:solidFill>
            <a:prstDash val="solid"/>
          </a:ln>
        </p:spPr>
      </p:sp>
      <p:pic>
        <p:nvPicPr>
          <p:cNvPr id="18" name="A3-zoom-88" descr="preencoded.png">    </p:cNvPr>
          <p:cNvPicPr>
            <a:picLocks noChangeAspect="1"/>
          </p:cNvPicPr>
          <p:nvPr/>
        </p:nvPicPr>
        <p:blipFill>
          <a:blip r:embed="rId5"/>
          <a:stretch>
            <a:fillRect/>
          </a:stretch>
        </p:blipFill>
        <p:spPr>
          <a:xfrm>
            <a:off x="5494172" y="1708556"/>
            <a:ext cx="231343" cy="231343"/>
          </a:xfrm>
          <a:prstGeom prst="rect">
            <a:avLst/>
          </a:prstGeom>
        </p:spPr>
      </p:pic>
      <p:sp>
        <p:nvSpPr>
          <p:cNvPr id="19" name="A3-zoom-89"/>
          <p:cNvSpPr txBox="1"/>
          <p:nvPr/>
        </p:nvSpPr>
        <p:spPr>
          <a:xfrm>
            <a:off x="4690872" y="2194560"/>
            <a:ext cx="1828800" cy="640080"/>
          </a:xfrm>
          <a:prstGeom prst="rect">
            <a:avLst/>
          </a:prstGeom>
          <a:noFill/>
          <a:ln/>
        </p:spPr>
        <p:txBody>
          <a:bodyPr wrap="square" lIns="0" tIns="0" rIns="0" bIns="0" rtlCol="0" anchor="ctr"/>
          <a:lstStyle/>
          <a:p>
            <a:pPr algn="ctr" indent="0" marL="0">
              <a:buNone/>
            </a:pPr>
            <a:r>
              <a:rPr lang="en-US" sz="2500" b="1" dirty="0">
                <a:solidFill>
                  <a:srgbClr val="FFFFFF"/>
                </a:solidFill>
                <a:latin typeface="Cambria" pitchFamily="34" charset="0"/>
                <a:ea typeface="Cambria" pitchFamily="34" charset="-122"/>
                <a:cs typeface="Cambria" pitchFamily="34" charset="-120"/>
              </a:rPr>
              <a:t>18 000 Md€</a:t>
            </a:r>
            <a:endParaRPr lang="en-US" sz="2500" dirty="0"/>
          </a:p>
        </p:txBody>
      </p:sp>
      <p:sp>
        <p:nvSpPr>
          <p:cNvPr id="20" name="A3-fade-90"/>
          <p:cNvSpPr txBox="1"/>
          <p:nvPr/>
        </p:nvSpPr>
        <p:spPr>
          <a:xfrm>
            <a:off x="4690872" y="2852928"/>
            <a:ext cx="1828800" cy="365760"/>
          </a:xfrm>
          <a:prstGeom prst="rect">
            <a:avLst/>
          </a:prstGeom>
          <a:noFill/>
          <a:ln/>
        </p:spPr>
        <p:txBody>
          <a:bodyPr wrap="square" lIns="0" tIns="0" rIns="0" bIns="0" rtlCol="0" anchor="t"/>
          <a:lstStyle/>
          <a:p>
            <a:pPr algn="ctr" indent="0" marL="0">
              <a:buNone/>
            </a:pPr>
            <a:r>
              <a:rPr lang="en-US" sz="1300" dirty="0">
                <a:solidFill>
                  <a:srgbClr val="C9D5F0"/>
                </a:solidFill>
                <a:latin typeface="Calibri" pitchFamily="34" charset="0"/>
                <a:ea typeface="Calibri" pitchFamily="34" charset="-122"/>
                <a:cs typeface="Calibri" pitchFamily="34" charset="-120"/>
              </a:rPr>
              <a:t>de PIB</a:t>
            </a:r>
            <a:endParaRPr lang="en-US" sz="1300" dirty="0"/>
          </a:p>
        </p:txBody>
      </p:sp>
      <p:sp>
        <p:nvSpPr>
          <p:cNvPr id="21" name="A4-zoom-91"/>
          <p:cNvSpPr/>
          <p:nvPr/>
        </p:nvSpPr>
        <p:spPr>
          <a:xfrm>
            <a:off x="6739128" y="1371600"/>
            <a:ext cx="1920240" cy="2103120"/>
          </a:xfrm>
          <a:prstGeom prst="roundRect">
            <a:avLst>
              <a:gd name="adj" fmla="val 5714"/>
            </a:avLst>
          </a:prstGeom>
          <a:solidFill>
            <a:srgbClr val="0B1F4B"/>
          </a:solidFill>
          <a:ln w="12700">
            <a:solidFill>
              <a:srgbClr val="0B1F4B"/>
            </a:solidFill>
            <a:prstDash val="solid"/>
          </a:ln>
          <a:effectLst>
            <a:outerShdw sx="100000" sy="100000" kx="0" ky="0" algn="bl" rotWithShape="0" blurRad="101600" dist="25400" dir="5400000">
              <a:srgbClr val="0B1F4B">
                <a:alpha val="12000"/>
              </a:srgbClr>
            </a:outerShdw>
          </a:effectLst>
        </p:spPr>
      </p:sp>
      <p:sp>
        <p:nvSpPr>
          <p:cNvPr id="22" name="A4-zoom-92"/>
          <p:cNvSpPr/>
          <p:nvPr/>
        </p:nvSpPr>
        <p:spPr>
          <a:xfrm>
            <a:off x="7452360" y="1572768"/>
            <a:ext cx="502920" cy="502920"/>
          </a:xfrm>
          <a:prstGeom prst="ellipse">
            <a:avLst/>
          </a:prstGeom>
          <a:solidFill>
            <a:srgbClr val="FFC21A"/>
          </a:solidFill>
          <a:ln w="12700">
            <a:solidFill>
              <a:srgbClr val="FFC21A"/>
            </a:solidFill>
            <a:prstDash val="solid"/>
          </a:ln>
        </p:spPr>
      </p:sp>
      <p:pic>
        <p:nvPicPr>
          <p:cNvPr id="23" name="A4-zoom-93" descr="preencoded.png">    </p:cNvPr>
          <p:cNvPicPr>
            <a:picLocks noChangeAspect="1"/>
          </p:cNvPicPr>
          <p:nvPr/>
        </p:nvPicPr>
        <p:blipFill>
          <a:blip r:embed="rId6"/>
          <a:stretch>
            <a:fillRect/>
          </a:stretch>
        </p:blipFill>
        <p:spPr>
          <a:xfrm>
            <a:off x="7588148" y="1708556"/>
            <a:ext cx="231343" cy="231343"/>
          </a:xfrm>
          <a:prstGeom prst="rect">
            <a:avLst/>
          </a:prstGeom>
        </p:spPr>
      </p:pic>
      <p:sp>
        <p:nvSpPr>
          <p:cNvPr id="24" name="A4-zoom-94"/>
          <p:cNvSpPr txBox="1"/>
          <p:nvPr/>
        </p:nvSpPr>
        <p:spPr>
          <a:xfrm>
            <a:off x="6784848" y="2194560"/>
            <a:ext cx="1828800" cy="640080"/>
          </a:xfrm>
          <a:prstGeom prst="rect">
            <a:avLst/>
          </a:prstGeom>
          <a:noFill/>
          <a:ln/>
        </p:spPr>
        <p:txBody>
          <a:bodyPr wrap="square" lIns="0" tIns="0" rIns="0" bIns="0"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 16 %</a:t>
            </a:r>
            <a:endParaRPr lang="en-US" sz="3200" dirty="0"/>
          </a:p>
        </p:txBody>
      </p:sp>
      <p:sp>
        <p:nvSpPr>
          <p:cNvPr id="25" name="A4-fade-95"/>
          <p:cNvSpPr txBox="1"/>
          <p:nvPr/>
        </p:nvSpPr>
        <p:spPr>
          <a:xfrm>
            <a:off x="6784848" y="2852928"/>
            <a:ext cx="1828800" cy="365760"/>
          </a:xfrm>
          <a:prstGeom prst="rect">
            <a:avLst/>
          </a:prstGeom>
          <a:noFill/>
          <a:ln/>
        </p:spPr>
        <p:txBody>
          <a:bodyPr wrap="square" lIns="0" tIns="0" rIns="0" bIns="0" rtlCol="0" anchor="t"/>
          <a:lstStyle/>
          <a:p>
            <a:pPr algn="ctr" indent="0" marL="0">
              <a:buNone/>
            </a:pPr>
            <a:r>
              <a:rPr lang="en-US" sz="1300" dirty="0">
                <a:solidFill>
                  <a:srgbClr val="C9D5F0"/>
                </a:solidFill>
                <a:latin typeface="Calibri" pitchFamily="34" charset="0"/>
                <a:ea typeface="Calibri" pitchFamily="34" charset="-122"/>
                <a:cs typeface="Calibri" pitchFamily="34" charset="-120"/>
              </a:rPr>
              <a:t>du commerce mondial</a:t>
            </a:r>
            <a:endParaRPr lang="en-US" sz="1300" dirty="0"/>
          </a:p>
        </p:txBody>
      </p:sp>
      <p:sp>
        <p:nvSpPr>
          <p:cNvPr id="26" name="A5-fadeup-96"/>
          <p:cNvSpPr txBox="1"/>
          <p:nvPr/>
        </p:nvSpPr>
        <p:spPr>
          <a:xfrm>
            <a:off x="457200" y="3840480"/>
            <a:ext cx="8229600" cy="548640"/>
          </a:xfrm>
          <a:prstGeom prst="rect">
            <a:avLst/>
          </a:prstGeom>
          <a:noFill/>
          <a:ln/>
        </p:spPr>
        <p:txBody>
          <a:bodyPr wrap="square" lIns="0" tIns="0" rIns="0" bIns="0" rtlCol="0" anchor="t"/>
          <a:lstStyle/>
          <a:p>
            <a:pPr algn="ctr" indent="0" marL="0">
              <a:buNone/>
            </a:pPr>
            <a:r>
              <a:rPr lang="en-US" sz="1800" b="1" i="1" dirty="0">
                <a:solidFill>
                  <a:srgbClr val="1F4FA8"/>
                </a:solidFill>
                <a:latin typeface="Cambria" pitchFamily="34" charset="0"/>
                <a:ea typeface="Cambria" pitchFamily="34" charset="-122"/>
                <a:cs typeface="Cambria" pitchFamily="34" charset="-120"/>
              </a:rPr>
              <a:t>Cette transformation a-t-elle réellement été bénéfique pour les pays membres… et à quel coût ?</a:t>
            </a:r>
            <a:endParaRPr lang="en-US" sz="18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100" fill="hold">
                      <p:stCondLst>
                        <p:cond delay="indefinite"/>
                        <p:cond evt="onBegin" delay="0">
                          <p:tn val="2"/>
                        </p:cond>
                      </p:stCondLst>
                      <p:childTnLst>
                        <p:par>
                          <p:cTn id="101" fill="hold">
                            <p:stCondLst>
                              <p:cond delay="0"/>
                            </p:stCondLst>
                            <p:childTnLst>
                              <p:par>
                                <p:cTn id="6" presetID="53" presetClass="entr" presetSubtype="16" fill="hold" grpId="0" nodeType="withEffect">
                                  <p:stCondLst>
                                    <p:cond delay="380"/>
                                  </p:stCondLst>
                                  <p:childTnLst>
                                    <p:set>
                                      <p:cBhvr>
                                        <p:cTn id="7" dur="1" fill="hold">
                                          <p:stCondLst>
                                            <p:cond delay="0"/>
                                          </p:stCondLst>
                                        </p:cTn>
                                        <p:tgtEl>
                                          <p:spTgt spid="6"/>
                                        </p:tgtEl>
                                        <p:attrNameLst>
                                          <p:attrName>style.visibility</p:attrName>
                                        </p:attrNameLst>
                                      </p:cBhvr>
                                      <p:to>
                                        <p:strVal val="visible"/>
                                      </p:to>
                                    </p:set>
                                    <p:anim calcmode="lin" valueType="num">
                                      <p:cBhvr additive="base">
                                        <p:cTn id="3" dur="550" fill="hold"/>
                                        <p:tgtEl>
                                          <p:spTgt spid="6"/>
                                        </p:tgtEl>
                                        <p:attrNameLst>
                                          <p:attrName>ppt_w</p:attrName>
                                        </p:attrNameLst>
                                      </p:cBhvr>
                                      <p:tavLst>
                                        <p:tav tm="0">
                                          <p:val>
                                            <p:strVal val="0"/>
                                          </p:val>
                                        </p:tav>
                                        <p:tav tm="100000">
                                          <p:val>
                                            <p:strVal val="#ppt_w"/>
                                          </p:val>
                                        </p:tav>
                                      </p:tavLst>
                                    </p:anim>
                                    <p:anim calcmode="lin" valueType="num">
                                      <p:cBhvr additive="base">
                                        <p:cTn id="4" dur="550" fill="hold"/>
                                        <p:tgtEl>
                                          <p:spTgt spid="6"/>
                                        </p:tgtEl>
                                        <p:attrNameLst>
                                          <p:attrName>ppt_h</p:attrName>
                                        </p:attrNameLst>
                                      </p:cBhvr>
                                      <p:tavLst>
                                        <p:tav tm="0">
                                          <p:val>
                                            <p:strVal val="0"/>
                                          </p:val>
                                        </p:tav>
                                        <p:tav tm="100000">
                                          <p:val>
                                            <p:strVal val="#ppt_h"/>
                                          </p:val>
                                        </p:tav>
                                      </p:tavLst>
                                    </p:anim>
                                    <p:animEffect transition="in" filter="fade">
                                      <p:cBhvr>
                                        <p:cTn id="5" dur="550"/>
                                        <p:tgtEl>
                                          <p:spTgt spid="6"/>
                                        </p:tgtEl>
                                      </p:cBhvr>
                                    </p:animEffect>
                                  </p:childTnLst>
                                </p:cTn>
                              </p:par>
                              <p:par>
                                <p:cTn id="11" presetID="53" presetClass="entr" presetSubtype="16" fill="hold" grpId="0" nodeType="withEffect">
                                  <p:stCondLst>
                                    <p:cond delay="38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8" dur="550" fill="hold"/>
                                        <p:tgtEl>
                                          <p:spTgt spid="7"/>
                                        </p:tgtEl>
                                        <p:attrNameLst>
                                          <p:attrName>ppt_w</p:attrName>
                                        </p:attrNameLst>
                                      </p:cBhvr>
                                      <p:tavLst>
                                        <p:tav tm="0">
                                          <p:val>
                                            <p:strVal val="0"/>
                                          </p:val>
                                        </p:tav>
                                        <p:tav tm="100000">
                                          <p:val>
                                            <p:strVal val="#ppt_w"/>
                                          </p:val>
                                        </p:tav>
                                      </p:tavLst>
                                    </p:anim>
                                    <p:anim calcmode="lin" valueType="num">
                                      <p:cBhvr additive="base">
                                        <p:cTn id="9" dur="550" fill="hold"/>
                                        <p:tgtEl>
                                          <p:spTgt spid="7"/>
                                        </p:tgtEl>
                                        <p:attrNameLst>
                                          <p:attrName>ppt_h</p:attrName>
                                        </p:attrNameLst>
                                      </p:cBhvr>
                                      <p:tavLst>
                                        <p:tav tm="0">
                                          <p:val>
                                            <p:strVal val="0"/>
                                          </p:val>
                                        </p:tav>
                                        <p:tav tm="100000">
                                          <p:val>
                                            <p:strVal val="#ppt_h"/>
                                          </p:val>
                                        </p:tav>
                                      </p:tavLst>
                                    </p:anim>
                                    <p:animEffect transition="in" filter="fade">
                                      <p:cBhvr>
                                        <p:cTn id="10" dur="550"/>
                                        <p:tgtEl>
                                          <p:spTgt spid="7"/>
                                        </p:tgtEl>
                                      </p:cBhvr>
                                    </p:animEffect>
                                  </p:childTnLst>
                                </p:cTn>
                              </p:par>
                              <p:par>
                                <p:cTn id="16" presetID="53" presetClass="entr" presetSubtype="16" fill="hold" grpId="0" nodeType="withEffect">
                                  <p:stCondLst>
                                    <p:cond delay="38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3" dur="550" fill="hold"/>
                                        <p:tgtEl>
                                          <p:spTgt spid="8"/>
                                        </p:tgtEl>
                                        <p:attrNameLst>
                                          <p:attrName>ppt_w</p:attrName>
                                        </p:attrNameLst>
                                      </p:cBhvr>
                                      <p:tavLst>
                                        <p:tav tm="0">
                                          <p:val>
                                            <p:strVal val="0"/>
                                          </p:val>
                                        </p:tav>
                                        <p:tav tm="100000">
                                          <p:val>
                                            <p:strVal val="#ppt_w"/>
                                          </p:val>
                                        </p:tav>
                                      </p:tavLst>
                                    </p:anim>
                                    <p:anim calcmode="lin" valueType="num">
                                      <p:cBhvr additive="base">
                                        <p:cTn id="14" dur="550" fill="hold"/>
                                        <p:tgtEl>
                                          <p:spTgt spid="8"/>
                                        </p:tgtEl>
                                        <p:attrNameLst>
                                          <p:attrName>ppt_h</p:attrName>
                                        </p:attrNameLst>
                                      </p:cBhvr>
                                      <p:tavLst>
                                        <p:tav tm="0">
                                          <p:val>
                                            <p:strVal val="0"/>
                                          </p:val>
                                        </p:tav>
                                        <p:tav tm="100000">
                                          <p:val>
                                            <p:strVal val="#ppt_h"/>
                                          </p:val>
                                        </p:tav>
                                      </p:tavLst>
                                    </p:anim>
                                    <p:animEffect transition="in" filter="fade">
                                      <p:cBhvr>
                                        <p:cTn id="15" dur="550"/>
                                        <p:tgtEl>
                                          <p:spTgt spid="8"/>
                                        </p:tgtEl>
                                      </p:cBhvr>
                                    </p:animEffect>
                                  </p:childTnLst>
                                </p:cTn>
                              </p:par>
                              <p:par>
                                <p:cTn id="21" presetID="53" presetClass="entr" presetSubtype="16" fill="hold" grpId="0" nodeType="withEffect">
                                  <p:stCondLst>
                                    <p:cond delay="38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18" dur="550" fill="hold"/>
                                        <p:tgtEl>
                                          <p:spTgt spid="9"/>
                                        </p:tgtEl>
                                        <p:attrNameLst>
                                          <p:attrName>ppt_w</p:attrName>
                                        </p:attrNameLst>
                                      </p:cBhvr>
                                      <p:tavLst>
                                        <p:tav tm="0">
                                          <p:val>
                                            <p:strVal val="0"/>
                                          </p:val>
                                        </p:tav>
                                        <p:tav tm="100000">
                                          <p:val>
                                            <p:strVal val="#ppt_w"/>
                                          </p:val>
                                        </p:tav>
                                      </p:tavLst>
                                    </p:anim>
                                    <p:anim calcmode="lin" valueType="num">
                                      <p:cBhvr additive="base">
                                        <p:cTn id="19" dur="550" fill="hold"/>
                                        <p:tgtEl>
                                          <p:spTgt spid="9"/>
                                        </p:tgtEl>
                                        <p:attrNameLst>
                                          <p:attrName>ppt_h</p:attrName>
                                        </p:attrNameLst>
                                      </p:cBhvr>
                                      <p:tavLst>
                                        <p:tav tm="0">
                                          <p:val>
                                            <p:strVal val="0"/>
                                          </p:val>
                                        </p:tav>
                                        <p:tav tm="100000">
                                          <p:val>
                                            <p:strVal val="#ppt_h"/>
                                          </p:val>
                                        </p:tav>
                                      </p:tavLst>
                                    </p:anim>
                                    <p:animEffect transition="in" filter="fade">
                                      <p:cBhvr>
                                        <p:cTn id="20" dur="550"/>
                                        <p:tgtEl>
                                          <p:spTgt spid="9"/>
                                        </p:tgtEl>
                                      </p:cBhvr>
                                    </p:animEffect>
                                  </p:childTnLst>
                                </p:cTn>
                              </p:par>
                              <p:par>
                                <p:cTn id="24" presetID="10" presetClass="entr" presetSubtype="0" fill="hold" grpId="0" nodeType="withEffect">
                                  <p:stCondLst>
                                    <p:cond delay="380"/>
                                  </p:stCondLst>
                                  <p:childTnLst>
                                    <p:set>
                                      <p:cBhvr>
                                        <p:cTn id="25" dur="1" fill="hold">
                                          <p:stCondLst>
                                            <p:cond delay="0"/>
                                          </p:stCondLst>
                                        </p:cTn>
                                        <p:tgtEl>
                                          <p:spTgt spid="10"/>
                                        </p:tgtEl>
                                        <p:attrNameLst>
                                          <p:attrName>style.visibility</p:attrName>
                                        </p:attrNameLst>
                                      </p:cBhvr>
                                      <p:to>
                                        <p:strVal val="visible"/>
                                      </p:to>
                                    </p:set>
                                    <p:animEffect transition="in" filter="fade">
                                      <p:cBhvr>
                                        <p:cTn id="23" dur="600"/>
                                        <p:tgtEl>
                                          <p:spTgt spid="10"/>
                                        </p:tgtEl>
                                      </p:cBhvr>
                                    </p:animEffect>
                                  </p:childTnLst>
                                </p:cTn>
                              </p:par>
                              <p:par>
                                <p:cTn id="29" presetID="53" presetClass="entr" presetSubtype="16" fill="hold" grpId="0" nodeType="withEffect">
                                  <p:stCondLst>
                                    <p:cond delay="76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26" dur="550" fill="hold"/>
                                        <p:tgtEl>
                                          <p:spTgt spid="11"/>
                                        </p:tgtEl>
                                        <p:attrNameLst>
                                          <p:attrName>ppt_w</p:attrName>
                                        </p:attrNameLst>
                                      </p:cBhvr>
                                      <p:tavLst>
                                        <p:tav tm="0">
                                          <p:val>
                                            <p:strVal val="0"/>
                                          </p:val>
                                        </p:tav>
                                        <p:tav tm="100000">
                                          <p:val>
                                            <p:strVal val="#ppt_w"/>
                                          </p:val>
                                        </p:tav>
                                      </p:tavLst>
                                    </p:anim>
                                    <p:anim calcmode="lin" valueType="num">
                                      <p:cBhvr additive="base">
                                        <p:cTn id="27" dur="550" fill="hold"/>
                                        <p:tgtEl>
                                          <p:spTgt spid="11"/>
                                        </p:tgtEl>
                                        <p:attrNameLst>
                                          <p:attrName>ppt_h</p:attrName>
                                        </p:attrNameLst>
                                      </p:cBhvr>
                                      <p:tavLst>
                                        <p:tav tm="0">
                                          <p:val>
                                            <p:strVal val="0"/>
                                          </p:val>
                                        </p:tav>
                                        <p:tav tm="100000">
                                          <p:val>
                                            <p:strVal val="#ppt_h"/>
                                          </p:val>
                                        </p:tav>
                                      </p:tavLst>
                                    </p:anim>
                                    <p:animEffect transition="in" filter="fade">
                                      <p:cBhvr>
                                        <p:cTn id="28" dur="550"/>
                                        <p:tgtEl>
                                          <p:spTgt spid="11"/>
                                        </p:tgtEl>
                                      </p:cBhvr>
                                    </p:animEffect>
                                  </p:childTnLst>
                                </p:cTn>
                              </p:par>
                              <p:par>
                                <p:cTn id="34" presetID="53" presetClass="entr" presetSubtype="16" fill="hold" grpId="0" nodeType="withEffect">
                                  <p:stCondLst>
                                    <p:cond delay="760"/>
                                  </p:stCondLst>
                                  <p:childTnLst>
                                    <p:set>
                                      <p:cBhvr>
                                        <p:cTn id="35" dur="1" fill="hold">
                                          <p:stCondLst>
                                            <p:cond delay="0"/>
                                          </p:stCondLst>
                                        </p:cTn>
                                        <p:tgtEl>
                                          <p:spTgt spid="12"/>
                                        </p:tgtEl>
                                        <p:attrNameLst>
                                          <p:attrName>style.visibility</p:attrName>
                                        </p:attrNameLst>
                                      </p:cBhvr>
                                      <p:to>
                                        <p:strVal val="visible"/>
                                      </p:to>
                                    </p:set>
                                    <p:anim calcmode="lin" valueType="num">
                                      <p:cBhvr additive="base">
                                        <p:cTn id="31" dur="550" fill="hold"/>
                                        <p:tgtEl>
                                          <p:spTgt spid="12"/>
                                        </p:tgtEl>
                                        <p:attrNameLst>
                                          <p:attrName>ppt_w</p:attrName>
                                        </p:attrNameLst>
                                      </p:cBhvr>
                                      <p:tavLst>
                                        <p:tav tm="0">
                                          <p:val>
                                            <p:strVal val="0"/>
                                          </p:val>
                                        </p:tav>
                                        <p:tav tm="100000">
                                          <p:val>
                                            <p:strVal val="#ppt_w"/>
                                          </p:val>
                                        </p:tav>
                                      </p:tavLst>
                                    </p:anim>
                                    <p:anim calcmode="lin" valueType="num">
                                      <p:cBhvr additive="base">
                                        <p:cTn id="32" dur="550" fill="hold"/>
                                        <p:tgtEl>
                                          <p:spTgt spid="12"/>
                                        </p:tgtEl>
                                        <p:attrNameLst>
                                          <p:attrName>ppt_h</p:attrName>
                                        </p:attrNameLst>
                                      </p:cBhvr>
                                      <p:tavLst>
                                        <p:tav tm="0">
                                          <p:val>
                                            <p:strVal val="0"/>
                                          </p:val>
                                        </p:tav>
                                        <p:tav tm="100000">
                                          <p:val>
                                            <p:strVal val="#ppt_h"/>
                                          </p:val>
                                        </p:tav>
                                      </p:tavLst>
                                    </p:anim>
                                    <p:animEffect transition="in" filter="fade">
                                      <p:cBhvr>
                                        <p:cTn id="33" dur="550"/>
                                        <p:tgtEl>
                                          <p:spTgt spid="12"/>
                                        </p:tgtEl>
                                      </p:cBhvr>
                                    </p:animEffect>
                                  </p:childTnLst>
                                </p:cTn>
                              </p:par>
                              <p:par>
                                <p:cTn id="39" presetID="53" presetClass="entr" presetSubtype="16" fill="hold" grpId="0" nodeType="withEffect">
                                  <p:stCondLst>
                                    <p:cond delay="760"/>
                                  </p:stCondLst>
                                  <p:childTnLst>
                                    <p:set>
                                      <p:cBhvr>
                                        <p:cTn id="40" dur="1" fill="hold">
                                          <p:stCondLst>
                                            <p:cond delay="0"/>
                                          </p:stCondLst>
                                        </p:cTn>
                                        <p:tgtEl>
                                          <p:spTgt spid="13"/>
                                        </p:tgtEl>
                                        <p:attrNameLst>
                                          <p:attrName>style.visibility</p:attrName>
                                        </p:attrNameLst>
                                      </p:cBhvr>
                                      <p:to>
                                        <p:strVal val="visible"/>
                                      </p:to>
                                    </p:set>
                                    <p:anim calcmode="lin" valueType="num">
                                      <p:cBhvr additive="base">
                                        <p:cTn id="36" dur="550" fill="hold"/>
                                        <p:tgtEl>
                                          <p:spTgt spid="13"/>
                                        </p:tgtEl>
                                        <p:attrNameLst>
                                          <p:attrName>ppt_w</p:attrName>
                                        </p:attrNameLst>
                                      </p:cBhvr>
                                      <p:tavLst>
                                        <p:tav tm="0">
                                          <p:val>
                                            <p:strVal val="0"/>
                                          </p:val>
                                        </p:tav>
                                        <p:tav tm="100000">
                                          <p:val>
                                            <p:strVal val="#ppt_w"/>
                                          </p:val>
                                        </p:tav>
                                      </p:tavLst>
                                    </p:anim>
                                    <p:anim calcmode="lin" valueType="num">
                                      <p:cBhvr additive="base">
                                        <p:cTn id="37" dur="550" fill="hold"/>
                                        <p:tgtEl>
                                          <p:spTgt spid="13"/>
                                        </p:tgtEl>
                                        <p:attrNameLst>
                                          <p:attrName>ppt_h</p:attrName>
                                        </p:attrNameLst>
                                      </p:cBhvr>
                                      <p:tavLst>
                                        <p:tav tm="0">
                                          <p:val>
                                            <p:strVal val="0"/>
                                          </p:val>
                                        </p:tav>
                                        <p:tav tm="100000">
                                          <p:val>
                                            <p:strVal val="#ppt_h"/>
                                          </p:val>
                                        </p:tav>
                                      </p:tavLst>
                                    </p:anim>
                                    <p:animEffect transition="in" filter="fade">
                                      <p:cBhvr>
                                        <p:cTn id="38" dur="550"/>
                                        <p:tgtEl>
                                          <p:spTgt spid="13"/>
                                        </p:tgtEl>
                                      </p:cBhvr>
                                    </p:animEffect>
                                  </p:childTnLst>
                                </p:cTn>
                              </p:par>
                              <p:par>
                                <p:cTn id="44" presetID="53" presetClass="entr" presetSubtype="16" fill="hold" grpId="0" nodeType="withEffect">
                                  <p:stCondLst>
                                    <p:cond delay="760"/>
                                  </p:stCondLst>
                                  <p:childTnLst>
                                    <p:set>
                                      <p:cBhvr>
                                        <p:cTn id="45" dur="1" fill="hold">
                                          <p:stCondLst>
                                            <p:cond delay="0"/>
                                          </p:stCondLst>
                                        </p:cTn>
                                        <p:tgtEl>
                                          <p:spTgt spid="14"/>
                                        </p:tgtEl>
                                        <p:attrNameLst>
                                          <p:attrName>style.visibility</p:attrName>
                                        </p:attrNameLst>
                                      </p:cBhvr>
                                      <p:to>
                                        <p:strVal val="visible"/>
                                      </p:to>
                                    </p:set>
                                    <p:anim calcmode="lin" valueType="num">
                                      <p:cBhvr additive="base">
                                        <p:cTn id="41" dur="550" fill="hold"/>
                                        <p:tgtEl>
                                          <p:spTgt spid="14"/>
                                        </p:tgtEl>
                                        <p:attrNameLst>
                                          <p:attrName>ppt_w</p:attrName>
                                        </p:attrNameLst>
                                      </p:cBhvr>
                                      <p:tavLst>
                                        <p:tav tm="0">
                                          <p:val>
                                            <p:strVal val="0"/>
                                          </p:val>
                                        </p:tav>
                                        <p:tav tm="100000">
                                          <p:val>
                                            <p:strVal val="#ppt_w"/>
                                          </p:val>
                                        </p:tav>
                                      </p:tavLst>
                                    </p:anim>
                                    <p:anim calcmode="lin" valueType="num">
                                      <p:cBhvr additive="base">
                                        <p:cTn id="42" dur="550" fill="hold"/>
                                        <p:tgtEl>
                                          <p:spTgt spid="14"/>
                                        </p:tgtEl>
                                        <p:attrNameLst>
                                          <p:attrName>ppt_h</p:attrName>
                                        </p:attrNameLst>
                                      </p:cBhvr>
                                      <p:tavLst>
                                        <p:tav tm="0">
                                          <p:val>
                                            <p:strVal val="0"/>
                                          </p:val>
                                        </p:tav>
                                        <p:tav tm="100000">
                                          <p:val>
                                            <p:strVal val="#ppt_h"/>
                                          </p:val>
                                        </p:tav>
                                      </p:tavLst>
                                    </p:anim>
                                    <p:animEffect transition="in" filter="fade">
                                      <p:cBhvr>
                                        <p:cTn id="43" dur="550"/>
                                        <p:tgtEl>
                                          <p:spTgt spid="14"/>
                                        </p:tgtEl>
                                      </p:cBhvr>
                                    </p:animEffect>
                                  </p:childTnLst>
                                </p:cTn>
                              </p:par>
                              <p:par>
                                <p:cTn id="47" presetID="10" presetClass="entr" presetSubtype="0" fill="hold" grpId="0" nodeType="withEffect">
                                  <p:stCondLst>
                                    <p:cond delay="760"/>
                                  </p:stCondLst>
                                  <p:childTnLst>
                                    <p:set>
                                      <p:cBhvr>
                                        <p:cTn id="48" dur="1" fill="hold">
                                          <p:stCondLst>
                                            <p:cond delay="0"/>
                                          </p:stCondLst>
                                        </p:cTn>
                                        <p:tgtEl>
                                          <p:spTgt spid="15"/>
                                        </p:tgtEl>
                                        <p:attrNameLst>
                                          <p:attrName>style.visibility</p:attrName>
                                        </p:attrNameLst>
                                      </p:cBhvr>
                                      <p:to>
                                        <p:strVal val="visible"/>
                                      </p:to>
                                    </p:set>
                                    <p:animEffect transition="in" filter="fade">
                                      <p:cBhvr>
                                        <p:cTn id="46" dur="600"/>
                                        <p:tgtEl>
                                          <p:spTgt spid="15"/>
                                        </p:tgtEl>
                                      </p:cBhvr>
                                    </p:animEffect>
                                  </p:childTnLst>
                                </p:cTn>
                              </p:par>
                              <p:par>
                                <p:cTn id="52" presetID="53" presetClass="entr" presetSubtype="16" fill="hold" grpId="0" nodeType="withEffect">
                                  <p:stCondLst>
                                    <p:cond delay="1140"/>
                                  </p:stCondLst>
                                  <p:childTnLst>
                                    <p:set>
                                      <p:cBhvr>
                                        <p:cTn id="53" dur="1" fill="hold">
                                          <p:stCondLst>
                                            <p:cond delay="0"/>
                                          </p:stCondLst>
                                        </p:cTn>
                                        <p:tgtEl>
                                          <p:spTgt spid="16"/>
                                        </p:tgtEl>
                                        <p:attrNameLst>
                                          <p:attrName>style.visibility</p:attrName>
                                        </p:attrNameLst>
                                      </p:cBhvr>
                                      <p:to>
                                        <p:strVal val="visible"/>
                                      </p:to>
                                    </p:set>
                                    <p:anim calcmode="lin" valueType="num">
                                      <p:cBhvr additive="base">
                                        <p:cTn id="49" dur="550" fill="hold"/>
                                        <p:tgtEl>
                                          <p:spTgt spid="16"/>
                                        </p:tgtEl>
                                        <p:attrNameLst>
                                          <p:attrName>ppt_w</p:attrName>
                                        </p:attrNameLst>
                                      </p:cBhvr>
                                      <p:tavLst>
                                        <p:tav tm="0">
                                          <p:val>
                                            <p:strVal val="0"/>
                                          </p:val>
                                        </p:tav>
                                        <p:tav tm="100000">
                                          <p:val>
                                            <p:strVal val="#ppt_w"/>
                                          </p:val>
                                        </p:tav>
                                      </p:tavLst>
                                    </p:anim>
                                    <p:anim calcmode="lin" valueType="num">
                                      <p:cBhvr additive="base">
                                        <p:cTn id="50" dur="550" fill="hold"/>
                                        <p:tgtEl>
                                          <p:spTgt spid="16"/>
                                        </p:tgtEl>
                                        <p:attrNameLst>
                                          <p:attrName>ppt_h</p:attrName>
                                        </p:attrNameLst>
                                      </p:cBhvr>
                                      <p:tavLst>
                                        <p:tav tm="0">
                                          <p:val>
                                            <p:strVal val="0"/>
                                          </p:val>
                                        </p:tav>
                                        <p:tav tm="100000">
                                          <p:val>
                                            <p:strVal val="#ppt_h"/>
                                          </p:val>
                                        </p:tav>
                                      </p:tavLst>
                                    </p:anim>
                                    <p:animEffect transition="in" filter="fade">
                                      <p:cBhvr>
                                        <p:cTn id="51" dur="550"/>
                                        <p:tgtEl>
                                          <p:spTgt spid="16"/>
                                        </p:tgtEl>
                                      </p:cBhvr>
                                    </p:animEffect>
                                  </p:childTnLst>
                                </p:cTn>
                              </p:par>
                              <p:par>
                                <p:cTn id="57" presetID="53" presetClass="entr" presetSubtype="16" fill="hold" grpId="0" nodeType="withEffect">
                                  <p:stCondLst>
                                    <p:cond delay="1140"/>
                                  </p:stCondLst>
                                  <p:childTnLst>
                                    <p:set>
                                      <p:cBhvr>
                                        <p:cTn id="58" dur="1" fill="hold">
                                          <p:stCondLst>
                                            <p:cond delay="0"/>
                                          </p:stCondLst>
                                        </p:cTn>
                                        <p:tgtEl>
                                          <p:spTgt spid="17"/>
                                        </p:tgtEl>
                                        <p:attrNameLst>
                                          <p:attrName>style.visibility</p:attrName>
                                        </p:attrNameLst>
                                      </p:cBhvr>
                                      <p:to>
                                        <p:strVal val="visible"/>
                                      </p:to>
                                    </p:set>
                                    <p:anim calcmode="lin" valueType="num">
                                      <p:cBhvr additive="base">
                                        <p:cTn id="54" dur="550" fill="hold"/>
                                        <p:tgtEl>
                                          <p:spTgt spid="17"/>
                                        </p:tgtEl>
                                        <p:attrNameLst>
                                          <p:attrName>ppt_w</p:attrName>
                                        </p:attrNameLst>
                                      </p:cBhvr>
                                      <p:tavLst>
                                        <p:tav tm="0">
                                          <p:val>
                                            <p:strVal val="0"/>
                                          </p:val>
                                        </p:tav>
                                        <p:tav tm="100000">
                                          <p:val>
                                            <p:strVal val="#ppt_w"/>
                                          </p:val>
                                        </p:tav>
                                      </p:tavLst>
                                    </p:anim>
                                    <p:anim calcmode="lin" valueType="num">
                                      <p:cBhvr additive="base">
                                        <p:cTn id="55" dur="550" fill="hold"/>
                                        <p:tgtEl>
                                          <p:spTgt spid="17"/>
                                        </p:tgtEl>
                                        <p:attrNameLst>
                                          <p:attrName>ppt_h</p:attrName>
                                        </p:attrNameLst>
                                      </p:cBhvr>
                                      <p:tavLst>
                                        <p:tav tm="0">
                                          <p:val>
                                            <p:strVal val="0"/>
                                          </p:val>
                                        </p:tav>
                                        <p:tav tm="100000">
                                          <p:val>
                                            <p:strVal val="#ppt_h"/>
                                          </p:val>
                                        </p:tav>
                                      </p:tavLst>
                                    </p:anim>
                                    <p:animEffect transition="in" filter="fade">
                                      <p:cBhvr>
                                        <p:cTn id="56" dur="550"/>
                                        <p:tgtEl>
                                          <p:spTgt spid="17"/>
                                        </p:tgtEl>
                                      </p:cBhvr>
                                    </p:animEffect>
                                  </p:childTnLst>
                                </p:cTn>
                              </p:par>
                              <p:par>
                                <p:cTn id="62" presetID="53" presetClass="entr" presetSubtype="16" fill="hold" grpId="0" nodeType="withEffect">
                                  <p:stCondLst>
                                    <p:cond delay="1140"/>
                                  </p:stCondLst>
                                  <p:childTnLst>
                                    <p:set>
                                      <p:cBhvr>
                                        <p:cTn id="63" dur="1" fill="hold">
                                          <p:stCondLst>
                                            <p:cond delay="0"/>
                                          </p:stCondLst>
                                        </p:cTn>
                                        <p:tgtEl>
                                          <p:spTgt spid="18"/>
                                        </p:tgtEl>
                                        <p:attrNameLst>
                                          <p:attrName>style.visibility</p:attrName>
                                        </p:attrNameLst>
                                      </p:cBhvr>
                                      <p:to>
                                        <p:strVal val="visible"/>
                                      </p:to>
                                    </p:set>
                                    <p:anim calcmode="lin" valueType="num">
                                      <p:cBhvr additive="base">
                                        <p:cTn id="59" dur="550" fill="hold"/>
                                        <p:tgtEl>
                                          <p:spTgt spid="18"/>
                                        </p:tgtEl>
                                        <p:attrNameLst>
                                          <p:attrName>ppt_w</p:attrName>
                                        </p:attrNameLst>
                                      </p:cBhvr>
                                      <p:tavLst>
                                        <p:tav tm="0">
                                          <p:val>
                                            <p:strVal val="0"/>
                                          </p:val>
                                        </p:tav>
                                        <p:tav tm="100000">
                                          <p:val>
                                            <p:strVal val="#ppt_w"/>
                                          </p:val>
                                        </p:tav>
                                      </p:tavLst>
                                    </p:anim>
                                    <p:anim calcmode="lin" valueType="num">
                                      <p:cBhvr additive="base">
                                        <p:cTn id="60" dur="550" fill="hold"/>
                                        <p:tgtEl>
                                          <p:spTgt spid="18"/>
                                        </p:tgtEl>
                                        <p:attrNameLst>
                                          <p:attrName>ppt_h</p:attrName>
                                        </p:attrNameLst>
                                      </p:cBhvr>
                                      <p:tavLst>
                                        <p:tav tm="0">
                                          <p:val>
                                            <p:strVal val="0"/>
                                          </p:val>
                                        </p:tav>
                                        <p:tav tm="100000">
                                          <p:val>
                                            <p:strVal val="#ppt_h"/>
                                          </p:val>
                                        </p:tav>
                                      </p:tavLst>
                                    </p:anim>
                                    <p:animEffect transition="in" filter="fade">
                                      <p:cBhvr>
                                        <p:cTn id="61" dur="550"/>
                                        <p:tgtEl>
                                          <p:spTgt spid="18"/>
                                        </p:tgtEl>
                                      </p:cBhvr>
                                    </p:animEffect>
                                  </p:childTnLst>
                                </p:cTn>
                              </p:par>
                              <p:par>
                                <p:cTn id="67" presetID="53" presetClass="entr" presetSubtype="16" fill="hold" grpId="0" nodeType="withEffect">
                                  <p:stCondLst>
                                    <p:cond delay="1140"/>
                                  </p:stCondLst>
                                  <p:childTnLst>
                                    <p:set>
                                      <p:cBhvr>
                                        <p:cTn id="68" dur="1" fill="hold">
                                          <p:stCondLst>
                                            <p:cond delay="0"/>
                                          </p:stCondLst>
                                        </p:cTn>
                                        <p:tgtEl>
                                          <p:spTgt spid="19"/>
                                        </p:tgtEl>
                                        <p:attrNameLst>
                                          <p:attrName>style.visibility</p:attrName>
                                        </p:attrNameLst>
                                      </p:cBhvr>
                                      <p:to>
                                        <p:strVal val="visible"/>
                                      </p:to>
                                    </p:set>
                                    <p:anim calcmode="lin" valueType="num">
                                      <p:cBhvr additive="base">
                                        <p:cTn id="64" dur="550" fill="hold"/>
                                        <p:tgtEl>
                                          <p:spTgt spid="19"/>
                                        </p:tgtEl>
                                        <p:attrNameLst>
                                          <p:attrName>ppt_w</p:attrName>
                                        </p:attrNameLst>
                                      </p:cBhvr>
                                      <p:tavLst>
                                        <p:tav tm="0">
                                          <p:val>
                                            <p:strVal val="0"/>
                                          </p:val>
                                        </p:tav>
                                        <p:tav tm="100000">
                                          <p:val>
                                            <p:strVal val="#ppt_w"/>
                                          </p:val>
                                        </p:tav>
                                      </p:tavLst>
                                    </p:anim>
                                    <p:anim calcmode="lin" valueType="num">
                                      <p:cBhvr additive="base">
                                        <p:cTn id="65" dur="550" fill="hold"/>
                                        <p:tgtEl>
                                          <p:spTgt spid="19"/>
                                        </p:tgtEl>
                                        <p:attrNameLst>
                                          <p:attrName>ppt_h</p:attrName>
                                        </p:attrNameLst>
                                      </p:cBhvr>
                                      <p:tavLst>
                                        <p:tav tm="0">
                                          <p:val>
                                            <p:strVal val="0"/>
                                          </p:val>
                                        </p:tav>
                                        <p:tav tm="100000">
                                          <p:val>
                                            <p:strVal val="#ppt_h"/>
                                          </p:val>
                                        </p:tav>
                                      </p:tavLst>
                                    </p:anim>
                                    <p:animEffect transition="in" filter="fade">
                                      <p:cBhvr>
                                        <p:cTn id="66" dur="550"/>
                                        <p:tgtEl>
                                          <p:spTgt spid="19"/>
                                        </p:tgtEl>
                                      </p:cBhvr>
                                    </p:animEffect>
                                  </p:childTnLst>
                                </p:cTn>
                              </p:par>
                              <p:par>
                                <p:cTn id="70" presetID="10" presetClass="entr" presetSubtype="0" fill="hold" grpId="0" nodeType="withEffect">
                                  <p:stCondLst>
                                    <p:cond delay="1140"/>
                                  </p:stCondLst>
                                  <p:childTnLst>
                                    <p:set>
                                      <p:cBhvr>
                                        <p:cTn id="71" dur="1" fill="hold">
                                          <p:stCondLst>
                                            <p:cond delay="0"/>
                                          </p:stCondLst>
                                        </p:cTn>
                                        <p:tgtEl>
                                          <p:spTgt spid="20"/>
                                        </p:tgtEl>
                                        <p:attrNameLst>
                                          <p:attrName>style.visibility</p:attrName>
                                        </p:attrNameLst>
                                      </p:cBhvr>
                                      <p:to>
                                        <p:strVal val="visible"/>
                                      </p:to>
                                    </p:set>
                                    <p:animEffect transition="in" filter="fade">
                                      <p:cBhvr>
                                        <p:cTn id="69" dur="600"/>
                                        <p:tgtEl>
                                          <p:spTgt spid="20"/>
                                        </p:tgtEl>
                                      </p:cBhvr>
                                    </p:animEffect>
                                  </p:childTnLst>
                                </p:cTn>
                              </p:par>
                              <p:par>
                                <p:cTn id="75" presetID="53" presetClass="entr" presetSubtype="16" fill="hold" grpId="0" nodeType="withEffect">
                                  <p:stCondLst>
                                    <p:cond delay="1520"/>
                                  </p:stCondLst>
                                  <p:childTnLst>
                                    <p:set>
                                      <p:cBhvr>
                                        <p:cTn id="76" dur="1" fill="hold">
                                          <p:stCondLst>
                                            <p:cond delay="0"/>
                                          </p:stCondLst>
                                        </p:cTn>
                                        <p:tgtEl>
                                          <p:spTgt spid="21"/>
                                        </p:tgtEl>
                                        <p:attrNameLst>
                                          <p:attrName>style.visibility</p:attrName>
                                        </p:attrNameLst>
                                      </p:cBhvr>
                                      <p:to>
                                        <p:strVal val="visible"/>
                                      </p:to>
                                    </p:set>
                                    <p:anim calcmode="lin" valueType="num">
                                      <p:cBhvr additive="base">
                                        <p:cTn id="72" dur="550" fill="hold"/>
                                        <p:tgtEl>
                                          <p:spTgt spid="21"/>
                                        </p:tgtEl>
                                        <p:attrNameLst>
                                          <p:attrName>ppt_w</p:attrName>
                                        </p:attrNameLst>
                                      </p:cBhvr>
                                      <p:tavLst>
                                        <p:tav tm="0">
                                          <p:val>
                                            <p:strVal val="0"/>
                                          </p:val>
                                        </p:tav>
                                        <p:tav tm="100000">
                                          <p:val>
                                            <p:strVal val="#ppt_w"/>
                                          </p:val>
                                        </p:tav>
                                      </p:tavLst>
                                    </p:anim>
                                    <p:anim calcmode="lin" valueType="num">
                                      <p:cBhvr additive="base">
                                        <p:cTn id="73" dur="550" fill="hold"/>
                                        <p:tgtEl>
                                          <p:spTgt spid="21"/>
                                        </p:tgtEl>
                                        <p:attrNameLst>
                                          <p:attrName>ppt_h</p:attrName>
                                        </p:attrNameLst>
                                      </p:cBhvr>
                                      <p:tavLst>
                                        <p:tav tm="0">
                                          <p:val>
                                            <p:strVal val="0"/>
                                          </p:val>
                                        </p:tav>
                                        <p:tav tm="100000">
                                          <p:val>
                                            <p:strVal val="#ppt_h"/>
                                          </p:val>
                                        </p:tav>
                                      </p:tavLst>
                                    </p:anim>
                                    <p:animEffect transition="in" filter="fade">
                                      <p:cBhvr>
                                        <p:cTn id="74" dur="550"/>
                                        <p:tgtEl>
                                          <p:spTgt spid="21"/>
                                        </p:tgtEl>
                                      </p:cBhvr>
                                    </p:animEffect>
                                  </p:childTnLst>
                                </p:cTn>
                              </p:par>
                              <p:par>
                                <p:cTn id="80" presetID="53" presetClass="entr" presetSubtype="16" fill="hold" grpId="0" nodeType="withEffect">
                                  <p:stCondLst>
                                    <p:cond delay="1520"/>
                                  </p:stCondLst>
                                  <p:childTnLst>
                                    <p:set>
                                      <p:cBhvr>
                                        <p:cTn id="81" dur="1" fill="hold">
                                          <p:stCondLst>
                                            <p:cond delay="0"/>
                                          </p:stCondLst>
                                        </p:cTn>
                                        <p:tgtEl>
                                          <p:spTgt spid="22"/>
                                        </p:tgtEl>
                                        <p:attrNameLst>
                                          <p:attrName>style.visibility</p:attrName>
                                        </p:attrNameLst>
                                      </p:cBhvr>
                                      <p:to>
                                        <p:strVal val="visible"/>
                                      </p:to>
                                    </p:set>
                                    <p:anim calcmode="lin" valueType="num">
                                      <p:cBhvr additive="base">
                                        <p:cTn id="77" dur="550" fill="hold"/>
                                        <p:tgtEl>
                                          <p:spTgt spid="22"/>
                                        </p:tgtEl>
                                        <p:attrNameLst>
                                          <p:attrName>ppt_w</p:attrName>
                                        </p:attrNameLst>
                                      </p:cBhvr>
                                      <p:tavLst>
                                        <p:tav tm="0">
                                          <p:val>
                                            <p:strVal val="0"/>
                                          </p:val>
                                        </p:tav>
                                        <p:tav tm="100000">
                                          <p:val>
                                            <p:strVal val="#ppt_w"/>
                                          </p:val>
                                        </p:tav>
                                      </p:tavLst>
                                    </p:anim>
                                    <p:anim calcmode="lin" valueType="num">
                                      <p:cBhvr additive="base">
                                        <p:cTn id="78" dur="550" fill="hold"/>
                                        <p:tgtEl>
                                          <p:spTgt spid="22"/>
                                        </p:tgtEl>
                                        <p:attrNameLst>
                                          <p:attrName>ppt_h</p:attrName>
                                        </p:attrNameLst>
                                      </p:cBhvr>
                                      <p:tavLst>
                                        <p:tav tm="0">
                                          <p:val>
                                            <p:strVal val="0"/>
                                          </p:val>
                                        </p:tav>
                                        <p:tav tm="100000">
                                          <p:val>
                                            <p:strVal val="#ppt_h"/>
                                          </p:val>
                                        </p:tav>
                                      </p:tavLst>
                                    </p:anim>
                                    <p:animEffect transition="in" filter="fade">
                                      <p:cBhvr>
                                        <p:cTn id="79" dur="550"/>
                                        <p:tgtEl>
                                          <p:spTgt spid="22"/>
                                        </p:tgtEl>
                                      </p:cBhvr>
                                    </p:animEffect>
                                  </p:childTnLst>
                                </p:cTn>
                              </p:par>
                              <p:par>
                                <p:cTn id="85" presetID="53" presetClass="entr" presetSubtype="16" fill="hold" grpId="0" nodeType="withEffect">
                                  <p:stCondLst>
                                    <p:cond delay="1520"/>
                                  </p:stCondLst>
                                  <p:childTnLst>
                                    <p:set>
                                      <p:cBhvr>
                                        <p:cTn id="86" dur="1" fill="hold">
                                          <p:stCondLst>
                                            <p:cond delay="0"/>
                                          </p:stCondLst>
                                        </p:cTn>
                                        <p:tgtEl>
                                          <p:spTgt spid="23"/>
                                        </p:tgtEl>
                                        <p:attrNameLst>
                                          <p:attrName>style.visibility</p:attrName>
                                        </p:attrNameLst>
                                      </p:cBhvr>
                                      <p:to>
                                        <p:strVal val="visible"/>
                                      </p:to>
                                    </p:set>
                                    <p:anim calcmode="lin" valueType="num">
                                      <p:cBhvr additive="base">
                                        <p:cTn id="82" dur="550" fill="hold"/>
                                        <p:tgtEl>
                                          <p:spTgt spid="23"/>
                                        </p:tgtEl>
                                        <p:attrNameLst>
                                          <p:attrName>ppt_w</p:attrName>
                                        </p:attrNameLst>
                                      </p:cBhvr>
                                      <p:tavLst>
                                        <p:tav tm="0">
                                          <p:val>
                                            <p:strVal val="0"/>
                                          </p:val>
                                        </p:tav>
                                        <p:tav tm="100000">
                                          <p:val>
                                            <p:strVal val="#ppt_w"/>
                                          </p:val>
                                        </p:tav>
                                      </p:tavLst>
                                    </p:anim>
                                    <p:anim calcmode="lin" valueType="num">
                                      <p:cBhvr additive="base">
                                        <p:cTn id="83" dur="550" fill="hold"/>
                                        <p:tgtEl>
                                          <p:spTgt spid="23"/>
                                        </p:tgtEl>
                                        <p:attrNameLst>
                                          <p:attrName>ppt_h</p:attrName>
                                        </p:attrNameLst>
                                      </p:cBhvr>
                                      <p:tavLst>
                                        <p:tav tm="0">
                                          <p:val>
                                            <p:strVal val="0"/>
                                          </p:val>
                                        </p:tav>
                                        <p:tav tm="100000">
                                          <p:val>
                                            <p:strVal val="#ppt_h"/>
                                          </p:val>
                                        </p:tav>
                                      </p:tavLst>
                                    </p:anim>
                                    <p:animEffect transition="in" filter="fade">
                                      <p:cBhvr>
                                        <p:cTn id="84" dur="550"/>
                                        <p:tgtEl>
                                          <p:spTgt spid="23"/>
                                        </p:tgtEl>
                                      </p:cBhvr>
                                    </p:animEffect>
                                  </p:childTnLst>
                                </p:cTn>
                              </p:par>
                              <p:par>
                                <p:cTn id="90" presetID="53" presetClass="entr" presetSubtype="16" fill="hold" grpId="0" nodeType="withEffect">
                                  <p:stCondLst>
                                    <p:cond delay="1520"/>
                                  </p:stCondLst>
                                  <p:childTnLst>
                                    <p:set>
                                      <p:cBhvr>
                                        <p:cTn id="91" dur="1" fill="hold">
                                          <p:stCondLst>
                                            <p:cond delay="0"/>
                                          </p:stCondLst>
                                        </p:cTn>
                                        <p:tgtEl>
                                          <p:spTgt spid="24"/>
                                        </p:tgtEl>
                                        <p:attrNameLst>
                                          <p:attrName>style.visibility</p:attrName>
                                        </p:attrNameLst>
                                      </p:cBhvr>
                                      <p:to>
                                        <p:strVal val="visible"/>
                                      </p:to>
                                    </p:set>
                                    <p:anim calcmode="lin" valueType="num">
                                      <p:cBhvr additive="base">
                                        <p:cTn id="87" dur="550" fill="hold"/>
                                        <p:tgtEl>
                                          <p:spTgt spid="24"/>
                                        </p:tgtEl>
                                        <p:attrNameLst>
                                          <p:attrName>ppt_w</p:attrName>
                                        </p:attrNameLst>
                                      </p:cBhvr>
                                      <p:tavLst>
                                        <p:tav tm="0">
                                          <p:val>
                                            <p:strVal val="0"/>
                                          </p:val>
                                        </p:tav>
                                        <p:tav tm="100000">
                                          <p:val>
                                            <p:strVal val="#ppt_w"/>
                                          </p:val>
                                        </p:tav>
                                      </p:tavLst>
                                    </p:anim>
                                    <p:anim calcmode="lin" valueType="num">
                                      <p:cBhvr additive="base">
                                        <p:cTn id="88" dur="550" fill="hold"/>
                                        <p:tgtEl>
                                          <p:spTgt spid="24"/>
                                        </p:tgtEl>
                                        <p:attrNameLst>
                                          <p:attrName>ppt_h</p:attrName>
                                        </p:attrNameLst>
                                      </p:cBhvr>
                                      <p:tavLst>
                                        <p:tav tm="0">
                                          <p:val>
                                            <p:strVal val="0"/>
                                          </p:val>
                                        </p:tav>
                                        <p:tav tm="100000">
                                          <p:val>
                                            <p:strVal val="#ppt_h"/>
                                          </p:val>
                                        </p:tav>
                                      </p:tavLst>
                                    </p:anim>
                                    <p:animEffect transition="in" filter="fade">
                                      <p:cBhvr>
                                        <p:cTn id="89" dur="550"/>
                                        <p:tgtEl>
                                          <p:spTgt spid="24"/>
                                        </p:tgtEl>
                                      </p:cBhvr>
                                    </p:animEffect>
                                  </p:childTnLst>
                                </p:cTn>
                              </p:par>
                              <p:par>
                                <p:cTn id="93" presetID="10" presetClass="entr" presetSubtype="0" fill="hold" grpId="0" nodeType="withEffect">
                                  <p:stCondLst>
                                    <p:cond delay="1520"/>
                                  </p:stCondLst>
                                  <p:childTnLst>
                                    <p:set>
                                      <p:cBhvr>
                                        <p:cTn id="94" dur="1" fill="hold">
                                          <p:stCondLst>
                                            <p:cond delay="0"/>
                                          </p:stCondLst>
                                        </p:cTn>
                                        <p:tgtEl>
                                          <p:spTgt spid="25"/>
                                        </p:tgtEl>
                                        <p:attrNameLst>
                                          <p:attrName>style.visibility</p:attrName>
                                        </p:attrNameLst>
                                      </p:cBhvr>
                                      <p:to>
                                        <p:strVal val="visible"/>
                                      </p:to>
                                    </p:set>
                                    <p:animEffect transition="in" filter="fade">
                                      <p:cBhvr>
                                        <p:cTn id="92" dur="600"/>
                                        <p:tgtEl>
                                          <p:spTgt spid="25"/>
                                        </p:tgtEl>
                                      </p:cBhvr>
                                    </p:animEffect>
                                  </p:childTnLst>
                                </p:cTn>
                              </p:par>
                              <p:par>
                                <p:cTn id="98" presetID="42" presetClass="entr" presetSubtype="0" fill="hold" grpId="0" nodeType="withEffect">
                                  <p:stCondLst>
                                    <p:cond delay="1900"/>
                                  </p:stCondLst>
                                  <p:childTnLst>
                                    <p:set>
                                      <p:cBhvr>
                                        <p:cTn id="99" dur="1" fill="hold">
                                          <p:stCondLst>
                                            <p:cond delay="0"/>
                                          </p:stCondLst>
                                        </p:cTn>
                                        <p:tgtEl>
                                          <p:spTgt spid="26"/>
                                        </p:tgtEl>
                                        <p:attrNameLst>
                                          <p:attrName>style.visibility</p:attrName>
                                        </p:attrNameLst>
                                      </p:cBhvr>
                                      <p:to>
                                        <p:strVal val="visible"/>
                                      </p:to>
                                    </p:set>
                                    <p:animEffect transition="in" filter="fade">
                                      <p:cBhvr>
                                        <p:cTn id="95" dur="700"/>
                                        <p:tgtEl>
                                          <p:spTgt spid="26"/>
                                        </p:tgtEl>
                                      </p:cBhvr>
                                    </p:animEffect>
                                    <p:anim calcmode="lin" valueType="num">
                                      <p:cBhvr additive="base">
                                        <p:cTn id="96" dur="700" fill="hold"/>
                                        <p:tgtEl>
                                          <p:spTgt spid="26"/>
                                        </p:tgtEl>
                                        <p:attrNameLst>
                                          <p:attrName>ppt_x</p:attrName>
                                        </p:attrNameLst>
                                      </p:cBhvr>
                                      <p:tavLst>
                                        <p:tav tm="0">
                                          <p:val>
                                            <p:strVal val="#ppt_x"/>
                                          </p:val>
                                        </p:tav>
                                        <p:tav tm="100000">
                                          <p:val>
                                            <p:strVal val="#ppt_x"/>
                                          </p:val>
                                        </p:tav>
                                      </p:tavLst>
                                    </p:anim>
                                    <p:anim calcmode="lin" valueType="num">
                                      <p:cBhvr additive="base">
                                        <p:cTn id="97" dur="700" fill="hold"/>
                                        <p:tgtEl>
                                          <p:spTgt spid="26"/>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4" grpId="0" animBg="1"/>
      <p:bldP spid="15" grpId="0" animBg="1"/>
      <p:bldP spid="19" grpId="0" animBg="1"/>
      <p:bldP spid="20" grpId="0" animBg="1"/>
      <p:bldP spid="24" grpId="0" animBg="1"/>
      <p:bldP spid="25" grpId="0" animBg="1"/>
      <p:bldP spid="2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A0-spin-97" descr="preencoded.png">    </p:cNvPr>
          <p:cNvPicPr>
            <a:picLocks noChangeAspect="1"/>
          </p:cNvPicPr>
          <p:nvPr/>
        </p:nvPicPr>
        <p:blipFill>
          <a:blip r:embed="rId2"/>
          <a:stretch>
            <a:fillRect/>
          </a:stretch>
        </p:blipFill>
        <p:spPr>
          <a:xfrm>
            <a:off x="5120640" y="548640"/>
            <a:ext cx="4023360" cy="4023360"/>
          </a:xfrm>
          <a:prstGeom prst="rect">
            <a:avLst/>
          </a:prstGeom>
        </p:spPr>
      </p:pic>
      <p:sp>
        <p:nvSpPr>
          <p:cNvPr id="3" name="A1-zoom-98"/>
          <p:cNvSpPr txBox="1"/>
          <p:nvPr/>
        </p:nvSpPr>
        <p:spPr>
          <a:xfrm>
            <a:off x="548640" y="685800"/>
            <a:ext cx="2743200" cy="1280160"/>
          </a:xfrm>
          <a:prstGeom prst="rect">
            <a:avLst/>
          </a:prstGeom>
          <a:noFill/>
          <a:ln/>
        </p:spPr>
        <p:txBody>
          <a:bodyPr wrap="square" lIns="0" tIns="0" rIns="0" bIns="0" rtlCol="0" anchor="t"/>
          <a:lstStyle/>
          <a:p>
            <a:pPr indent="0" marL="0">
              <a:buNone/>
            </a:pPr>
            <a:r>
              <a:rPr lang="en-US" sz="9600" b="1" dirty="0">
                <a:solidFill>
                  <a:srgbClr val="FFC21A"/>
                </a:solidFill>
                <a:latin typeface="Cambria" pitchFamily="34" charset="0"/>
                <a:ea typeface="Cambria" pitchFamily="34" charset="-122"/>
                <a:cs typeface="Cambria" pitchFamily="34" charset="-120"/>
              </a:rPr>
              <a:t>I</a:t>
            </a:r>
            <a:endParaRPr lang="en-US" sz="9600" dirty="0"/>
          </a:p>
        </p:txBody>
      </p:sp>
      <p:sp>
        <p:nvSpPr>
          <p:cNvPr id="4" name="A2-fadeup-99"/>
          <p:cNvSpPr txBox="1"/>
          <p:nvPr/>
        </p:nvSpPr>
        <p:spPr>
          <a:xfrm>
            <a:off x="548640" y="1965960"/>
            <a:ext cx="5852160" cy="1188720"/>
          </a:xfrm>
          <a:prstGeom prst="rect">
            <a:avLst/>
          </a:prstGeom>
          <a:noFill/>
          <a:ln/>
        </p:spPr>
        <p:txBody>
          <a:bodyPr wrap="square" lIns="0" tIns="0" rIns="0" bIns="0" rtlCol="0" anchor="b"/>
          <a:lstStyle/>
          <a:p>
            <a:pPr indent="0" marL="0">
              <a:buNone/>
            </a:pPr>
            <a:r>
              <a:rPr lang="en-US" sz="2800" b="1" dirty="0">
                <a:solidFill>
                  <a:srgbClr val="FFFFFF"/>
                </a:solidFill>
                <a:latin typeface="Cambria" pitchFamily="34" charset="0"/>
                <a:ea typeface="Cambria" pitchFamily="34" charset="-122"/>
                <a:cs typeface="Cambria" pitchFamily="34" charset="-120"/>
              </a:rPr>
              <a:t>Zone de libre-échange ou marché unique : quelle différence ?</a:t>
            </a:r>
            <a:endParaRPr lang="en-US" sz="2800" dirty="0"/>
          </a:p>
        </p:txBody>
      </p:sp>
      <p:sp>
        <p:nvSpPr>
          <p:cNvPr id="5" name="A3-fadeleft-100"/>
          <p:cNvSpPr txBox="1"/>
          <p:nvPr/>
        </p:nvSpPr>
        <p:spPr>
          <a:xfrm>
            <a:off x="548640" y="3337560"/>
            <a:ext cx="5943600" cy="292608"/>
          </a:xfrm>
          <a:prstGeom prst="rect">
            <a:avLst/>
          </a:prstGeom>
          <a:noFill/>
          <a:ln/>
        </p:spPr>
        <p:txBody>
          <a:bodyPr wrap="square" lIns="0" tIns="0" rIns="0" bIns="0" rtlCol="0" anchor="t"/>
          <a:lstStyle/>
          <a:p>
            <a:pPr indent="0" marL="0">
              <a:buNone/>
            </a:pPr>
            <a:r>
              <a:rPr lang="en-US" sz="1400" b="1" dirty="0">
                <a:solidFill>
                  <a:srgbClr val="FFC21A"/>
                </a:solidFill>
                <a:latin typeface="Calibri" pitchFamily="34" charset="0"/>
                <a:ea typeface="Calibri" pitchFamily="34" charset="-122"/>
                <a:cs typeface="Calibri" pitchFamily="34" charset="-120"/>
              </a:rPr>
              <a:t>1.1  </a:t>
            </a:r>
            <a:pPr indent="0" marL="0">
              <a:buNone/>
            </a:pPr>
            <a:r>
              <a:rPr lang="en-US" sz="1400" dirty="0">
                <a:solidFill>
                  <a:srgbClr val="D5DDF0"/>
                </a:solidFill>
                <a:latin typeface="Calibri" pitchFamily="34" charset="0"/>
                <a:ea typeface="Calibri" pitchFamily="34" charset="-122"/>
                <a:cs typeface="Calibri" pitchFamily="34" charset="-120"/>
              </a:rPr>
              <a:t>La classification de Balassa</a:t>
            </a:r>
            <a:endParaRPr lang="en-US" sz="1400" dirty="0"/>
          </a:p>
        </p:txBody>
      </p:sp>
      <p:sp>
        <p:nvSpPr>
          <p:cNvPr id="6" name="A4-fadeleft-101"/>
          <p:cNvSpPr txBox="1"/>
          <p:nvPr/>
        </p:nvSpPr>
        <p:spPr>
          <a:xfrm>
            <a:off x="548640" y="3666744"/>
            <a:ext cx="5943600" cy="292608"/>
          </a:xfrm>
          <a:prstGeom prst="rect">
            <a:avLst/>
          </a:prstGeom>
          <a:noFill/>
          <a:ln/>
        </p:spPr>
        <p:txBody>
          <a:bodyPr wrap="square" lIns="0" tIns="0" rIns="0" bIns="0" rtlCol="0" anchor="t"/>
          <a:lstStyle/>
          <a:p>
            <a:pPr indent="0" marL="0">
              <a:buNone/>
            </a:pPr>
            <a:r>
              <a:rPr lang="en-US" sz="1400" b="1" dirty="0">
                <a:solidFill>
                  <a:srgbClr val="FFC21A"/>
                </a:solidFill>
                <a:latin typeface="Calibri" pitchFamily="34" charset="0"/>
                <a:ea typeface="Calibri" pitchFamily="34" charset="-122"/>
                <a:cs typeface="Calibri" pitchFamily="34" charset="-120"/>
              </a:rPr>
              <a:t>1.2  </a:t>
            </a:r>
            <a:pPr indent="0" marL="0">
              <a:buNone/>
            </a:pPr>
            <a:r>
              <a:rPr lang="en-US" sz="1400" dirty="0">
                <a:solidFill>
                  <a:srgbClr val="D5DDF0"/>
                </a:solidFill>
                <a:latin typeface="Calibri" pitchFamily="34" charset="0"/>
                <a:ea typeface="Calibri" pitchFamily="34" charset="-122"/>
                <a:cs typeface="Calibri" pitchFamily="34" charset="-120"/>
              </a:rPr>
              <a:t>Ce que le marché unique change vraiment</a:t>
            </a:r>
            <a:endParaRPr lang="en-US" sz="1400" dirty="0"/>
          </a:p>
        </p:txBody>
      </p:sp>
    </p:spTree>
  </p:cSld>
  <p:clrMapOvr>
    <a:masterClrMapping/>
  </p:clrMapOvr>
  <mc:AlternateContent xmlns:mc="http://schemas.openxmlformats.org/markup-compatibility/2006">
    <mc:Choice xmlns:p14="http://schemas.microsoft.com/office/powerpoint/2010/main" Requires="p14">
      <p:transition spd="slow" p14:dur="2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29" fill="hold">
                      <p:stCondLst>
                        <p:cond delay="indefinite"/>
                        <p:cond evt="onBegin" delay="0">
                          <p:tn val="2"/>
                        </p:cond>
                      </p:stCondLst>
                      <p:childTnLst>
                        <p:par>
                          <p:cTn id="30" fill="hold">
                            <p:stCondLst>
                              <p:cond delay="0"/>
                            </p:stCondLst>
                            <p:childTnLst>
                              <p:par>
                                <p:cTn id="7" presetID="3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anim calcmode="lin" valueType="num">
                                      <p:cBhvr additive="base">
                                        <p:cTn id="3" dur="1600" fill="hold"/>
                                        <p:tgtEl>
                                          <p:spTgt spid="2"/>
                                        </p:tgtEl>
                                        <p:attrNameLst>
                                          <p:attrName>ppt_w</p:attrName>
                                        </p:attrNameLst>
                                      </p:cBhvr>
                                      <p:tavLst>
                                        <p:tav tm="0">
                                          <p:val>
                                            <p:strVal val="#ppt_w*0.4"/>
                                          </p:val>
                                        </p:tav>
                                        <p:tav tm="100000">
                                          <p:val>
                                            <p:strVal val="#ppt_w"/>
                                          </p:val>
                                        </p:tav>
                                      </p:tavLst>
                                    </p:anim>
                                    <p:anim calcmode="lin" valueType="num">
                                      <p:cBhvr additive="base">
                                        <p:cTn id="4" dur="1600" fill="hold"/>
                                        <p:tgtEl>
                                          <p:spTgt spid="2"/>
                                        </p:tgtEl>
                                        <p:attrNameLst>
                                          <p:attrName>ppt_h</p:attrName>
                                        </p:attrNameLst>
                                      </p:cBhvr>
                                      <p:tavLst>
                                        <p:tav tm="0">
                                          <p:val>
                                            <p:strVal val="#ppt_h*0.4"/>
                                          </p:val>
                                        </p:tav>
                                        <p:tav tm="100000">
                                          <p:val>
                                            <p:strVal val="#ppt_h"/>
                                          </p:val>
                                        </p:tav>
                                      </p:tavLst>
                                    </p:anim>
                                    <p:anim calcmode="lin" valueType="num">
                                      <p:cBhvr additive="base">
                                        <p:cTn id="5" dur="1600" fill="hold"/>
                                        <p:tgtEl>
                                          <p:spTgt spid="2"/>
                                        </p:tgtEl>
                                        <p:attrNameLst>
                                          <p:attrName>style.rotation</p:attrName>
                                        </p:attrNameLst>
                                      </p:cBhvr>
                                      <p:tavLst>
                                        <p:tav tm="0">
                                          <p:val>
                                            <p:strVal val="-120"/>
                                          </p:val>
                                        </p:tav>
                                        <p:tav tm="100000">
                                          <p:val>
                                            <p:strVal val="0"/>
                                          </p:val>
                                        </p:tav>
                                      </p:tavLst>
                                    </p:anim>
                                    <p:animEffect transition="in" filter="fade">
                                      <p:cBhvr>
                                        <p:cTn id="6" dur="1600"/>
                                        <p:tgtEl>
                                          <p:spTgt spid="2"/>
                                        </p:tgtEl>
                                      </p:cBhvr>
                                    </p:animEffect>
                                  </p:childTnLst>
                                </p:cTn>
                              </p:par>
                              <p:par>
                                <p:cTn id="12" presetID="53" presetClass="entr" presetSubtype="16" fill="hold" grpId="0" nodeType="withEffect">
                                  <p:stCondLst>
                                    <p:cond delay="380"/>
                                  </p:stCondLst>
                                  <p:childTnLst>
                                    <p:set>
                                      <p:cBhvr>
                                        <p:cTn id="13" dur="1" fill="hold">
                                          <p:stCondLst>
                                            <p:cond delay="0"/>
                                          </p:stCondLst>
                                        </p:cTn>
                                        <p:tgtEl>
                                          <p:spTgt spid="3"/>
                                        </p:tgtEl>
                                        <p:attrNameLst>
                                          <p:attrName>style.visibility</p:attrName>
                                        </p:attrNameLst>
                                      </p:cBhvr>
                                      <p:to>
                                        <p:strVal val="visible"/>
                                      </p:to>
                                    </p:set>
                                    <p:anim calcmode="lin" valueType="num">
                                      <p:cBhvr additive="base">
                                        <p:cTn id="9" dur="550" fill="hold"/>
                                        <p:tgtEl>
                                          <p:spTgt spid="3"/>
                                        </p:tgtEl>
                                        <p:attrNameLst>
                                          <p:attrName>ppt_w</p:attrName>
                                        </p:attrNameLst>
                                      </p:cBhvr>
                                      <p:tavLst>
                                        <p:tav tm="0">
                                          <p:val>
                                            <p:strVal val="0"/>
                                          </p:val>
                                        </p:tav>
                                        <p:tav tm="100000">
                                          <p:val>
                                            <p:strVal val="#ppt_w"/>
                                          </p:val>
                                        </p:tav>
                                      </p:tavLst>
                                    </p:anim>
                                    <p:anim calcmode="lin" valueType="num">
                                      <p:cBhvr additive="base">
                                        <p:cTn id="10" dur="550" fill="hold"/>
                                        <p:tgtEl>
                                          <p:spTgt spid="3"/>
                                        </p:tgtEl>
                                        <p:attrNameLst>
                                          <p:attrName>ppt_h</p:attrName>
                                        </p:attrNameLst>
                                      </p:cBhvr>
                                      <p:tavLst>
                                        <p:tav tm="0">
                                          <p:val>
                                            <p:strVal val="0"/>
                                          </p:val>
                                        </p:tav>
                                        <p:tav tm="100000">
                                          <p:val>
                                            <p:strVal val="#ppt_h"/>
                                          </p:val>
                                        </p:tav>
                                      </p:tavLst>
                                    </p:anim>
                                    <p:animEffect transition="in" filter="fade">
                                      <p:cBhvr>
                                        <p:cTn id="11" dur="550"/>
                                        <p:tgtEl>
                                          <p:spTgt spid="3"/>
                                        </p:tgtEl>
                                      </p:cBhvr>
                                    </p:animEffect>
                                  </p:childTnLst>
                                </p:cTn>
                              </p:par>
                              <p:par>
                                <p:cTn id="17" presetID="42" presetClass="entr" presetSubtype="0" fill="hold" grpId="0" nodeType="withEffect">
                                  <p:stCondLst>
                                    <p:cond delay="760"/>
                                  </p:stCondLst>
                                  <p:childTnLst>
                                    <p:set>
                                      <p:cBhvr>
                                        <p:cTn id="18" dur="1" fill="hold">
                                          <p:stCondLst>
                                            <p:cond delay="0"/>
                                          </p:stCondLst>
                                        </p:cTn>
                                        <p:tgtEl>
                                          <p:spTgt spid="4"/>
                                        </p:tgtEl>
                                        <p:attrNameLst>
                                          <p:attrName>style.visibility</p:attrName>
                                        </p:attrNameLst>
                                      </p:cBhvr>
                                      <p:to>
                                        <p:strVal val="visible"/>
                                      </p:to>
                                    </p:set>
                                    <p:animEffect transition="in" filter="fade">
                                      <p:cBhvr>
                                        <p:cTn id="14" dur="700"/>
                                        <p:tgtEl>
                                          <p:spTgt spid="4"/>
                                        </p:tgtEl>
                                      </p:cBhvr>
                                    </p:animEffect>
                                    <p:anim calcmode="lin" valueType="num">
                                      <p:cBhvr additive="base">
                                        <p:cTn id="15" dur="700" fill="hold"/>
                                        <p:tgtEl>
                                          <p:spTgt spid="4"/>
                                        </p:tgtEl>
                                        <p:attrNameLst>
                                          <p:attrName>ppt_x</p:attrName>
                                        </p:attrNameLst>
                                      </p:cBhvr>
                                      <p:tavLst>
                                        <p:tav tm="0">
                                          <p:val>
                                            <p:strVal val="#ppt_x"/>
                                          </p:val>
                                        </p:tav>
                                        <p:tav tm="100000">
                                          <p:val>
                                            <p:strVal val="#ppt_x"/>
                                          </p:val>
                                        </p:tav>
                                      </p:tavLst>
                                    </p:anim>
                                    <p:anim calcmode="lin" valueType="num">
                                      <p:cBhvr additive="base">
                                        <p:cTn id="16" dur="700" fill="hold"/>
                                        <p:tgtEl>
                                          <p:spTgt spid="4"/>
                                        </p:tgtEl>
                                        <p:attrNameLst>
                                          <p:attrName>ppt_y</p:attrName>
                                        </p:attrNameLst>
                                      </p:cBhvr>
                                      <p:tavLst>
                                        <p:tav tm="0">
                                          <p:val>
                                            <p:strVal val="#ppt_y+.08"/>
                                          </p:val>
                                        </p:tav>
                                        <p:tav tm="100000">
                                          <p:val>
                                            <p:strVal val="#ppt_y"/>
                                          </p:val>
                                        </p:tav>
                                      </p:tavLst>
                                    </p:anim>
                                  </p:childTnLst>
                                </p:cTn>
                              </p:par>
                              <p:par>
                                <p:cTn id="22" presetID="42" presetClass="entr" presetSubtype="0" fill="hold" grpId="0" nodeType="withEffect">
                                  <p:stCondLst>
                                    <p:cond delay="1140"/>
                                  </p:stCondLst>
                                  <p:childTnLst>
                                    <p:set>
                                      <p:cBhvr>
                                        <p:cTn id="23" dur="1" fill="hold">
                                          <p:stCondLst>
                                            <p:cond delay="0"/>
                                          </p:stCondLst>
                                        </p:cTn>
                                        <p:tgtEl>
                                          <p:spTgt spid="5"/>
                                        </p:tgtEl>
                                        <p:attrNameLst>
                                          <p:attrName>style.visibility</p:attrName>
                                        </p:attrNameLst>
                                      </p:cBhvr>
                                      <p:to>
                                        <p:strVal val="visible"/>
                                      </p:to>
                                    </p:set>
                                    <p:animEffect transition="in" filter="fade">
                                      <p:cBhvr>
                                        <p:cTn id="19" dur="650"/>
                                        <p:tgtEl>
                                          <p:spTgt spid="5"/>
                                        </p:tgtEl>
                                      </p:cBhvr>
                                    </p:animEffect>
                                    <p:anim calcmode="lin" valueType="num">
                                      <p:cBhvr additive="base">
                                        <p:cTn id="20" dur="650" fill="hold"/>
                                        <p:tgtEl>
                                          <p:spTgt spid="5"/>
                                        </p:tgtEl>
                                        <p:attrNameLst>
                                          <p:attrName>ppt_x</p:attrName>
                                        </p:attrNameLst>
                                      </p:cBhvr>
                                      <p:tavLst>
                                        <p:tav tm="0">
                                          <p:val>
                                            <p:strVal val="#ppt_x-.06"/>
                                          </p:val>
                                        </p:tav>
                                        <p:tav tm="100000">
                                          <p:val>
                                            <p:strVal val="#ppt_x"/>
                                          </p:val>
                                        </p:tav>
                                      </p:tavLst>
                                    </p:anim>
                                    <p:anim calcmode="lin" valueType="num">
                                      <p:cBhvr additive="base">
                                        <p:cTn id="21" dur="650" fill="hold"/>
                                        <p:tgtEl>
                                          <p:spTgt spid="5"/>
                                        </p:tgtEl>
                                        <p:attrNameLst>
                                          <p:attrName>ppt_y</p:attrName>
                                        </p:attrNameLst>
                                      </p:cBhvr>
                                      <p:tavLst>
                                        <p:tav tm="0">
                                          <p:val>
                                            <p:strVal val="#ppt_y"/>
                                          </p:val>
                                        </p:tav>
                                        <p:tav tm="100000">
                                          <p:val>
                                            <p:strVal val="#ppt_y"/>
                                          </p:val>
                                        </p:tav>
                                      </p:tavLst>
                                    </p:anim>
                                  </p:childTnLst>
                                </p:cTn>
                              </p:par>
                              <p:par>
                                <p:cTn id="27" presetID="42" presetClass="entr" presetSubtype="0" fill="hold" grpId="0" nodeType="withEffect">
                                  <p:stCondLst>
                                    <p:cond delay="1520"/>
                                  </p:stCondLst>
                                  <p:childTnLst>
                                    <p:set>
                                      <p:cBhvr>
                                        <p:cTn id="28" dur="1" fill="hold">
                                          <p:stCondLst>
                                            <p:cond delay="0"/>
                                          </p:stCondLst>
                                        </p:cTn>
                                        <p:tgtEl>
                                          <p:spTgt spid="6"/>
                                        </p:tgtEl>
                                        <p:attrNameLst>
                                          <p:attrName>style.visibility</p:attrName>
                                        </p:attrNameLst>
                                      </p:cBhvr>
                                      <p:to>
                                        <p:strVal val="visible"/>
                                      </p:to>
                                    </p:set>
                                    <p:animEffect transition="in" filter="fade">
                                      <p:cBhvr>
                                        <p:cTn id="24" dur="650"/>
                                        <p:tgtEl>
                                          <p:spTgt spid="6"/>
                                        </p:tgtEl>
                                      </p:cBhvr>
                                    </p:animEffect>
                                    <p:anim calcmode="lin" valueType="num">
                                      <p:cBhvr additive="base">
                                        <p:cTn id="25" dur="650" fill="hold"/>
                                        <p:tgtEl>
                                          <p:spTgt spid="6"/>
                                        </p:tgtEl>
                                        <p:attrNameLst>
                                          <p:attrName>ppt_x</p:attrName>
                                        </p:attrNameLst>
                                      </p:cBhvr>
                                      <p:tavLst>
                                        <p:tav tm="0">
                                          <p:val>
                                            <p:strVal val="#ppt_x-.06"/>
                                          </p:val>
                                        </p:tav>
                                        <p:tav tm="100000">
                                          <p:val>
                                            <p:strVal val="#ppt_x"/>
                                          </p:val>
                                        </p:tav>
                                      </p:tavLst>
                                    </p:anim>
                                    <p:anim calcmode="lin" valueType="num">
                                      <p:cBhvr additive="base">
                                        <p:cTn id="26" dur="65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7406640" y="-1005840"/>
            <a:ext cx="2560320" cy="2560320"/>
          </a:xfrm>
          <a:prstGeom prst="rect">
            <a:avLst/>
          </a:prstGeom>
        </p:spPr>
      </p:pic>
      <p:sp>
        <p:nvSpPr>
          <p:cNvPr id="3" name="Text 0"/>
          <p:cNvSpPr txBox="1"/>
          <p:nvPr/>
        </p:nvSpPr>
        <p:spPr>
          <a:xfrm>
            <a:off x="457200" y="274320"/>
            <a:ext cx="6858000" cy="228600"/>
          </a:xfrm>
          <a:prstGeom prst="rect">
            <a:avLst/>
          </a:prstGeom>
          <a:noFill/>
          <a:ln/>
        </p:spPr>
        <p:txBody>
          <a:bodyPr wrap="square" lIns="0" tIns="0" rIns="0" bIns="0" rtlCol="0" anchor="t"/>
          <a:lstStyle/>
          <a:p>
            <a:pPr indent="0" marL="0">
              <a:buNone/>
            </a:pPr>
            <a:r>
              <a:rPr lang="en-US" sz="1050" b="1" spc="200" kern="0" dirty="0">
                <a:solidFill>
                  <a:srgbClr val="1F4FA8"/>
                </a:solidFill>
                <a:latin typeface="Calibri" pitchFamily="34" charset="0"/>
                <a:ea typeface="Calibri" pitchFamily="34" charset="-122"/>
                <a:cs typeface="Calibri" pitchFamily="34" charset="-120"/>
              </a:rPr>
              <a:t>I · 1.1 — BELA BALASSA (1961)</a:t>
            </a:r>
            <a:endParaRPr lang="en-US" sz="1050" dirty="0"/>
          </a:p>
        </p:txBody>
      </p:sp>
      <p:sp>
        <p:nvSpPr>
          <p:cNvPr id="4" name="Text 1"/>
          <p:cNvSpPr txBox="1"/>
          <p:nvPr/>
        </p:nvSpPr>
        <p:spPr>
          <a:xfrm>
            <a:off x="457200" y="502920"/>
            <a:ext cx="7863840" cy="548640"/>
          </a:xfrm>
          <a:prstGeom prst="rect">
            <a:avLst/>
          </a:prstGeom>
          <a:noFill/>
          <a:ln/>
        </p:spPr>
        <p:txBody>
          <a:bodyPr wrap="square" lIns="0" tIns="0" rIns="0" bIns="0" rtlCol="0" anchor="ctr"/>
          <a:lstStyle/>
          <a:p>
            <a:pPr indent="0" marL="0">
              <a:buNone/>
            </a:pPr>
            <a:r>
              <a:rPr lang="en-US" sz="2600" b="1" dirty="0">
                <a:solidFill>
                  <a:srgbClr val="0B1F4B"/>
                </a:solidFill>
                <a:latin typeface="Cambria" pitchFamily="34" charset="0"/>
                <a:ea typeface="Cambria" pitchFamily="34" charset="-122"/>
                <a:cs typeface="Cambria" pitchFamily="34" charset="-120"/>
              </a:rPr>
              <a:t>Cinq niveaux d'intégration économique</a:t>
            </a:r>
            <a:endParaRPr lang="en-US" sz="2600" dirty="0"/>
          </a:p>
        </p:txBody>
      </p:sp>
      <p:sp>
        <p:nvSpPr>
          <p:cNvPr id="5" name="Text 2"/>
          <p:cNvSpPr txBox="1"/>
          <p:nvPr/>
        </p:nvSpPr>
        <p:spPr>
          <a:xfrm>
            <a:off x="8321040" y="4773168"/>
            <a:ext cx="365760" cy="228600"/>
          </a:xfrm>
          <a:prstGeom prst="rect">
            <a:avLst/>
          </a:prstGeom>
          <a:noFill/>
          <a:ln/>
        </p:spPr>
        <p:txBody>
          <a:bodyPr wrap="square" lIns="0" tIns="0" rIns="0" bIns="0" rtlCol="0" anchor="t"/>
          <a:lstStyle/>
          <a:p>
            <a:pPr algn="r" indent="0" marL="0">
              <a:buNone/>
            </a:pPr>
            <a:r>
              <a:rPr lang="en-US" sz="1000" dirty="0">
                <a:solidFill>
                  <a:srgbClr val="5B6478"/>
                </a:solidFill>
                <a:latin typeface="Calibri" pitchFamily="34" charset="0"/>
                <a:ea typeface="Calibri" pitchFamily="34" charset="-122"/>
                <a:cs typeface="Calibri" pitchFamily="34" charset="-120"/>
              </a:rPr>
              <a:t>7</a:t>
            </a:r>
            <a:endParaRPr lang="en-US" sz="1000" dirty="0"/>
          </a:p>
        </p:txBody>
      </p:sp>
      <p:sp>
        <p:nvSpPr>
          <p:cNvPr id="6" name="A1-rise-102"/>
          <p:cNvSpPr/>
          <p:nvPr/>
        </p:nvSpPr>
        <p:spPr>
          <a:xfrm>
            <a:off x="457200" y="3246120"/>
            <a:ext cx="1481328" cy="1325880"/>
          </a:xfrm>
          <a:prstGeom prst="rect">
            <a:avLst/>
          </a:prstGeom>
          <a:solidFill>
            <a:srgbClr val="13306E"/>
          </a:solidFill>
          <a:ln w="12700">
            <a:solidFill>
              <a:srgbClr val="FFFFFF"/>
            </a:solidFill>
            <a:prstDash val="solid"/>
          </a:ln>
        </p:spPr>
      </p:sp>
      <p:sp>
        <p:nvSpPr>
          <p:cNvPr id="7" name="A1-fade-103"/>
          <p:cNvSpPr txBox="1"/>
          <p:nvPr/>
        </p:nvSpPr>
        <p:spPr>
          <a:xfrm>
            <a:off x="548640" y="3319272"/>
            <a:ext cx="457200" cy="411480"/>
          </a:xfrm>
          <a:prstGeom prst="rect">
            <a:avLst/>
          </a:prstGeom>
          <a:noFill/>
          <a:ln/>
        </p:spPr>
        <p:txBody>
          <a:bodyPr wrap="square" lIns="0" tIns="0" rIns="0" bIns="0" rtlCol="0" anchor="t"/>
          <a:lstStyle/>
          <a:p>
            <a:pPr indent="0" marL="0">
              <a:buNone/>
            </a:pPr>
            <a:r>
              <a:rPr lang="en-US" sz="2400" b="1" dirty="0">
                <a:solidFill>
                  <a:srgbClr val="FFC21A"/>
                </a:solidFill>
                <a:latin typeface="Cambria" pitchFamily="34" charset="0"/>
                <a:ea typeface="Cambria" pitchFamily="34" charset="-122"/>
                <a:cs typeface="Cambria" pitchFamily="34" charset="-120"/>
              </a:rPr>
              <a:t>1</a:t>
            </a:r>
            <a:endParaRPr lang="en-US" sz="2400" dirty="0"/>
          </a:p>
        </p:txBody>
      </p:sp>
      <p:sp>
        <p:nvSpPr>
          <p:cNvPr id="8" name="A1-fade-104"/>
          <p:cNvSpPr txBox="1"/>
          <p:nvPr/>
        </p:nvSpPr>
        <p:spPr>
          <a:xfrm>
            <a:off x="548640" y="3703320"/>
            <a:ext cx="1298448" cy="45720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Zone de libre-échange</a:t>
            </a:r>
            <a:endParaRPr lang="en-US" sz="1200" dirty="0"/>
          </a:p>
        </p:txBody>
      </p:sp>
      <p:sp>
        <p:nvSpPr>
          <p:cNvPr id="9" name="A1-fade-105"/>
          <p:cNvSpPr txBox="1"/>
          <p:nvPr/>
        </p:nvSpPr>
        <p:spPr>
          <a:xfrm>
            <a:off x="548640" y="4187952"/>
            <a:ext cx="1298448" cy="320040"/>
          </a:xfrm>
          <a:prstGeom prst="rect">
            <a:avLst/>
          </a:prstGeom>
          <a:noFill/>
          <a:ln/>
        </p:spPr>
        <p:txBody>
          <a:bodyPr wrap="square" lIns="0" tIns="0" rIns="0" bIns="0" rtlCol="0" anchor="t"/>
          <a:lstStyle/>
          <a:p>
            <a:pPr indent="0" marL="0">
              <a:buNone/>
            </a:pPr>
            <a:r>
              <a:rPr lang="en-US" sz="950" i="1" dirty="0">
                <a:solidFill>
                  <a:srgbClr val="C9D5F0"/>
                </a:solidFill>
                <a:latin typeface="Calibri" pitchFamily="34" charset="0"/>
                <a:ea typeface="Calibri" pitchFamily="34" charset="-122"/>
                <a:cs typeface="Calibri" pitchFamily="34" charset="-120"/>
              </a:rPr>
              <a:t>USMCA, ASEAN</a:t>
            </a:r>
            <a:endParaRPr lang="en-US" sz="950" dirty="0"/>
          </a:p>
        </p:txBody>
      </p:sp>
      <p:sp>
        <p:nvSpPr>
          <p:cNvPr id="10" name="A2-rise-106"/>
          <p:cNvSpPr/>
          <p:nvPr/>
        </p:nvSpPr>
        <p:spPr>
          <a:xfrm>
            <a:off x="2048256" y="2788920"/>
            <a:ext cx="1481328" cy="1783080"/>
          </a:xfrm>
          <a:prstGeom prst="rect">
            <a:avLst/>
          </a:prstGeom>
          <a:solidFill>
            <a:srgbClr val="13306E"/>
          </a:solidFill>
          <a:ln w="12700">
            <a:solidFill>
              <a:srgbClr val="FFFFFF"/>
            </a:solidFill>
            <a:prstDash val="solid"/>
          </a:ln>
        </p:spPr>
      </p:sp>
      <p:sp>
        <p:nvSpPr>
          <p:cNvPr id="11" name="A2-fade-107"/>
          <p:cNvSpPr txBox="1"/>
          <p:nvPr/>
        </p:nvSpPr>
        <p:spPr>
          <a:xfrm>
            <a:off x="2139696" y="2862072"/>
            <a:ext cx="457200" cy="411480"/>
          </a:xfrm>
          <a:prstGeom prst="rect">
            <a:avLst/>
          </a:prstGeom>
          <a:noFill/>
          <a:ln/>
        </p:spPr>
        <p:txBody>
          <a:bodyPr wrap="square" lIns="0" tIns="0" rIns="0" bIns="0" rtlCol="0" anchor="t"/>
          <a:lstStyle/>
          <a:p>
            <a:pPr indent="0" marL="0">
              <a:buNone/>
            </a:pPr>
            <a:r>
              <a:rPr lang="en-US" sz="2400" b="1" dirty="0">
                <a:solidFill>
                  <a:srgbClr val="FFC21A"/>
                </a:solidFill>
                <a:latin typeface="Cambria" pitchFamily="34" charset="0"/>
                <a:ea typeface="Cambria" pitchFamily="34" charset="-122"/>
                <a:cs typeface="Cambria" pitchFamily="34" charset="-120"/>
              </a:rPr>
              <a:t>2</a:t>
            </a:r>
            <a:endParaRPr lang="en-US" sz="2400" dirty="0"/>
          </a:p>
        </p:txBody>
      </p:sp>
      <p:sp>
        <p:nvSpPr>
          <p:cNvPr id="12" name="A2-fade-108"/>
          <p:cNvSpPr txBox="1"/>
          <p:nvPr/>
        </p:nvSpPr>
        <p:spPr>
          <a:xfrm>
            <a:off x="2139696" y="3246120"/>
            <a:ext cx="1298448" cy="45720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Union douanière</a:t>
            </a:r>
            <a:endParaRPr lang="en-US" sz="1200" dirty="0"/>
          </a:p>
        </p:txBody>
      </p:sp>
      <p:sp>
        <p:nvSpPr>
          <p:cNvPr id="13" name="A2-fade-109"/>
          <p:cNvSpPr txBox="1"/>
          <p:nvPr/>
        </p:nvSpPr>
        <p:spPr>
          <a:xfrm>
            <a:off x="2139696" y="4187952"/>
            <a:ext cx="1298448" cy="320040"/>
          </a:xfrm>
          <a:prstGeom prst="rect">
            <a:avLst/>
          </a:prstGeom>
          <a:noFill/>
          <a:ln/>
        </p:spPr>
        <p:txBody>
          <a:bodyPr wrap="square" lIns="0" tIns="0" rIns="0" bIns="0" rtlCol="0" anchor="t"/>
          <a:lstStyle/>
          <a:p>
            <a:pPr indent="0" marL="0">
              <a:buNone/>
            </a:pPr>
            <a:r>
              <a:rPr lang="en-US" sz="950" i="1" dirty="0">
                <a:solidFill>
                  <a:srgbClr val="C9D5F0"/>
                </a:solidFill>
                <a:latin typeface="Calibri" pitchFamily="34" charset="0"/>
                <a:ea typeface="Calibri" pitchFamily="34" charset="-122"/>
                <a:cs typeface="Calibri" pitchFamily="34" charset="-120"/>
              </a:rPr>
              <a:t>UE en 1968, Mercosur</a:t>
            </a:r>
            <a:endParaRPr lang="en-US" sz="950" dirty="0"/>
          </a:p>
        </p:txBody>
      </p:sp>
      <p:sp>
        <p:nvSpPr>
          <p:cNvPr id="14" name="A2-fade-110"/>
          <p:cNvSpPr txBox="1"/>
          <p:nvPr/>
        </p:nvSpPr>
        <p:spPr>
          <a:xfrm>
            <a:off x="2139696" y="3703320"/>
            <a:ext cx="1298448" cy="640080"/>
          </a:xfrm>
          <a:prstGeom prst="rect">
            <a:avLst/>
          </a:prstGeom>
          <a:noFill/>
          <a:ln/>
        </p:spPr>
        <p:txBody>
          <a:bodyPr wrap="square" lIns="0" tIns="0" rIns="0" bIns="0" rtlCol="0" anchor="t"/>
          <a:lstStyle/>
          <a:p>
            <a:pPr indent="0" marL="0">
              <a:buNone/>
            </a:pPr>
            <a:r>
              <a:rPr lang="en-US" sz="950" dirty="0">
                <a:solidFill>
                  <a:srgbClr val="E1E8F7"/>
                </a:solidFill>
                <a:latin typeface="Calibri" pitchFamily="34" charset="0"/>
                <a:ea typeface="Calibri" pitchFamily="34" charset="-122"/>
                <a:cs typeface="Calibri" pitchFamily="34" charset="-120"/>
              </a:rPr>
              <a:t>+ tarif extérieur commun</a:t>
            </a:r>
            <a:endParaRPr lang="en-US" sz="950" dirty="0"/>
          </a:p>
        </p:txBody>
      </p:sp>
      <p:sp>
        <p:nvSpPr>
          <p:cNvPr id="15" name="A3-rise-111"/>
          <p:cNvSpPr/>
          <p:nvPr/>
        </p:nvSpPr>
        <p:spPr>
          <a:xfrm>
            <a:off x="3639312" y="2331720"/>
            <a:ext cx="1481328" cy="2240280"/>
          </a:xfrm>
          <a:prstGeom prst="rect">
            <a:avLst/>
          </a:prstGeom>
          <a:solidFill>
            <a:srgbClr val="FFC21A"/>
          </a:solidFill>
          <a:ln w="12700">
            <a:solidFill>
              <a:srgbClr val="FFFFFF"/>
            </a:solidFill>
            <a:prstDash val="solid"/>
          </a:ln>
        </p:spPr>
      </p:sp>
      <p:sp>
        <p:nvSpPr>
          <p:cNvPr id="16" name="A3-fade-112"/>
          <p:cNvSpPr txBox="1"/>
          <p:nvPr/>
        </p:nvSpPr>
        <p:spPr>
          <a:xfrm>
            <a:off x="3730752" y="2404872"/>
            <a:ext cx="457200" cy="411480"/>
          </a:xfrm>
          <a:prstGeom prst="rect">
            <a:avLst/>
          </a:prstGeom>
          <a:noFill/>
          <a:ln/>
        </p:spPr>
        <p:txBody>
          <a:bodyPr wrap="square" lIns="0" tIns="0" rIns="0" bIns="0" rtlCol="0" anchor="t"/>
          <a:lstStyle/>
          <a:p>
            <a:pPr indent="0" marL="0">
              <a:buNone/>
            </a:pPr>
            <a:r>
              <a:rPr lang="en-US" sz="2400" b="1" dirty="0">
                <a:solidFill>
                  <a:srgbClr val="0B1F4B"/>
                </a:solidFill>
                <a:latin typeface="Cambria" pitchFamily="34" charset="0"/>
                <a:ea typeface="Cambria" pitchFamily="34" charset="-122"/>
                <a:cs typeface="Cambria" pitchFamily="34" charset="-120"/>
              </a:rPr>
              <a:t>3</a:t>
            </a:r>
            <a:endParaRPr lang="en-US" sz="2400" dirty="0"/>
          </a:p>
        </p:txBody>
      </p:sp>
      <p:sp>
        <p:nvSpPr>
          <p:cNvPr id="17" name="A3-fade-113"/>
          <p:cNvSpPr txBox="1"/>
          <p:nvPr/>
        </p:nvSpPr>
        <p:spPr>
          <a:xfrm>
            <a:off x="3730752" y="2788920"/>
            <a:ext cx="1298448" cy="457200"/>
          </a:xfrm>
          <a:prstGeom prst="rect">
            <a:avLst/>
          </a:prstGeom>
          <a:noFill/>
          <a:ln/>
        </p:spPr>
        <p:txBody>
          <a:bodyPr wrap="square" lIns="0" tIns="0" rIns="0" bIns="0" rtlCol="0" anchor="t"/>
          <a:lstStyle/>
          <a:p>
            <a:pPr indent="0" marL="0">
              <a:buNone/>
            </a:pPr>
            <a:r>
              <a:rPr lang="en-US" sz="1200" b="1" dirty="0">
                <a:solidFill>
                  <a:srgbClr val="0B1F4B"/>
                </a:solidFill>
                <a:latin typeface="Calibri" pitchFamily="34" charset="0"/>
                <a:ea typeface="Calibri" pitchFamily="34" charset="-122"/>
                <a:cs typeface="Calibri" pitchFamily="34" charset="-120"/>
              </a:rPr>
              <a:t>Marché unique</a:t>
            </a:r>
            <a:endParaRPr lang="en-US" sz="1200" dirty="0"/>
          </a:p>
        </p:txBody>
      </p:sp>
      <p:sp>
        <p:nvSpPr>
          <p:cNvPr id="18" name="A3-fade-114"/>
          <p:cNvSpPr txBox="1"/>
          <p:nvPr/>
        </p:nvSpPr>
        <p:spPr>
          <a:xfrm>
            <a:off x="3730752" y="4187952"/>
            <a:ext cx="1298448" cy="320040"/>
          </a:xfrm>
          <a:prstGeom prst="rect">
            <a:avLst/>
          </a:prstGeom>
          <a:noFill/>
          <a:ln/>
        </p:spPr>
        <p:txBody>
          <a:bodyPr wrap="square" lIns="0" tIns="0" rIns="0" bIns="0" rtlCol="0" anchor="t"/>
          <a:lstStyle/>
          <a:p>
            <a:pPr indent="0" marL="0">
              <a:buNone/>
            </a:pPr>
            <a:r>
              <a:rPr lang="en-US" sz="950" i="1" dirty="0">
                <a:solidFill>
                  <a:srgbClr val="0B1F4B"/>
                </a:solidFill>
                <a:latin typeface="Calibri" pitchFamily="34" charset="0"/>
                <a:ea typeface="Calibri" pitchFamily="34" charset="-122"/>
                <a:cs typeface="Calibri" pitchFamily="34" charset="-120"/>
              </a:rPr>
              <a:t>UE depuis 1993, EEE</a:t>
            </a:r>
            <a:endParaRPr lang="en-US" sz="950" dirty="0"/>
          </a:p>
        </p:txBody>
      </p:sp>
      <p:sp>
        <p:nvSpPr>
          <p:cNvPr id="19" name="A3-fade-115"/>
          <p:cNvSpPr txBox="1"/>
          <p:nvPr/>
        </p:nvSpPr>
        <p:spPr>
          <a:xfrm>
            <a:off x="3730752" y="3246120"/>
            <a:ext cx="1298448" cy="640080"/>
          </a:xfrm>
          <a:prstGeom prst="rect">
            <a:avLst/>
          </a:prstGeom>
          <a:noFill/>
          <a:ln/>
        </p:spPr>
        <p:txBody>
          <a:bodyPr wrap="square" lIns="0" tIns="0" rIns="0" bIns="0" rtlCol="0" anchor="t"/>
          <a:lstStyle/>
          <a:p>
            <a:pPr indent="0" marL="0">
              <a:buNone/>
            </a:pPr>
            <a:r>
              <a:rPr lang="en-US" sz="950" dirty="0">
                <a:solidFill>
                  <a:srgbClr val="0B1F4B"/>
                </a:solidFill>
                <a:latin typeface="Calibri" pitchFamily="34" charset="0"/>
                <a:ea typeface="Calibri" pitchFamily="34" charset="-122"/>
                <a:cs typeface="Calibri" pitchFamily="34" charset="-120"/>
              </a:rPr>
              <a:t>+ libre circulation services, capitaux, personnes</a:t>
            </a:r>
            <a:endParaRPr lang="en-US" sz="950" dirty="0"/>
          </a:p>
        </p:txBody>
      </p:sp>
      <p:sp>
        <p:nvSpPr>
          <p:cNvPr id="20" name="A4-rise-116"/>
          <p:cNvSpPr/>
          <p:nvPr/>
        </p:nvSpPr>
        <p:spPr>
          <a:xfrm>
            <a:off x="5230368" y="1874520"/>
            <a:ext cx="1481328" cy="2697480"/>
          </a:xfrm>
          <a:prstGeom prst="rect">
            <a:avLst/>
          </a:prstGeom>
          <a:solidFill>
            <a:srgbClr val="1F4FA8"/>
          </a:solidFill>
          <a:ln w="12700">
            <a:solidFill>
              <a:srgbClr val="FFFFFF"/>
            </a:solidFill>
            <a:prstDash val="solid"/>
          </a:ln>
        </p:spPr>
      </p:sp>
      <p:sp>
        <p:nvSpPr>
          <p:cNvPr id="21" name="A4-fade-117"/>
          <p:cNvSpPr txBox="1"/>
          <p:nvPr/>
        </p:nvSpPr>
        <p:spPr>
          <a:xfrm>
            <a:off x="5321808" y="1947672"/>
            <a:ext cx="457200" cy="411480"/>
          </a:xfrm>
          <a:prstGeom prst="rect">
            <a:avLst/>
          </a:prstGeom>
          <a:noFill/>
          <a:ln/>
        </p:spPr>
        <p:txBody>
          <a:bodyPr wrap="square" lIns="0" tIns="0" rIns="0" bIns="0" rtlCol="0" anchor="t"/>
          <a:lstStyle/>
          <a:p>
            <a:pPr indent="0" marL="0">
              <a:buNone/>
            </a:pPr>
            <a:r>
              <a:rPr lang="en-US" sz="2400" b="1" dirty="0">
                <a:solidFill>
                  <a:srgbClr val="FFC21A"/>
                </a:solidFill>
                <a:latin typeface="Cambria" pitchFamily="34" charset="0"/>
                <a:ea typeface="Cambria" pitchFamily="34" charset="-122"/>
                <a:cs typeface="Cambria" pitchFamily="34" charset="-120"/>
              </a:rPr>
              <a:t>4</a:t>
            </a:r>
            <a:endParaRPr lang="en-US" sz="2400" dirty="0"/>
          </a:p>
        </p:txBody>
      </p:sp>
      <p:sp>
        <p:nvSpPr>
          <p:cNvPr id="22" name="A4-fade-118"/>
          <p:cNvSpPr txBox="1"/>
          <p:nvPr/>
        </p:nvSpPr>
        <p:spPr>
          <a:xfrm>
            <a:off x="5321808" y="2331720"/>
            <a:ext cx="1298448" cy="45720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Union économique</a:t>
            </a:r>
            <a:endParaRPr lang="en-US" sz="1200" dirty="0"/>
          </a:p>
        </p:txBody>
      </p:sp>
      <p:sp>
        <p:nvSpPr>
          <p:cNvPr id="23" name="A4-fade-119"/>
          <p:cNvSpPr txBox="1"/>
          <p:nvPr/>
        </p:nvSpPr>
        <p:spPr>
          <a:xfrm>
            <a:off x="5321808" y="4187952"/>
            <a:ext cx="1298448" cy="320040"/>
          </a:xfrm>
          <a:prstGeom prst="rect">
            <a:avLst/>
          </a:prstGeom>
          <a:noFill/>
          <a:ln/>
        </p:spPr>
        <p:txBody>
          <a:bodyPr wrap="square" lIns="0" tIns="0" rIns="0" bIns="0" rtlCol="0" anchor="t"/>
          <a:lstStyle/>
          <a:p>
            <a:pPr indent="0" marL="0">
              <a:buNone/>
            </a:pPr>
            <a:r>
              <a:rPr lang="en-US" sz="950" i="1" dirty="0">
                <a:solidFill>
                  <a:srgbClr val="C9D5F0"/>
                </a:solidFill>
                <a:latin typeface="Calibri" pitchFamily="34" charset="0"/>
                <a:ea typeface="Calibri" pitchFamily="34" charset="-122"/>
                <a:cs typeface="Calibri" pitchFamily="34" charset="-120"/>
              </a:rPr>
              <a:t>UE (Maastricht)</a:t>
            </a:r>
            <a:endParaRPr lang="en-US" sz="950" dirty="0"/>
          </a:p>
        </p:txBody>
      </p:sp>
      <p:sp>
        <p:nvSpPr>
          <p:cNvPr id="24" name="A4-fade-120"/>
          <p:cNvSpPr txBox="1"/>
          <p:nvPr/>
        </p:nvSpPr>
        <p:spPr>
          <a:xfrm>
            <a:off x="5321808" y="2788920"/>
            <a:ext cx="1298448" cy="640080"/>
          </a:xfrm>
          <a:prstGeom prst="rect">
            <a:avLst/>
          </a:prstGeom>
          <a:noFill/>
          <a:ln/>
        </p:spPr>
        <p:txBody>
          <a:bodyPr wrap="square" lIns="0" tIns="0" rIns="0" bIns="0" rtlCol="0" anchor="t"/>
          <a:lstStyle/>
          <a:p>
            <a:pPr indent="0" marL="0">
              <a:buNone/>
            </a:pPr>
            <a:r>
              <a:rPr lang="en-US" sz="950" dirty="0">
                <a:solidFill>
                  <a:srgbClr val="E1E8F7"/>
                </a:solidFill>
                <a:latin typeface="Calibri" pitchFamily="34" charset="0"/>
                <a:ea typeface="Calibri" pitchFamily="34" charset="-122"/>
                <a:cs typeface="Calibri" pitchFamily="34" charset="-120"/>
              </a:rPr>
              <a:t>+ coordination des politiques</a:t>
            </a:r>
            <a:endParaRPr lang="en-US" sz="950" dirty="0"/>
          </a:p>
        </p:txBody>
      </p:sp>
      <p:sp>
        <p:nvSpPr>
          <p:cNvPr id="25" name="A5-rise-121"/>
          <p:cNvSpPr/>
          <p:nvPr/>
        </p:nvSpPr>
        <p:spPr>
          <a:xfrm>
            <a:off x="6821424" y="1417320"/>
            <a:ext cx="1481328" cy="3154680"/>
          </a:xfrm>
          <a:prstGeom prst="rect">
            <a:avLst/>
          </a:prstGeom>
          <a:solidFill>
            <a:srgbClr val="1F4FA8"/>
          </a:solidFill>
          <a:ln w="12700">
            <a:solidFill>
              <a:srgbClr val="FFFFFF"/>
            </a:solidFill>
            <a:prstDash val="solid"/>
          </a:ln>
        </p:spPr>
      </p:sp>
      <p:sp>
        <p:nvSpPr>
          <p:cNvPr id="26" name="A5-fade-122"/>
          <p:cNvSpPr txBox="1"/>
          <p:nvPr/>
        </p:nvSpPr>
        <p:spPr>
          <a:xfrm>
            <a:off x="6912864" y="1490472"/>
            <a:ext cx="457200" cy="411480"/>
          </a:xfrm>
          <a:prstGeom prst="rect">
            <a:avLst/>
          </a:prstGeom>
          <a:noFill/>
          <a:ln/>
        </p:spPr>
        <p:txBody>
          <a:bodyPr wrap="square" lIns="0" tIns="0" rIns="0" bIns="0" rtlCol="0" anchor="t"/>
          <a:lstStyle/>
          <a:p>
            <a:pPr indent="0" marL="0">
              <a:buNone/>
            </a:pPr>
            <a:r>
              <a:rPr lang="en-US" sz="2400" b="1" dirty="0">
                <a:solidFill>
                  <a:srgbClr val="FFC21A"/>
                </a:solidFill>
                <a:latin typeface="Cambria" pitchFamily="34" charset="0"/>
                <a:ea typeface="Cambria" pitchFamily="34" charset="-122"/>
                <a:cs typeface="Cambria" pitchFamily="34" charset="-120"/>
              </a:rPr>
              <a:t>5</a:t>
            </a:r>
            <a:endParaRPr lang="en-US" sz="2400" dirty="0"/>
          </a:p>
        </p:txBody>
      </p:sp>
      <p:sp>
        <p:nvSpPr>
          <p:cNvPr id="27" name="A5-fade-123"/>
          <p:cNvSpPr txBox="1"/>
          <p:nvPr/>
        </p:nvSpPr>
        <p:spPr>
          <a:xfrm>
            <a:off x="6912864" y="1874520"/>
            <a:ext cx="1298448" cy="45720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Union éco. et monétaire</a:t>
            </a:r>
            <a:endParaRPr lang="en-US" sz="1200" dirty="0"/>
          </a:p>
        </p:txBody>
      </p:sp>
      <p:sp>
        <p:nvSpPr>
          <p:cNvPr id="28" name="A5-fade-124"/>
          <p:cNvSpPr txBox="1"/>
          <p:nvPr/>
        </p:nvSpPr>
        <p:spPr>
          <a:xfrm>
            <a:off x="6912864" y="4187952"/>
            <a:ext cx="1298448" cy="320040"/>
          </a:xfrm>
          <a:prstGeom prst="rect">
            <a:avLst/>
          </a:prstGeom>
          <a:noFill/>
          <a:ln/>
        </p:spPr>
        <p:txBody>
          <a:bodyPr wrap="square" lIns="0" tIns="0" rIns="0" bIns="0" rtlCol="0" anchor="t"/>
          <a:lstStyle/>
          <a:p>
            <a:pPr indent="0" marL="0">
              <a:buNone/>
            </a:pPr>
            <a:r>
              <a:rPr lang="en-US" sz="950" i="1" dirty="0">
                <a:solidFill>
                  <a:srgbClr val="C9D5F0"/>
                </a:solidFill>
                <a:latin typeface="Calibri" pitchFamily="34" charset="0"/>
                <a:ea typeface="Calibri" pitchFamily="34" charset="-122"/>
                <a:cs typeface="Calibri" pitchFamily="34" charset="-120"/>
              </a:rPr>
              <a:t>Zone euro (1999)</a:t>
            </a:r>
            <a:endParaRPr lang="en-US" sz="950" dirty="0"/>
          </a:p>
        </p:txBody>
      </p:sp>
      <p:sp>
        <p:nvSpPr>
          <p:cNvPr id="29" name="A5-fade-125"/>
          <p:cNvSpPr txBox="1"/>
          <p:nvPr/>
        </p:nvSpPr>
        <p:spPr>
          <a:xfrm>
            <a:off x="6912864" y="2331720"/>
            <a:ext cx="1298448" cy="640080"/>
          </a:xfrm>
          <a:prstGeom prst="rect">
            <a:avLst/>
          </a:prstGeom>
          <a:noFill/>
          <a:ln/>
        </p:spPr>
        <p:txBody>
          <a:bodyPr wrap="square" lIns="0" tIns="0" rIns="0" bIns="0" rtlCol="0" anchor="t"/>
          <a:lstStyle/>
          <a:p>
            <a:pPr indent="0" marL="0">
              <a:buNone/>
            </a:pPr>
            <a:r>
              <a:rPr lang="en-US" sz="950" dirty="0">
                <a:solidFill>
                  <a:srgbClr val="E1E8F7"/>
                </a:solidFill>
                <a:latin typeface="Calibri" pitchFamily="34" charset="0"/>
                <a:ea typeface="Calibri" pitchFamily="34" charset="-122"/>
                <a:cs typeface="Calibri" pitchFamily="34" charset="-120"/>
              </a:rPr>
              <a:t>+ monnaie unique</a:t>
            </a:r>
            <a:endParaRPr lang="en-US" sz="950" dirty="0"/>
          </a:p>
        </p:txBody>
      </p:sp>
      <p:sp>
        <p:nvSpPr>
          <p:cNvPr id="30" name="A6-fade-126"/>
          <p:cNvSpPr txBox="1"/>
          <p:nvPr/>
        </p:nvSpPr>
        <p:spPr>
          <a:xfrm>
            <a:off x="457200" y="1280160"/>
            <a:ext cx="3291840" cy="548640"/>
          </a:xfrm>
          <a:prstGeom prst="rect">
            <a:avLst/>
          </a:prstGeom>
          <a:noFill/>
          <a:ln/>
        </p:spPr>
        <p:txBody>
          <a:bodyPr wrap="square" lIns="0" tIns="0" rIns="0" bIns="0" rtlCol="0" anchor="t"/>
          <a:lstStyle/>
          <a:p>
            <a:pPr indent="0" marL="0">
              <a:buNone/>
            </a:pPr>
            <a:r>
              <a:rPr lang="en-US" sz="1250" i="1" dirty="0">
                <a:solidFill>
                  <a:srgbClr val="5B6478"/>
                </a:solidFill>
                <a:latin typeface="Calibri" pitchFamily="34" charset="0"/>
                <a:ea typeface="Calibri" pitchFamily="34" charset="-122"/>
                <a:cs typeface="Calibri" pitchFamily="34" charset="-120"/>
              </a:rPr>
              <a:t>Chaque étape = plus d'exigences</a:t>
            </a:r>
            <a:endParaRPr lang="en-US" sz="1250" dirty="0"/>
          </a:p>
          <a:p>
            <a:pPr indent="0" marL="0">
              <a:buNone/>
            </a:pPr>
            <a:r>
              <a:rPr lang="en-US" sz="1250" i="1" dirty="0">
                <a:solidFill>
                  <a:srgbClr val="5B6478"/>
                </a:solidFill>
                <a:latin typeface="Calibri" pitchFamily="34" charset="0"/>
                <a:ea typeface="Calibri" pitchFamily="34" charset="-122"/>
                <a:cs typeface="Calibri" pitchFamily="34" charset="-120"/>
              </a:rPr>
              <a:t>et plus de souveraineté partagée</a:t>
            </a:r>
            <a:endParaRPr lang="en-US" sz="1250" dirty="0"/>
          </a:p>
        </p:txBody>
      </p:sp>
      <p:sp>
        <p:nvSpPr>
          <p:cNvPr id="31" name="A6-wipe-127"/>
          <p:cNvSpPr/>
          <p:nvPr/>
        </p:nvSpPr>
        <p:spPr>
          <a:xfrm rot="-720000">
            <a:off x="457200" y="1874520"/>
            <a:ext cx="2468880" cy="274320"/>
          </a:xfrm>
          <a:prstGeom prst="rightArrow">
            <a:avLst/>
          </a:prstGeom>
          <a:solidFill>
            <a:srgbClr val="FFC21A"/>
          </a:solidFill>
          <a:ln w="12700">
            <a:solidFill>
              <a:srgbClr val="FFC21A"/>
            </a:solidFill>
            <a:prstDash val="solid"/>
          </a:ln>
        </p:spPr>
      </p:sp>
      <p:sp>
        <p:nvSpPr>
          <p:cNvPr id="32" name="A7-fadeup-128"/>
          <p:cNvSpPr txBox="1"/>
          <p:nvPr/>
        </p:nvSpPr>
        <p:spPr>
          <a:xfrm>
            <a:off x="3584448" y="1691640"/>
            <a:ext cx="1463040" cy="274320"/>
          </a:xfrm>
          <a:prstGeom prst="rect">
            <a:avLst/>
          </a:prstGeom>
          <a:noFill/>
          <a:ln/>
        </p:spPr>
        <p:txBody>
          <a:bodyPr wrap="square" lIns="0" tIns="0" rIns="0" bIns="0" rtlCol="0" anchor="t"/>
          <a:lstStyle/>
          <a:p>
            <a:pPr algn="ctr" indent="0" marL="0">
              <a:buNone/>
            </a:pPr>
            <a:r>
              <a:rPr lang="en-US" sz="1100" b="1" dirty="0">
                <a:solidFill>
                  <a:srgbClr val="B98500"/>
                </a:solidFill>
                <a:latin typeface="Calibri" pitchFamily="34" charset="0"/>
                <a:ea typeface="Calibri" pitchFamily="34" charset="-122"/>
                <a:cs typeface="Calibri" pitchFamily="34" charset="-120"/>
              </a:rPr>
              <a:t>L'UE aujourd'hui</a:t>
            </a:r>
            <a:endParaRPr lang="en-US" sz="1100" dirty="0"/>
          </a:p>
        </p:txBody>
      </p:sp>
      <p:sp>
        <p:nvSpPr>
          <p:cNvPr id="33" name="A7-fadeup-129"/>
          <p:cNvSpPr/>
          <p:nvPr/>
        </p:nvSpPr>
        <p:spPr>
          <a:xfrm>
            <a:off x="4206240" y="1965960"/>
            <a:ext cx="228600" cy="274320"/>
          </a:xfrm>
          <a:prstGeom prst="downArrow">
            <a:avLst/>
          </a:prstGeom>
          <a:solidFill>
            <a:srgbClr val="B98500"/>
          </a:solidFill>
          <a:ln w="12700">
            <a:solidFill>
              <a:srgbClr val="B98500"/>
            </a:solidFill>
            <a:prstDash val="solid"/>
          </a:ln>
        </p:spPr>
      </p:sp>
    </p:spTree>
  </p:cSld>
  <p:clrMapOvr>
    <a:masterClrMapping/>
  </p:clrMapOvr>
  <p:transition spd="med">
    <p:push dir="l"/>
  </p:transition>
  <p:timing>
    <p:tnLst>
      <p:par>
        <p:cTn id="1" dur="indefinite" restart="never" nodeType="tmRoot">
          <p:childTnLst>
            <p:seq concurrent="1" nextAc="seek">
              <p:cTn id="2" dur="indefinite" nodeType="mainSeq">
                <p:childTnLst>
                  <p:par>
                    <p:cTn id="91" fill="hold">
                      <p:stCondLst>
                        <p:cond delay="indefinite"/>
                        <p:cond evt="onBegin" delay="0">
                          <p:tn val="2"/>
                        </p:cond>
                      </p:stCondLst>
                      <p:childTnLst>
                        <p:par>
                          <p:cTn id="92" fill="hold">
                            <p:stCondLst>
                              <p:cond delay="0"/>
                            </p:stCondLst>
                            <p:childTnLst>
                              <p:par>
                                <p:cTn id="4" presetID="22" presetClass="entr" presetSubtype="4" fill="hold" grpId="0" nodeType="withEffect">
                                  <p:stCondLst>
                                    <p:cond delay="380"/>
                                  </p:stCondLst>
                                  <p:childTnLst>
                                    <p:set>
                                      <p:cBhvr>
                                        <p:cTn id="5" dur="1" fill="hold">
                                          <p:stCondLst>
                                            <p:cond delay="0"/>
                                          </p:stCondLst>
                                        </p:cTn>
                                        <p:tgtEl>
                                          <p:spTgt spid="6"/>
                                        </p:tgtEl>
                                        <p:attrNameLst>
                                          <p:attrName>style.visibility</p:attrName>
                                        </p:attrNameLst>
                                      </p:cBhvr>
                                      <p:to>
                                        <p:strVal val="visible"/>
                                      </p:to>
                                    </p:set>
                                    <p:animEffect transition="in" filter="wipe(down)">
                                      <p:cBhvr>
                                        <p:cTn id="3" dur="900"/>
                                        <p:tgtEl>
                                          <p:spTgt spid="6"/>
                                        </p:tgtEl>
                                      </p:cBhvr>
                                    </p:animEffect>
                                  </p:childTnLst>
                                </p:cTn>
                              </p:par>
                              <p:par>
                                <p:cTn id="7" presetID="10" presetClass="entr" presetSubtype="0" fill="hold" grpId="0" nodeType="withEffect">
                                  <p:stCondLst>
                                    <p:cond delay="380"/>
                                  </p:stCondLst>
                                  <p:childTnLst>
                                    <p:set>
                                      <p:cBhvr>
                                        <p:cTn id="8" dur="1" fill="hold">
                                          <p:stCondLst>
                                            <p:cond delay="0"/>
                                          </p:stCondLst>
                                        </p:cTn>
                                        <p:tgtEl>
                                          <p:spTgt spid="7"/>
                                        </p:tgtEl>
                                        <p:attrNameLst>
                                          <p:attrName>style.visibility</p:attrName>
                                        </p:attrNameLst>
                                      </p:cBhvr>
                                      <p:to>
                                        <p:strVal val="visible"/>
                                      </p:to>
                                    </p:set>
                                    <p:animEffect transition="in" filter="fade">
                                      <p:cBhvr>
                                        <p:cTn id="6" dur="600"/>
                                        <p:tgtEl>
                                          <p:spTgt spid="7"/>
                                        </p:tgtEl>
                                      </p:cBhvr>
                                    </p:animEffect>
                                  </p:childTnLst>
                                </p:cTn>
                              </p:par>
                              <p:par>
                                <p:cTn id="10" presetID="10" presetClass="entr" presetSubtype="0" fill="hold" grpId="0" nodeType="withEffect">
                                  <p:stCondLst>
                                    <p:cond delay="380"/>
                                  </p:stCondLst>
                                  <p:childTnLst>
                                    <p:set>
                                      <p:cBhvr>
                                        <p:cTn id="11" dur="1" fill="hold">
                                          <p:stCondLst>
                                            <p:cond delay="0"/>
                                          </p:stCondLst>
                                        </p:cTn>
                                        <p:tgtEl>
                                          <p:spTgt spid="8"/>
                                        </p:tgtEl>
                                        <p:attrNameLst>
                                          <p:attrName>style.visibility</p:attrName>
                                        </p:attrNameLst>
                                      </p:cBhvr>
                                      <p:to>
                                        <p:strVal val="visible"/>
                                      </p:to>
                                    </p:set>
                                    <p:animEffect transition="in" filter="fade">
                                      <p:cBhvr>
                                        <p:cTn id="9" dur="600"/>
                                        <p:tgtEl>
                                          <p:spTgt spid="8"/>
                                        </p:tgtEl>
                                      </p:cBhvr>
                                    </p:animEffect>
                                  </p:childTnLst>
                                </p:cTn>
                              </p:par>
                              <p:par>
                                <p:cTn id="13" presetID="10" presetClass="entr" presetSubtype="0" fill="hold" grpId="0" nodeType="withEffect">
                                  <p:stCondLst>
                                    <p:cond delay="380"/>
                                  </p:stCondLst>
                                  <p:childTnLst>
                                    <p:set>
                                      <p:cBhvr>
                                        <p:cTn id="14" dur="1" fill="hold">
                                          <p:stCondLst>
                                            <p:cond delay="0"/>
                                          </p:stCondLst>
                                        </p:cTn>
                                        <p:tgtEl>
                                          <p:spTgt spid="9"/>
                                        </p:tgtEl>
                                        <p:attrNameLst>
                                          <p:attrName>style.visibility</p:attrName>
                                        </p:attrNameLst>
                                      </p:cBhvr>
                                      <p:to>
                                        <p:strVal val="visible"/>
                                      </p:to>
                                    </p:set>
                                    <p:animEffect transition="in" filter="fade">
                                      <p:cBhvr>
                                        <p:cTn id="12" dur="600"/>
                                        <p:tgtEl>
                                          <p:spTgt spid="9"/>
                                        </p:tgtEl>
                                      </p:cBhvr>
                                    </p:animEffect>
                                  </p:childTnLst>
                                </p:cTn>
                              </p:par>
                              <p:par>
                                <p:cTn id="16" presetID="22" presetClass="entr" presetSubtype="4" fill="hold" grpId="0" nodeType="withEffect">
                                  <p:stCondLst>
                                    <p:cond delay="760"/>
                                  </p:stCondLst>
                                  <p:childTnLst>
                                    <p:set>
                                      <p:cBhvr>
                                        <p:cTn id="17" dur="1" fill="hold">
                                          <p:stCondLst>
                                            <p:cond delay="0"/>
                                          </p:stCondLst>
                                        </p:cTn>
                                        <p:tgtEl>
                                          <p:spTgt spid="10"/>
                                        </p:tgtEl>
                                        <p:attrNameLst>
                                          <p:attrName>style.visibility</p:attrName>
                                        </p:attrNameLst>
                                      </p:cBhvr>
                                      <p:to>
                                        <p:strVal val="visible"/>
                                      </p:to>
                                    </p:set>
                                    <p:animEffect transition="in" filter="wipe(down)">
                                      <p:cBhvr>
                                        <p:cTn id="15" dur="900"/>
                                        <p:tgtEl>
                                          <p:spTgt spid="10"/>
                                        </p:tgtEl>
                                      </p:cBhvr>
                                    </p:animEffect>
                                  </p:childTnLst>
                                </p:cTn>
                              </p:par>
                              <p:par>
                                <p:cTn id="19" presetID="10" presetClass="entr" presetSubtype="0" fill="hold" grpId="0" nodeType="withEffect">
                                  <p:stCondLst>
                                    <p:cond delay="760"/>
                                  </p:stCondLst>
                                  <p:childTnLst>
                                    <p:set>
                                      <p:cBhvr>
                                        <p:cTn id="20" dur="1" fill="hold">
                                          <p:stCondLst>
                                            <p:cond delay="0"/>
                                          </p:stCondLst>
                                        </p:cTn>
                                        <p:tgtEl>
                                          <p:spTgt spid="11"/>
                                        </p:tgtEl>
                                        <p:attrNameLst>
                                          <p:attrName>style.visibility</p:attrName>
                                        </p:attrNameLst>
                                      </p:cBhvr>
                                      <p:to>
                                        <p:strVal val="visible"/>
                                      </p:to>
                                    </p:set>
                                    <p:animEffect transition="in" filter="fade">
                                      <p:cBhvr>
                                        <p:cTn id="18" dur="600"/>
                                        <p:tgtEl>
                                          <p:spTgt spid="11"/>
                                        </p:tgtEl>
                                      </p:cBhvr>
                                    </p:animEffect>
                                  </p:childTnLst>
                                </p:cTn>
                              </p:par>
                              <p:par>
                                <p:cTn id="22" presetID="10" presetClass="entr" presetSubtype="0" fill="hold" grpId="0" nodeType="withEffect">
                                  <p:stCondLst>
                                    <p:cond delay="760"/>
                                  </p:stCondLst>
                                  <p:childTnLst>
                                    <p:set>
                                      <p:cBhvr>
                                        <p:cTn id="23" dur="1" fill="hold">
                                          <p:stCondLst>
                                            <p:cond delay="0"/>
                                          </p:stCondLst>
                                        </p:cTn>
                                        <p:tgtEl>
                                          <p:spTgt spid="12"/>
                                        </p:tgtEl>
                                        <p:attrNameLst>
                                          <p:attrName>style.visibility</p:attrName>
                                        </p:attrNameLst>
                                      </p:cBhvr>
                                      <p:to>
                                        <p:strVal val="visible"/>
                                      </p:to>
                                    </p:set>
                                    <p:animEffect transition="in" filter="fade">
                                      <p:cBhvr>
                                        <p:cTn id="21" dur="600"/>
                                        <p:tgtEl>
                                          <p:spTgt spid="12"/>
                                        </p:tgtEl>
                                      </p:cBhvr>
                                    </p:animEffect>
                                  </p:childTnLst>
                                </p:cTn>
                              </p:par>
                              <p:par>
                                <p:cTn id="25" presetID="10" presetClass="entr" presetSubtype="0" fill="hold" grpId="0" nodeType="withEffect">
                                  <p:stCondLst>
                                    <p:cond delay="760"/>
                                  </p:stCondLst>
                                  <p:childTnLst>
                                    <p:set>
                                      <p:cBhvr>
                                        <p:cTn id="26" dur="1" fill="hold">
                                          <p:stCondLst>
                                            <p:cond delay="0"/>
                                          </p:stCondLst>
                                        </p:cTn>
                                        <p:tgtEl>
                                          <p:spTgt spid="13"/>
                                        </p:tgtEl>
                                        <p:attrNameLst>
                                          <p:attrName>style.visibility</p:attrName>
                                        </p:attrNameLst>
                                      </p:cBhvr>
                                      <p:to>
                                        <p:strVal val="visible"/>
                                      </p:to>
                                    </p:set>
                                    <p:animEffect transition="in" filter="fade">
                                      <p:cBhvr>
                                        <p:cTn id="24" dur="600"/>
                                        <p:tgtEl>
                                          <p:spTgt spid="13"/>
                                        </p:tgtEl>
                                      </p:cBhvr>
                                    </p:animEffect>
                                  </p:childTnLst>
                                </p:cTn>
                              </p:par>
                              <p:par>
                                <p:cTn id="28" presetID="10" presetClass="entr" presetSubtype="0" fill="hold" grpId="0" nodeType="withEffect">
                                  <p:stCondLst>
                                    <p:cond delay="760"/>
                                  </p:stCondLst>
                                  <p:childTnLst>
                                    <p:set>
                                      <p:cBhvr>
                                        <p:cTn id="29" dur="1" fill="hold">
                                          <p:stCondLst>
                                            <p:cond delay="0"/>
                                          </p:stCondLst>
                                        </p:cTn>
                                        <p:tgtEl>
                                          <p:spTgt spid="14"/>
                                        </p:tgtEl>
                                        <p:attrNameLst>
                                          <p:attrName>style.visibility</p:attrName>
                                        </p:attrNameLst>
                                      </p:cBhvr>
                                      <p:to>
                                        <p:strVal val="visible"/>
                                      </p:to>
                                    </p:set>
                                    <p:animEffect transition="in" filter="fade">
                                      <p:cBhvr>
                                        <p:cTn id="27" dur="600"/>
                                        <p:tgtEl>
                                          <p:spTgt spid="14"/>
                                        </p:tgtEl>
                                      </p:cBhvr>
                                    </p:animEffect>
                                  </p:childTnLst>
                                </p:cTn>
                              </p:par>
                              <p:par>
                                <p:cTn id="31" presetID="22" presetClass="entr" presetSubtype="4" fill="hold" grpId="0" nodeType="withEffect">
                                  <p:stCondLst>
                                    <p:cond delay="1140"/>
                                  </p:stCondLst>
                                  <p:childTnLst>
                                    <p:set>
                                      <p:cBhvr>
                                        <p:cTn id="32" dur="1" fill="hold">
                                          <p:stCondLst>
                                            <p:cond delay="0"/>
                                          </p:stCondLst>
                                        </p:cTn>
                                        <p:tgtEl>
                                          <p:spTgt spid="15"/>
                                        </p:tgtEl>
                                        <p:attrNameLst>
                                          <p:attrName>style.visibility</p:attrName>
                                        </p:attrNameLst>
                                      </p:cBhvr>
                                      <p:to>
                                        <p:strVal val="visible"/>
                                      </p:to>
                                    </p:set>
                                    <p:animEffect transition="in" filter="wipe(down)">
                                      <p:cBhvr>
                                        <p:cTn id="30" dur="900"/>
                                        <p:tgtEl>
                                          <p:spTgt spid="15"/>
                                        </p:tgtEl>
                                      </p:cBhvr>
                                    </p:animEffect>
                                  </p:childTnLst>
                                </p:cTn>
                              </p:par>
                              <p:par>
                                <p:cTn id="34" presetID="10" presetClass="entr" presetSubtype="0" fill="hold" grpId="0" nodeType="withEffect">
                                  <p:stCondLst>
                                    <p:cond delay="1140"/>
                                  </p:stCondLst>
                                  <p:childTnLst>
                                    <p:set>
                                      <p:cBhvr>
                                        <p:cTn id="35" dur="1" fill="hold">
                                          <p:stCondLst>
                                            <p:cond delay="0"/>
                                          </p:stCondLst>
                                        </p:cTn>
                                        <p:tgtEl>
                                          <p:spTgt spid="16"/>
                                        </p:tgtEl>
                                        <p:attrNameLst>
                                          <p:attrName>style.visibility</p:attrName>
                                        </p:attrNameLst>
                                      </p:cBhvr>
                                      <p:to>
                                        <p:strVal val="visible"/>
                                      </p:to>
                                    </p:set>
                                    <p:animEffect transition="in" filter="fade">
                                      <p:cBhvr>
                                        <p:cTn id="33" dur="600"/>
                                        <p:tgtEl>
                                          <p:spTgt spid="16"/>
                                        </p:tgtEl>
                                      </p:cBhvr>
                                    </p:animEffect>
                                  </p:childTnLst>
                                </p:cTn>
                              </p:par>
                              <p:par>
                                <p:cTn id="37" presetID="10" presetClass="entr" presetSubtype="0" fill="hold" grpId="0" nodeType="withEffect">
                                  <p:stCondLst>
                                    <p:cond delay="1140"/>
                                  </p:stCondLst>
                                  <p:childTnLst>
                                    <p:set>
                                      <p:cBhvr>
                                        <p:cTn id="38" dur="1" fill="hold">
                                          <p:stCondLst>
                                            <p:cond delay="0"/>
                                          </p:stCondLst>
                                        </p:cTn>
                                        <p:tgtEl>
                                          <p:spTgt spid="17"/>
                                        </p:tgtEl>
                                        <p:attrNameLst>
                                          <p:attrName>style.visibility</p:attrName>
                                        </p:attrNameLst>
                                      </p:cBhvr>
                                      <p:to>
                                        <p:strVal val="visible"/>
                                      </p:to>
                                    </p:set>
                                    <p:animEffect transition="in" filter="fade">
                                      <p:cBhvr>
                                        <p:cTn id="36" dur="600"/>
                                        <p:tgtEl>
                                          <p:spTgt spid="17"/>
                                        </p:tgtEl>
                                      </p:cBhvr>
                                    </p:animEffect>
                                  </p:childTnLst>
                                </p:cTn>
                              </p:par>
                              <p:par>
                                <p:cTn id="40" presetID="10" presetClass="entr" presetSubtype="0" fill="hold" grpId="0" nodeType="withEffect">
                                  <p:stCondLst>
                                    <p:cond delay="1140"/>
                                  </p:stCondLst>
                                  <p:childTnLst>
                                    <p:set>
                                      <p:cBhvr>
                                        <p:cTn id="41" dur="1" fill="hold">
                                          <p:stCondLst>
                                            <p:cond delay="0"/>
                                          </p:stCondLst>
                                        </p:cTn>
                                        <p:tgtEl>
                                          <p:spTgt spid="18"/>
                                        </p:tgtEl>
                                        <p:attrNameLst>
                                          <p:attrName>style.visibility</p:attrName>
                                        </p:attrNameLst>
                                      </p:cBhvr>
                                      <p:to>
                                        <p:strVal val="visible"/>
                                      </p:to>
                                    </p:set>
                                    <p:animEffect transition="in" filter="fade">
                                      <p:cBhvr>
                                        <p:cTn id="39" dur="600"/>
                                        <p:tgtEl>
                                          <p:spTgt spid="18"/>
                                        </p:tgtEl>
                                      </p:cBhvr>
                                    </p:animEffect>
                                  </p:childTnLst>
                                </p:cTn>
                              </p:par>
                              <p:par>
                                <p:cTn id="43" presetID="10" presetClass="entr" presetSubtype="0" fill="hold" grpId="0" nodeType="withEffect">
                                  <p:stCondLst>
                                    <p:cond delay="1140"/>
                                  </p:stCondLst>
                                  <p:childTnLst>
                                    <p:set>
                                      <p:cBhvr>
                                        <p:cTn id="44" dur="1" fill="hold">
                                          <p:stCondLst>
                                            <p:cond delay="0"/>
                                          </p:stCondLst>
                                        </p:cTn>
                                        <p:tgtEl>
                                          <p:spTgt spid="19"/>
                                        </p:tgtEl>
                                        <p:attrNameLst>
                                          <p:attrName>style.visibility</p:attrName>
                                        </p:attrNameLst>
                                      </p:cBhvr>
                                      <p:to>
                                        <p:strVal val="visible"/>
                                      </p:to>
                                    </p:set>
                                    <p:animEffect transition="in" filter="fade">
                                      <p:cBhvr>
                                        <p:cTn id="42" dur="600"/>
                                        <p:tgtEl>
                                          <p:spTgt spid="19"/>
                                        </p:tgtEl>
                                      </p:cBhvr>
                                    </p:animEffect>
                                  </p:childTnLst>
                                </p:cTn>
                              </p:par>
                              <p:par>
                                <p:cTn id="46" presetID="22" presetClass="entr" presetSubtype="4" fill="hold" grpId="0" nodeType="withEffect">
                                  <p:stCondLst>
                                    <p:cond delay="1520"/>
                                  </p:stCondLst>
                                  <p:childTnLst>
                                    <p:set>
                                      <p:cBhvr>
                                        <p:cTn id="47" dur="1" fill="hold">
                                          <p:stCondLst>
                                            <p:cond delay="0"/>
                                          </p:stCondLst>
                                        </p:cTn>
                                        <p:tgtEl>
                                          <p:spTgt spid="20"/>
                                        </p:tgtEl>
                                        <p:attrNameLst>
                                          <p:attrName>style.visibility</p:attrName>
                                        </p:attrNameLst>
                                      </p:cBhvr>
                                      <p:to>
                                        <p:strVal val="visible"/>
                                      </p:to>
                                    </p:set>
                                    <p:animEffect transition="in" filter="wipe(down)">
                                      <p:cBhvr>
                                        <p:cTn id="45" dur="900"/>
                                        <p:tgtEl>
                                          <p:spTgt spid="20"/>
                                        </p:tgtEl>
                                      </p:cBhvr>
                                    </p:animEffect>
                                  </p:childTnLst>
                                </p:cTn>
                              </p:par>
                              <p:par>
                                <p:cTn id="49" presetID="10" presetClass="entr" presetSubtype="0" fill="hold" grpId="0" nodeType="withEffect">
                                  <p:stCondLst>
                                    <p:cond delay="1520"/>
                                  </p:stCondLst>
                                  <p:childTnLst>
                                    <p:set>
                                      <p:cBhvr>
                                        <p:cTn id="50" dur="1" fill="hold">
                                          <p:stCondLst>
                                            <p:cond delay="0"/>
                                          </p:stCondLst>
                                        </p:cTn>
                                        <p:tgtEl>
                                          <p:spTgt spid="21"/>
                                        </p:tgtEl>
                                        <p:attrNameLst>
                                          <p:attrName>style.visibility</p:attrName>
                                        </p:attrNameLst>
                                      </p:cBhvr>
                                      <p:to>
                                        <p:strVal val="visible"/>
                                      </p:to>
                                    </p:set>
                                    <p:animEffect transition="in" filter="fade">
                                      <p:cBhvr>
                                        <p:cTn id="48" dur="600"/>
                                        <p:tgtEl>
                                          <p:spTgt spid="21"/>
                                        </p:tgtEl>
                                      </p:cBhvr>
                                    </p:animEffect>
                                  </p:childTnLst>
                                </p:cTn>
                              </p:par>
                              <p:par>
                                <p:cTn id="52" presetID="10" presetClass="entr" presetSubtype="0" fill="hold" grpId="0" nodeType="withEffect">
                                  <p:stCondLst>
                                    <p:cond delay="1520"/>
                                  </p:stCondLst>
                                  <p:childTnLst>
                                    <p:set>
                                      <p:cBhvr>
                                        <p:cTn id="53" dur="1" fill="hold">
                                          <p:stCondLst>
                                            <p:cond delay="0"/>
                                          </p:stCondLst>
                                        </p:cTn>
                                        <p:tgtEl>
                                          <p:spTgt spid="22"/>
                                        </p:tgtEl>
                                        <p:attrNameLst>
                                          <p:attrName>style.visibility</p:attrName>
                                        </p:attrNameLst>
                                      </p:cBhvr>
                                      <p:to>
                                        <p:strVal val="visible"/>
                                      </p:to>
                                    </p:set>
                                    <p:animEffect transition="in" filter="fade">
                                      <p:cBhvr>
                                        <p:cTn id="51" dur="600"/>
                                        <p:tgtEl>
                                          <p:spTgt spid="22"/>
                                        </p:tgtEl>
                                      </p:cBhvr>
                                    </p:animEffect>
                                  </p:childTnLst>
                                </p:cTn>
                              </p:par>
                              <p:par>
                                <p:cTn id="55" presetID="10" presetClass="entr" presetSubtype="0" fill="hold" grpId="0" nodeType="withEffect">
                                  <p:stCondLst>
                                    <p:cond delay="1520"/>
                                  </p:stCondLst>
                                  <p:childTnLst>
                                    <p:set>
                                      <p:cBhvr>
                                        <p:cTn id="56" dur="1" fill="hold">
                                          <p:stCondLst>
                                            <p:cond delay="0"/>
                                          </p:stCondLst>
                                        </p:cTn>
                                        <p:tgtEl>
                                          <p:spTgt spid="23"/>
                                        </p:tgtEl>
                                        <p:attrNameLst>
                                          <p:attrName>style.visibility</p:attrName>
                                        </p:attrNameLst>
                                      </p:cBhvr>
                                      <p:to>
                                        <p:strVal val="visible"/>
                                      </p:to>
                                    </p:set>
                                    <p:animEffect transition="in" filter="fade">
                                      <p:cBhvr>
                                        <p:cTn id="54" dur="600"/>
                                        <p:tgtEl>
                                          <p:spTgt spid="23"/>
                                        </p:tgtEl>
                                      </p:cBhvr>
                                    </p:animEffect>
                                  </p:childTnLst>
                                </p:cTn>
                              </p:par>
                              <p:par>
                                <p:cTn id="58" presetID="10" presetClass="entr" presetSubtype="0" fill="hold" grpId="0" nodeType="withEffect">
                                  <p:stCondLst>
                                    <p:cond delay="1520"/>
                                  </p:stCondLst>
                                  <p:childTnLst>
                                    <p:set>
                                      <p:cBhvr>
                                        <p:cTn id="59" dur="1" fill="hold">
                                          <p:stCondLst>
                                            <p:cond delay="0"/>
                                          </p:stCondLst>
                                        </p:cTn>
                                        <p:tgtEl>
                                          <p:spTgt spid="24"/>
                                        </p:tgtEl>
                                        <p:attrNameLst>
                                          <p:attrName>style.visibility</p:attrName>
                                        </p:attrNameLst>
                                      </p:cBhvr>
                                      <p:to>
                                        <p:strVal val="visible"/>
                                      </p:to>
                                    </p:set>
                                    <p:animEffect transition="in" filter="fade">
                                      <p:cBhvr>
                                        <p:cTn id="57" dur="600"/>
                                        <p:tgtEl>
                                          <p:spTgt spid="24"/>
                                        </p:tgtEl>
                                      </p:cBhvr>
                                    </p:animEffect>
                                  </p:childTnLst>
                                </p:cTn>
                              </p:par>
                              <p:par>
                                <p:cTn id="61" presetID="22" presetClass="entr" presetSubtype="4" fill="hold" grpId="0" nodeType="withEffect">
                                  <p:stCondLst>
                                    <p:cond delay="1900"/>
                                  </p:stCondLst>
                                  <p:childTnLst>
                                    <p:set>
                                      <p:cBhvr>
                                        <p:cTn id="62" dur="1" fill="hold">
                                          <p:stCondLst>
                                            <p:cond delay="0"/>
                                          </p:stCondLst>
                                        </p:cTn>
                                        <p:tgtEl>
                                          <p:spTgt spid="25"/>
                                        </p:tgtEl>
                                        <p:attrNameLst>
                                          <p:attrName>style.visibility</p:attrName>
                                        </p:attrNameLst>
                                      </p:cBhvr>
                                      <p:to>
                                        <p:strVal val="visible"/>
                                      </p:to>
                                    </p:set>
                                    <p:animEffect transition="in" filter="wipe(down)">
                                      <p:cBhvr>
                                        <p:cTn id="60" dur="900"/>
                                        <p:tgtEl>
                                          <p:spTgt spid="25"/>
                                        </p:tgtEl>
                                      </p:cBhvr>
                                    </p:animEffect>
                                  </p:childTnLst>
                                </p:cTn>
                              </p:par>
                              <p:par>
                                <p:cTn id="64" presetID="10" presetClass="entr" presetSubtype="0" fill="hold" grpId="0" nodeType="withEffect">
                                  <p:stCondLst>
                                    <p:cond delay="1900"/>
                                  </p:stCondLst>
                                  <p:childTnLst>
                                    <p:set>
                                      <p:cBhvr>
                                        <p:cTn id="65" dur="1" fill="hold">
                                          <p:stCondLst>
                                            <p:cond delay="0"/>
                                          </p:stCondLst>
                                        </p:cTn>
                                        <p:tgtEl>
                                          <p:spTgt spid="26"/>
                                        </p:tgtEl>
                                        <p:attrNameLst>
                                          <p:attrName>style.visibility</p:attrName>
                                        </p:attrNameLst>
                                      </p:cBhvr>
                                      <p:to>
                                        <p:strVal val="visible"/>
                                      </p:to>
                                    </p:set>
                                    <p:animEffect transition="in" filter="fade">
                                      <p:cBhvr>
                                        <p:cTn id="63" dur="600"/>
                                        <p:tgtEl>
                                          <p:spTgt spid="26"/>
                                        </p:tgtEl>
                                      </p:cBhvr>
                                    </p:animEffect>
                                  </p:childTnLst>
                                </p:cTn>
                              </p:par>
                              <p:par>
                                <p:cTn id="67" presetID="10" presetClass="entr" presetSubtype="0" fill="hold" grpId="0" nodeType="withEffect">
                                  <p:stCondLst>
                                    <p:cond delay="1900"/>
                                  </p:stCondLst>
                                  <p:childTnLst>
                                    <p:set>
                                      <p:cBhvr>
                                        <p:cTn id="68" dur="1" fill="hold">
                                          <p:stCondLst>
                                            <p:cond delay="0"/>
                                          </p:stCondLst>
                                        </p:cTn>
                                        <p:tgtEl>
                                          <p:spTgt spid="27"/>
                                        </p:tgtEl>
                                        <p:attrNameLst>
                                          <p:attrName>style.visibility</p:attrName>
                                        </p:attrNameLst>
                                      </p:cBhvr>
                                      <p:to>
                                        <p:strVal val="visible"/>
                                      </p:to>
                                    </p:set>
                                    <p:animEffect transition="in" filter="fade">
                                      <p:cBhvr>
                                        <p:cTn id="66" dur="600"/>
                                        <p:tgtEl>
                                          <p:spTgt spid="27"/>
                                        </p:tgtEl>
                                      </p:cBhvr>
                                    </p:animEffect>
                                  </p:childTnLst>
                                </p:cTn>
                              </p:par>
                              <p:par>
                                <p:cTn id="70" presetID="10" presetClass="entr" presetSubtype="0" fill="hold" grpId="0" nodeType="withEffect">
                                  <p:stCondLst>
                                    <p:cond delay="1900"/>
                                  </p:stCondLst>
                                  <p:childTnLst>
                                    <p:set>
                                      <p:cBhvr>
                                        <p:cTn id="71" dur="1" fill="hold">
                                          <p:stCondLst>
                                            <p:cond delay="0"/>
                                          </p:stCondLst>
                                        </p:cTn>
                                        <p:tgtEl>
                                          <p:spTgt spid="28"/>
                                        </p:tgtEl>
                                        <p:attrNameLst>
                                          <p:attrName>style.visibility</p:attrName>
                                        </p:attrNameLst>
                                      </p:cBhvr>
                                      <p:to>
                                        <p:strVal val="visible"/>
                                      </p:to>
                                    </p:set>
                                    <p:animEffect transition="in" filter="fade">
                                      <p:cBhvr>
                                        <p:cTn id="69" dur="600"/>
                                        <p:tgtEl>
                                          <p:spTgt spid="28"/>
                                        </p:tgtEl>
                                      </p:cBhvr>
                                    </p:animEffect>
                                  </p:childTnLst>
                                </p:cTn>
                              </p:par>
                              <p:par>
                                <p:cTn id="73" presetID="10" presetClass="entr" presetSubtype="0" fill="hold" grpId="0" nodeType="withEffect">
                                  <p:stCondLst>
                                    <p:cond delay="1900"/>
                                  </p:stCondLst>
                                  <p:childTnLst>
                                    <p:set>
                                      <p:cBhvr>
                                        <p:cTn id="74" dur="1" fill="hold">
                                          <p:stCondLst>
                                            <p:cond delay="0"/>
                                          </p:stCondLst>
                                        </p:cTn>
                                        <p:tgtEl>
                                          <p:spTgt spid="29"/>
                                        </p:tgtEl>
                                        <p:attrNameLst>
                                          <p:attrName>style.visibility</p:attrName>
                                        </p:attrNameLst>
                                      </p:cBhvr>
                                      <p:to>
                                        <p:strVal val="visible"/>
                                      </p:to>
                                    </p:set>
                                    <p:animEffect transition="in" filter="fade">
                                      <p:cBhvr>
                                        <p:cTn id="72" dur="600"/>
                                        <p:tgtEl>
                                          <p:spTgt spid="29"/>
                                        </p:tgtEl>
                                      </p:cBhvr>
                                    </p:animEffect>
                                  </p:childTnLst>
                                </p:cTn>
                              </p:par>
                              <p:par>
                                <p:cTn id="76" presetID="10" presetClass="entr" presetSubtype="0" fill="hold" grpId="0" nodeType="withEffect">
                                  <p:stCondLst>
                                    <p:cond delay="2280"/>
                                  </p:stCondLst>
                                  <p:childTnLst>
                                    <p:set>
                                      <p:cBhvr>
                                        <p:cTn id="77" dur="1" fill="hold">
                                          <p:stCondLst>
                                            <p:cond delay="0"/>
                                          </p:stCondLst>
                                        </p:cTn>
                                        <p:tgtEl>
                                          <p:spTgt spid="30"/>
                                        </p:tgtEl>
                                        <p:attrNameLst>
                                          <p:attrName>style.visibility</p:attrName>
                                        </p:attrNameLst>
                                      </p:cBhvr>
                                      <p:to>
                                        <p:strVal val="visible"/>
                                      </p:to>
                                    </p:set>
                                    <p:animEffect transition="in" filter="fade">
                                      <p:cBhvr>
                                        <p:cTn id="75" dur="600"/>
                                        <p:tgtEl>
                                          <p:spTgt spid="30"/>
                                        </p:tgtEl>
                                      </p:cBhvr>
                                    </p:animEffect>
                                  </p:childTnLst>
                                </p:cTn>
                              </p:par>
                              <p:par>
                                <p:cTn id="79" presetID="22" presetClass="entr" presetSubtype="8" fill="hold" grpId="0" nodeType="withEffect">
                                  <p:stCondLst>
                                    <p:cond delay="2280"/>
                                  </p:stCondLst>
                                  <p:childTnLst>
                                    <p:set>
                                      <p:cBhvr>
                                        <p:cTn id="80" dur="1" fill="hold">
                                          <p:stCondLst>
                                            <p:cond delay="0"/>
                                          </p:stCondLst>
                                        </p:cTn>
                                        <p:tgtEl>
                                          <p:spTgt spid="31"/>
                                        </p:tgtEl>
                                        <p:attrNameLst>
                                          <p:attrName>style.visibility</p:attrName>
                                        </p:attrNameLst>
                                      </p:cBhvr>
                                      <p:to>
                                        <p:strVal val="visible"/>
                                      </p:to>
                                    </p:set>
                                    <p:animEffect transition="in" filter="wipe(left)">
                                      <p:cBhvr>
                                        <p:cTn id="78" dur="800"/>
                                        <p:tgtEl>
                                          <p:spTgt spid="31"/>
                                        </p:tgtEl>
                                      </p:cBhvr>
                                    </p:animEffect>
                                  </p:childTnLst>
                                </p:cTn>
                              </p:par>
                              <p:par>
                                <p:cTn id="84" presetID="42" presetClass="entr" presetSubtype="0" fill="hold" grpId="0" nodeType="withEffect">
                                  <p:stCondLst>
                                    <p:cond delay="2660"/>
                                  </p:stCondLst>
                                  <p:childTnLst>
                                    <p:set>
                                      <p:cBhvr>
                                        <p:cTn id="85" dur="1" fill="hold">
                                          <p:stCondLst>
                                            <p:cond delay="0"/>
                                          </p:stCondLst>
                                        </p:cTn>
                                        <p:tgtEl>
                                          <p:spTgt spid="32"/>
                                        </p:tgtEl>
                                        <p:attrNameLst>
                                          <p:attrName>style.visibility</p:attrName>
                                        </p:attrNameLst>
                                      </p:cBhvr>
                                      <p:to>
                                        <p:strVal val="visible"/>
                                      </p:to>
                                    </p:set>
                                    <p:animEffect transition="in" filter="fade">
                                      <p:cBhvr>
                                        <p:cTn id="81" dur="700"/>
                                        <p:tgtEl>
                                          <p:spTgt spid="32"/>
                                        </p:tgtEl>
                                      </p:cBhvr>
                                    </p:animEffect>
                                    <p:anim calcmode="lin" valueType="num">
                                      <p:cBhvr additive="base">
                                        <p:cTn id="82" dur="700" fill="hold"/>
                                        <p:tgtEl>
                                          <p:spTgt spid="32"/>
                                        </p:tgtEl>
                                        <p:attrNameLst>
                                          <p:attrName>ppt_x</p:attrName>
                                        </p:attrNameLst>
                                      </p:cBhvr>
                                      <p:tavLst>
                                        <p:tav tm="0">
                                          <p:val>
                                            <p:strVal val="#ppt_x"/>
                                          </p:val>
                                        </p:tav>
                                        <p:tav tm="100000">
                                          <p:val>
                                            <p:strVal val="#ppt_x"/>
                                          </p:val>
                                        </p:tav>
                                      </p:tavLst>
                                    </p:anim>
                                    <p:anim calcmode="lin" valueType="num">
                                      <p:cBhvr additive="base">
                                        <p:cTn id="83" dur="700" fill="hold"/>
                                        <p:tgtEl>
                                          <p:spTgt spid="32"/>
                                        </p:tgtEl>
                                        <p:attrNameLst>
                                          <p:attrName>ppt_y</p:attrName>
                                        </p:attrNameLst>
                                      </p:cBhvr>
                                      <p:tavLst>
                                        <p:tav tm="0">
                                          <p:val>
                                            <p:strVal val="#ppt_y+.08"/>
                                          </p:val>
                                        </p:tav>
                                        <p:tav tm="100000">
                                          <p:val>
                                            <p:strVal val="#ppt_y"/>
                                          </p:val>
                                        </p:tav>
                                      </p:tavLst>
                                    </p:anim>
                                  </p:childTnLst>
                                </p:cTn>
                              </p:par>
                              <p:par>
                                <p:cTn id="89" presetID="42" presetClass="entr" presetSubtype="0" fill="hold" grpId="0" nodeType="withEffect">
                                  <p:stCondLst>
                                    <p:cond delay="2660"/>
                                  </p:stCondLst>
                                  <p:childTnLst>
                                    <p:set>
                                      <p:cBhvr>
                                        <p:cTn id="90" dur="1" fill="hold">
                                          <p:stCondLst>
                                            <p:cond delay="0"/>
                                          </p:stCondLst>
                                        </p:cTn>
                                        <p:tgtEl>
                                          <p:spTgt spid="33"/>
                                        </p:tgtEl>
                                        <p:attrNameLst>
                                          <p:attrName>style.visibility</p:attrName>
                                        </p:attrNameLst>
                                      </p:cBhvr>
                                      <p:to>
                                        <p:strVal val="visible"/>
                                      </p:to>
                                    </p:set>
                                    <p:animEffect transition="in" filter="fade">
                                      <p:cBhvr>
                                        <p:cTn id="86" dur="700"/>
                                        <p:tgtEl>
                                          <p:spTgt spid="33"/>
                                        </p:tgtEl>
                                      </p:cBhvr>
                                    </p:animEffect>
                                    <p:anim calcmode="lin" valueType="num">
                                      <p:cBhvr additive="base">
                                        <p:cTn id="87" dur="700" fill="hold"/>
                                        <p:tgtEl>
                                          <p:spTgt spid="33"/>
                                        </p:tgtEl>
                                        <p:attrNameLst>
                                          <p:attrName>ppt_x</p:attrName>
                                        </p:attrNameLst>
                                      </p:cBhvr>
                                      <p:tavLst>
                                        <p:tav tm="0">
                                          <p:val>
                                            <p:strVal val="#ppt_x"/>
                                          </p:val>
                                        </p:tav>
                                        <p:tav tm="100000">
                                          <p:val>
                                            <p:strVal val="#ppt_x"/>
                                          </p:val>
                                        </p:tav>
                                      </p:tavLst>
                                    </p:anim>
                                    <p:anim calcmode="lin" valueType="num">
                                      <p:cBhvr additive="base">
                                        <p:cTn id="88" dur="700" fill="hold"/>
                                        <p:tgtEl>
                                          <p:spTgt spid="3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P spid="28" grpId="0" animBg="1"/>
      <p:bldP spid="29" grpId="0" animBg="1"/>
      <p:bldP spid="30" grpId="0" animBg="1"/>
      <p:bldP spid="3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7406640" y="-1005840"/>
            <a:ext cx="2560320" cy="2560320"/>
          </a:xfrm>
          <a:prstGeom prst="rect">
            <a:avLst/>
          </a:prstGeom>
        </p:spPr>
      </p:pic>
      <p:sp>
        <p:nvSpPr>
          <p:cNvPr id="3" name="Text 0"/>
          <p:cNvSpPr txBox="1"/>
          <p:nvPr/>
        </p:nvSpPr>
        <p:spPr>
          <a:xfrm>
            <a:off x="457200" y="274320"/>
            <a:ext cx="6858000" cy="228600"/>
          </a:xfrm>
          <a:prstGeom prst="rect">
            <a:avLst/>
          </a:prstGeom>
          <a:noFill/>
          <a:ln/>
        </p:spPr>
        <p:txBody>
          <a:bodyPr wrap="square" lIns="0" tIns="0" rIns="0" bIns="0" rtlCol="0" anchor="t"/>
          <a:lstStyle/>
          <a:p>
            <a:pPr indent="0" marL="0">
              <a:buNone/>
            </a:pPr>
            <a:r>
              <a:rPr lang="en-US" sz="1050" b="1" spc="200" kern="0" dirty="0">
                <a:solidFill>
                  <a:srgbClr val="1F4FA8"/>
                </a:solidFill>
                <a:latin typeface="Calibri" pitchFamily="34" charset="0"/>
                <a:ea typeface="Calibri" pitchFamily="34" charset="-122"/>
                <a:cs typeface="Calibri" pitchFamily="34" charset="-120"/>
              </a:rPr>
              <a:t>I · 1.2</a:t>
            </a:r>
            <a:endParaRPr lang="en-US" sz="1050" dirty="0"/>
          </a:p>
        </p:txBody>
      </p:sp>
      <p:sp>
        <p:nvSpPr>
          <p:cNvPr id="4" name="Text 1"/>
          <p:cNvSpPr txBox="1"/>
          <p:nvPr/>
        </p:nvSpPr>
        <p:spPr>
          <a:xfrm>
            <a:off x="457200" y="502920"/>
            <a:ext cx="7863840" cy="548640"/>
          </a:xfrm>
          <a:prstGeom prst="rect">
            <a:avLst/>
          </a:prstGeom>
          <a:noFill/>
          <a:ln/>
        </p:spPr>
        <p:txBody>
          <a:bodyPr wrap="square" lIns="0" tIns="0" rIns="0" bIns="0" rtlCol="0" anchor="ctr"/>
          <a:lstStyle/>
          <a:p>
            <a:pPr indent="0" marL="0">
              <a:buNone/>
            </a:pPr>
            <a:r>
              <a:rPr lang="en-US" sz="2600" b="1" dirty="0">
                <a:solidFill>
                  <a:srgbClr val="0B1F4B"/>
                </a:solidFill>
                <a:latin typeface="Cambria" pitchFamily="34" charset="0"/>
                <a:ea typeface="Cambria" pitchFamily="34" charset="-122"/>
                <a:cs typeface="Cambria" pitchFamily="34" charset="-120"/>
              </a:rPr>
              <a:t>Ce que le marché unique change vraiment</a:t>
            </a:r>
            <a:endParaRPr lang="en-US" sz="2600" dirty="0"/>
          </a:p>
        </p:txBody>
      </p:sp>
      <p:sp>
        <p:nvSpPr>
          <p:cNvPr id="5" name="Text 2"/>
          <p:cNvSpPr txBox="1"/>
          <p:nvPr/>
        </p:nvSpPr>
        <p:spPr>
          <a:xfrm>
            <a:off x="8321040" y="4773168"/>
            <a:ext cx="365760" cy="228600"/>
          </a:xfrm>
          <a:prstGeom prst="rect">
            <a:avLst/>
          </a:prstGeom>
          <a:noFill/>
          <a:ln/>
        </p:spPr>
        <p:txBody>
          <a:bodyPr wrap="square" lIns="0" tIns="0" rIns="0" bIns="0" rtlCol="0" anchor="t"/>
          <a:lstStyle/>
          <a:p>
            <a:pPr algn="r" indent="0" marL="0">
              <a:buNone/>
            </a:pPr>
            <a:r>
              <a:rPr lang="en-US" sz="1000" dirty="0">
                <a:solidFill>
                  <a:srgbClr val="5B6478"/>
                </a:solidFill>
                <a:latin typeface="Calibri" pitchFamily="34" charset="0"/>
                <a:ea typeface="Calibri" pitchFamily="34" charset="-122"/>
                <a:cs typeface="Calibri" pitchFamily="34" charset="-120"/>
              </a:rPr>
              <a:t>8</a:t>
            </a:r>
            <a:endParaRPr lang="en-US" sz="1000" dirty="0"/>
          </a:p>
        </p:txBody>
      </p:sp>
      <p:sp>
        <p:nvSpPr>
          <p:cNvPr id="6" name="A1-fadeleft-130"/>
          <p:cNvSpPr/>
          <p:nvPr/>
        </p:nvSpPr>
        <p:spPr>
          <a:xfrm>
            <a:off x="457200" y="1280160"/>
            <a:ext cx="3840480" cy="3383280"/>
          </a:xfrm>
          <a:prstGeom prst="roundRect">
            <a:avLst>
              <a:gd name="adj" fmla="val 3243"/>
            </a:avLst>
          </a:prstGeom>
          <a:solidFill>
            <a:srgbClr val="0B1F4B"/>
          </a:solidFill>
          <a:ln w="12700">
            <a:solidFill>
              <a:srgbClr val="0B1F4B"/>
            </a:solidFill>
            <a:prstDash val="solid"/>
          </a:ln>
          <a:effectLst>
            <a:outerShdw sx="100000" sy="100000" kx="0" ky="0" algn="bl" rotWithShape="0" blurRad="101600" dist="25400" dir="5400000">
              <a:srgbClr val="0B1F4B">
                <a:alpha val="12000"/>
              </a:srgbClr>
            </a:outerShdw>
          </a:effectLst>
        </p:spPr>
      </p:sp>
      <p:sp>
        <p:nvSpPr>
          <p:cNvPr id="7" name="A1-zoom-131"/>
          <p:cNvSpPr/>
          <p:nvPr/>
        </p:nvSpPr>
        <p:spPr>
          <a:xfrm>
            <a:off x="731520" y="1508760"/>
            <a:ext cx="640080" cy="640080"/>
          </a:xfrm>
          <a:prstGeom prst="ellipse">
            <a:avLst/>
          </a:prstGeom>
          <a:solidFill>
            <a:srgbClr val="FFC21A"/>
          </a:solidFill>
          <a:ln w="12700">
            <a:solidFill>
              <a:srgbClr val="FFC21A"/>
            </a:solidFill>
            <a:prstDash val="solid"/>
          </a:ln>
        </p:spPr>
      </p:sp>
      <p:pic>
        <p:nvPicPr>
          <p:cNvPr id="8" name="A1-zoom-132" descr="preencoded.png">    </p:cNvPr>
          <p:cNvPicPr>
            <a:picLocks noChangeAspect="1"/>
          </p:cNvPicPr>
          <p:nvPr/>
        </p:nvPicPr>
        <p:blipFill>
          <a:blip r:embed="rId3"/>
          <a:stretch>
            <a:fillRect/>
          </a:stretch>
        </p:blipFill>
        <p:spPr>
          <a:xfrm>
            <a:off x="904342" y="1681582"/>
            <a:ext cx="294437" cy="294437"/>
          </a:xfrm>
          <a:prstGeom prst="rect">
            <a:avLst/>
          </a:prstGeom>
        </p:spPr>
      </p:pic>
      <p:sp>
        <p:nvSpPr>
          <p:cNvPr id="9" name="A1-fadeleft-133"/>
          <p:cNvSpPr txBox="1"/>
          <p:nvPr/>
        </p:nvSpPr>
        <p:spPr>
          <a:xfrm>
            <a:off x="1508760" y="1508760"/>
            <a:ext cx="2697480" cy="347472"/>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Arrêt Cassis de Dijon</a:t>
            </a:r>
            <a:endParaRPr lang="en-US" sz="1600" dirty="0"/>
          </a:p>
        </p:txBody>
      </p:sp>
      <p:sp>
        <p:nvSpPr>
          <p:cNvPr id="10" name="A1-fadeleft-134"/>
          <p:cNvSpPr txBox="1"/>
          <p:nvPr/>
        </p:nvSpPr>
        <p:spPr>
          <a:xfrm>
            <a:off x="1508760" y="1856232"/>
            <a:ext cx="2651760" cy="274320"/>
          </a:xfrm>
          <a:prstGeom prst="rect">
            <a:avLst/>
          </a:prstGeom>
          <a:noFill/>
          <a:ln/>
        </p:spPr>
        <p:txBody>
          <a:bodyPr wrap="square" lIns="0" tIns="0" rIns="0" bIns="0" rtlCol="0" anchor="t"/>
          <a:lstStyle/>
          <a:p>
            <a:pPr indent="0" marL="0">
              <a:buNone/>
            </a:pPr>
            <a:r>
              <a:rPr lang="en-US" sz="1100" dirty="0">
                <a:solidFill>
                  <a:srgbClr val="FFC21A"/>
                </a:solidFill>
                <a:latin typeface="Calibri" pitchFamily="34" charset="0"/>
                <a:ea typeface="Calibri" pitchFamily="34" charset="-122"/>
                <a:cs typeface="Calibri" pitchFamily="34" charset="-120"/>
              </a:rPr>
              <a:t>Cour de justice · 20 février 1979</a:t>
            </a:r>
            <a:endParaRPr lang="en-US" sz="1100" dirty="0"/>
          </a:p>
        </p:txBody>
      </p:sp>
      <p:sp>
        <p:nvSpPr>
          <p:cNvPr id="11" name="A2-fade-135"/>
          <p:cNvSpPr txBox="1"/>
          <p:nvPr/>
        </p:nvSpPr>
        <p:spPr>
          <a:xfrm>
            <a:off x="731520" y="2377440"/>
            <a:ext cx="3291840" cy="868680"/>
          </a:xfrm>
          <a:prstGeom prst="rect">
            <a:avLst/>
          </a:prstGeom>
          <a:noFill/>
          <a:ln/>
        </p:spPr>
        <p:txBody>
          <a:bodyPr wrap="square" lIns="0" tIns="0" rIns="0" bIns="0" rtlCol="0" anchor="t"/>
          <a:lstStyle/>
          <a:p>
            <a:pPr indent="0" marL="0">
              <a:buNone/>
            </a:pPr>
            <a:r>
              <a:rPr lang="en-US" sz="1300" dirty="0">
                <a:solidFill>
                  <a:srgbClr val="E1E8F7"/>
                </a:solidFill>
                <a:latin typeface="Calibri" pitchFamily="34" charset="0"/>
                <a:ea typeface="Calibri" pitchFamily="34" charset="-122"/>
                <a:cs typeface="Calibri" pitchFamily="34" charset="-120"/>
              </a:rPr>
              <a:t>Un produit légalement fabriqué et vendu dans un État membre ne peut en principe être interdit dans un autre.</a:t>
            </a:r>
            <a:endParaRPr lang="en-US" sz="1300" dirty="0"/>
          </a:p>
        </p:txBody>
      </p:sp>
      <p:sp>
        <p:nvSpPr>
          <p:cNvPr id="12" name="A3-fade-136"/>
          <p:cNvSpPr txBox="1"/>
          <p:nvPr/>
        </p:nvSpPr>
        <p:spPr>
          <a:xfrm>
            <a:off x="731520" y="3291840"/>
            <a:ext cx="3291840" cy="1188720"/>
          </a:xfrm>
          <a:prstGeom prst="rect">
            <a:avLst/>
          </a:prstGeom>
          <a:noFill/>
          <a:ln/>
        </p:spPr>
        <p:txBody>
          <a:bodyPr wrap="square" lIns="0" tIns="0" rIns="0" bIns="0" rtlCol="0" anchor="t"/>
          <a:lstStyle/>
          <a:p>
            <a:pPr indent="0" marL="0">
              <a:buNone/>
            </a:pPr>
            <a:r>
              <a:rPr lang="en-US" sz="1200" b="1" dirty="0">
                <a:solidFill>
                  <a:srgbClr val="FFC21A"/>
                </a:solidFill>
                <a:latin typeface="Calibri" pitchFamily="34" charset="0"/>
                <a:ea typeface="Calibri" pitchFamily="34" charset="-122"/>
                <a:cs typeface="Calibri" pitchFamily="34" charset="-120"/>
              </a:rPr>
              <a:t>→ Reconnaissance mutuelle
</a:t>
            </a:r>
            <a:pPr indent="0" marL="0">
              <a:buNone/>
            </a:pPr>
            <a:r>
              <a:rPr lang="en-US" sz="1200" dirty="0">
                <a:solidFill>
                  <a:srgbClr val="C9D5F0"/>
                </a:solidFill>
                <a:latin typeface="Calibri" pitchFamily="34" charset="0"/>
                <a:ea typeface="Calibri" pitchFamily="34" charset="-122"/>
                <a:cs typeface="Calibri" pitchFamily="34" charset="-120"/>
              </a:rPr>
              <a:t>Harmonisation limitée aux exigences essentielles (santé, sécurité, environnement) — « nouvelle approche » de 1985.</a:t>
            </a:r>
            <a:endParaRPr lang="en-US" sz="1200" dirty="0"/>
          </a:p>
        </p:txBody>
      </p:sp>
      <p:sp>
        <p:nvSpPr>
          <p:cNvPr id="13" name="A4-zoom-137"/>
          <p:cNvSpPr/>
          <p:nvPr/>
        </p:nvSpPr>
        <p:spPr>
          <a:xfrm>
            <a:off x="4572000" y="1325880"/>
            <a:ext cx="566928" cy="566928"/>
          </a:xfrm>
          <a:prstGeom prst="ellipse">
            <a:avLst/>
          </a:prstGeom>
          <a:solidFill>
            <a:srgbClr val="EEF2FA"/>
          </a:solidFill>
          <a:ln w="12700">
            <a:solidFill>
              <a:srgbClr val="EEF2FA"/>
            </a:solidFill>
            <a:prstDash val="solid"/>
          </a:ln>
        </p:spPr>
      </p:sp>
      <p:pic>
        <p:nvPicPr>
          <p:cNvPr id="14" name="A4-zoom-138" descr="preencoded.png">    </p:cNvPr>
          <p:cNvPicPr>
            <a:picLocks noChangeAspect="1"/>
          </p:cNvPicPr>
          <p:nvPr/>
        </p:nvPicPr>
        <p:blipFill>
          <a:blip r:embed="rId4"/>
          <a:stretch>
            <a:fillRect/>
          </a:stretch>
        </p:blipFill>
        <p:spPr>
          <a:xfrm>
            <a:off x="4725071" y="1478951"/>
            <a:ext cx="260787" cy="260787"/>
          </a:xfrm>
          <a:prstGeom prst="rect">
            <a:avLst/>
          </a:prstGeom>
        </p:spPr>
      </p:pic>
      <p:sp>
        <p:nvSpPr>
          <p:cNvPr id="15" name="A4-fadeleft-139"/>
          <p:cNvSpPr txBox="1"/>
          <p:nvPr/>
        </p:nvSpPr>
        <p:spPr>
          <a:xfrm>
            <a:off x="5303520" y="1298448"/>
            <a:ext cx="3383280" cy="320040"/>
          </a:xfrm>
          <a:prstGeom prst="rect">
            <a:avLst/>
          </a:prstGeom>
          <a:noFill/>
          <a:ln/>
        </p:spPr>
        <p:txBody>
          <a:bodyPr wrap="square" lIns="0" tIns="0" rIns="0" bIns="0" rtlCol="0" anchor="t"/>
          <a:lstStyle/>
          <a:p>
            <a:pPr indent="0" marL="0">
              <a:buNone/>
            </a:pPr>
            <a:r>
              <a:rPr lang="en-US" sz="1450" b="1" dirty="0">
                <a:solidFill>
                  <a:srgbClr val="0B1F4B"/>
                </a:solidFill>
                <a:latin typeface="Calibri" pitchFamily="34" charset="0"/>
                <a:ea typeface="Calibri" pitchFamily="34" charset="-122"/>
                <a:cs typeface="Calibri" pitchFamily="34" charset="-120"/>
              </a:rPr>
              <a:t>Services &amp; établissement</a:t>
            </a:r>
            <a:endParaRPr lang="en-US" sz="1450" dirty="0"/>
          </a:p>
        </p:txBody>
      </p:sp>
      <p:sp>
        <p:nvSpPr>
          <p:cNvPr id="16" name="A4-fadeleft-140"/>
          <p:cNvSpPr txBox="1"/>
          <p:nvPr/>
        </p:nvSpPr>
        <p:spPr>
          <a:xfrm>
            <a:off x="5303520" y="1627632"/>
            <a:ext cx="3383280" cy="365760"/>
          </a:xfrm>
          <a:prstGeom prst="rect">
            <a:avLst/>
          </a:prstGeom>
          <a:noFill/>
          <a:ln/>
        </p:spPr>
        <p:txBody>
          <a:bodyPr wrap="square" lIns="0" tIns="0" rIns="0" bIns="0" rtlCol="0" anchor="t"/>
          <a:lstStyle/>
          <a:p>
            <a:pPr indent="0" marL="0">
              <a:buNone/>
            </a:pPr>
            <a:r>
              <a:rPr lang="en-US" sz="1150" dirty="0">
                <a:solidFill>
                  <a:srgbClr val="5B6478"/>
                </a:solidFill>
                <a:latin typeface="Calibri" pitchFamily="34" charset="0"/>
                <a:ea typeface="Calibri" pitchFamily="34" charset="-122"/>
                <a:cs typeface="Calibri" pitchFamily="34" charset="-120"/>
              </a:rPr>
              <a:t>Directive « services » de 2006</a:t>
            </a:r>
            <a:endParaRPr lang="en-US" sz="1150" dirty="0"/>
          </a:p>
        </p:txBody>
      </p:sp>
      <p:sp>
        <p:nvSpPr>
          <p:cNvPr id="17" name="A5-zoom-141"/>
          <p:cNvSpPr/>
          <p:nvPr/>
        </p:nvSpPr>
        <p:spPr>
          <a:xfrm>
            <a:off x="4572000" y="2194560"/>
            <a:ext cx="566928" cy="566928"/>
          </a:xfrm>
          <a:prstGeom prst="ellipse">
            <a:avLst/>
          </a:prstGeom>
          <a:solidFill>
            <a:srgbClr val="EEF2FA"/>
          </a:solidFill>
          <a:ln w="12700">
            <a:solidFill>
              <a:srgbClr val="EEF2FA"/>
            </a:solidFill>
            <a:prstDash val="solid"/>
          </a:ln>
        </p:spPr>
      </p:sp>
      <p:pic>
        <p:nvPicPr>
          <p:cNvPr id="18" name="A5-zoom-142" descr="preencoded.png">    </p:cNvPr>
          <p:cNvPicPr>
            <a:picLocks noChangeAspect="1"/>
          </p:cNvPicPr>
          <p:nvPr/>
        </p:nvPicPr>
        <p:blipFill>
          <a:blip r:embed="rId5"/>
          <a:stretch>
            <a:fillRect/>
          </a:stretch>
        </p:blipFill>
        <p:spPr>
          <a:xfrm>
            <a:off x="4725071" y="2347631"/>
            <a:ext cx="260787" cy="260787"/>
          </a:xfrm>
          <a:prstGeom prst="rect">
            <a:avLst/>
          </a:prstGeom>
        </p:spPr>
      </p:pic>
      <p:sp>
        <p:nvSpPr>
          <p:cNvPr id="19" name="A5-fadeleft-143"/>
          <p:cNvSpPr txBox="1"/>
          <p:nvPr/>
        </p:nvSpPr>
        <p:spPr>
          <a:xfrm>
            <a:off x="5303520" y="2167128"/>
            <a:ext cx="3383280" cy="320040"/>
          </a:xfrm>
          <a:prstGeom prst="rect">
            <a:avLst/>
          </a:prstGeom>
          <a:noFill/>
          <a:ln/>
        </p:spPr>
        <p:txBody>
          <a:bodyPr wrap="square" lIns="0" tIns="0" rIns="0" bIns="0" rtlCol="0" anchor="t"/>
          <a:lstStyle/>
          <a:p>
            <a:pPr indent="0" marL="0">
              <a:buNone/>
            </a:pPr>
            <a:r>
              <a:rPr lang="en-US" sz="1450" b="1" dirty="0">
                <a:solidFill>
                  <a:srgbClr val="0B1F4B"/>
                </a:solidFill>
                <a:latin typeface="Calibri" pitchFamily="34" charset="0"/>
                <a:ea typeface="Calibri" pitchFamily="34" charset="-122"/>
                <a:cs typeface="Calibri" pitchFamily="34" charset="-120"/>
              </a:rPr>
              <a:t>Capitaux</a:t>
            </a:r>
            <a:endParaRPr lang="en-US" sz="1450" dirty="0"/>
          </a:p>
        </p:txBody>
      </p:sp>
      <p:sp>
        <p:nvSpPr>
          <p:cNvPr id="20" name="A5-fadeleft-144"/>
          <p:cNvSpPr txBox="1"/>
          <p:nvPr/>
        </p:nvSpPr>
        <p:spPr>
          <a:xfrm>
            <a:off x="5303520" y="2496312"/>
            <a:ext cx="3383280" cy="365760"/>
          </a:xfrm>
          <a:prstGeom prst="rect">
            <a:avLst/>
          </a:prstGeom>
          <a:noFill/>
          <a:ln/>
        </p:spPr>
        <p:txBody>
          <a:bodyPr wrap="square" lIns="0" tIns="0" rIns="0" bIns="0" rtlCol="0" anchor="t"/>
          <a:lstStyle/>
          <a:p>
            <a:pPr indent="0" marL="0">
              <a:buNone/>
            </a:pPr>
            <a:r>
              <a:rPr lang="en-US" sz="1150" dirty="0">
                <a:solidFill>
                  <a:srgbClr val="5B6478"/>
                </a:solidFill>
                <a:latin typeface="Calibri" pitchFamily="34" charset="0"/>
                <a:ea typeface="Calibri" pitchFamily="34" charset="-122"/>
                <a:cs typeface="Calibri" pitchFamily="34" charset="-120"/>
              </a:rPr>
              <a:t>Directive 88/361 : libéralisation effective en 1990</a:t>
            </a:r>
            <a:endParaRPr lang="en-US" sz="1150" dirty="0"/>
          </a:p>
        </p:txBody>
      </p:sp>
      <p:sp>
        <p:nvSpPr>
          <p:cNvPr id="21" name="A6-zoom-145"/>
          <p:cNvSpPr/>
          <p:nvPr/>
        </p:nvSpPr>
        <p:spPr>
          <a:xfrm>
            <a:off x="4572000" y="3063240"/>
            <a:ext cx="566928" cy="566928"/>
          </a:xfrm>
          <a:prstGeom prst="ellipse">
            <a:avLst/>
          </a:prstGeom>
          <a:solidFill>
            <a:srgbClr val="EEF2FA"/>
          </a:solidFill>
          <a:ln w="12700">
            <a:solidFill>
              <a:srgbClr val="EEF2FA"/>
            </a:solidFill>
            <a:prstDash val="solid"/>
          </a:ln>
        </p:spPr>
      </p:sp>
      <p:pic>
        <p:nvPicPr>
          <p:cNvPr id="22" name="A6-zoom-146" descr="preencoded.png">    </p:cNvPr>
          <p:cNvPicPr>
            <a:picLocks noChangeAspect="1"/>
          </p:cNvPicPr>
          <p:nvPr/>
        </p:nvPicPr>
        <p:blipFill>
          <a:blip r:embed="rId6"/>
          <a:stretch>
            <a:fillRect/>
          </a:stretch>
        </p:blipFill>
        <p:spPr>
          <a:xfrm>
            <a:off x="4725071" y="3216311"/>
            <a:ext cx="260787" cy="260787"/>
          </a:xfrm>
          <a:prstGeom prst="rect">
            <a:avLst/>
          </a:prstGeom>
        </p:spPr>
      </p:pic>
      <p:sp>
        <p:nvSpPr>
          <p:cNvPr id="23" name="A6-fadeleft-147"/>
          <p:cNvSpPr txBox="1"/>
          <p:nvPr/>
        </p:nvSpPr>
        <p:spPr>
          <a:xfrm>
            <a:off x="5303520" y="3035808"/>
            <a:ext cx="3383280" cy="320040"/>
          </a:xfrm>
          <a:prstGeom prst="rect">
            <a:avLst/>
          </a:prstGeom>
          <a:noFill/>
          <a:ln/>
        </p:spPr>
        <p:txBody>
          <a:bodyPr wrap="square" lIns="0" tIns="0" rIns="0" bIns="0" rtlCol="0" anchor="t"/>
          <a:lstStyle/>
          <a:p>
            <a:pPr indent="0" marL="0">
              <a:buNone/>
            </a:pPr>
            <a:r>
              <a:rPr lang="en-US" sz="1450" b="1" dirty="0">
                <a:solidFill>
                  <a:srgbClr val="0B1F4B"/>
                </a:solidFill>
                <a:latin typeface="Calibri" pitchFamily="34" charset="0"/>
                <a:ea typeface="Calibri" pitchFamily="34" charset="-122"/>
                <a:cs typeface="Calibri" pitchFamily="34" charset="-120"/>
              </a:rPr>
              <a:t>Personnes</a:t>
            </a:r>
            <a:endParaRPr lang="en-US" sz="1450" dirty="0"/>
          </a:p>
        </p:txBody>
      </p:sp>
      <p:sp>
        <p:nvSpPr>
          <p:cNvPr id="24" name="A6-fadeleft-148"/>
          <p:cNvSpPr txBox="1"/>
          <p:nvPr/>
        </p:nvSpPr>
        <p:spPr>
          <a:xfrm>
            <a:off x="5303520" y="3364992"/>
            <a:ext cx="3383280" cy="365760"/>
          </a:xfrm>
          <a:prstGeom prst="rect">
            <a:avLst/>
          </a:prstGeom>
          <a:noFill/>
          <a:ln/>
        </p:spPr>
        <p:txBody>
          <a:bodyPr wrap="square" lIns="0" tIns="0" rIns="0" bIns="0" rtlCol="0" anchor="t"/>
          <a:lstStyle/>
          <a:p>
            <a:pPr indent="0" marL="0">
              <a:buNone/>
            </a:pPr>
            <a:r>
              <a:rPr lang="en-US" sz="1150" dirty="0">
                <a:solidFill>
                  <a:srgbClr val="5B6478"/>
                </a:solidFill>
                <a:latin typeface="Calibri" pitchFamily="34" charset="0"/>
                <a:ea typeface="Calibri" pitchFamily="34" charset="-122"/>
                <a:cs typeface="Calibri" pitchFamily="34" charset="-120"/>
              </a:rPr>
              <a:t>Prévu dès 1957 (art. 48), concrétisé progressivement</a:t>
            </a:r>
            <a:endParaRPr lang="en-US" sz="1150" dirty="0"/>
          </a:p>
        </p:txBody>
      </p:sp>
      <p:sp>
        <p:nvSpPr>
          <p:cNvPr id="25" name="A7-zoom-149"/>
          <p:cNvSpPr/>
          <p:nvPr/>
        </p:nvSpPr>
        <p:spPr>
          <a:xfrm>
            <a:off x="4572000" y="3931920"/>
            <a:ext cx="566928" cy="566928"/>
          </a:xfrm>
          <a:prstGeom prst="ellipse">
            <a:avLst/>
          </a:prstGeom>
          <a:solidFill>
            <a:srgbClr val="EEF2FA"/>
          </a:solidFill>
          <a:ln w="12700">
            <a:solidFill>
              <a:srgbClr val="EEF2FA"/>
            </a:solidFill>
            <a:prstDash val="solid"/>
          </a:ln>
        </p:spPr>
      </p:sp>
      <p:pic>
        <p:nvPicPr>
          <p:cNvPr id="26" name="A7-zoom-150" descr="preencoded.png">    </p:cNvPr>
          <p:cNvPicPr>
            <a:picLocks noChangeAspect="1"/>
          </p:cNvPicPr>
          <p:nvPr/>
        </p:nvPicPr>
        <p:blipFill>
          <a:blip r:embed="rId7"/>
          <a:stretch>
            <a:fillRect/>
          </a:stretch>
        </p:blipFill>
        <p:spPr>
          <a:xfrm>
            <a:off x="4725071" y="4084991"/>
            <a:ext cx="260787" cy="260787"/>
          </a:xfrm>
          <a:prstGeom prst="rect">
            <a:avLst/>
          </a:prstGeom>
        </p:spPr>
      </p:pic>
      <p:sp>
        <p:nvSpPr>
          <p:cNvPr id="27" name="A7-fadeleft-151"/>
          <p:cNvSpPr txBox="1"/>
          <p:nvPr/>
        </p:nvSpPr>
        <p:spPr>
          <a:xfrm>
            <a:off x="5303520" y="3904488"/>
            <a:ext cx="3383280" cy="320040"/>
          </a:xfrm>
          <a:prstGeom prst="rect">
            <a:avLst/>
          </a:prstGeom>
          <a:noFill/>
          <a:ln/>
        </p:spPr>
        <p:txBody>
          <a:bodyPr wrap="square" lIns="0" tIns="0" rIns="0" bIns="0" rtlCol="0" anchor="t"/>
          <a:lstStyle/>
          <a:p>
            <a:pPr indent="0" marL="0">
              <a:buNone/>
            </a:pPr>
            <a:r>
              <a:rPr lang="en-US" sz="1450" b="1" dirty="0">
                <a:solidFill>
                  <a:srgbClr val="0B1F4B"/>
                </a:solidFill>
                <a:latin typeface="Calibri" pitchFamily="34" charset="0"/>
                <a:ea typeface="Calibri" pitchFamily="34" charset="-122"/>
                <a:cs typeface="Calibri" pitchFamily="34" charset="-120"/>
              </a:rPr>
              <a:t>Règles de concurrence communes</a:t>
            </a:r>
            <a:endParaRPr lang="en-US" sz="1450" dirty="0"/>
          </a:p>
        </p:txBody>
      </p:sp>
      <p:sp>
        <p:nvSpPr>
          <p:cNvPr id="28" name="A7-fadeleft-152"/>
          <p:cNvSpPr txBox="1"/>
          <p:nvPr/>
        </p:nvSpPr>
        <p:spPr>
          <a:xfrm>
            <a:off x="5303520" y="4233672"/>
            <a:ext cx="3383280" cy="365760"/>
          </a:xfrm>
          <a:prstGeom prst="rect">
            <a:avLst/>
          </a:prstGeom>
          <a:noFill/>
          <a:ln/>
        </p:spPr>
        <p:txBody>
          <a:bodyPr wrap="square" lIns="0" tIns="0" rIns="0" bIns="0" rtlCol="0" anchor="t"/>
          <a:lstStyle/>
          <a:p>
            <a:pPr indent="0" marL="0">
              <a:buNone/>
            </a:pPr>
            <a:r>
              <a:rPr lang="en-US" sz="1150" dirty="0">
                <a:solidFill>
                  <a:srgbClr val="5B6478"/>
                </a:solidFill>
                <a:latin typeface="Calibri" pitchFamily="34" charset="0"/>
                <a:ea typeface="Calibri" pitchFamily="34" charset="-122"/>
                <a:cs typeface="Calibri" pitchFamily="34" charset="-120"/>
              </a:rPr>
              <a:t>Ententes, abus de position dominante, aides d'État</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114" fill="hold">
                      <p:stCondLst>
                        <p:cond delay="indefinite"/>
                        <p:cond evt="onBegin" delay="0">
                          <p:tn val="2"/>
                        </p:cond>
                      </p:stCondLst>
                      <p:childTnLst>
                        <p:par>
                          <p:cTn id="115" fill="hold">
                            <p:stCondLst>
                              <p:cond delay="0"/>
                            </p:stCondLst>
                            <p:childTnLst>
                              <p:par>
                                <p:cTn id="6" presetID="42" presetClass="entr" presetSubtype="0" fill="hold" grpId="0" nodeType="withEffect">
                                  <p:stCondLst>
                                    <p:cond delay="380"/>
                                  </p:stCondLst>
                                  <p:childTnLst>
                                    <p:set>
                                      <p:cBhvr>
                                        <p:cTn id="7" dur="1" fill="hold">
                                          <p:stCondLst>
                                            <p:cond delay="0"/>
                                          </p:stCondLst>
                                        </p:cTn>
                                        <p:tgtEl>
                                          <p:spTgt spid="6"/>
                                        </p:tgtEl>
                                        <p:attrNameLst>
                                          <p:attrName>style.visibility</p:attrName>
                                        </p:attrNameLst>
                                      </p:cBhvr>
                                      <p:to>
                                        <p:strVal val="visible"/>
                                      </p:to>
                                    </p:set>
                                    <p:animEffect transition="in" filter="fade">
                                      <p:cBhvr>
                                        <p:cTn id="3" dur="650"/>
                                        <p:tgtEl>
                                          <p:spTgt spid="6"/>
                                        </p:tgtEl>
                                      </p:cBhvr>
                                    </p:animEffect>
                                    <p:anim calcmode="lin" valueType="num">
                                      <p:cBhvr additive="base">
                                        <p:cTn id="4" dur="650" fill="hold"/>
                                        <p:tgtEl>
                                          <p:spTgt spid="6"/>
                                        </p:tgtEl>
                                        <p:attrNameLst>
                                          <p:attrName>ppt_x</p:attrName>
                                        </p:attrNameLst>
                                      </p:cBhvr>
                                      <p:tavLst>
                                        <p:tav tm="0">
                                          <p:val>
                                            <p:strVal val="#ppt_x-.06"/>
                                          </p:val>
                                        </p:tav>
                                        <p:tav tm="100000">
                                          <p:val>
                                            <p:strVal val="#ppt_x"/>
                                          </p:val>
                                        </p:tav>
                                      </p:tavLst>
                                    </p:anim>
                                    <p:anim calcmode="lin" valueType="num">
                                      <p:cBhvr additive="base">
                                        <p:cTn id="5" dur="650" fill="hold"/>
                                        <p:tgtEl>
                                          <p:spTgt spid="6"/>
                                        </p:tgtEl>
                                        <p:attrNameLst>
                                          <p:attrName>ppt_y</p:attrName>
                                        </p:attrNameLst>
                                      </p:cBhvr>
                                      <p:tavLst>
                                        <p:tav tm="0">
                                          <p:val>
                                            <p:strVal val="#ppt_y"/>
                                          </p:val>
                                        </p:tav>
                                        <p:tav tm="100000">
                                          <p:val>
                                            <p:strVal val="#ppt_y"/>
                                          </p:val>
                                        </p:tav>
                                      </p:tavLst>
                                    </p:anim>
                                  </p:childTnLst>
                                </p:cTn>
                              </p:par>
                              <p:par>
                                <p:cTn id="11" presetID="53" presetClass="entr" presetSubtype="16" fill="hold" grpId="0" nodeType="withEffect">
                                  <p:stCondLst>
                                    <p:cond delay="38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8" dur="550" fill="hold"/>
                                        <p:tgtEl>
                                          <p:spTgt spid="7"/>
                                        </p:tgtEl>
                                        <p:attrNameLst>
                                          <p:attrName>ppt_w</p:attrName>
                                        </p:attrNameLst>
                                      </p:cBhvr>
                                      <p:tavLst>
                                        <p:tav tm="0">
                                          <p:val>
                                            <p:strVal val="0"/>
                                          </p:val>
                                        </p:tav>
                                        <p:tav tm="100000">
                                          <p:val>
                                            <p:strVal val="#ppt_w"/>
                                          </p:val>
                                        </p:tav>
                                      </p:tavLst>
                                    </p:anim>
                                    <p:anim calcmode="lin" valueType="num">
                                      <p:cBhvr additive="base">
                                        <p:cTn id="9" dur="550" fill="hold"/>
                                        <p:tgtEl>
                                          <p:spTgt spid="7"/>
                                        </p:tgtEl>
                                        <p:attrNameLst>
                                          <p:attrName>ppt_h</p:attrName>
                                        </p:attrNameLst>
                                      </p:cBhvr>
                                      <p:tavLst>
                                        <p:tav tm="0">
                                          <p:val>
                                            <p:strVal val="0"/>
                                          </p:val>
                                        </p:tav>
                                        <p:tav tm="100000">
                                          <p:val>
                                            <p:strVal val="#ppt_h"/>
                                          </p:val>
                                        </p:tav>
                                      </p:tavLst>
                                    </p:anim>
                                    <p:animEffect transition="in" filter="fade">
                                      <p:cBhvr>
                                        <p:cTn id="10" dur="550"/>
                                        <p:tgtEl>
                                          <p:spTgt spid="7"/>
                                        </p:tgtEl>
                                      </p:cBhvr>
                                    </p:animEffect>
                                  </p:childTnLst>
                                </p:cTn>
                              </p:par>
                              <p:par>
                                <p:cTn id="16" presetID="53" presetClass="entr" presetSubtype="16" fill="hold" grpId="0" nodeType="withEffect">
                                  <p:stCondLst>
                                    <p:cond delay="38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3" dur="550" fill="hold"/>
                                        <p:tgtEl>
                                          <p:spTgt spid="8"/>
                                        </p:tgtEl>
                                        <p:attrNameLst>
                                          <p:attrName>ppt_w</p:attrName>
                                        </p:attrNameLst>
                                      </p:cBhvr>
                                      <p:tavLst>
                                        <p:tav tm="0">
                                          <p:val>
                                            <p:strVal val="0"/>
                                          </p:val>
                                        </p:tav>
                                        <p:tav tm="100000">
                                          <p:val>
                                            <p:strVal val="#ppt_w"/>
                                          </p:val>
                                        </p:tav>
                                      </p:tavLst>
                                    </p:anim>
                                    <p:anim calcmode="lin" valueType="num">
                                      <p:cBhvr additive="base">
                                        <p:cTn id="14" dur="550" fill="hold"/>
                                        <p:tgtEl>
                                          <p:spTgt spid="8"/>
                                        </p:tgtEl>
                                        <p:attrNameLst>
                                          <p:attrName>ppt_h</p:attrName>
                                        </p:attrNameLst>
                                      </p:cBhvr>
                                      <p:tavLst>
                                        <p:tav tm="0">
                                          <p:val>
                                            <p:strVal val="0"/>
                                          </p:val>
                                        </p:tav>
                                        <p:tav tm="100000">
                                          <p:val>
                                            <p:strVal val="#ppt_h"/>
                                          </p:val>
                                        </p:tav>
                                      </p:tavLst>
                                    </p:anim>
                                    <p:animEffect transition="in" filter="fade">
                                      <p:cBhvr>
                                        <p:cTn id="15" dur="550"/>
                                        <p:tgtEl>
                                          <p:spTgt spid="8"/>
                                        </p:tgtEl>
                                      </p:cBhvr>
                                    </p:animEffect>
                                  </p:childTnLst>
                                </p:cTn>
                              </p:par>
                              <p:par>
                                <p:cTn id="21" presetID="42" presetClass="entr" presetSubtype="0" fill="hold" grpId="0" nodeType="withEffect">
                                  <p:stCondLst>
                                    <p:cond delay="380"/>
                                  </p:stCondLst>
                                  <p:childTnLst>
                                    <p:set>
                                      <p:cBhvr>
                                        <p:cTn id="22" dur="1" fill="hold">
                                          <p:stCondLst>
                                            <p:cond delay="0"/>
                                          </p:stCondLst>
                                        </p:cTn>
                                        <p:tgtEl>
                                          <p:spTgt spid="9"/>
                                        </p:tgtEl>
                                        <p:attrNameLst>
                                          <p:attrName>style.visibility</p:attrName>
                                        </p:attrNameLst>
                                      </p:cBhvr>
                                      <p:to>
                                        <p:strVal val="visible"/>
                                      </p:to>
                                    </p:set>
                                    <p:animEffect transition="in" filter="fade">
                                      <p:cBhvr>
                                        <p:cTn id="18" dur="650"/>
                                        <p:tgtEl>
                                          <p:spTgt spid="9"/>
                                        </p:tgtEl>
                                      </p:cBhvr>
                                    </p:animEffect>
                                    <p:anim calcmode="lin" valueType="num">
                                      <p:cBhvr additive="base">
                                        <p:cTn id="19" dur="650" fill="hold"/>
                                        <p:tgtEl>
                                          <p:spTgt spid="9"/>
                                        </p:tgtEl>
                                        <p:attrNameLst>
                                          <p:attrName>ppt_x</p:attrName>
                                        </p:attrNameLst>
                                      </p:cBhvr>
                                      <p:tavLst>
                                        <p:tav tm="0">
                                          <p:val>
                                            <p:strVal val="#ppt_x-.06"/>
                                          </p:val>
                                        </p:tav>
                                        <p:tav tm="100000">
                                          <p:val>
                                            <p:strVal val="#ppt_x"/>
                                          </p:val>
                                        </p:tav>
                                      </p:tavLst>
                                    </p:anim>
                                    <p:anim calcmode="lin" valueType="num">
                                      <p:cBhvr additive="base">
                                        <p:cTn id="20" dur="650" fill="hold"/>
                                        <p:tgtEl>
                                          <p:spTgt spid="9"/>
                                        </p:tgtEl>
                                        <p:attrNameLst>
                                          <p:attrName>ppt_y</p:attrName>
                                        </p:attrNameLst>
                                      </p:cBhvr>
                                      <p:tavLst>
                                        <p:tav tm="0">
                                          <p:val>
                                            <p:strVal val="#ppt_y"/>
                                          </p:val>
                                        </p:tav>
                                        <p:tav tm="100000">
                                          <p:val>
                                            <p:strVal val="#ppt_y"/>
                                          </p:val>
                                        </p:tav>
                                      </p:tavLst>
                                    </p:anim>
                                  </p:childTnLst>
                                </p:cTn>
                              </p:par>
                              <p:par>
                                <p:cTn id="26" presetID="42" presetClass="entr" presetSubtype="0" fill="hold" grpId="0" nodeType="withEffect">
                                  <p:stCondLst>
                                    <p:cond delay="380"/>
                                  </p:stCondLst>
                                  <p:childTnLst>
                                    <p:set>
                                      <p:cBhvr>
                                        <p:cTn id="27" dur="1" fill="hold">
                                          <p:stCondLst>
                                            <p:cond delay="0"/>
                                          </p:stCondLst>
                                        </p:cTn>
                                        <p:tgtEl>
                                          <p:spTgt spid="10"/>
                                        </p:tgtEl>
                                        <p:attrNameLst>
                                          <p:attrName>style.visibility</p:attrName>
                                        </p:attrNameLst>
                                      </p:cBhvr>
                                      <p:to>
                                        <p:strVal val="visible"/>
                                      </p:to>
                                    </p:set>
                                    <p:animEffect transition="in" filter="fade">
                                      <p:cBhvr>
                                        <p:cTn id="23" dur="650"/>
                                        <p:tgtEl>
                                          <p:spTgt spid="10"/>
                                        </p:tgtEl>
                                      </p:cBhvr>
                                    </p:animEffect>
                                    <p:anim calcmode="lin" valueType="num">
                                      <p:cBhvr additive="base">
                                        <p:cTn id="24" dur="650" fill="hold"/>
                                        <p:tgtEl>
                                          <p:spTgt spid="10"/>
                                        </p:tgtEl>
                                        <p:attrNameLst>
                                          <p:attrName>ppt_x</p:attrName>
                                        </p:attrNameLst>
                                      </p:cBhvr>
                                      <p:tavLst>
                                        <p:tav tm="0">
                                          <p:val>
                                            <p:strVal val="#ppt_x-.06"/>
                                          </p:val>
                                        </p:tav>
                                        <p:tav tm="100000">
                                          <p:val>
                                            <p:strVal val="#ppt_x"/>
                                          </p:val>
                                        </p:tav>
                                      </p:tavLst>
                                    </p:anim>
                                    <p:anim calcmode="lin" valueType="num">
                                      <p:cBhvr additive="base">
                                        <p:cTn id="25" dur="650" fill="hold"/>
                                        <p:tgtEl>
                                          <p:spTgt spid="10"/>
                                        </p:tgtEl>
                                        <p:attrNameLst>
                                          <p:attrName>ppt_y</p:attrName>
                                        </p:attrNameLst>
                                      </p:cBhvr>
                                      <p:tavLst>
                                        <p:tav tm="0">
                                          <p:val>
                                            <p:strVal val="#ppt_y"/>
                                          </p:val>
                                        </p:tav>
                                        <p:tav tm="100000">
                                          <p:val>
                                            <p:strVal val="#ppt_y"/>
                                          </p:val>
                                        </p:tav>
                                      </p:tavLst>
                                    </p:anim>
                                  </p:childTnLst>
                                </p:cTn>
                              </p:par>
                              <p:par>
                                <p:cTn id="29" presetID="10" presetClass="entr" presetSubtype="0" fill="hold" grpId="0" nodeType="withEffect">
                                  <p:stCondLst>
                                    <p:cond delay="760"/>
                                  </p:stCondLst>
                                  <p:childTnLst>
                                    <p:set>
                                      <p:cBhvr>
                                        <p:cTn id="30" dur="1" fill="hold">
                                          <p:stCondLst>
                                            <p:cond delay="0"/>
                                          </p:stCondLst>
                                        </p:cTn>
                                        <p:tgtEl>
                                          <p:spTgt spid="11"/>
                                        </p:tgtEl>
                                        <p:attrNameLst>
                                          <p:attrName>style.visibility</p:attrName>
                                        </p:attrNameLst>
                                      </p:cBhvr>
                                      <p:to>
                                        <p:strVal val="visible"/>
                                      </p:to>
                                    </p:set>
                                    <p:animEffect transition="in" filter="fade">
                                      <p:cBhvr>
                                        <p:cTn id="28" dur="600"/>
                                        <p:tgtEl>
                                          <p:spTgt spid="11"/>
                                        </p:tgtEl>
                                      </p:cBhvr>
                                    </p:animEffect>
                                  </p:childTnLst>
                                </p:cTn>
                              </p:par>
                              <p:par>
                                <p:cTn id="32" presetID="10" presetClass="entr" presetSubtype="0" fill="hold" grpId="0" nodeType="withEffect">
                                  <p:stCondLst>
                                    <p:cond delay="1140"/>
                                  </p:stCondLst>
                                  <p:childTnLst>
                                    <p:set>
                                      <p:cBhvr>
                                        <p:cTn id="33" dur="1" fill="hold">
                                          <p:stCondLst>
                                            <p:cond delay="0"/>
                                          </p:stCondLst>
                                        </p:cTn>
                                        <p:tgtEl>
                                          <p:spTgt spid="12"/>
                                        </p:tgtEl>
                                        <p:attrNameLst>
                                          <p:attrName>style.visibility</p:attrName>
                                        </p:attrNameLst>
                                      </p:cBhvr>
                                      <p:to>
                                        <p:strVal val="visible"/>
                                      </p:to>
                                    </p:set>
                                    <p:animEffect transition="in" filter="fade">
                                      <p:cBhvr>
                                        <p:cTn id="31" dur="600"/>
                                        <p:tgtEl>
                                          <p:spTgt spid="12"/>
                                        </p:tgtEl>
                                      </p:cBhvr>
                                    </p:animEffect>
                                  </p:childTnLst>
                                </p:cTn>
                              </p:par>
                              <p:par>
                                <p:cTn id="37" presetID="53" presetClass="entr" presetSubtype="16" fill="hold" grpId="0" nodeType="withEffect">
                                  <p:stCondLst>
                                    <p:cond delay="152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4" dur="550" fill="hold"/>
                                        <p:tgtEl>
                                          <p:spTgt spid="13"/>
                                        </p:tgtEl>
                                        <p:attrNameLst>
                                          <p:attrName>ppt_w</p:attrName>
                                        </p:attrNameLst>
                                      </p:cBhvr>
                                      <p:tavLst>
                                        <p:tav tm="0">
                                          <p:val>
                                            <p:strVal val="0"/>
                                          </p:val>
                                        </p:tav>
                                        <p:tav tm="100000">
                                          <p:val>
                                            <p:strVal val="#ppt_w"/>
                                          </p:val>
                                        </p:tav>
                                      </p:tavLst>
                                    </p:anim>
                                    <p:anim calcmode="lin" valueType="num">
                                      <p:cBhvr additive="base">
                                        <p:cTn id="35" dur="550" fill="hold"/>
                                        <p:tgtEl>
                                          <p:spTgt spid="13"/>
                                        </p:tgtEl>
                                        <p:attrNameLst>
                                          <p:attrName>ppt_h</p:attrName>
                                        </p:attrNameLst>
                                      </p:cBhvr>
                                      <p:tavLst>
                                        <p:tav tm="0">
                                          <p:val>
                                            <p:strVal val="0"/>
                                          </p:val>
                                        </p:tav>
                                        <p:tav tm="100000">
                                          <p:val>
                                            <p:strVal val="#ppt_h"/>
                                          </p:val>
                                        </p:tav>
                                      </p:tavLst>
                                    </p:anim>
                                    <p:animEffect transition="in" filter="fade">
                                      <p:cBhvr>
                                        <p:cTn id="36" dur="550"/>
                                        <p:tgtEl>
                                          <p:spTgt spid="13"/>
                                        </p:tgtEl>
                                      </p:cBhvr>
                                    </p:animEffect>
                                  </p:childTnLst>
                                </p:cTn>
                              </p:par>
                              <p:par>
                                <p:cTn id="42" presetID="53" presetClass="entr" presetSubtype="16" fill="hold" grpId="0" nodeType="withEffect">
                                  <p:stCondLst>
                                    <p:cond delay="1520"/>
                                  </p:stCondLst>
                                  <p:childTnLst>
                                    <p:set>
                                      <p:cBhvr>
                                        <p:cTn id="43" dur="1" fill="hold">
                                          <p:stCondLst>
                                            <p:cond delay="0"/>
                                          </p:stCondLst>
                                        </p:cTn>
                                        <p:tgtEl>
                                          <p:spTgt spid="14"/>
                                        </p:tgtEl>
                                        <p:attrNameLst>
                                          <p:attrName>style.visibility</p:attrName>
                                        </p:attrNameLst>
                                      </p:cBhvr>
                                      <p:to>
                                        <p:strVal val="visible"/>
                                      </p:to>
                                    </p:set>
                                    <p:anim calcmode="lin" valueType="num">
                                      <p:cBhvr additive="base">
                                        <p:cTn id="39" dur="550" fill="hold"/>
                                        <p:tgtEl>
                                          <p:spTgt spid="14"/>
                                        </p:tgtEl>
                                        <p:attrNameLst>
                                          <p:attrName>ppt_w</p:attrName>
                                        </p:attrNameLst>
                                      </p:cBhvr>
                                      <p:tavLst>
                                        <p:tav tm="0">
                                          <p:val>
                                            <p:strVal val="0"/>
                                          </p:val>
                                        </p:tav>
                                        <p:tav tm="100000">
                                          <p:val>
                                            <p:strVal val="#ppt_w"/>
                                          </p:val>
                                        </p:tav>
                                      </p:tavLst>
                                    </p:anim>
                                    <p:anim calcmode="lin" valueType="num">
                                      <p:cBhvr additive="base">
                                        <p:cTn id="40" dur="550" fill="hold"/>
                                        <p:tgtEl>
                                          <p:spTgt spid="14"/>
                                        </p:tgtEl>
                                        <p:attrNameLst>
                                          <p:attrName>ppt_h</p:attrName>
                                        </p:attrNameLst>
                                      </p:cBhvr>
                                      <p:tavLst>
                                        <p:tav tm="0">
                                          <p:val>
                                            <p:strVal val="0"/>
                                          </p:val>
                                        </p:tav>
                                        <p:tav tm="100000">
                                          <p:val>
                                            <p:strVal val="#ppt_h"/>
                                          </p:val>
                                        </p:tav>
                                      </p:tavLst>
                                    </p:anim>
                                    <p:animEffect transition="in" filter="fade">
                                      <p:cBhvr>
                                        <p:cTn id="41" dur="550"/>
                                        <p:tgtEl>
                                          <p:spTgt spid="14"/>
                                        </p:tgtEl>
                                      </p:cBhvr>
                                    </p:animEffect>
                                  </p:childTnLst>
                                </p:cTn>
                              </p:par>
                              <p:par>
                                <p:cTn id="47" presetID="42" presetClass="entr" presetSubtype="0" fill="hold" grpId="0" nodeType="withEffect">
                                  <p:stCondLst>
                                    <p:cond delay="1520"/>
                                  </p:stCondLst>
                                  <p:childTnLst>
                                    <p:set>
                                      <p:cBhvr>
                                        <p:cTn id="48" dur="1" fill="hold">
                                          <p:stCondLst>
                                            <p:cond delay="0"/>
                                          </p:stCondLst>
                                        </p:cTn>
                                        <p:tgtEl>
                                          <p:spTgt spid="15"/>
                                        </p:tgtEl>
                                        <p:attrNameLst>
                                          <p:attrName>style.visibility</p:attrName>
                                        </p:attrNameLst>
                                      </p:cBhvr>
                                      <p:to>
                                        <p:strVal val="visible"/>
                                      </p:to>
                                    </p:set>
                                    <p:animEffect transition="in" filter="fade">
                                      <p:cBhvr>
                                        <p:cTn id="44" dur="650"/>
                                        <p:tgtEl>
                                          <p:spTgt spid="15"/>
                                        </p:tgtEl>
                                      </p:cBhvr>
                                    </p:animEffect>
                                    <p:anim calcmode="lin" valueType="num">
                                      <p:cBhvr additive="base">
                                        <p:cTn id="45" dur="650" fill="hold"/>
                                        <p:tgtEl>
                                          <p:spTgt spid="15"/>
                                        </p:tgtEl>
                                        <p:attrNameLst>
                                          <p:attrName>ppt_x</p:attrName>
                                        </p:attrNameLst>
                                      </p:cBhvr>
                                      <p:tavLst>
                                        <p:tav tm="0">
                                          <p:val>
                                            <p:strVal val="#ppt_x-.06"/>
                                          </p:val>
                                        </p:tav>
                                        <p:tav tm="100000">
                                          <p:val>
                                            <p:strVal val="#ppt_x"/>
                                          </p:val>
                                        </p:tav>
                                      </p:tavLst>
                                    </p:anim>
                                    <p:anim calcmode="lin" valueType="num">
                                      <p:cBhvr additive="base">
                                        <p:cTn id="46" dur="650" fill="hold"/>
                                        <p:tgtEl>
                                          <p:spTgt spid="15"/>
                                        </p:tgtEl>
                                        <p:attrNameLst>
                                          <p:attrName>ppt_y</p:attrName>
                                        </p:attrNameLst>
                                      </p:cBhvr>
                                      <p:tavLst>
                                        <p:tav tm="0">
                                          <p:val>
                                            <p:strVal val="#ppt_y"/>
                                          </p:val>
                                        </p:tav>
                                        <p:tav tm="100000">
                                          <p:val>
                                            <p:strVal val="#ppt_y"/>
                                          </p:val>
                                        </p:tav>
                                      </p:tavLst>
                                    </p:anim>
                                  </p:childTnLst>
                                </p:cTn>
                              </p:par>
                              <p:par>
                                <p:cTn id="52" presetID="42" presetClass="entr" presetSubtype="0" fill="hold" grpId="0" nodeType="withEffect">
                                  <p:stCondLst>
                                    <p:cond delay="1520"/>
                                  </p:stCondLst>
                                  <p:childTnLst>
                                    <p:set>
                                      <p:cBhvr>
                                        <p:cTn id="53" dur="1" fill="hold">
                                          <p:stCondLst>
                                            <p:cond delay="0"/>
                                          </p:stCondLst>
                                        </p:cTn>
                                        <p:tgtEl>
                                          <p:spTgt spid="16"/>
                                        </p:tgtEl>
                                        <p:attrNameLst>
                                          <p:attrName>style.visibility</p:attrName>
                                        </p:attrNameLst>
                                      </p:cBhvr>
                                      <p:to>
                                        <p:strVal val="visible"/>
                                      </p:to>
                                    </p:set>
                                    <p:animEffect transition="in" filter="fade">
                                      <p:cBhvr>
                                        <p:cTn id="49" dur="650"/>
                                        <p:tgtEl>
                                          <p:spTgt spid="16"/>
                                        </p:tgtEl>
                                      </p:cBhvr>
                                    </p:animEffect>
                                    <p:anim calcmode="lin" valueType="num">
                                      <p:cBhvr additive="base">
                                        <p:cTn id="50" dur="650" fill="hold"/>
                                        <p:tgtEl>
                                          <p:spTgt spid="16"/>
                                        </p:tgtEl>
                                        <p:attrNameLst>
                                          <p:attrName>ppt_x</p:attrName>
                                        </p:attrNameLst>
                                      </p:cBhvr>
                                      <p:tavLst>
                                        <p:tav tm="0">
                                          <p:val>
                                            <p:strVal val="#ppt_x-.06"/>
                                          </p:val>
                                        </p:tav>
                                        <p:tav tm="100000">
                                          <p:val>
                                            <p:strVal val="#ppt_x"/>
                                          </p:val>
                                        </p:tav>
                                      </p:tavLst>
                                    </p:anim>
                                    <p:anim calcmode="lin" valueType="num">
                                      <p:cBhvr additive="base">
                                        <p:cTn id="51" dur="650" fill="hold"/>
                                        <p:tgtEl>
                                          <p:spTgt spid="16"/>
                                        </p:tgtEl>
                                        <p:attrNameLst>
                                          <p:attrName>ppt_y</p:attrName>
                                        </p:attrNameLst>
                                      </p:cBhvr>
                                      <p:tavLst>
                                        <p:tav tm="0">
                                          <p:val>
                                            <p:strVal val="#ppt_y"/>
                                          </p:val>
                                        </p:tav>
                                        <p:tav tm="100000">
                                          <p:val>
                                            <p:strVal val="#ppt_y"/>
                                          </p:val>
                                        </p:tav>
                                      </p:tavLst>
                                    </p:anim>
                                  </p:childTnLst>
                                </p:cTn>
                              </p:par>
                              <p:par>
                                <p:cTn id="57" presetID="53" presetClass="entr" presetSubtype="16" fill="hold" grpId="0" nodeType="withEffect">
                                  <p:stCondLst>
                                    <p:cond delay="1900"/>
                                  </p:stCondLst>
                                  <p:childTnLst>
                                    <p:set>
                                      <p:cBhvr>
                                        <p:cTn id="58" dur="1" fill="hold">
                                          <p:stCondLst>
                                            <p:cond delay="0"/>
                                          </p:stCondLst>
                                        </p:cTn>
                                        <p:tgtEl>
                                          <p:spTgt spid="17"/>
                                        </p:tgtEl>
                                        <p:attrNameLst>
                                          <p:attrName>style.visibility</p:attrName>
                                        </p:attrNameLst>
                                      </p:cBhvr>
                                      <p:to>
                                        <p:strVal val="visible"/>
                                      </p:to>
                                    </p:set>
                                    <p:anim calcmode="lin" valueType="num">
                                      <p:cBhvr additive="base">
                                        <p:cTn id="54" dur="550" fill="hold"/>
                                        <p:tgtEl>
                                          <p:spTgt spid="17"/>
                                        </p:tgtEl>
                                        <p:attrNameLst>
                                          <p:attrName>ppt_w</p:attrName>
                                        </p:attrNameLst>
                                      </p:cBhvr>
                                      <p:tavLst>
                                        <p:tav tm="0">
                                          <p:val>
                                            <p:strVal val="0"/>
                                          </p:val>
                                        </p:tav>
                                        <p:tav tm="100000">
                                          <p:val>
                                            <p:strVal val="#ppt_w"/>
                                          </p:val>
                                        </p:tav>
                                      </p:tavLst>
                                    </p:anim>
                                    <p:anim calcmode="lin" valueType="num">
                                      <p:cBhvr additive="base">
                                        <p:cTn id="55" dur="550" fill="hold"/>
                                        <p:tgtEl>
                                          <p:spTgt spid="17"/>
                                        </p:tgtEl>
                                        <p:attrNameLst>
                                          <p:attrName>ppt_h</p:attrName>
                                        </p:attrNameLst>
                                      </p:cBhvr>
                                      <p:tavLst>
                                        <p:tav tm="0">
                                          <p:val>
                                            <p:strVal val="0"/>
                                          </p:val>
                                        </p:tav>
                                        <p:tav tm="100000">
                                          <p:val>
                                            <p:strVal val="#ppt_h"/>
                                          </p:val>
                                        </p:tav>
                                      </p:tavLst>
                                    </p:anim>
                                    <p:animEffect transition="in" filter="fade">
                                      <p:cBhvr>
                                        <p:cTn id="56" dur="550"/>
                                        <p:tgtEl>
                                          <p:spTgt spid="17"/>
                                        </p:tgtEl>
                                      </p:cBhvr>
                                    </p:animEffect>
                                  </p:childTnLst>
                                </p:cTn>
                              </p:par>
                              <p:par>
                                <p:cTn id="62" presetID="53" presetClass="entr" presetSubtype="16" fill="hold" grpId="0" nodeType="withEffect">
                                  <p:stCondLst>
                                    <p:cond delay="1900"/>
                                  </p:stCondLst>
                                  <p:childTnLst>
                                    <p:set>
                                      <p:cBhvr>
                                        <p:cTn id="63" dur="1" fill="hold">
                                          <p:stCondLst>
                                            <p:cond delay="0"/>
                                          </p:stCondLst>
                                        </p:cTn>
                                        <p:tgtEl>
                                          <p:spTgt spid="18"/>
                                        </p:tgtEl>
                                        <p:attrNameLst>
                                          <p:attrName>style.visibility</p:attrName>
                                        </p:attrNameLst>
                                      </p:cBhvr>
                                      <p:to>
                                        <p:strVal val="visible"/>
                                      </p:to>
                                    </p:set>
                                    <p:anim calcmode="lin" valueType="num">
                                      <p:cBhvr additive="base">
                                        <p:cTn id="59" dur="550" fill="hold"/>
                                        <p:tgtEl>
                                          <p:spTgt spid="18"/>
                                        </p:tgtEl>
                                        <p:attrNameLst>
                                          <p:attrName>ppt_w</p:attrName>
                                        </p:attrNameLst>
                                      </p:cBhvr>
                                      <p:tavLst>
                                        <p:tav tm="0">
                                          <p:val>
                                            <p:strVal val="0"/>
                                          </p:val>
                                        </p:tav>
                                        <p:tav tm="100000">
                                          <p:val>
                                            <p:strVal val="#ppt_w"/>
                                          </p:val>
                                        </p:tav>
                                      </p:tavLst>
                                    </p:anim>
                                    <p:anim calcmode="lin" valueType="num">
                                      <p:cBhvr additive="base">
                                        <p:cTn id="60" dur="550" fill="hold"/>
                                        <p:tgtEl>
                                          <p:spTgt spid="18"/>
                                        </p:tgtEl>
                                        <p:attrNameLst>
                                          <p:attrName>ppt_h</p:attrName>
                                        </p:attrNameLst>
                                      </p:cBhvr>
                                      <p:tavLst>
                                        <p:tav tm="0">
                                          <p:val>
                                            <p:strVal val="0"/>
                                          </p:val>
                                        </p:tav>
                                        <p:tav tm="100000">
                                          <p:val>
                                            <p:strVal val="#ppt_h"/>
                                          </p:val>
                                        </p:tav>
                                      </p:tavLst>
                                    </p:anim>
                                    <p:animEffect transition="in" filter="fade">
                                      <p:cBhvr>
                                        <p:cTn id="61" dur="550"/>
                                        <p:tgtEl>
                                          <p:spTgt spid="18"/>
                                        </p:tgtEl>
                                      </p:cBhvr>
                                    </p:animEffect>
                                  </p:childTnLst>
                                </p:cTn>
                              </p:par>
                              <p:par>
                                <p:cTn id="67" presetID="42" presetClass="entr" presetSubtype="0" fill="hold" grpId="0" nodeType="withEffect">
                                  <p:stCondLst>
                                    <p:cond delay="1900"/>
                                  </p:stCondLst>
                                  <p:childTnLst>
                                    <p:set>
                                      <p:cBhvr>
                                        <p:cTn id="68" dur="1" fill="hold">
                                          <p:stCondLst>
                                            <p:cond delay="0"/>
                                          </p:stCondLst>
                                        </p:cTn>
                                        <p:tgtEl>
                                          <p:spTgt spid="19"/>
                                        </p:tgtEl>
                                        <p:attrNameLst>
                                          <p:attrName>style.visibility</p:attrName>
                                        </p:attrNameLst>
                                      </p:cBhvr>
                                      <p:to>
                                        <p:strVal val="visible"/>
                                      </p:to>
                                    </p:set>
                                    <p:animEffect transition="in" filter="fade">
                                      <p:cBhvr>
                                        <p:cTn id="64" dur="650"/>
                                        <p:tgtEl>
                                          <p:spTgt spid="19"/>
                                        </p:tgtEl>
                                      </p:cBhvr>
                                    </p:animEffect>
                                    <p:anim calcmode="lin" valueType="num">
                                      <p:cBhvr additive="base">
                                        <p:cTn id="65" dur="650" fill="hold"/>
                                        <p:tgtEl>
                                          <p:spTgt spid="19"/>
                                        </p:tgtEl>
                                        <p:attrNameLst>
                                          <p:attrName>ppt_x</p:attrName>
                                        </p:attrNameLst>
                                      </p:cBhvr>
                                      <p:tavLst>
                                        <p:tav tm="0">
                                          <p:val>
                                            <p:strVal val="#ppt_x-.06"/>
                                          </p:val>
                                        </p:tav>
                                        <p:tav tm="100000">
                                          <p:val>
                                            <p:strVal val="#ppt_x"/>
                                          </p:val>
                                        </p:tav>
                                      </p:tavLst>
                                    </p:anim>
                                    <p:anim calcmode="lin" valueType="num">
                                      <p:cBhvr additive="base">
                                        <p:cTn id="66" dur="650" fill="hold"/>
                                        <p:tgtEl>
                                          <p:spTgt spid="19"/>
                                        </p:tgtEl>
                                        <p:attrNameLst>
                                          <p:attrName>ppt_y</p:attrName>
                                        </p:attrNameLst>
                                      </p:cBhvr>
                                      <p:tavLst>
                                        <p:tav tm="0">
                                          <p:val>
                                            <p:strVal val="#ppt_y"/>
                                          </p:val>
                                        </p:tav>
                                        <p:tav tm="100000">
                                          <p:val>
                                            <p:strVal val="#ppt_y"/>
                                          </p:val>
                                        </p:tav>
                                      </p:tavLst>
                                    </p:anim>
                                  </p:childTnLst>
                                </p:cTn>
                              </p:par>
                              <p:par>
                                <p:cTn id="72" presetID="42" presetClass="entr" presetSubtype="0" fill="hold" grpId="0" nodeType="withEffect">
                                  <p:stCondLst>
                                    <p:cond delay="1900"/>
                                  </p:stCondLst>
                                  <p:childTnLst>
                                    <p:set>
                                      <p:cBhvr>
                                        <p:cTn id="73" dur="1" fill="hold">
                                          <p:stCondLst>
                                            <p:cond delay="0"/>
                                          </p:stCondLst>
                                        </p:cTn>
                                        <p:tgtEl>
                                          <p:spTgt spid="20"/>
                                        </p:tgtEl>
                                        <p:attrNameLst>
                                          <p:attrName>style.visibility</p:attrName>
                                        </p:attrNameLst>
                                      </p:cBhvr>
                                      <p:to>
                                        <p:strVal val="visible"/>
                                      </p:to>
                                    </p:set>
                                    <p:animEffect transition="in" filter="fade">
                                      <p:cBhvr>
                                        <p:cTn id="69" dur="650"/>
                                        <p:tgtEl>
                                          <p:spTgt spid="20"/>
                                        </p:tgtEl>
                                      </p:cBhvr>
                                    </p:animEffect>
                                    <p:anim calcmode="lin" valueType="num">
                                      <p:cBhvr additive="base">
                                        <p:cTn id="70" dur="650" fill="hold"/>
                                        <p:tgtEl>
                                          <p:spTgt spid="20"/>
                                        </p:tgtEl>
                                        <p:attrNameLst>
                                          <p:attrName>ppt_x</p:attrName>
                                        </p:attrNameLst>
                                      </p:cBhvr>
                                      <p:tavLst>
                                        <p:tav tm="0">
                                          <p:val>
                                            <p:strVal val="#ppt_x-.06"/>
                                          </p:val>
                                        </p:tav>
                                        <p:tav tm="100000">
                                          <p:val>
                                            <p:strVal val="#ppt_x"/>
                                          </p:val>
                                        </p:tav>
                                      </p:tavLst>
                                    </p:anim>
                                    <p:anim calcmode="lin" valueType="num">
                                      <p:cBhvr additive="base">
                                        <p:cTn id="71" dur="650" fill="hold"/>
                                        <p:tgtEl>
                                          <p:spTgt spid="20"/>
                                        </p:tgtEl>
                                        <p:attrNameLst>
                                          <p:attrName>ppt_y</p:attrName>
                                        </p:attrNameLst>
                                      </p:cBhvr>
                                      <p:tavLst>
                                        <p:tav tm="0">
                                          <p:val>
                                            <p:strVal val="#ppt_y"/>
                                          </p:val>
                                        </p:tav>
                                        <p:tav tm="100000">
                                          <p:val>
                                            <p:strVal val="#ppt_y"/>
                                          </p:val>
                                        </p:tav>
                                      </p:tavLst>
                                    </p:anim>
                                  </p:childTnLst>
                                </p:cTn>
                              </p:par>
                              <p:par>
                                <p:cTn id="77" presetID="53" presetClass="entr" presetSubtype="16" fill="hold" grpId="0" nodeType="withEffect">
                                  <p:stCondLst>
                                    <p:cond delay="2280"/>
                                  </p:stCondLst>
                                  <p:childTnLst>
                                    <p:set>
                                      <p:cBhvr>
                                        <p:cTn id="78" dur="1" fill="hold">
                                          <p:stCondLst>
                                            <p:cond delay="0"/>
                                          </p:stCondLst>
                                        </p:cTn>
                                        <p:tgtEl>
                                          <p:spTgt spid="21"/>
                                        </p:tgtEl>
                                        <p:attrNameLst>
                                          <p:attrName>style.visibility</p:attrName>
                                        </p:attrNameLst>
                                      </p:cBhvr>
                                      <p:to>
                                        <p:strVal val="visible"/>
                                      </p:to>
                                    </p:set>
                                    <p:anim calcmode="lin" valueType="num">
                                      <p:cBhvr additive="base">
                                        <p:cTn id="74" dur="550" fill="hold"/>
                                        <p:tgtEl>
                                          <p:spTgt spid="21"/>
                                        </p:tgtEl>
                                        <p:attrNameLst>
                                          <p:attrName>ppt_w</p:attrName>
                                        </p:attrNameLst>
                                      </p:cBhvr>
                                      <p:tavLst>
                                        <p:tav tm="0">
                                          <p:val>
                                            <p:strVal val="0"/>
                                          </p:val>
                                        </p:tav>
                                        <p:tav tm="100000">
                                          <p:val>
                                            <p:strVal val="#ppt_w"/>
                                          </p:val>
                                        </p:tav>
                                      </p:tavLst>
                                    </p:anim>
                                    <p:anim calcmode="lin" valueType="num">
                                      <p:cBhvr additive="base">
                                        <p:cTn id="75" dur="550" fill="hold"/>
                                        <p:tgtEl>
                                          <p:spTgt spid="21"/>
                                        </p:tgtEl>
                                        <p:attrNameLst>
                                          <p:attrName>ppt_h</p:attrName>
                                        </p:attrNameLst>
                                      </p:cBhvr>
                                      <p:tavLst>
                                        <p:tav tm="0">
                                          <p:val>
                                            <p:strVal val="0"/>
                                          </p:val>
                                        </p:tav>
                                        <p:tav tm="100000">
                                          <p:val>
                                            <p:strVal val="#ppt_h"/>
                                          </p:val>
                                        </p:tav>
                                      </p:tavLst>
                                    </p:anim>
                                    <p:animEffect transition="in" filter="fade">
                                      <p:cBhvr>
                                        <p:cTn id="76" dur="550"/>
                                        <p:tgtEl>
                                          <p:spTgt spid="21"/>
                                        </p:tgtEl>
                                      </p:cBhvr>
                                    </p:animEffect>
                                  </p:childTnLst>
                                </p:cTn>
                              </p:par>
                              <p:par>
                                <p:cTn id="82" presetID="53" presetClass="entr" presetSubtype="16" fill="hold" grpId="0" nodeType="withEffect">
                                  <p:stCondLst>
                                    <p:cond delay="2280"/>
                                  </p:stCondLst>
                                  <p:childTnLst>
                                    <p:set>
                                      <p:cBhvr>
                                        <p:cTn id="83" dur="1" fill="hold">
                                          <p:stCondLst>
                                            <p:cond delay="0"/>
                                          </p:stCondLst>
                                        </p:cTn>
                                        <p:tgtEl>
                                          <p:spTgt spid="22"/>
                                        </p:tgtEl>
                                        <p:attrNameLst>
                                          <p:attrName>style.visibility</p:attrName>
                                        </p:attrNameLst>
                                      </p:cBhvr>
                                      <p:to>
                                        <p:strVal val="visible"/>
                                      </p:to>
                                    </p:set>
                                    <p:anim calcmode="lin" valueType="num">
                                      <p:cBhvr additive="base">
                                        <p:cTn id="79" dur="550" fill="hold"/>
                                        <p:tgtEl>
                                          <p:spTgt spid="22"/>
                                        </p:tgtEl>
                                        <p:attrNameLst>
                                          <p:attrName>ppt_w</p:attrName>
                                        </p:attrNameLst>
                                      </p:cBhvr>
                                      <p:tavLst>
                                        <p:tav tm="0">
                                          <p:val>
                                            <p:strVal val="0"/>
                                          </p:val>
                                        </p:tav>
                                        <p:tav tm="100000">
                                          <p:val>
                                            <p:strVal val="#ppt_w"/>
                                          </p:val>
                                        </p:tav>
                                      </p:tavLst>
                                    </p:anim>
                                    <p:anim calcmode="lin" valueType="num">
                                      <p:cBhvr additive="base">
                                        <p:cTn id="80" dur="550" fill="hold"/>
                                        <p:tgtEl>
                                          <p:spTgt spid="22"/>
                                        </p:tgtEl>
                                        <p:attrNameLst>
                                          <p:attrName>ppt_h</p:attrName>
                                        </p:attrNameLst>
                                      </p:cBhvr>
                                      <p:tavLst>
                                        <p:tav tm="0">
                                          <p:val>
                                            <p:strVal val="0"/>
                                          </p:val>
                                        </p:tav>
                                        <p:tav tm="100000">
                                          <p:val>
                                            <p:strVal val="#ppt_h"/>
                                          </p:val>
                                        </p:tav>
                                      </p:tavLst>
                                    </p:anim>
                                    <p:animEffect transition="in" filter="fade">
                                      <p:cBhvr>
                                        <p:cTn id="81" dur="550"/>
                                        <p:tgtEl>
                                          <p:spTgt spid="22"/>
                                        </p:tgtEl>
                                      </p:cBhvr>
                                    </p:animEffect>
                                  </p:childTnLst>
                                </p:cTn>
                              </p:par>
                              <p:par>
                                <p:cTn id="87" presetID="42" presetClass="entr" presetSubtype="0" fill="hold" grpId="0" nodeType="withEffect">
                                  <p:stCondLst>
                                    <p:cond delay="2280"/>
                                  </p:stCondLst>
                                  <p:childTnLst>
                                    <p:set>
                                      <p:cBhvr>
                                        <p:cTn id="88" dur="1" fill="hold">
                                          <p:stCondLst>
                                            <p:cond delay="0"/>
                                          </p:stCondLst>
                                        </p:cTn>
                                        <p:tgtEl>
                                          <p:spTgt spid="23"/>
                                        </p:tgtEl>
                                        <p:attrNameLst>
                                          <p:attrName>style.visibility</p:attrName>
                                        </p:attrNameLst>
                                      </p:cBhvr>
                                      <p:to>
                                        <p:strVal val="visible"/>
                                      </p:to>
                                    </p:set>
                                    <p:animEffect transition="in" filter="fade">
                                      <p:cBhvr>
                                        <p:cTn id="84" dur="650"/>
                                        <p:tgtEl>
                                          <p:spTgt spid="23"/>
                                        </p:tgtEl>
                                      </p:cBhvr>
                                    </p:animEffect>
                                    <p:anim calcmode="lin" valueType="num">
                                      <p:cBhvr additive="base">
                                        <p:cTn id="85" dur="650" fill="hold"/>
                                        <p:tgtEl>
                                          <p:spTgt spid="23"/>
                                        </p:tgtEl>
                                        <p:attrNameLst>
                                          <p:attrName>ppt_x</p:attrName>
                                        </p:attrNameLst>
                                      </p:cBhvr>
                                      <p:tavLst>
                                        <p:tav tm="0">
                                          <p:val>
                                            <p:strVal val="#ppt_x-.06"/>
                                          </p:val>
                                        </p:tav>
                                        <p:tav tm="100000">
                                          <p:val>
                                            <p:strVal val="#ppt_x"/>
                                          </p:val>
                                        </p:tav>
                                      </p:tavLst>
                                    </p:anim>
                                    <p:anim calcmode="lin" valueType="num">
                                      <p:cBhvr additive="base">
                                        <p:cTn id="86" dur="650" fill="hold"/>
                                        <p:tgtEl>
                                          <p:spTgt spid="23"/>
                                        </p:tgtEl>
                                        <p:attrNameLst>
                                          <p:attrName>ppt_y</p:attrName>
                                        </p:attrNameLst>
                                      </p:cBhvr>
                                      <p:tavLst>
                                        <p:tav tm="0">
                                          <p:val>
                                            <p:strVal val="#ppt_y"/>
                                          </p:val>
                                        </p:tav>
                                        <p:tav tm="100000">
                                          <p:val>
                                            <p:strVal val="#ppt_y"/>
                                          </p:val>
                                        </p:tav>
                                      </p:tavLst>
                                    </p:anim>
                                  </p:childTnLst>
                                </p:cTn>
                              </p:par>
                              <p:par>
                                <p:cTn id="92" presetID="42" presetClass="entr" presetSubtype="0" fill="hold" grpId="0" nodeType="withEffect">
                                  <p:stCondLst>
                                    <p:cond delay="2280"/>
                                  </p:stCondLst>
                                  <p:childTnLst>
                                    <p:set>
                                      <p:cBhvr>
                                        <p:cTn id="93" dur="1" fill="hold">
                                          <p:stCondLst>
                                            <p:cond delay="0"/>
                                          </p:stCondLst>
                                        </p:cTn>
                                        <p:tgtEl>
                                          <p:spTgt spid="24"/>
                                        </p:tgtEl>
                                        <p:attrNameLst>
                                          <p:attrName>style.visibility</p:attrName>
                                        </p:attrNameLst>
                                      </p:cBhvr>
                                      <p:to>
                                        <p:strVal val="visible"/>
                                      </p:to>
                                    </p:set>
                                    <p:animEffect transition="in" filter="fade">
                                      <p:cBhvr>
                                        <p:cTn id="89" dur="650"/>
                                        <p:tgtEl>
                                          <p:spTgt spid="24"/>
                                        </p:tgtEl>
                                      </p:cBhvr>
                                    </p:animEffect>
                                    <p:anim calcmode="lin" valueType="num">
                                      <p:cBhvr additive="base">
                                        <p:cTn id="90" dur="650" fill="hold"/>
                                        <p:tgtEl>
                                          <p:spTgt spid="24"/>
                                        </p:tgtEl>
                                        <p:attrNameLst>
                                          <p:attrName>ppt_x</p:attrName>
                                        </p:attrNameLst>
                                      </p:cBhvr>
                                      <p:tavLst>
                                        <p:tav tm="0">
                                          <p:val>
                                            <p:strVal val="#ppt_x-.06"/>
                                          </p:val>
                                        </p:tav>
                                        <p:tav tm="100000">
                                          <p:val>
                                            <p:strVal val="#ppt_x"/>
                                          </p:val>
                                        </p:tav>
                                      </p:tavLst>
                                    </p:anim>
                                    <p:anim calcmode="lin" valueType="num">
                                      <p:cBhvr additive="base">
                                        <p:cTn id="91" dur="650" fill="hold"/>
                                        <p:tgtEl>
                                          <p:spTgt spid="24"/>
                                        </p:tgtEl>
                                        <p:attrNameLst>
                                          <p:attrName>ppt_y</p:attrName>
                                        </p:attrNameLst>
                                      </p:cBhvr>
                                      <p:tavLst>
                                        <p:tav tm="0">
                                          <p:val>
                                            <p:strVal val="#ppt_y"/>
                                          </p:val>
                                        </p:tav>
                                        <p:tav tm="100000">
                                          <p:val>
                                            <p:strVal val="#ppt_y"/>
                                          </p:val>
                                        </p:tav>
                                      </p:tavLst>
                                    </p:anim>
                                  </p:childTnLst>
                                </p:cTn>
                              </p:par>
                              <p:par>
                                <p:cTn id="97" presetID="53" presetClass="entr" presetSubtype="16" fill="hold" grpId="0" nodeType="withEffect">
                                  <p:stCondLst>
                                    <p:cond delay="2660"/>
                                  </p:stCondLst>
                                  <p:childTnLst>
                                    <p:set>
                                      <p:cBhvr>
                                        <p:cTn id="98" dur="1" fill="hold">
                                          <p:stCondLst>
                                            <p:cond delay="0"/>
                                          </p:stCondLst>
                                        </p:cTn>
                                        <p:tgtEl>
                                          <p:spTgt spid="25"/>
                                        </p:tgtEl>
                                        <p:attrNameLst>
                                          <p:attrName>style.visibility</p:attrName>
                                        </p:attrNameLst>
                                      </p:cBhvr>
                                      <p:to>
                                        <p:strVal val="visible"/>
                                      </p:to>
                                    </p:set>
                                    <p:anim calcmode="lin" valueType="num">
                                      <p:cBhvr additive="base">
                                        <p:cTn id="94" dur="550" fill="hold"/>
                                        <p:tgtEl>
                                          <p:spTgt spid="25"/>
                                        </p:tgtEl>
                                        <p:attrNameLst>
                                          <p:attrName>ppt_w</p:attrName>
                                        </p:attrNameLst>
                                      </p:cBhvr>
                                      <p:tavLst>
                                        <p:tav tm="0">
                                          <p:val>
                                            <p:strVal val="0"/>
                                          </p:val>
                                        </p:tav>
                                        <p:tav tm="100000">
                                          <p:val>
                                            <p:strVal val="#ppt_w"/>
                                          </p:val>
                                        </p:tav>
                                      </p:tavLst>
                                    </p:anim>
                                    <p:anim calcmode="lin" valueType="num">
                                      <p:cBhvr additive="base">
                                        <p:cTn id="95" dur="550" fill="hold"/>
                                        <p:tgtEl>
                                          <p:spTgt spid="25"/>
                                        </p:tgtEl>
                                        <p:attrNameLst>
                                          <p:attrName>ppt_h</p:attrName>
                                        </p:attrNameLst>
                                      </p:cBhvr>
                                      <p:tavLst>
                                        <p:tav tm="0">
                                          <p:val>
                                            <p:strVal val="0"/>
                                          </p:val>
                                        </p:tav>
                                        <p:tav tm="100000">
                                          <p:val>
                                            <p:strVal val="#ppt_h"/>
                                          </p:val>
                                        </p:tav>
                                      </p:tavLst>
                                    </p:anim>
                                    <p:animEffect transition="in" filter="fade">
                                      <p:cBhvr>
                                        <p:cTn id="96" dur="550"/>
                                        <p:tgtEl>
                                          <p:spTgt spid="25"/>
                                        </p:tgtEl>
                                      </p:cBhvr>
                                    </p:animEffect>
                                  </p:childTnLst>
                                </p:cTn>
                              </p:par>
                              <p:par>
                                <p:cTn id="102" presetID="53" presetClass="entr" presetSubtype="16" fill="hold" grpId="0" nodeType="withEffect">
                                  <p:stCondLst>
                                    <p:cond delay="2660"/>
                                  </p:stCondLst>
                                  <p:childTnLst>
                                    <p:set>
                                      <p:cBhvr>
                                        <p:cTn id="103" dur="1" fill="hold">
                                          <p:stCondLst>
                                            <p:cond delay="0"/>
                                          </p:stCondLst>
                                        </p:cTn>
                                        <p:tgtEl>
                                          <p:spTgt spid="26"/>
                                        </p:tgtEl>
                                        <p:attrNameLst>
                                          <p:attrName>style.visibility</p:attrName>
                                        </p:attrNameLst>
                                      </p:cBhvr>
                                      <p:to>
                                        <p:strVal val="visible"/>
                                      </p:to>
                                    </p:set>
                                    <p:anim calcmode="lin" valueType="num">
                                      <p:cBhvr additive="base">
                                        <p:cTn id="99" dur="550" fill="hold"/>
                                        <p:tgtEl>
                                          <p:spTgt spid="26"/>
                                        </p:tgtEl>
                                        <p:attrNameLst>
                                          <p:attrName>ppt_w</p:attrName>
                                        </p:attrNameLst>
                                      </p:cBhvr>
                                      <p:tavLst>
                                        <p:tav tm="0">
                                          <p:val>
                                            <p:strVal val="0"/>
                                          </p:val>
                                        </p:tav>
                                        <p:tav tm="100000">
                                          <p:val>
                                            <p:strVal val="#ppt_w"/>
                                          </p:val>
                                        </p:tav>
                                      </p:tavLst>
                                    </p:anim>
                                    <p:anim calcmode="lin" valueType="num">
                                      <p:cBhvr additive="base">
                                        <p:cTn id="100" dur="550" fill="hold"/>
                                        <p:tgtEl>
                                          <p:spTgt spid="26"/>
                                        </p:tgtEl>
                                        <p:attrNameLst>
                                          <p:attrName>ppt_h</p:attrName>
                                        </p:attrNameLst>
                                      </p:cBhvr>
                                      <p:tavLst>
                                        <p:tav tm="0">
                                          <p:val>
                                            <p:strVal val="0"/>
                                          </p:val>
                                        </p:tav>
                                        <p:tav tm="100000">
                                          <p:val>
                                            <p:strVal val="#ppt_h"/>
                                          </p:val>
                                        </p:tav>
                                      </p:tavLst>
                                    </p:anim>
                                    <p:animEffect transition="in" filter="fade">
                                      <p:cBhvr>
                                        <p:cTn id="101" dur="550"/>
                                        <p:tgtEl>
                                          <p:spTgt spid="26"/>
                                        </p:tgtEl>
                                      </p:cBhvr>
                                    </p:animEffect>
                                  </p:childTnLst>
                                </p:cTn>
                              </p:par>
                              <p:par>
                                <p:cTn id="107" presetID="42" presetClass="entr" presetSubtype="0" fill="hold" grpId="0" nodeType="withEffect">
                                  <p:stCondLst>
                                    <p:cond delay="2660"/>
                                  </p:stCondLst>
                                  <p:childTnLst>
                                    <p:set>
                                      <p:cBhvr>
                                        <p:cTn id="108" dur="1" fill="hold">
                                          <p:stCondLst>
                                            <p:cond delay="0"/>
                                          </p:stCondLst>
                                        </p:cTn>
                                        <p:tgtEl>
                                          <p:spTgt spid="27"/>
                                        </p:tgtEl>
                                        <p:attrNameLst>
                                          <p:attrName>style.visibility</p:attrName>
                                        </p:attrNameLst>
                                      </p:cBhvr>
                                      <p:to>
                                        <p:strVal val="visible"/>
                                      </p:to>
                                    </p:set>
                                    <p:animEffect transition="in" filter="fade">
                                      <p:cBhvr>
                                        <p:cTn id="104" dur="650"/>
                                        <p:tgtEl>
                                          <p:spTgt spid="27"/>
                                        </p:tgtEl>
                                      </p:cBhvr>
                                    </p:animEffect>
                                    <p:anim calcmode="lin" valueType="num">
                                      <p:cBhvr additive="base">
                                        <p:cTn id="105" dur="650" fill="hold"/>
                                        <p:tgtEl>
                                          <p:spTgt spid="27"/>
                                        </p:tgtEl>
                                        <p:attrNameLst>
                                          <p:attrName>ppt_x</p:attrName>
                                        </p:attrNameLst>
                                      </p:cBhvr>
                                      <p:tavLst>
                                        <p:tav tm="0">
                                          <p:val>
                                            <p:strVal val="#ppt_x-.06"/>
                                          </p:val>
                                        </p:tav>
                                        <p:tav tm="100000">
                                          <p:val>
                                            <p:strVal val="#ppt_x"/>
                                          </p:val>
                                        </p:tav>
                                      </p:tavLst>
                                    </p:anim>
                                    <p:anim calcmode="lin" valueType="num">
                                      <p:cBhvr additive="base">
                                        <p:cTn id="106" dur="650" fill="hold"/>
                                        <p:tgtEl>
                                          <p:spTgt spid="27"/>
                                        </p:tgtEl>
                                        <p:attrNameLst>
                                          <p:attrName>ppt_y</p:attrName>
                                        </p:attrNameLst>
                                      </p:cBhvr>
                                      <p:tavLst>
                                        <p:tav tm="0">
                                          <p:val>
                                            <p:strVal val="#ppt_y"/>
                                          </p:val>
                                        </p:tav>
                                        <p:tav tm="100000">
                                          <p:val>
                                            <p:strVal val="#ppt_y"/>
                                          </p:val>
                                        </p:tav>
                                      </p:tavLst>
                                    </p:anim>
                                  </p:childTnLst>
                                </p:cTn>
                              </p:par>
                              <p:par>
                                <p:cTn id="112" presetID="42" presetClass="entr" presetSubtype="0" fill="hold" grpId="0" nodeType="withEffect">
                                  <p:stCondLst>
                                    <p:cond delay="2660"/>
                                  </p:stCondLst>
                                  <p:childTnLst>
                                    <p:set>
                                      <p:cBhvr>
                                        <p:cTn id="113" dur="1" fill="hold">
                                          <p:stCondLst>
                                            <p:cond delay="0"/>
                                          </p:stCondLst>
                                        </p:cTn>
                                        <p:tgtEl>
                                          <p:spTgt spid="28"/>
                                        </p:tgtEl>
                                        <p:attrNameLst>
                                          <p:attrName>style.visibility</p:attrName>
                                        </p:attrNameLst>
                                      </p:cBhvr>
                                      <p:to>
                                        <p:strVal val="visible"/>
                                      </p:to>
                                    </p:set>
                                    <p:animEffect transition="in" filter="fade">
                                      <p:cBhvr>
                                        <p:cTn id="109" dur="650"/>
                                        <p:tgtEl>
                                          <p:spTgt spid="28"/>
                                        </p:tgtEl>
                                      </p:cBhvr>
                                    </p:animEffect>
                                    <p:anim calcmode="lin" valueType="num">
                                      <p:cBhvr additive="base">
                                        <p:cTn id="110" dur="650" fill="hold"/>
                                        <p:tgtEl>
                                          <p:spTgt spid="28"/>
                                        </p:tgtEl>
                                        <p:attrNameLst>
                                          <p:attrName>ppt_x</p:attrName>
                                        </p:attrNameLst>
                                      </p:cBhvr>
                                      <p:tavLst>
                                        <p:tav tm="0">
                                          <p:val>
                                            <p:strVal val="#ppt_x-.06"/>
                                          </p:val>
                                        </p:tav>
                                        <p:tav tm="100000">
                                          <p:val>
                                            <p:strVal val="#ppt_x"/>
                                          </p:val>
                                        </p:tav>
                                      </p:tavLst>
                                    </p:anim>
                                    <p:anim calcmode="lin" valueType="num">
                                      <p:cBhvr additive="base">
                                        <p:cTn id="111" dur="65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5" grpId="0" animBg="1"/>
      <p:bldP spid="16" grpId="0" animBg="1"/>
      <p:bldP spid="19" grpId="0" animBg="1"/>
      <p:bldP spid="20" grpId="0" animBg="1"/>
      <p:bldP spid="23" grpId="0" animBg="1"/>
      <p:bldP spid="24" grpId="0" animBg="1"/>
      <p:bldP spid="27" grpId="0" animBg="1"/>
      <p:bldP spid="2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7406640" y="-1005840"/>
            <a:ext cx="2560320" cy="2560320"/>
          </a:xfrm>
          <a:prstGeom prst="rect">
            <a:avLst/>
          </a:prstGeom>
        </p:spPr>
      </p:pic>
      <p:sp>
        <p:nvSpPr>
          <p:cNvPr id="3" name="Text 0"/>
          <p:cNvSpPr txBox="1"/>
          <p:nvPr/>
        </p:nvSpPr>
        <p:spPr>
          <a:xfrm>
            <a:off x="457200" y="274320"/>
            <a:ext cx="6858000" cy="228600"/>
          </a:xfrm>
          <a:prstGeom prst="rect">
            <a:avLst/>
          </a:prstGeom>
          <a:noFill/>
          <a:ln/>
        </p:spPr>
        <p:txBody>
          <a:bodyPr wrap="square" lIns="0" tIns="0" rIns="0" bIns="0" rtlCol="0" anchor="t"/>
          <a:lstStyle/>
          <a:p>
            <a:pPr indent="0" marL="0">
              <a:buNone/>
            </a:pPr>
            <a:r>
              <a:rPr lang="en-US" sz="1050" b="1" spc="200" kern="0" dirty="0">
                <a:solidFill>
                  <a:srgbClr val="1F4FA8"/>
                </a:solidFill>
                <a:latin typeface="Calibri" pitchFamily="34" charset="0"/>
                <a:ea typeface="Calibri" pitchFamily="34" charset="-122"/>
                <a:cs typeface="Calibri" pitchFamily="34" charset="-120"/>
              </a:rPr>
              <a:t>I · 1.2</a:t>
            </a:r>
            <a:endParaRPr lang="en-US" sz="1050" dirty="0"/>
          </a:p>
        </p:txBody>
      </p:sp>
      <p:sp>
        <p:nvSpPr>
          <p:cNvPr id="4" name="Text 1"/>
          <p:cNvSpPr txBox="1"/>
          <p:nvPr/>
        </p:nvSpPr>
        <p:spPr>
          <a:xfrm>
            <a:off x="457200" y="502920"/>
            <a:ext cx="7863840" cy="548640"/>
          </a:xfrm>
          <a:prstGeom prst="rect">
            <a:avLst/>
          </a:prstGeom>
          <a:noFill/>
          <a:ln/>
        </p:spPr>
        <p:txBody>
          <a:bodyPr wrap="square" lIns="0" tIns="0" rIns="0" bIns="0" rtlCol="0" anchor="ctr"/>
          <a:lstStyle/>
          <a:p>
            <a:pPr indent="0" marL="0">
              <a:buNone/>
            </a:pPr>
            <a:r>
              <a:rPr lang="en-US" sz="2600" b="1" dirty="0">
                <a:solidFill>
                  <a:srgbClr val="0B1F4B"/>
                </a:solidFill>
                <a:latin typeface="Cambria" pitchFamily="34" charset="0"/>
                <a:ea typeface="Cambria" pitchFamily="34" charset="-122"/>
                <a:cs typeface="Cambria" pitchFamily="34" charset="-120"/>
              </a:rPr>
              <a:t>Marché unique ≠ espace Schengen</a:t>
            </a:r>
            <a:endParaRPr lang="en-US" sz="2600" dirty="0"/>
          </a:p>
        </p:txBody>
      </p:sp>
      <p:sp>
        <p:nvSpPr>
          <p:cNvPr id="5" name="Text 2"/>
          <p:cNvSpPr txBox="1"/>
          <p:nvPr/>
        </p:nvSpPr>
        <p:spPr>
          <a:xfrm>
            <a:off x="8321040" y="4773168"/>
            <a:ext cx="365760" cy="228600"/>
          </a:xfrm>
          <a:prstGeom prst="rect">
            <a:avLst/>
          </a:prstGeom>
          <a:noFill/>
          <a:ln/>
        </p:spPr>
        <p:txBody>
          <a:bodyPr wrap="square" lIns="0" tIns="0" rIns="0" bIns="0" rtlCol="0" anchor="t"/>
          <a:lstStyle/>
          <a:p>
            <a:pPr algn="r" indent="0" marL="0">
              <a:buNone/>
            </a:pPr>
            <a:r>
              <a:rPr lang="en-US" sz="1000" dirty="0">
                <a:solidFill>
                  <a:srgbClr val="5B6478"/>
                </a:solidFill>
                <a:latin typeface="Calibri" pitchFamily="34" charset="0"/>
                <a:ea typeface="Calibri" pitchFamily="34" charset="-122"/>
                <a:cs typeface="Calibri" pitchFamily="34" charset="-120"/>
              </a:rPr>
              <a:t>9</a:t>
            </a:r>
            <a:endParaRPr lang="en-US" sz="1000" dirty="0"/>
          </a:p>
        </p:txBody>
      </p:sp>
      <p:sp>
        <p:nvSpPr>
          <p:cNvPr id="6" name="A1-zoom-153"/>
          <p:cNvSpPr/>
          <p:nvPr/>
        </p:nvSpPr>
        <p:spPr>
          <a:xfrm>
            <a:off x="822960" y="1234440"/>
            <a:ext cx="3566160" cy="3383280"/>
          </a:xfrm>
          <a:prstGeom prst="ellipse">
            <a:avLst/>
          </a:prstGeom>
          <a:solidFill>
            <a:srgbClr val="1F4FA8">
              <a:alpha val="75000"/>
            </a:srgbClr>
          </a:solidFill>
          <a:ln w="25400">
            <a:solidFill>
              <a:srgbClr val="1F4FA8"/>
            </a:solidFill>
            <a:prstDash val="solid"/>
          </a:ln>
        </p:spPr>
      </p:sp>
      <p:sp>
        <p:nvSpPr>
          <p:cNvPr id="7" name="A2-zoom-154"/>
          <p:cNvSpPr/>
          <p:nvPr/>
        </p:nvSpPr>
        <p:spPr>
          <a:xfrm>
            <a:off x="2743200" y="1234440"/>
            <a:ext cx="3566160" cy="3383280"/>
          </a:xfrm>
          <a:prstGeom prst="ellipse">
            <a:avLst/>
          </a:prstGeom>
          <a:solidFill>
            <a:srgbClr val="FFC21A">
              <a:alpha val="65000"/>
            </a:srgbClr>
          </a:solidFill>
          <a:ln w="25400">
            <a:solidFill>
              <a:srgbClr val="B98500"/>
            </a:solidFill>
            <a:prstDash val="solid"/>
          </a:ln>
        </p:spPr>
      </p:sp>
      <p:sp>
        <p:nvSpPr>
          <p:cNvPr id="8" name="A1-fade-155"/>
          <p:cNvSpPr txBox="1"/>
          <p:nvPr/>
        </p:nvSpPr>
        <p:spPr>
          <a:xfrm>
            <a:off x="1143000" y="1920240"/>
            <a:ext cx="1554480" cy="274320"/>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MARCHÉ UNIQUE</a:t>
            </a:r>
            <a:endParaRPr lang="en-US" sz="1200" dirty="0"/>
          </a:p>
        </p:txBody>
      </p:sp>
      <p:sp>
        <p:nvSpPr>
          <p:cNvPr id="9" name="A3-fadeup-156"/>
          <p:cNvSpPr txBox="1"/>
          <p:nvPr/>
        </p:nvSpPr>
        <p:spPr>
          <a:xfrm>
            <a:off x="1051560" y="2606040"/>
            <a:ext cx="155448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Irlande</a:t>
            </a:r>
            <a:endParaRPr lang="en-US" sz="1500" dirty="0"/>
          </a:p>
        </p:txBody>
      </p:sp>
      <p:sp>
        <p:nvSpPr>
          <p:cNvPr id="10" name="A2-fade-157"/>
          <p:cNvSpPr txBox="1"/>
          <p:nvPr/>
        </p:nvSpPr>
        <p:spPr>
          <a:xfrm>
            <a:off x="4480560" y="1920240"/>
            <a:ext cx="1371600" cy="274320"/>
          </a:xfrm>
          <a:prstGeom prst="rect">
            <a:avLst/>
          </a:prstGeom>
          <a:noFill/>
          <a:ln/>
        </p:spPr>
        <p:txBody>
          <a:bodyPr wrap="square" lIns="0" tIns="0" rIns="0" bIns="0" rtlCol="0" anchor="t"/>
          <a:lstStyle/>
          <a:p>
            <a:pPr algn="r" indent="0" marL="0">
              <a:buNone/>
            </a:pPr>
            <a:r>
              <a:rPr lang="en-US" sz="1200" b="1" dirty="0">
                <a:solidFill>
                  <a:srgbClr val="0B1F4B"/>
                </a:solidFill>
                <a:latin typeface="Calibri" pitchFamily="34" charset="0"/>
                <a:ea typeface="Calibri" pitchFamily="34" charset="-122"/>
                <a:cs typeface="Calibri" pitchFamily="34" charset="-120"/>
              </a:rPr>
              <a:t>SCHENGEN</a:t>
            </a:r>
            <a:endParaRPr lang="en-US" sz="1200" dirty="0"/>
          </a:p>
        </p:txBody>
      </p:sp>
      <p:sp>
        <p:nvSpPr>
          <p:cNvPr id="11" name="A3-fadeup-158"/>
          <p:cNvSpPr txBox="1"/>
          <p:nvPr/>
        </p:nvSpPr>
        <p:spPr>
          <a:xfrm>
            <a:off x="4754880" y="2606040"/>
            <a:ext cx="1371600" cy="320040"/>
          </a:xfrm>
          <a:prstGeom prst="rect">
            <a:avLst/>
          </a:prstGeom>
          <a:noFill/>
          <a:ln/>
        </p:spPr>
        <p:txBody>
          <a:bodyPr wrap="square" lIns="0" tIns="0" rIns="0" bIns="0" rtlCol="0" anchor="t"/>
          <a:lstStyle/>
          <a:p>
            <a:pPr algn="r" indent="0" marL="0">
              <a:buNone/>
            </a:pPr>
            <a:r>
              <a:rPr lang="en-US" sz="1500" b="1" dirty="0">
                <a:solidFill>
                  <a:srgbClr val="0B1F4B"/>
                </a:solidFill>
                <a:latin typeface="Calibri" pitchFamily="34" charset="0"/>
                <a:ea typeface="Calibri" pitchFamily="34" charset="-122"/>
                <a:cs typeface="Calibri" pitchFamily="34" charset="-120"/>
              </a:rPr>
              <a:t>Suisse</a:t>
            </a:r>
            <a:endParaRPr lang="en-US" sz="1500" dirty="0"/>
          </a:p>
        </p:txBody>
      </p:sp>
      <p:sp>
        <p:nvSpPr>
          <p:cNvPr id="12" name="A3-fadeup-159"/>
          <p:cNvSpPr txBox="1"/>
          <p:nvPr/>
        </p:nvSpPr>
        <p:spPr>
          <a:xfrm>
            <a:off x="2788920" y="2514600"/>
            <a:ext cx="1554480" cy="914400"/>
          </a:xfrm>
          <a:prstGeom prst="rect">
            <a:avLst/>
          </a:prstGeom>
          <a:noFill/>
          <a:ln/>
        </p:spPr>
        <p:txBody>
          <a:bodyPr wrap="square" lIns="0" tIns="0" rIns="0" bIns="0" rtlCol="0" anchor="t"/>
          <a:lstStyle/>
          <a:p>
            <a:pPr algn="ctr" indent="0" marL="0">
              <a:buNone/>
            </a:pPr>
            <a:r>
              <a:rPr lang="en-US" sz="1050" b="1" dirty="0">
                <a:solidFill>
                  <a:srgbClr val="0B1F4B"/>
                </a:solidFill>
                <a:latin typeface="Calibri" pitchFamily="34" charset="0"/>
                <a:ea typeface="Calibri" pitchFamily="34" charset="-122"/>
                <a:cs typeface="Calibri" pitchFamily="34" charset="-120"/>
              </a:rPr>
              <a:t>La plupart des États de l'UE</a:t>
            </a:r>
            <a:endParaRPr lang="en-US" sz="1050" dirty="0"/>
          </a:p>
          <a:p>
            <a:pPr algn="ctr" indent="0" marL="0">
              <a:buNone/>
            </a:pPr>
            <a:r>
              <a:rPr lang="en-US" sz="1050" b="1" dirty="0">
                <a:solidFill>
                  <a:srgbClr val="0B1F4B"/>
                </a:solidFill>
                <a:latin typeface="Calibri" pitchFamily="34" charset="0"/>
                <a:ea typeface="Calibri" pitchFamily="34" charset="-122"/>
                <a:cs typeface="Calibri" pitchFamily="34" charset="-120"/>
              </a:rPr>
              <a:t>+ Norvège, Islande, Liechtenstein</a:t>
            </a:r>
            <a:endParaRPr lang="en-US" sz="1050" dirty="0"/>
          </a:p>
        </p:txBody>
      </p:sp>
      <p:sp>
        <p:nvSpPr>
          <p:cNvPr id="13" name="A4-fadeleft-160"/>
          <p:cNvSpPr/>
          <p:nvPr/>
        </p:nvSpPr>
        <p:spPr>
          <a:xfrm>
            <a:off x="6583680" y="1463040"/>
            <a:ext cx="2103120" cy="1097280"/>
          </a:xfrm>
          <a:prstGeom prst="roundRect">
            <a:avLst>
              <a:gd name="adj" fmla="val 10000"/>
            </a:avLst>
          </a:prstGeom>
          <a:solidFill>
            <a:srgbClr val="FFFFFF"/>
          </a:solidFill>
          <a:ln w="12700">
            <a:solidFill>
              <a:srgbClr val="FFFFFF"/>
            </a:solidFill>
            <a:prstDash val="solid"/>
          </a:ln>
          <a:effectLst>
            <a:outerShdw sx="100000" sy="100000" kx="0" ky="0" algn="bl" rotWithShape="0" blurRad="101600" dist="25400" dir="5400000">
              <a:srgbClr val="0B1F4B">
                <a:alpha val="12000"/>
              </a:srgbClr>
            </a:outerShdw>
          </a:effectLst>
        </p:spPr>
      </p:sp>
      <p:sp>
        <p:nvSpPr>
          <p:cNvPr id="14" name="A4-fadeleft-161"/>
          <p:cNvSpPr txBox="1"/>
          <p:nvPr/>
        </p:nvSpPr>
        <p:spPr>
          <a:xfrm>
            <a:off x="6720840" y="1572768"/>
            <a:ext cx="1874520" cy="914400"/>
          </a:xfrm>
          <a:prstGeom prst="rect">
            <a:avLst/>
          </a:prstGeom>
          <a:noFill/>
          <a:ln/>
        </p:spPr>
        <p:txBody>
          <a:bodyPr wrap="square" lIns="0" tIns="0" rIns="0" bIns="0" rtlCol="0" anchor="t"/>
          <a:lstStyle/>
          <a:p>
            <a:pPr indent="0" marL="0">
              <a:buNone/>
            </a:pPr>
            <a:r>
              <a:rPr lang="en-US" sz="1200" b="1" dirty="0">
                <a:solidFill>
                  <a:srgbClr val="1F4FA8"/>
                </a:solidFill>
                <a:latin typeface="Calibri" pitchFamily="34" charset="0"/>
                <a:ea typeface="Calibri" pitchFamily="34" charset="-122"/>
                <a:cs typeface="Calibri" pitchFamily="34" charset="-120"/>
              </a:rPr>
              <a:t>Marché unique
</a:t>
            </a:r>
            <a:pPr indent="0" marL="0">
              <a:buNone/>
            </a:pPr>
            <a:r>
              <a:rPr lang="en-US" sz="1200" dirty="0">
                <a:solidFill>
                  <a:srgbClr val="5B6478"/>
                </a:solidFill>
                <a:latin typeface="Calibri" pitchFamily="34" charset="0"/>
                <a:ea typeface="Calibri" pitchFamily="34" charset="-122"/>
                <a:cs typeface="Calibri" pitchFamily="34" charset="-120"/>
              </a:rPr>
              <a:t>Cadre économique et réglementaire (1993)</a:t>
            </a:r>
            <a:endParaRPr lang="en-US" sz="1200" dirty="0"/>
          </a:p>
        </p:txBody>
      </p:sp>
      <p:sp>
        <p:nvSpPr>
          <p:cNvPr id="15" name="A5-fadeleft-162"/>
          <p:cNvSpPr/>
          <p:nvPr/>
        </p:nvSpPr>
        <p:spPr>
          <a:xfrm>
            <a:off x="6583680" y="2743200"/>
            <a:ext cx="2103120"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101600" dist="25400" dir="5400000">
              <a:srgbClr val="0B1F4B">
                <a:alpha val="12000"/>
              </a:srgbClr>
            </a:outerShdw>
          </a:effectLst>
        </p:spPr>
      </p:sp>
      <p:sp>
        <p:nvSpPr>
          <p:cNvPr id="16" name="A5-fadeleft-163"/>
          <p:cNvSpPr txBox="1"/>
          <p:nvPr/>
        </p:nvSpPr>
        <p:spPr>
          <a:xfrm>
            <a:off x="6720840" y="2852928"/>
            <a:ext cx="1874520" cy="1234440"/>
          </a:xfrm>
          <a:prstGeom prst="rect">
            <a:avLst/>
          </a:prstGeom>
          <a:noFill/>
          <a:ln/>
        </p:spPr>
        <p:txBody>
          <a:bodyPr wrap="square" lIns="0" tIns="0" rIns="0" bIns="0" rtlCol="0" anchor="t"/>
          <a:lstStyle/>
          <a:p>
            <a:pPr indent="0" marL="0">
              <a:buNone/>
            </a:pPr>
            <a:r>
              <a:rPr lang="en-US" sz="1200" b="1" dirty="0">
                <a:solidFill>
                  <a:srgbClr val="B98500"/>
                </a:solidFill>
                <a:latin typeface="Calibri" pitchFamily="34" charset="0"/>
                <a:ea typeface="Calibri" pitchFamily="34" charset="-122"/>
                <a:cs typeface="Calibri" pitchFamily="34" charset="-120"/>
              </a:rPr>
              <a:t>Schengen
</a:t>
            </a:r>
            <a:pPr indent="0" marL="0">
              <a:buNone/>
            </a:pPr>
            <a:r>
              <a:rPr lang="en-US" sz="1200" dirty="0">
                <a:solidFill>
                  <a:srgbClr val="5B6478"/>
                </a:solidFill>
                <a:latin typeface="Calibri" pitchFamily="34" charset="0"/>
                <a:ea typeface="Calibri" pitchFamily="34" charset="-122"/>
                <a:cs typeface="Calibri" pitchFamily="34" charset="-120"/>
              </a:rPr>
              <a:t>Accord sur les frontières : fin des contrôles des personnes (1985, effectif en 1995)</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54" fill="hold">
                      <p:stCondLst>
                        <p:cond delay="indefinite"/>
                        <p:cond evt="onBegin" delay="0">
                          <p:tn val="2"/>
                        </p:cond>
                      </p:stCondLst>
                      <p:childTnLst>
                        <p:par>
                          <p:cTn id="55" fill="hold">
                            <p:stCondLst>
                              <p:cond delay="0"/>
                            </p:stCondLst>
                            <p:childTnLst>
                              <p:par>
                                <p:cTn id="6" presetID="53" presetClass="entr" presetSubtype="16" fill="hold" grpId="0" nodeType="withEffect">
                                  <p:stCondLst>
                                    <p:cond delay="380"/>
                                  </p:stCondLst>
                                  <p:childTnLst>
                                    <p:set>
                                      <p:cBhvr>
                                        <p:cTn id="7" dur="1" fill="hold">
                                          <p:stCondLst>
                                            <p:cond delay="0"/>
                                          </p:stCondLst>
                                        </p:cTn>
                                        <p:tgtEl>
                                          <p:spTgt spid="6"/>
                                        </p:tgtEl>
                                        <p:attrNameLst>
                                          <p:attrName>style.visibility</p:attrName>
                                        </p:attrNameLst>
                                      </p:cBhvr>
                                      <p:to>
                                        <p:strVal val="visible"/>
                                      </p:to>
                                    </p:set>
                                    <p:anim calcmode="lin" valueType="num">
                                      <p:cBhvr additive="base">
                                        <p:cTn id="3" dur="550" fill="hold"/>
                                        <p:tgtEl>
                                          <p:spTgt spid="6"/>
                                        </p:tgtEl>
                                        <p:attrNameLst>
                                          <p:attrName>ppt_w</p:attrName>
                                        </p:attrNameLst>
                                      </p:cBhvr>
                                      <p:tavLst>
                                        <p:tav tm="0">
                                          <p:val>
                                            <p:strVal val="0"/>
                                          </p:val>
                                        </p:tav>
                                        <p:tav tm="100000">
                                          <p:val>
                                            <p:strVal val="#ppt_w"/>
                                          </p:val>
                                        </p:tav>
                                      </p:tavLst>
                                    </p:anim>
                                    <p:anim calcmode="lin" valueType="num">
                                      <p:cBhvr additive="base">
                                        <p:cTn id="4" dur="550" fill="hold"/>
                                        <p:tgtEl>
                                          <p:spTgt spid="6"/>
                                        </p:tgtEl>
                                        <p:attrNameLst>
                                          <p:attrName>ppt_h</p:attrName>
                                        </p:attrNameLst>
                                      </p:cBhvr>
                                      <p:tavLst>
                                        <p:tav tm="0">
                                          <p:val>
                                            <p:strVal val="0"/>
                                          </p:val>
                                        </p:tav>
                                        <p:tav tm="100000">
                                          <p:val>
                                            <p:strVal val="#ppt_h"/>
                                          </p:val>
                                        </p:tav>
                                      </p:tavLst>
                                    </p:anim>
                                    <p:animEffect transition="in" filter="fade">
                                      <p:cBhvr>
                                        <p:cTn id="5" dur="550"/>
                                        <p:tgtEl>
                                          <p:spTgt spid="6"/>
                                        </p:tgtEl>
                                      </p:cBhvr>
                                    </p:animEffect>
                                  </p:childTnLst>
                                </p:cTn>
                              </p:par>
                              <p:par>
                                <p:cTn id="9" presetID="10" presetClass="entr" presetSubtype="0" fill="hold" grpId="0" nodeType="withEffect">
                                  <p:stCondLst>
                                    <p:cond delay="380"/>
                                  </p:stCondLst>
                                  <p:childTnLst>
                                    <p:set>
                                      <p:cBhvr>
                                        <p:cTn id="10" dur="1" fill="hold">
                                          <p:stCondLst>
                                            <p:cond delay="0"/>
                                          </p:stCondLst>
                                        </p:cTn>
                                        <p:tgtEl>
                                          <p:spTgt spid="8"/>
                                        </p:tgtEl>
                                        <p:attrNameLst>
                                          <p:attrName>style.visibility</p:attrName>
                                        </p:attrNameLst>
                                      </p:cBhvr>
                                      <p:to>
                                        <p:strVal val="visible"/>
                                      </p:to>
                                    </p:set>
                                    <p:animEffect transition="in" filter="fade">
                                      <p:cBhvr>
                                        <p:cTn id="8" dur="600"/>
                                        <p:tgtEl>
                                          <p:spTgt spid="8"/>
                                        </p:tgtEl>
                                      </p:cBhvr>
                                    </p:animEffect>
                                  </p:childTnLst>
                                </p:cTn>
                              </p:par>
                              <p:par>
                                <p:cTn id="14" presetID="53" presetClass="entr" presetSubtype="16" fill="hold" grpId="0" nodeType="withEffect">
                                  <p:stCondLst>
                                    <p:cond delay="76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1" dur="550" fill="hold"/>
                                        <p:tgtEl>
                                          <p:spTgt spid="7"/>
                                        </p:tgtEl>
                                        <p:attrNameLst>
                                          <p:attrName>ppt_w</p:attrName>
                                        </p:attrNameLst>
                                      </p:cBhvr>
                                      <p:tavLst>
                                        <p:tav tm="0">
                                          <p:val>
                                            <p:strVal val="0"/>
                                          </p:val>
                                        </p:tav>
                                        <p:tav tm="100000">
                                          <p:val>
                                            <p:strVal val="#ppt_w"/>
                                          </p:val>
                                        </p:tav>
                                      </p:tavLst>
                                    </p:anim>
                                    <p:anim calcmode="lin" valueType="num">
                                      <p:cBhvr additive="base">
                                        <p:cTn id="12" dur="550" fill="hold"/>
                                        <p:tgtEl>
                                          <p:spTgt spid="7"/>
                                        </p:tgtEl>
                                        <p:attrNameLst>
                                          <p:attrName>ppt_h</p:attrName>
                                        </p:attrNameLst>
                                      </p:cBhvr>
                                      <p:tavLst>
                                        <p:tav tm="0">
                                          <p:val>
                                            <p:strVal val="0"/>
                                          </p:val>
                                        </p:tav>
                                        <p:tav tm="100000">
                                          <p:val>
                                            <p:strVal val="#ppt_h"/>
                                          </p:val>
                                        </p:tav>
                                      </p:tavLst>
                                    </p:anim>
                                    <p:animEffect transition="in" filter="fade">
                                      <p:cBhvr>
                                        <p:cTn id="13" dur="550"/>
                                        <p:tgtEl>
                                          <p:spTgt spid="7"/>
                                        </p:tgtEl>
                                      </p:cBhvr>
                                    </p:animEffect>
                                  </p:childTnLst>
                                </p:cTn>
                              </p:par>
                              <p:par>
                                <p:cTn id="17" presetID="10" presetClass="entr" presetSubtype="0" fill="hold" grpId="0" nodeType="withEffect">
                                  <p:stCondLst>
                                    <p:cond delay="760"/>
                                  </p:stCondLst>
                                  <p:childTnLst>
                                    <p:set>
                                      <p:cBhvr>
                                        <p:cTn id="18" dur="1" fill="hold">
                                          <p:stCondLst>
                                            <p:cond delay="0"/>
                                          </p:stCondLst>
                                        </p:cTn>
                                        <p:tgtEl>
                                          <p:spTgt spid="10"/>
                                        </p:tgtEl>
                                        <p:attrNameLst>
                                          <p:attrName>style.visibility</p:attrName>
                                        </p:attrNameLst>
                                      </p:cBhvr>
                                      <p:to>
                                        <p:strVal val="visible"/>
                                      </p:to>
                                    </p:set>
                                    <p:animEffect transition="in" filter="fade">
                                      <p:cBhvr>
                                        <p:cTn id="16" dur="600"/>
                                        <p:tgtEl>
                                          <p:spTgt spid="10"/>
                                        </p:tgtEl>
                                      </p:cBhvr>
                                    </p:animEffect>
                                  </p:childTnLst>
                                </p:cTn>
                              </p:par>
                              <p:par>
                                <p:cTn id="22" presetID="42" presetClass="entr" presetSubtype="0" fill="hold" grpId="0" nodeType="withEffect">
                                  <p:stCondLst>
                                    <p:cond delay="1140"/>
                                  </p:stCondLst>
                                  <p:childTnLst>
                                    <p:set>
                                      <p:cBhvr>
                                        <p:cTn id="23" dur="1" fill="hold">
                                          <p:stCondLst>
                                            <p:cond delay="0"/>
                                          </p:stCondLst>
                                        </p:cTn>
                                        <p:tgtEl>
                                          <p:spTgt spid="9"/>
                                        </p:tgtEl>
                                        <p:attrNameLst>
                                          <p:attrName>style.visibility</p:attrName>
                                        </p:attrNameLst>
                                      </p:cBhvr>
                                      <p:to>
                                        <p:strVal val="visible"/>
                                      </p:to>
                                    </p:set>
                                    <p:animEffect transition="in" filter="fade">
                                      <p:cBhvr>
                                        <p:cTn id="19" dur="700"/>
                                        <p:tgtEl>
                                          <p:spTgt spid="9"/>
                                        </p:tgtEl>
                                      </p:cBhvr>
                                    </p:animEffect>
                                    <p:anim calcmode="lin" valueType="num">
                                      <p:cBhvr additive="base">
                                        <p:cTn id="20" dur="700" fill="hold"/>
                                        <p:tgtEl>
                                          <p:spTgt spid="9"/>
                                        </p:tgtEl>
                                        <p:attrNameLst>
                                          <p:attrName>ppt_x</p:attrName>
                                        </p:attrNameLst>
                                      </p:cBhvr>
                                      <p:tavLst>
                                        <p:tav tm="0">
                                          <p:val>
                                            <p:strVal val="#ppt_x"/>
                                          </p:val>
                                        </p:tav>
                                        <p:tav tm="100000">
                                          <p:val>
                                            <p:strVal val="#ppt_x"/>
                                          </p:val>
                                        </p:tav>
                                      </p:tavLst>
                                    </p:anim>
                                    <p:anim calcmode="lin" valueType="num">
                                      <p:cBhvr additive="base">
                                        <p:cTn id="21" dur="700" fill="hold"/>
                                        <p:tgtEl>
                                          <p:spTgt spid="9"/>
                                        </p:tgtEl>
                                        <p:attrNameLst>
                                          <p:attrName>ppt_y</p:attrName>
                                        </p:attrNameLst>
                                      </p:cBhvr>
                                      <p:tavLst>
                                        <p:tav tm="0">
                                          <p:val>
                                            <p:strVal val="#ppt_y+.08"/>
                                          </p:val>
                                        </p:tav>
                                        <p:tav tm="100000">
                                          <p:val>
                                            <p:strVal val="#ppt_y"/>
                                          </p:val>
                                        </p:tav>
                                      </p:tavLst>
                                    </p:anim>
                                  </p:childTnLst>
                                </p:cTn>
                              </p:par>
                              <p:par>
                                <p:cTn id="27" presetID="42" presetClass="entr" presetSubtype="0" fill="hold" grpId="0" nodeType="withEffect">
                                  <p:stCondLst>
                                    <p:cond delay="1140"/>
                                  </p:stCondLst>
                                  <p:childTnLst>
                                    <p:set>
                                      <p:cBhvr>
                                        <p:cTn id="28" dur="1" fill="hold">
                                          <p:stCondLst>
                                            <p:cond delay="0"/>
                                          </p:stCondLst>
                                        </p:cTn>
                                        <p:tgtEl>
                                          <p:spTgt spid="11"/>
                                        </p:tgtEl>
                                        <p:attrNameLst>
                                          <p:attrName>style.visibility</p:attrName>
                                        </p:attrNameLst>
                                      </p:cBhvr>
                                      <p:to>
                                        <p:strVal val="visible"/>
                                      </p:to>
                                    </p:set>
                                    <p:animEffect transition="in" filter="fade">
                                      <p:cBhvr>
                                        <p:cTn id="24" dur="700"/>
                                        <p:tgtEl>
                                          <p:spTgt spid="11"/>
                                        </p:tgtEl>
                                      </p:cBhvr>
                                    </p:animEffect>
                                    <p:anim calcmode="lin" valueType="num">
                                      <p:cBhvr additive="base">
                                        <p:cTn id="25" dur="700" fill="hold"/>
                                        <p:tgtEl>
                                          <p:spTgt spid="11"/>
                                        </p:tgtEl>
                                        <p:attrNameLst>
                                          <p:attrName>ppt_x</p:attrName>
                                        </p:attrNameLst>
                                      </p:cBhvr>
                                      <p:tavLst>
                                        <p:tav tm="0">
                                          <p:val>
                                            <p:strVal val="#ppt_x"/>
                                          </p:val>
                                        </p:tav>
                                        <p:tav tm="100000">
                                          <p:val>
                                            <p:strVal val="#ppt_x"/>
                                          </p:val>
                                        </p:tav>
                                      </p:tavLst>
                                    </p:anim>
                                    <p:anim calcmode="lin" valueType="num">
                                      <p:cBhvr additive="base">
                                        <p:cTn id="26" dur="700" fill="hold"/>
                                        <p:tgtEl>
                                          <p:spTgt spid="11"/>
                                        </p:tgtEl>
                                        <p:attrNameLst>
                                          <p:attrName>ppt_y</p:attrName>
                                        </p:attrNameLst>
                                      </p:cBhvr>
                                      <p:tavLst>
                                        <p:tav tm="0">
                                          <p:val>
                                            <p:strVal val="#ppt_y+.08"/>
                                          </p:val>
                                        </p:tav>
                                        <p:tav tm="100000">
                                          <p:val>
                                            <p:strVal val="#ppt_y"/>
                                          </p:val>
                                        </p:tav>
                                      </p:tavLst>
                                    </p:anim>
                                  </p:childTnLst>
                                </p:cTn>
                              </p:par>
                              <p:par>
                                <p:cTn id="32" presetID="42" presetClass="entr" presetSubtype="0" fill="hold" grpId="0" nodeType="withEffect">
                                  <p:stCondLst>
                                    <p:cond delay="1140"/>
                                  </p:stCondLst>
                                  <p:childTnLst>
                                    <p:set>
                                      <p:cBhvr>
                                        <p:cTn id="33" dur="1" fill="hold">
                                          <p:stCondLst>
                                            <p:cond delay="0"/>
                                          </p:stCondLst>
                                        </p:cTn>
                                        <p:tgtEl>
                                          <p:spTgt spid="12"/>
                                        </p:tgtEl>
                                        <p:attrNameLst>
                                          <p:attrName>style.visibility</p:attrName>
                                        </p:attrNameLst>
                                      </p:cBhvr>
                                      <p:to>
                                        <p:strVal val="visible"/>
                                      </p:to>
                                    </p:set>
                                    <p:animEffect transition="in" filter="fade">
                                      <p:cBhvr>
                                        <p:cTn id="29" dur="700"/>
                                        <p:tgtEl>
                                          <p:spTgt spid="12"/>
                                        </p:tgtEl>
                                      </p:cBhvr>
                                    </p:animEffect>
                                    <p:anim calcmode="lin" valueType="num">
                                      <p:cBhvr additive="base">
                                        <p:cTn id="30" dur="700" fill="hold"/>
                                        <p:tgtEl>
                                          <p:spTgt spid="12"/>
                                        </p:tgtEl>
                                        <p:attrNameLst>
                                          <p:attrName>ppt_x</p:attrName>
                                        </p:attrNameLst>
                                      </p:cBhvr>
                                      <p:tavLst>
                                        <p:tav tm="0">
                                          <p:val>
                                            <p:strVal val="#ppt_x"/>
                                          </p:val>
                                        </p:tav>
                                        <p:tav tm="100000">
                                          <p:val>
                                            <p:strVal val="#ppt_x"/>
                                          </p:val>
                                        </p:tav>
                                      </p:tavLst>
                                    </p:anim>
                                    <p:anim calcmode="lin" valueType="num">
                                      <p:cBhvr additive="base">
                                        <p:cTn id="31" dur="700" fill="hold"/>
                                        <p:tgtEl>
                                          <p:spTgt spid="12"/>
                                        </p:tgtEl>
                                        <p:attrNameLst>
                                          <p:attrName>ppt_y</p:attrName>
                                        </p:attrNameLst>
                                      </p:cBhvr>
                                      <p:tavLst>
                                        <p:tav tm="0">
                                          <p:val>
                                            <p:strVal val="#ppt_y+.08"/>
                                          </p:val>
                                        </p:tav>
                                        <p:tav tm="100000">
                                          <p:val>
                                            <p:strVal val="#ppt_y"/>
                                          </p:val>
                                        </p:tav>
                                      </p:tavLst>
                                    </p:anim>
                                  </p:childTnLst>
                                </p:cTn>
                              </p:par>
                              <p:par>
                                <p:cTn id="37" presetID="42" presetClass="entr" presetSubtype="0" fill="hold" grpId="0" nodeType="withEffect">
                                  <p:stCondLst>
                                    <p:cond delay="1520"/>
                                  </p:stCondLst>
                                  <p:childTnLst>
                                    <p:set>
                                      <p:cBhvr>
                                        <p:cTn id="38" dur="1" fill="hold">
                                          <p:stCondLst>
                                            <p:cond delay="0"/>
                                          </p:stCondLst>
                                        </p:cTn>
                                        <p:tgtEl>
                                          <p:spTgt spid="13"/>
                                        </p:tgtEl>
                                        <p:attrNameLst>
                                          <p:attrName>style.visibility</p:attrName>
                                        </p:attrNameLst>
                                      </p:cBhvr>
                                      <p:to>
                                        <p:strVal val="visible"/>
                                      </p:to>
                                    </p:set>
                                    <p:animEffect transition="in" filter="fade">
                                      <p:cBhvr>
                                        <p:cTn id="34" dur="650"/>
                                        <p:tgtEl>
                                          <p:spTgt spid="13"/>
                                        </p:tgtEl>
                                      </p:cBhvr>
                                    </p:animEffect>
                                    <p:anim calcmode="lin" valueType="num">
                                      <p:cBhvr additive="base">
                                        <p:cTn id="35" dur="650" fill="hold"/>
                                        <p:tgtEl>
                                          <p:spTgt spid="13"/>
                                        </p:tgtEl>
                                        <p:attrNameLst>
                                          <p:attrName>ppt_x</p:attrName>
                                        </p:attrNameLst>
                                      </p:cBhvr>
                                      <p:tavLst>
                                        <p:tav tm="0">
                                          <p:val>
                                            <p:strVal val="#ppt_x-.06"/>
                                          </p:val>
                                        </p:tav>
                                        <p:tav tm="100000">
                                          <p:val>
                                            <p:strVal val="#ppt_x"/>
                                          </p:val>
                                        </p:tav>
                                      </p:tavLst>
                                    </p:anim>
                                    <p:anim calcmode="lin" valueType="num">
                                      <p:cBhvr additive="base">
                                        <p:cTn id="36" dur="650" fill="hold"/>
                                        <p:tgtEl>
                                          <p:spTgt spid="13"/>
                                        </p:tgtEl>
                                        <p:attrNameLst>
                                          <p:attrName>ppt_y</p:attrName>
                                        </p:attrNameLst>
                                      </p:cBhvr>
                                      <p:tavLst>
                                        <p:tav tm="0">
                                          <p:val>
                                            <p:strVal val="#ppt_y"/>
                                          </p:val>
                                        </p:tav>
                                        <p:tav tm="100000">
                                          <p:val>
                                            <p:strVal val="#ppt_y"/>
                                          </p:val>
                                        </p:tav>
                                      </p:tavLst>
                                    </p:anim>
                                  </p:childTnLst>
                                </p:cTn>
                              </p:par>
                              <p:par>
                                <p:cTn id="42" presetID="42" presetClass="entr" presetSubtype="0" fill="hold" grpId="0" nodeType="withEffect">
                                  <p:stCondLst>
                                    <p:cond delay="1520"/>
                                  </p:stCondLst>
                                  <p:childTnLst>
                                    <p:set>
                                      <p:cBhvr>
                                        <p:cTn id="43" dur="1" fill="hold">
                                          <p:stCondLst>
                                            <p:cond delay="0"/>
                                          </p:stCondLst>
                                        </p:cTn>
                                        <p:tgtEl>
                                          <p:spTgt spid="14"/>
                                        </p:tgtEl>
                                        <p:attrNameLst>
                                          <p:attrName>style.visibility</p:attrName>
                                        </p:attrNameLst>
                                      </p:cBhvr>
                                      <p:to>
                                        <p:strVal val="visible"/>
                                      </p:to>
                                    </p:set>
                                    <p:animEffect transition="in" filter="fade">
                                      <p:cBhvr>
                                        <p:cTn id="39" dur="650"/>
                                        <p:tgtEl>
                                          <p:spTgt spid="14"/>
                                        </p:tgtEl>
                                      </p:cBhvr>
                                    </p:animEffect>
                                    <p:anim calcmode="lin" valueType="num">
                                      <p:cBhvr additive="base">
                                        <p:cTn id="40" dur="650" fill="hold"/>
                                        <p:tgtEl>
                                          <p:spTgt spid="14"/>
                                        </p:tgtEl>
                                        <p:attrNameLst>
                                          <p:attrName>ppt_x</p:attrName>
                                        </p:attrNameLst>
                                      </p:cBhvr>
                                      <p:tavLst>
                                        <p:tav tm="0">
                                          <p:val>
                                            <p:strVal val="#ppt_x-.06"/>
                                          </p:val>
                                        </p:tav>
                                        <p:tav tm="100000">
                                          <p:val>
                                            <p:strVal val="#ppt_x"/>
                                          </p:val>
                                        </p:tav>
                                      </p:tavLst>
                                    </p:anim>
                                    <p:anim calcmode="lin" valueType="num">
                                      <p:cBhvr additive="base">
                                        <p:cTn id="41" dur="650" fill="hold"/>
                                        <p:tgtEl>
                                          <p:spTgt spid="14"/>
                                        </p:tgtEl>
                                        <p:attrNameLst>
                                          <p:attrName>ppt_y</p:attrName>
                                        </p:attrNameLst>
                                      </p:cBhvr>
                                      <p:tavLst>
                                        <p:tav tm="0">
                                          <p:val>
                                            <p:strVal val="#ppt_y"/>
                                          </p:val>
                                        </p:tav>
                                        <p:tav tm="100000">
                                          <p:val>
                                            <p:strVal val="#ppt_y"/>
                                          </p:val>
                                        </p:tav>
                                      </p:tavLst>
                                    </p:anim>
                                  </p:childTnLst>
                                </p:cTn>
                              </p:par>
                              <p:par>
                                <p:cTn id="47" presetID="42" presetClass="entr" presetSubtype="0" fill="hold" grpId="0" nodeType="withEffect">
                                  <p:stCondLst>
                                    <p:cond delay="1900"/>
                                  </p:stCondLst>
                                  <p:childTnLst>
                                    <p:set>
                                      <p:cBhvr>
                                        <p:cTn id="48" dur="1" fill="hold">
                                          <p:stCondLst>
                                            <p:cond delay="0"/>
                                          </p:stCondLst>
                                        </p:cTn>
                                        <p:tgtEl>
                                          <p:spTgt spid="15"/>
                                        </p:tgtEl>
                                        <p:attrNameLst>
                                          <p:attrName>style.visibility</p:attrName>
                                        </p:attrNameLst>
                                      </p:cBhvr>
                                      <p:to>
                                        <p:strVal val="visible"/>
                                      </p:to>
                                    </p:set>
                                    <p:animEffect transition="in" filter="fade">
                                      <p:cBhvr>
                                        <p:cTn id="44" dur="650"/>
                                        <p:tgtEl>
                                          <p:spTgt spid="15"/>
                                        </p:tgtEl>
                                      </p:cBhvr>
                                    </p:animEffect>
                                    <p:anim calcmode="lin" valueType="num">
                                      <p:cBhvr additive="base">
                                        <p:cTn id="45" dur="650" fill="hold"/>
                                        <p:tgtEl>
                                          <p:spTgt spid="15"/>
                                        </p:tgtEl>
                                        <p:attrNameLst>
                                          <p:attrName>ppt_x</p:attrName>
                                        </p:attrNameLst>
                                      </p:cBhvr>
                                      <p:tavLst>
                                        <p:tav tm="0">
                                          <p:val>
                                            <p:strVal val="#ppt_x-.06"/>
                                          </p:val>
                                        </p:tav>
                                        <p:tav tm="100000">
                                          <p:val>
                                            <p:strVal val="#ppt_x"/>
                                          </p:val>
                                        </p:tav>
                                      </p:tavLst>
                                    </p:anim>
                                    <p:anim calcmode="lin" valueType="num">
                                      <p:cBhvr additive="base">
                                        <p:cTn id="46" dur="650" fill="hold"/>
                                        <p:tgtEl>
                                          <p:spTgt spid="15"/>
                                        </p:tgtEl>
                                        <p:attrNameLst>
                                          <p:attrName>ppt_y</p:attrName>
                                        </p:attrNameLst>
                                      </p:cBhvr>
                                      <p:tavLst>
                                        <p:tav tm="0">
                                          <p:val>
                                            <p:strVal val="#ppt_y"/>
                                          </p:val>
                                        </p:tav>
                                        <p:tav tm="100000">
                                          <p:val>
                                            <p:strVal val="#ppt_y"/>
                                          </p:val>
                                        </p:tav>
                                      </p:tavLst>
                                    </p:anim>
                                  </p:childTnLst>
                                </p:cTn>
                              </p:par>
                              <p:par>
                                <p:cTn id="52" presetID="42" presetClass="entr" presetSubtype="0" fill="hold" grpId="0" nodeType="withEffect">
                                  <p:stCondLst>
                                    <p:cond delay="1900"/>
                                  </p:stCondLst>
                                  <p:childTnLst>
                                    <p:set>
                                      <p:cBhvr>
                                        <p:cTn id="53" dur="1" fill="hold">
                                          <p:stCondLst>
                                            <p:cond delay="0"/>
                                          </p:stCondLst>
                                        </p:cTn>
                                        <p:tgtEl>
                                          <p:spTgt spid="16"/>
                                        </p:tgtEl>
                                        <p:attrNameLst>
                                          <p:attrName>style.visibility</p:attrName>
                                        </p:attrNameLst>
                                      </p:cBhvr>
                                      <p:to>
                                        <p:strVal val="visible"/>
                                      </p:to>
                                    </p:set>
                                    <p:animEffect transition="in" filter="fade">
                                      <p:cBhvr>
                                        <p:cTn id="49" dur="650"/>
                                        <p:tgtEl>
                                          <p:spTgt spid="16"/>
                                        </p:tgtEl>
                                      </p:cBhvr>
                                    </p:animEffect>
                                    <p:anim calcmode="lin" valueType="num">
                                      <p:cBhvr additive="base">
                                        <p:cTn id="50" dur="650" fill="hold"/>
                                        <p:tgtEl>
                                          <p:spTgt spid="16"/>
                                        </p:tgtEl>
                                        <p:attrNameLst>
                                          <p:attrName>ppt_x</p:attrName>
                                        </p:attrNameLst>
                                      </p:cBhvr>
                                      <p:tavLst>
                                        <p:tav tm="0">
                                          <p:val>
                                            <p:strVal val="#ppt_x-.06"/>
                                          </p:val>
                                        </p:tav>
                                        <p:tav tm="100000">
                                          <p:val>
                                            <p:strVal val="#ppt_x"/>
                                          </p:val>
                                        </p:tav>
                                      </p:tavLst>
                                    </p:anim>
                                    <p:anim calcmode="lin" valueType="num">
                                      <p:cBhvr additive="base">
                                        <p:cTn id="51" dur="65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9" grpId="0" animBg="1"/>
      <p:bldP spid="11" grpId="0" animBg="1"/>
      <p:bldP spid="12" grpId="0" animBg="1"/>
      <p:bldP spid="14" grpId="0" animBg="1"/>
      <p:bldP spid="1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7406640" y="-1005840"/>
            <a:ext cx="2560320" cy="2560320"/>
          </a:xfrm>
          <a:prstGeom prst="rect">
            <a:avLst/>
          </a:prstGeom>
        </p:spPr>
      </p:pic>
      <p:sp>
        <p:nvSpPr>
          <p:cNvPr id="3" name="Text 0"/>
          <p:cNvSpPr txBox="1"/>
          <p:nvPr/>
        </p:nvSpPr>
        <p:spPr>
          <a:xfrm>
            <a:off x="457200" y="274320"/>
            <a:ext cx="6858000" cy="228600"/>
          </a:xfrm>
          <a:prstGeom prst="rect">
            <a:avLst/>
          </a:prstGeom>
          <a:noFill/>
          <a:ln/>
        </p:spPr>
        <p:txBody>
          <a:bodyPr wrap="square" lIns="0" tIns="0" rIns="0" bIns="0" rtlCol="0" anchor="t"/>
          <a:lstStyle/>
          <a:p>
            <a:pPr indent="0" marL="0">
              <a:buNone/>
            </a:pPr>
            <a:r>
              <a:rPr lang="en-US" sz="1050" b="1" spc="200" kern="0" dirty="0">
                <a:solidFill>
                  <a:srgbClr val="1F4FA8"/>
                </a:solidFill>
                <a:latin typeface="Calibri" pitchFamily="34" charset="0"/>
                <a:ea typeface="Calibri" pitchFamily="34" charset="-122"/>
                <a:cs typeface="Calibri" pitchFamily="34" charset="-120"/>
              </a:rPr>
              <a:t>I · 1.2</a:t>
            </a:r>
            <a:endParaRPr lang="en-US" sz="1050" dirty="0"/>
          </a:p>
        </p:txBody>
      </p:sp>
      <p:sp>
        <p:nvSpPr>
          <p:cNvPr id="4" name="Text 1"/>
          <p:cNvSpPr txBox="1"/>
          <p:nvPr/>
        </p:nvSpPr>
        <p:spPr>
          <a:xfrm>
            <a:off x="457200" y="502920"/>
            <a:ext cx="7863840" cy="548640"/>
          </a:xfrm>
          <a:prstGeom prst="rect">
            <a:avLst/>
          </a:prstGeom>
          <a:noFill/>
          <a:ln/>
        </p:spPr>
        <p:txBody>
          <a:bodyPr wrap="square" lIns="0" tIns="0" rIns="0" bIns="0" rtlCol="0" anchor="ctr"/>
          <a:lstStyle/>
          <a:p>
            <a:pPr indent="0" marL="0">
              <a:buNone/>
            </a:pPr>
            <a:r>
              <a:rPr lang="en-US" sz="2600" b="1" dirty="0">
                <a:solidFill>
                  <a:srgbClr val="0B1F4B"/>
                </a:solidFill>
                <a:latin typeface="Cambria" pitchFamily="34" charset="0"/>
                <a:ea typeface="Cambria" pitchFamily="34" charset="-122"/>
                <a:cs typeface="Cambria" pitchFamily="34" charset="-120"/>
              </a:rPr>
              <a:t>Bien plus loin que les autres accords régionaux</a:t>
            </a:r>
            <a:endParaRPr lang="en-US" sz="2600" dirty="0"/>
          </a:p>
        </p:txBody>
      </p:sp>
      <p:sp>
        <p:nvSpPr>
          <p:cNvPr id="5" name="Text 2"/>
          <p:cNvSpPr txBox="1"/>
          <p:nvPr/>
        </p:nvSpPr>
        <p:spPr>
          <a:xfrm>
            <a:off x="8321040" y="4773168"/>
            <a:ext cx="365760" cy="228600"/>
          </a:xfrm>
          <a:prstGeom prst="rect">
            <a:avLst/>
          </a:prstGeom>
          <a:noFill/>
          <a:ln/>
        </p:spPr>
        <p:txBody>
          <a:bodyPr wrap="square" lIns="0" tIns="0" rIns="0" bIns="0" rtlCol="0" anchor="t"/>
          <a:lstStyle/>
          <a:p>
            <a:pPr algn="r" indent="0" marL="0">
              <a:buNone/>
            </a:pPr>
            <a:r>
              <a:rPr lang="en-US" sz="1000" dirty="0">
                <a:solidFill>
                  <a:srgbClr val="5B6478"/>
                </a:solidFill>
                <a:latin typeface="Calibri" pitchFamily="34" charset="0"/>
                <a:ea typeface="Calibri" pitchFamily="34" charset="-122"/>
                <a:cs typeface="Calibri" pitchFamily="34" charset="-120"/>
              </a:rPr>
              <a:t>10</a:t>
            </a:r>
            <a:endParaRPr lang="en-US" sz="1000" dirty="0"/>
          </a:p>
        </p:txBody>
      </p:sp>
      <p:graphicFrame>
        <p:nvGraphicFramePr>
          <p:cNvPr id="6" name="A1-rise-164" descr=""/>
          <p:cNvGraphicFramePr/>
          <p:nvPr/>
        </p:nvGraphicFramePr>
        <p:xfrm>
          <a:off x="365760" y="1234440"/>
          <a:ext cx="4937760" cy="3474720"/>
        </p:xfrm>
        <a:graphic xmlns:a="http://schemas.openxmlformats.org/drawingml/2006/main">
          <a:graphicData uri="http://schemas.openxmlformats.org/drawingml/2006/chart">
            <c:chart xmlns:c="http://schemas.openxmlformats.org/drawingml/2006/chart" r:id="rId3"/>
          </a:graphicData>
        </a:graphic>
      </p:graphicFrame>
      <p:sp>
        <p:nvSpPr>
          <p:cNvPr id="7" name="A2-fadeleft-165"/>
          <p:cNvSpPr/>
          <p:nvPr/>
        </p:nvSpPr>
        <p:spPr>
          <a:xfrm>
            <a:off x="5577840" y="1325880"/>
            <a:ext cx="3108960" cy="731520"/>
          </a:xfrm>
          <a:prstGeom prst="roundRect">
            <a:avLst>
              <a:gd name="adj" fmla="val 15000"/>
            </a:avLst>
          </a:prstGeom>
          <a:solidFill>
            <a:srgbClr val="FFFFFF"/>
          </a:solidFill>
          <a:ln w="12700">
            <a:solidFill>
              <a:srgbClr val="FFFFFF"/>
            </a:solidFill>
            <a:prstDash val="solid"/>
          </a:ln>
          <a:effectLst>
            <a:outerShdw sx="100000" sy="100000" kx="0" ky="0" algn="bl" rotWithShape="0" blurRad="101600" dist="25400" dir="5400000">
              <a:srgbClr val="0B1F4B">
                <a:alpha val="12000"/>
              </a:srgbClr>
            </a:outerShdw>
          </a:effectLst>
        </p:spPr>
      </p:sp>
      <p:sp>
        <p:nvSpPr>
          <p:cNvPr id="8" name="A2-fadeleft-166"/>
          <p:cNvSpPr txBox="1"/>
          <p:nvPr/>
        </p:nvSpPr>
        <p:spPr>
          <a:xfrm>
            <a:off x="5715000" y="1399032"/>
            <a:ext cx="2834640" cy="256032"/>
          </a:xfrm>
          <a:prstGeom prst="rect">
            <a:avLst/>
          </a:prstGeom>
          <a:noFill/>
          <a:ln/>
        </p:spPr>
        <p:txBody>
          <a:bodyPr wrap="square" lIns="0" tIns="0" rIns="0" bIns="0" rtlCol="0" anchor="t"/>
          <a:lstStyle/>
          <a:p>
            <a:pPr indent="0" marL="0">
              <a:buNone/>
            </a:pPr>
            <a:r>
              <a:rPr lang="en-US" sz="1300" b="1" dirty="0">
                <a:solidFill>
                  <a:srgbClr val="0B1F4B"/>
                </a:solidFill>
                <a:latin typeface="Calibri" pitchFamily="34" charset="0"/>
                <a:ea typeface="Calibri" pitchFamily="34" charset="-122"/>
                <a:cs typeface="Calibri" pitchFamily="34" charset="-120"/>
              </a:rPr>
              <a:t>USMCA / ALENA</a:t>
            </a:r>
            <a:endParaRPr lang="en-US" sz="1300" dirty="0"/>
          </a:p>
        </p:txBody>
      </p:sp>
      <p:sp>
        <p:nvSpPr>
          <p:cNvPr id="9" name="A2-fadeleft-167"/>
          <p:cNvSpPr txBox="1"/>
          <p:nvPr/>
        </p:nvSpPr>
        <p:spPr>
          <a:xfrm>
            <a:off x="5715000" y="1655064"/>
            <a:ext cx="2834640" cy="384048"/>
          </a:xfrm>
          <a:prstGeom prst="rect">
            <a:avLst/>
          </a:prstGeom>
          <a:noFill/>
          <a:ln/>
        </p:spPr>
        <p:txBody>
          <a:bodyPr wrap="square" lIns="0" tIns="0" rIns="0" bIns="0" rtlCol="0" anchor="t"/>
          <a:lstStyle/>
          <a:p>
            <a:pPr indent="0" marL="0">
              <a:buNone/>
            </a:pPr>
            <a:r>
              <a:rPr lang="en-US" sz="1050" dirty="0">
                <a:solidFill>
                  <a:srgbClr val="5B6478"/>
                </a:solidFill>
                <a:latin typeface="Calibri" pitchFamily="34" charset="0"/>
                <a:ea typeface="Calibri" pitchFamily="34" charset="-122"/>
                <a:cs typeface="Calibri" pitchFamily="34" charset="-120"/>
              </a:rPr>
              <a:t>Zone de libre-échange, règles d'origine strictes (automobile)</a:t>
            </a:r>
            <a:endParaRPr lang="en-US" sz="1050" dirty="0"/>
          </a:p>
        </p:txBody>
      </p:sp>
      <p:sp>
        <p:nvSpPr>
          <p:cNvPr id="10" name="A3-fadeleft-168"/>
          <p:cNvSpPr/>
          <p:nvPr/>
        </p:nvSpPr>
        <p:spPr>
          <a:xfrm>
            <a:off x="5577840" y="2194560"/>
            <a:ext cx="3108960" cy="731520"/>
          </a:xfrm>
          <a:prstGeom prst="roundRect">
            <a:avLst>
              <a:gd name="adj" fmla="val 15000"/>
            </a:avLst>
          </a:prstGeom>
          <a:solidFill>
            <a:srgbClr val="FFFFFF"/>
          </a:solidFill>
          <a:ln w="12700">
            <a:solidFill>
              <a:srgbClr val="FFFFFF"/>
            </a:solidFill>
            <a:prstDash val="solid"/>
          </a:ln>
          <a:effectLst>
            <a:outerShdw sx="100000" sy="100000" kx="0" ky="0" algn="bl" rotWithShape="0" blurRad="101600" dist="25400" dir="5400000">
              <a:srgbClr val="0B1F4B">
                <a:alpha val="12000"/>
              </a:srgbClr>
            </a:outerShdw>
          </a:effectLst>
        </p:spPr>
      </p:sp>
      <p:sp>
        <p:nvSpPr>
          <p:cNvPr id="11" name="A3-fadeleft-169"/>
          <p:cNvSpPr txBox="1"/>
          <p:nvPr/>
        </p:nvSpPr>
        <p:spPr>
          <a:xfrm>
            <a:off x="5715000" y="2267712"/>
            <a:ext cx="2834640" cy="256032"/>
          </a:xfrm>
          <a:prstGeom prst="rect">
            <a:avLst/>
          </a:prstGeom>
          <a:noFill/>
          <a:ln/>
        </p:spPr>
        <p:txBody>
          <a:bodyPr wrap="square" lIns="0" tIns="0" rIns="0" bIns="0" rtlCol="0" anchor="t"/>
          <a:lstStyle/>
          <a:p>
            <a:pPr indent="0" marL="0">
              <a:buNone/>
            </a:pPr>
            <a:r>
              <a:rPr lang="en-US" sz="1300" b="1" dirty="0">
                <a:solidFill>
                  <a:srgbClr val="0B1F4B"/>
                </a:solidFill>
                <a:latin typeface="Calibri" pitchFamily="34" charset="0"/>
                <a:ea typeface="Calibri" pitchFamily="34" charset="-122"/>
                <a:cs typeface="Calibri" pitchFamily="34" charset="-120"/>
              </a:rPr>
              <a:t>Mercosur</a:t>
            </a:r>
            <a:endParaRPr lang="en-US" sz="1300" dirty="0"/>
          </a:p>
        </p:txBody>
      </p:sp>
      <p:sp>
        <p:nvSpPr>
          <p:cNvPr id="12" name="A3-fadeleft-170"/>
          <p:cNvSpPr txBox="1"/>
          <p:nvPr/>
        </p:nvSpPr>
        <p:spPr>
          <a:xfrm>
            <a:off x="5715000" y="2523744"/>
            <a:ext cx="2834640" cy="384048"/>
          </a:xfrm>
          <a:prstGeom prst="rect">
            <a:avLst/>
          </a:prstGeom>
          <a:noFill/>
          <a:ln/>
        </p:spPr>
        <p:txBody>
          <a:bodyPr wrap="square" lIns="0" tIns="0" rIns="0" bIns="0" rtlCol="0" anchor="t"/>
          <a:lstStyle/>
          <a:p>
            <a:pPr indent="0" marL="0">
              <a:buNone/>
            </a:pPr>
            <a:r>
              <a:rPr lang="en-US" sz="1050" dirty="0">
                <a:solidFill>
                  <a:srgbClr val="5B6478"/>
                </a:solidFill>
                <a:latin typeface="Calibri" pitchFamily="34" charset="0"/>
                <a:ea typeface="Calibri" pitchFamily="34" charset="-122"/>
                <a:cs typeface="Calibri" pitchFamily="34" charset="-120"/>
              </a:rPr>
              <a:t>Union douanière imparfaite, nombreuses exceptions</a:t>
            </a:r>
            <a:endParaRPr lang="en-US" sz="1050" dirty="0"/>
          </a:p>
        </p:txBody>
      </p:sp>
      <p:sp>
        <p:nvSpPr>
          <p:cNvPr id="13" name="A4-fadeleft-171"/>
          <p:cNvSpPr/>
          <p:nvPr/>
        </p:nvSpPr>
        <p:spPr>
          <a:xfrm>
            <a:off x="5577840" y="3063240"/>
            <a:ext cx="3108960" cy="731520"/>
          </a:xfrm>
          <a:prstGeom prst="roundRect">
            <a:avLst>
              <a:gd name="adj" fmla="val 15000"/>
            </a:avLst>
          </a:prstGeom>
          <a:solidFill>
            <a:srgbClr val="FFFFFF"/>
          </a:solidFill>
          <a:ln w="12700">
            <a:solidFill>
              <a:srgbClr val="FFFFFF"/>
            </a:solidFill>
            <a:prstDash val="solid"/>
          </a:ln>
          <a:effectLst>
            <a:outerShdw sx="100000" sy="100000" kx="0" ky="0" algn="bl" rotWithShape="0" blurRad="101600" dist="25400" dir="5400000">
              <a:srgbClr val="0B1F4B">
                <a:alpha val="12000"/>
              </a:srgbClr>
            </a:outerShdw>
          </a:effectLst>
        </p:spPr>
      </p:sp>
      <p:sp>
        <p:nvSpPr>
          <p:cNvPr id="14" name="A4-fadeleft-172"/>
          <p:cNvSpPr txBox="1"/>
          <p:nvPr/>
        </p:nvSpPr>
        <p:spPr>
          <a:xfrm>
            <a:off x="5715000" y="3136392"/>
            <a:ext cx="2834640" cy="256032"/>
          </a:xfrm>
          <a:prstGeom prst="rect">
            <a:avLst/>
          </a:prstGeom>
          <a:noFill/>
          <a:ln/>
        </p:spPr>
        <p:txBody>
          <a:bodyPr wrap="square" lIns="0" tIns="0" rIns="0" bIns="0" rtlCol="0" anchor="t"/>
          <a:lstStyle/>
          <a:p>
            <a:pPr indent="0" marL="0">
              <a:buNone/>
            </a:pPr>
            <a:r>
              <a:rPr lang="en-US" sz="1300" b="1" dirty="0">
                <a:solidFill>
                  <a:srgbClr val="0B1F4B"/>
                </a:solidFill>
                <a:latin typeface="Calibri" pitchFamily="34" charset="0"/>
                <a:ea typeface="Calibri" pitchFamily="34" charset="-122"/>
                <a:cs typeface="Calibri" pitchFamily="34" charset="-120"/>
              </a:rPr>
              <a:t>ASEAN</a:t>
            </a:r>
            <a:endParaRPr lang="en-US" sz="1300" dirty="0"/>
          </a:p>
        </p:txBody>
      </p:sp>
      <p:sp>
        <p:nvSpPr>
          <p:cNvPr id="15" name="A4-fadeleft-173"/>
          <p:cNvSpPr txBox="1"/>
          <p:nvPr/>
        </p:nvSpPr>
        <p:spPr>
          <a:xfrm>
            <a:off x="5715000" y="3392424"/>
            <a:ext cx="2834640" cy="384048"/>
          </a:xfrm>
          <a:prstGeom prst="rect">
            <a:avLst/>
          </a:prstGeom>
          <a:noFill/>
          <a:ln/>
        </p:spPr>
        <p:txBody>
          <a:bodyPr wrap="square" lIns="0" tIns="0" rIns="0" bIns="0" rtlCol="0" anchor="t"/>
          <a:lstStyle/>
          <a:p>
            <a:pPr indent="0" marL="0">
              <a:buNone/>
            </a:pPr>
            <a:r>
              <a:rPr lang="en-US" sz="1050" dirty="0">
                <a:solidFill>
                  <a:srgbClr val="5B6478"/>
                </a:solidFill>
                <a:latin typeface="Calibri" pitchFamily="34" charset="0"/>
                <a:ea typeface="Calibri" pitchFamily="34" charset="-122"/>
                <a:cs typeface="Calibri" pitchFamily="34" charset="-120"/>
              </a:rPr>
              <a:t>Pas d'institutions supranationales ni d'harmonisation contraignante</a:t>
            </a:r>
            <a:endParaRPr lang="en-US" sz="1050" dirty="0"/>
          </a:p>
        </p:txBody>
      </p:sp>
      <p:sp>
        <p:nvSpPr>
          <p:cNvPr id="16" name="A5-zoom-174"/>
          <p:cNvSpPr txBox="1"/>
          <p:nvPr/>
        </p:nvSpPr>
        <p:spPr>
          <a:xfrm>
            <a:off x="5577840" y="4023360"/>
            <a:ext cx="3108960" cy="548640"/>
          </a:xfrm>
          <a:prstGeom prst="rect">
            <a:avLst/>
          </a:prstGeom>
          <a:noFill/>
          <a:ln/>
        </p:spPr>
        <p:txBody>
          <a:bodyPr wrap="square" lIns="0" tIns="0" rIns="0" bIns="0" rtlCol="0" anchor="ctr"/>
          <a:lstStyle/>
          <a:p>
            <a:pPr indent="0" marL="0">
              <a:buNone/>
            </a:pPr>
            <a:r>
              <a:rPr lang="en-US" sz="2200" b="1" dirty="0">
                <a:solidFill>
                  <a:srgbClr val="B98500"/>
                </a:solidFill>
                <a:latin typeface="Cambria" pitchFamily="34" charset="0"/>
                <a:ea typeface="Cambria" pitchFamily="34" charset="-122"/>
                <a:cs typeface="Cambria" pitchFamily="34" charset="-120"/>
              </a:rPr>
              <a:t>×5 </a:t>
            </a:r>
            <a:pPr indent="0" marL="0">
              <a:buNone/>
            </a:pPr>
            <a:r>
              <a:rPr lang="en-US" sz="1200" b="1" dirty="0">
                <a:solidFill>
                  <a:srgbClr val="0B1F4B"/>
                </a:solidFill>
                <a:latin typeface="Calibri" pitchFamily="34" charset="0"/>
                <a:ea typeface="Calibri" pitchFamily="34" charset="-122"/>
                <a:cs typeface="Calibri" pitchFamily="34" charset="-120"/>
              </a:rPr>
              <a:t>plus d'échanges internes qu'en Amérique du Nord</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57" fill="hold">
                            <p:stCondLst>
                              <p:cond delay="0"/>
                            </p:stCondLst>
                            <p:childTnLst>
                              <p:par>
                                <p:cTn id="4" presetID="22" presetClass="entr" presetSubtype="4" fill="hold" grpId="0" nodeType="withEffect">
                                  <p:stCondLst>
                                    <p:cond delay="380"/>
                                  </p:stCondLst>
                                  <p:childTnLst>
                                    <p:set>
                                      <p:cBhvr>
                                        <p:cTn id="5" dur="1" fill="hold">
                                          <p:stCondLst>
                                            <p:cond delay="0"/>
                                          </p:stCondLst>
                                        </p:cTn>
                                        <p:tgtEl>
                                          <p:spTgt spid="6"/>
                                        </p:tgtEl>
                                        <p:attrNameLst>
                                          <p:attrName>style.visibility</p:attrName>
                                        </p:attrNameLst>
                                      </p:cBhvr>
                                      <p:to>
                                        <p:strVal val="visible"/>
                                      </p:to>
                                    </p:set>
                                    <p:animEffect transition="in" filter="wipe(down)">
                                      <p:cBhvr>
                                        <p:cTn id="3" dur="900"/>
                                        <p:tgtEl>
                                          <p:spTgt spid="6"/>
                                        </p:tgtEl>
                                      </p:cBhvr>
                                    </p:animEffect>
                                  </p:childTnLst>
                                </p:cTn>
                              </p:par>
                              <p:par>
                                <p:cTn id="9" presetID="42" presetClass="entr" presetSubtype="0" fill="hold" grpId="0" nodeType="withEffect">
                                  <p:stCondLst>
                                    <p:cond delay="760"/>
                                  </p:stCondLst>
                                  <p:childTnLst>
                                    <p:set>
                                      <p:cBhvr>
                                        <p:cTn id="10" dur="1" fill="hold">
                                          <p:stCondLst>
                                            <p:cond delay="0"/>
                                          </p:stCondLst>
                                        </p:cTn>
                                        <p:tgtEl>
                                          <p:spTgt spid="7"/>
                                        </p:tgtEl>
                                        <p:attrNameLst>
                                          <p:attrName>style.visibility</p:attrName>
                                        </p:attrNameLst>
                                      </p:cBhvr>
                                      <p:to>
                                        <p:strVal val="visible"/>
                                      </p:to>
                                    </p:set>
                                    <p:animEffect transition="in" filter="fade">
                                      <p:cBhvr>
                                        <p:cTn id="6" dur="650"/>
                                        <p:tgtEl>
                                          <p:spTgt spid="7"/>
                                        </p:tgtEl>
                                      </p:cBhvr>
                                    </p:animEffect>
                                    <p:anim calcmode="lin" valueType="num">
                                      <p:cBhvr additive="base">
                                        <p:cTn id="7" dur="650" fill="hold"/>
                                        <p:tgtEl>
                                          <p:spTgt spid="7"/>
                                        </p:tgtEl>
                                        <p:attrNameLst>
                                          <p:attrName>ppt_x</p:attrName>
                                        </p:attrNameLst>
                                      </p:cBhvr>
                                      <p:tavLst>
                                        <p:tav tm="0">
                                          <p:val>
                                            <p:strVal val="#ppt_x-.06"/>
                                          </p:val>
                                        </p:tav>
                                        <p:tav tm="100000">
                                          <p:val>
                                            <p:strVal val="#ppt_x"/>
                                          </p:val>
                                        </p:tav>
                                      </p:tavLst>
                                    </p:anim>
                                    <p:anim calcmode="lin" valueType="num">
                                      <p:cBhvr additive="base">
                                        <p:cTn id="8" dur="650" fill="hold"/>
                                        <p:tgtEl>
                                          <p:spTgt spid="7"/>
                                        </p:tgtEl>
                                        <p:attrNameLst>
                                          <p:attrName>ppt_y</p:attrName>
                                        </p:attrNameLst>
                                      </p:cBhvr>
                                      <p:tavLst>
                                        <p:tav tm="0">
                                          <p:val>
                                            <p:strVal val="#ppt_y"/>
                                          </p:val>
                                        </p:tav>
                                        <p:tav tm="100000">
                                          <p:val>
                                            <p:strVal val="#ppt_y"/>
                                          </p:val>
                                        </p:tav>
                                      </p:tavLst>
                                    </p:anim>
                                  </p:childTnLst>
                                </p:cTn>
                              </p:par>
                              <p:par>
                                <p:cTn id="14" presetID="42" presetClass="entr" presetSubtype="0" fill="hold" grpId="0" nodeType="withEffect">
                                  <p:stCondLst>
                                    <p:cond delay="760"/>
                                  </p:stCondLst>
                                  <p:childTnLst>
                                    <p:set>
                                      <p:cBhvr>
                                        <p:cTn id="15" dur="1" fill="hold">
                                          <p:stCondLst>
                                            <p:cond delay="0"/>
                                          </p:stCondLst>
                                        </p:cTn>
                                        <p:tgtEl>
                                          <p:spTgt spid="8"/>
                                        </p:tgtEl>
                                        <p:attrNameLst>
                                          <p:attrName>style.visibility</p:attrName>
                                        </p:attrNameLst>
                                      </p:cBhvr>
                                      <p:to>
                                        <p:strVal val="visible"/>
                                      </p:to>
                                    </p:set>
                                    <p:animEffect transition="in" filter="fade">
                                      <p:cBhvr>
                                        <p:cTn id="11" dur="650"/>
                                        <p:tgtEl>
                                          <p:spTgt spid="8"/>
                                        </p:tgtEl>
                                      </p:cBhvr>
                                    </p:animEffect>
                                    <p:anim calcmode="lin" valueType="num">
                                      <p:cBhvr additive="base">
                                        <p:cTn id="12" dur="650" fill="hold"/>
                                        <p:tgtEl>
                                          <p:spTgt spid="8"/>
                                        </p:tgtEl>
                                        <p:attrNameLst>
                                          <p:attrName>ppt_x</p:attrName>
                                        </p:attrNameLst>
                                      </p:cBhvr>
                                      <p:tavLst>
                                        <p:tav tm="0">
                                          <p:val>
                                            <p:strVal val="#ppt_x-.06"/>
                                          </p:val>
                                        </p:tav>
                                        <p:tav tm="100000">
                                          <p:val>
                                            <p:strVal val="#ppt_x"/>
                                          </p:val>
                                        </p:tav>
                                      </p:tavLst>
                                    </p:anim>
                                    <p:anim calcmode="lin" valueType="num">
                                      <p:cBhvr additive="base">
                                        <p:cTn id="13" dur="650" fill="hold"/>
                                        <p:tgtEl>
                                          <p:spTgt spid="8"/>
                                        </p:tgtEl>
                                        <p:attrNameLst>
                                          <p:attrName>ppt_y</p:attrName>
                                        </p:attrNameLst>
                                      </p:cBhvr>
                                      <p:tavLst>
                                        <p:tav tm="0">
                                          <p:val>
                                            <p:strVal val="#ppt_y"/>
                                          </p:val>
                                        </p:tav>
                                        <p:tav tm="100000">
                                          <p:val>
                                            <p:strVal val="#ppt_y"/>
                                          </p:val>
                                        </p:tav>
                                      </p:tavLst>
                                    </p:anim>
                                  </p:childTnLst>
                                </p:cTn>
                              </p:par>
                              <p:par>
                                <p:cTn id="19" presetID="42" presetClass="entr" presetSubtype="0" fill="hold" grpId="0" nodeType="withEffect">
                                  <p:stCondLst>
                                    <p:cond delay="760"/>
                                  </p:stCondLst>
                                  <p:childTnLst>
                                    <p:set>
                                      <p:cBhvr>
                                        <p:cTn id="20" dur="1" fill="hold">
                                          <p:stCondLst>
                                            <p:cond delay="0"/>
                                          </p:stCondLst>
                                        </p:cTn>
                                        <p:tgtEl>
                                          <p:spTgt spid="9"/>
                                        </p:tgtEl>
                                        <p:attrNameLst>
                                          <p:attrName>style.visibility</p:attrName>
                                        </p:attrNameLst>
                                      </p:cBhvr>
                                      <p:to>
                                        <p:strVal val="visible"/>
                                      </p:to>
                                    </p:set>
                                    <p:animEffect transition="in" filter="fade">
                                      <p:cBhvr>
                                        <p:cTn id="16" dur="650"/>
                                        <p:tgtEl>
                                          <p:spTgt spid="9"/>
                                        </p:tgtEl>
                                      </p:cBhvr>
                                    </p:animEffect>
                                    <p:anim calcmode="lin" valueType="num">
                                      <p:cBhvr additive="base">
                                        <p:cTn id="17" dur="650" fill="hold"/>
                                        <p:tgtEl>
                                          <p:spTgt spid="9"/>
                                        </p:tgtEl>
                                        <p:attrNameLst>
                                          <p:attrName>ppt_x</p:attrName>
                                        </p:attrNameLst>
                                      </p:cBhvr>
                                      <p:tavLst>
                                        <p:tav tm="0">
                                          <p:val>
                                            <p:strVal val="#ppt_x-.06"/>
                                          </p:val>
                                        </p:tav>
                                        <p:tav tm="100000">
                                          <p:val>
                                            <p:strVal val="#ppt_x"/>
                                          </p:val>
                                        </p:tav>
                                      </p:tavLst>
                                    </p:anim>
                                    <p:anim calcmode="lin" valueType="num">
                                      <p:cBhvr additive="base">
                                        <p:cTn id="18" dur="650" fill="hold"/>
                                        <p:tgtEl>
                                          <p:spTgt spid="9"/>
                                        </p:tgtEl>
                                        <p:attrNameLst>
                                          <p:attrName>ppt_y</p:attrName>
                                        </p:attrNameLst>
                                      </p:cBhvr>
                                      <p:tavLst>
                                        <p:tav tm="0">
                                          <p:val>
                                            <p:strVal val="#ppt_y"/>
                                          </p:val>
                                        </p:tav>
                                        <p:tav tm="100000">
                                          <p:val>
                                            <p:strVal val="#ppt_y"/>
                                          </p:val>
                                        </p:tav>
                                      </p:tavLst>
                                    </p:anim>
                                  </p:childTnLst>
                                </p:cTn>
                              </p:par>
                              <p:par>
                                <p:cTn id="24" presetID="42" presetClass="entr" presetSubtype="0" fill="hold" grpId="0" nodeType="withEffect">
                                  <p:stCondLst>
                                    <p:cond delay="1140"/>
                                  </p:stCondLst>
                                  <p:childTnLst>
                                    <p:set>
                                      <p:cBhvr>
                                        <p:cTn id="25" dur="1" fill="hold">
                                          <p:stCondLst>
                                            <p:cond delay="0"/>
                                          </p:stCondLst>
                                        </p:cTn>
                                        <p:tgtEl>
                                          <p:spTgt spid="10"/>
                                        </p:tgtEl>
                                        <p:attrNameLst>
                                          <p:attrName>style.visibility</p:attrName>
                                        </p:attrNameLst>
                                      </p:cBhvr>
                                      <p:to>
                                        <p:strVal val="visible"/>
                                      </p:to>
                                    </p:set>
                                    <p:animEffect transition="in" filter="fade">
                                      <p:cBhvr>
                                        <p:cTn id="21" dur="650"/>
                                        <p:tgtEl>
                                          <p:spTgt spid="10"/>
                                        </p:tgtEl>
                                      </p:cBhvr>
                                    </p:animEffect>
                                    <p:anim calcmode="lin" valueType="num">
                                      <p:cBhvr additive="base">
                                        <p:cTn id="22" dur="650" fill="hold"/>
                                        <p:tgtEl>
                                          <p:spTgt spid="10"/>
                                        </p:tgtEl>
                                        <p:attrNameLst>
                                          <p:attrName>ppt_x</p:attrName>
                                        </p:attrNameLst>
                                      </p:cBhvr>
                                      <p:tavLst>
                                        <p:tav tm="0">
                                          <p:val>
                                            <p:strVal val="#ppt_x-.06"/>
                                          </p:val>
                                        </p:tav>
                                        <p:tav tm="100000">
                                          <p:val>
                                            <p:strVal val="#ppt_x"/>
                                          </p:val>
                                        </p:tav>
                                      </p:tavLst>
                                    </p:anim>
                                    <p:anim calcmode="lin" valueType="num">
                                      <p:cBhvr additive="base">
                                        <p:cTn id="23" dur="650" fill="hold"/>
                                        <p:tgtEl>
                                          <p:spTgt spid="10"/>
                                        </p:tgtEl>
                                        <p:attrNameLst>
                                          <p:attrName>ppt_y</p:attrName>
                                        </p:attrNameLst>
                                      </p:cBhvr>
                                      <p:tavLst>
                                        <p:tav tm="0">
                                          <p:val>
                                            <p:strVal val="#ppt_y"/>
                                          </p:val>
                                        </p:tav>
                                        <p:tav tm="100000">
                                          <p:val>
                                            <p:strVal val="#ppt_y"/>
                                          </p:val>
                                        </p:tav>
                                      </p:tavLst>
                                    </p:anim>
                                  </p:childTnLst>
                                </p:cTn>
                              </p:par>
                              <p:par>
                                <p:cTn id="29" presetID="42" presetClass="entr" presetSubtype="0" fill="hold" grpId="0" nodeType="withEffect">
                                  <p:stCondLst>
                                    <p:cond delay="1140"/>
                                  </p:stCondLst>
                                  <p:childTnLst>
                                    <p:set>
                                      <p:cBhvr>
                                        <p:cTn id="30" dur="1" fill="hold">
                                          <p:stCondLst>
                                            <p:cond delay="0"/>
                                          </p:stCondLst>
                                        </p:cTn>
                                        <p:tgtEl>
                                          <p:spTgt spid="11"/>
                                        </p:tgtEl>
                                        <p:attrNameLst>
                                          <p:attrName>style.visibility</p:attrName>
                                        </p:attrNameLst>
                                      </p:cBhvr>
                                      <p:to>
                                        <p:strVal val="visible"/>
                                      </p:to>
                                    </p:set>
                                    <p:animEffect transition="in" filter="fade">
                                      <p:cBhvr>
                                        <p:cTn id="26" dur="650"/>
                                        <p:tgtEl>
                                          <p:spTgt spid="11"/>
                                        </p:tgtEl>
                                      </p:cBhvr>
                                    </p:animEffect>
                                    <p:anim calcmode="lin" valueType="num">
                                      <p:cBhvr additive="base">
                                        <p:cTn id="27" dur="650" fill="hold"/>
                                        <p:tgtEl>
                                          <p:spTgt spid="11"/>
                                        </p:tgtEl>
                                        <p:attrNameLst>
                                          <p:attrName>ppt_x</p:attrName>
                                        </p:attrNameLst>
                                      </p:cBhvr>
                                      <p:tavLst>
                                        <p:tav tm="0">
                                          <p:val>
                                            <p:strVal val="#ppt_x-.06"/>
                                          </p:val>
                                        </p:tav>
                                        <p:tav tm="100000">
                                          <p:val>
                                            <p:strVal val="#ppt_x"/>
                                          </p:val>
                                        </p:tav>
                                      </p:tavLst>
                                    </p:anim>
                                    <p:anim calcmode="lin" valueType="num">
                                      <p:cBhvr additive="base">
                                        <p:cTn id="28" dur="650" fill="hold"/>
                                        <p:tgtEl>
                                          <p:spTgt spid="11"/>
                                        </p:tgtEl>
                                        <p:attrNameLst>
                                          <p:attrName>ppt_y</p:attrName>
                                        </p:attrNameLst>
                                      </p:cBhvr>
                                      <p:tavLst>
                                        <p:tav tm="0">
                                          <p:val>
                                            <p:strVal val="#ppt_y"/>
                                          </p:val>
                                        </p:tav>
                                        <p:tav tm="100000">
                                          <p:val>
                                            <p:strVal val="#ppt_y"/>
                                          </p:val>
                                        </p:tav>
                                      </p:tavLst>
                                    </p:anim>
                                  </p:childTnLst>
                                </p:cTn>
                              </p:par>
                              <p:par>
                                <p:cTn id="34" presetID="42" presetClass="entr" presetSubtype="0" fill="hold" grpId="0" nodeType="withEffect">
                                  <p:stCondLst>
                                    <p:cond delay="1140"/>
                                  </p:stCondLst>
                                  <p:childTnLst>
                                    <p:set>
                                      <p:cBhvr>
                                        <p:cTn id="35" dur="1" fill="hold">
                                          <p:stCondLst>
                                            <p:cond delay="0"/>
                                          </p:stCondLst>
                                        </p:cTn>
                                        <p:tgtEl>
                                          <p:spTgt spid="12"/>
                                        </p:tgtEl>
                                        <p:attrNameLst>
                                          <p:attrName>style.visibility</p:attrName>
                                        </p:attrNameLst>
                                      </p:cBhvr>
                                      <p:to>
                                        <p:strVal val="visible"/>
                                      </p:to>
                                    </p:set>
                                    <p:animEffect transition="in" filter="fade">
                                      <p:cBhvr>
                                        <p:cTn id="31" dur="650"/>
                                        <p:tgtEl>
                                          <p:spTgt spid="12"/>
                                        </p:tgtEl>
                                      </p:cBhvr>
                                    </p:animEffect>
                                    <p:anim calcmode="lin" valueType="num">
                                      <p:cBhvr additive="base">
                                        <p:cTn id="32" dur="650" fill="hold"/>
                                        <p:tgtEl>
                                          <p:spTgt spid="12"/>
                                        </p:tgtEl>
                                        <p:attrNameLst>
                                          <p:attrName>ppt_x</p:attrName>
                                        </p:attrNameLst>
                                      </p:cBhvr>
                                      <p:tavLst>
                                        <p:tav tm="0">
                                          <p:val>
                                            <p:strVal val="#ppt_x-.06"/>
                                          </p:val>
                                        </p:tav>
                                        <p:tav tm="100000">
                                          <p:val>
                                            <p:strVal val="#ppt_x"/>
                                          </p:val>
                                        </p:tav>
                                      </p:tavLst>
                                    </p:anim>
                                    <p:anim calcmode="lin" valueType="num">
                                      <p:cBhvr additive="base">
                                        <p:cTn id="33" dur="650" fill="hold"/>
                                        <p:tgtEl>
                                          <p:spTgt spid="12"/>
                                        </p:tgtEl>
                                        <p:attrNameLst>
                                          <p:attrName>ppt_y</p:attrName>
                                        </p:attrNameLst>
                                      </p:cBhvr>
                                      <p:tavLst>
                                        <p:tav tm="0">
                                          <p:val>
                                            <p:strVal val="#ppt_y"/>
                                          </p:val>
                                        </p:tav>
                                        <p:tav tm="100000">
                                          <p:val>
                                            <p:strVal val="#ppt_y"/>
                                          </p:val>
                                        </p:tav>
                                      </p:tavLst>
                                    </p:anim>
                                  </p:childTnLst>
                                </p:cTn>
                              </p:par>
                              <p:par>
                                <p:cTn id="39" presetID="42" presetClass="entr" presetSubtype="0" fill="hold" grpId="0" nodeType="withEffect">
                                  <p:stCondLst>
                                    <p:cond delay="1520"/>
                                  </p:stCondLst>
                                  <p:childTnLst>
                                    <p:set>
                                      <p:cBhvr>
                                        <p:cTn id="40" dur="1" fill="hold">
                                          <p:stCondLst>
                                            <p:cond delay="0"/>
                                          </p:stCondLst>
                                        </p:cTn>
                                        <p:tgtEl>
                                          <p:spTgt spid="13"/>
                                        </p:tgtEl>
                                        <p:attrNameLst>
                                          <p:attrName>style.visibility</p:attrName>
                                        </p:attrNameLst>
                                      </p:cBhvr>
                                      <p:to>
                                        <p:strVal val="visible"/>
                                      </p:to>
                                    </p:set>
                                    <p:animEffect transition="in" filter="fade">
                                      <p:cBhvr>
                                        <p:cTn id="36" dur="650"/>
                                        <p:tgtEl>
                                          <p:spTgt spid="13"/>
                                        </p:tgtEl>
                                      </p:cBhvr>
                                    </p:animEffect>
                                    <p:anim calcmode="lin" valueType="num">
                                      <p:cBhvr additive="base">
                                        <p:cTn id="37" dur="650" fill="hold"/>
                                        <p:tgtEl>
                                          <p:spTgt spid="13"/>
                                        </p:tgtEl>
                                        <p:attrNameLst>
                                          <p:attrName>ppt_x</p:attrName>
                                        </p:attrNameLst>
                                      </p:cBhvr>
                                      <p:tavLst>
                                        <p:tav tm="0">
                                          <p:val>
                                            <p:strVal val="#ppt_x-.06"/>
                                          </p:val>
                                        </p:tav>
                                        <p:tav tm="100000">
                                          <p:val>
                                            <p:strVal val="#ppt_x"/>
                                          </p:val>
                                        </p:tav>
                                      </p:tavLst>
                                    </p:anim>
                                    <p:anim calcmode="lin" valueType="num">
                                      <p:cBhvr additive="base">
                                        <p:cTn id="38" dur="650" fill="hold"/>
                                        <p:tgtEl>
                                          <p:spTgt spid="13"/>
                                        </p:tgtEl>
                                        <p:attrNameLst>
                                          <p:attrName>ppt_y</p:attrName>
                                        </p:attrNameLst>
                                      </p:cBhvr>
                                      <p:tavLst>
                                        <p:tav tm="0">
                                          <p:val>
                                            <p:strVal val="#ppt_y"/>
                                          </p:val>
                                        </p:tav>
                                        <p:tav tm="100000">
                                          <p:val>
                                            <p:strVal val="#ppt_y"/>
                                          </p:val>
                                        </p:tav>
                                      </p:tavLst>
                                    </p:anim>
                                  </p:childTnLst>
                                </p:cTn>
                              </p:par>
                              <p:par>
                                <p:cTn id="44" presetID="42" presetClass="entr" presetSubtype="0" fill="hold" grpId="0" nodeType="withEffect">
                                  <p:stCondLst>
                                    <p:cond delay="1520"/>
                                  </p:stCondLst>
                                  <p:childTnLst>
                                    <p:set>
                                      <p:cBhvr>
                                        <p:cTn id="45" dur="1" fill="hold">
                                          <p:stCondLst>
                                            <p:cond delay="0"/>
                                          </p:stCondLst>
                                        </p:cTn>
                                        <p:tgtEl>
                                          <p:spTgt spid="14"/>
                                        </p:tgtEl>
                                        <p:attrNameLst>
                                          <p:attrName>style.visibility</p:attrName>
                                        </p:attrNameLst>
                                      </p:cBhvr>
                                      <p:to>
                                        <p:strVal val="visible"/>
                                      </p:to>
                                    </p:set>
                                    <p:animEffect transition="in" filter="fade">
                                      <p:cBhvr>
                                        <p:cTn id="41" dur="650"/>
                                        <p:tgtEl>
                                          <p:spTgt spid="14"/>
                                        </p:tgtEl>
                                      </p:cBhvr>
                                    </p:animEffect>
                                    <p:anim calcmode="lin" valueType="num">
                                      <p:cBhvr additive="base">
                                        <p:cTn id="42" dur="650" fill="hold"/>
                                        <p:tgtEl>
                                          <p:spTgt spid="14"/>
                                        </p:tgtEl>
                                        <p:attrNameLst>
                                          <p:attrName>ppt_x</p:attrName>
                                        </p:attrNameLst>
                                      </p:cBhvr>
                                      <p:tavLst>
                                        <p:tav tm="0">
                                          <p:val>
                                            <p:strVal val="#ppt_x-.06"/>
                                          </p:val>
                                        </p:tav>
                                        <p:tav tm="100000">
                                          <p:val>
                                            <p:strVal val="#ppt_x"/>
                                          </p:val>
                                        </p:tav>
                                      </p:tavLst>
                                    </p:anim>
                                    <p:anim calcmode="lin" valueType="num">
                                      <p:cBhvr additive="base">
                                        <p:cTn id="43" dur="650" fill="hold"/>
                                        <p:tgtEl>
                                          <p:spTgt spid="14"/>
                                        </p:tgtEl>
                                        <p:attrNameLst>
                                          <p:attrName>ppt_y</p:attrName>
                                        </p:attrNameLst>
                                      </p:cBhvr>
                                      <p:tavLst>
                                        <p:tav tm="0">
                                          <p:val>
                                            <p:strVal val="#ppt_y"/>
                                          </p:val>
                                        </p:tav>
                                        <p:tav tm="100000">
                                          <p:val>
                                            <p:strVal val="#ppt_y"/>
                                          </p:val>
                                        </p:tav>
                                      </p:tavLst>
                                    </p:anim>
                                  </p:childTnLst>
                                </p:cTn>
                              </p:par>
                              <p:par>
                                <p:cTn id="49" presetID="42" presetClass="entr" presetSubtype="0" fill="hold" grpId="0" nodeType="withEffect">
                                  <p:stCondLst>
                                    <p:cond delay="1520"/>
                                  </p:stCondLst>
                                  <p:childTnLst>
                                    <p:set>
                                      <p:cBhvr>
                                        <p:cTn id="50" dur="1" fill="hold">
                                          <p:stCondLst>
                                            <p:cond delay="0"/>
                                          </p:stCondLst>
                                        </p:cTn>
                                        <p:tgtEl>
                                          <p:spTgt spid="15"/>
                                        </p:tgtEl>
                                        <p:attrNameLst>
                                          <p:attrName>style.visibility</p:attrName>
                                        </p:attrNameLst>
                                      </p:cBhvr>
                                      <p:to>
                                        <p:strVal val="visible"/>
                                      </p:to>
                                    </p:set>
                                    <p:animEffect transition="in" filter="fade">
                                      <p:cBhvr>
                                        <p:cTn id="46" dur="650"/>
                                        <p:tgtEl>
                                          <p:spTgt spid="15"/>
                                        </p:tgtEl>
                                      </p:cBhvr>
                                    </p:animEffect>
                                    <p:anim calcmode="lin" valueType="num">
                                      <p:cBhvr additive="base">
                                        <p:cTn id="47" dur="650" fill="hold"/>
                                        <p:tgtEl>
                                          <p:spTgt spid="15"/>
                                        </p:tgtEl>
                                        <p:attrNameLst>
                                          <p:attrName>ppt_x</p:attrName>
                                        </p:attrNameLst>
                                      </p:cBhvr>
                                      <p:tavLst>
                                        <p:tav tm="0">
                                          <p:val>
                                            <p:strVal val="#ppt_x-.06"/>
                                          </p:val>
                                        </p:tav>
                                        <p:tav tm="100000">
                                          <p:val>
                                            <p:strVal val="#ppt_x"/>
                                          </p:val>
                                        </p:tav>
                                      </p:tavLst>
                                    </p:anim>
                                    <p:anim calcmode="lin" valueType="num">
                                      <p:cBhvr additive="base">
                                        <p:cTn id="48" dur="650" fill="hold"/>
                                        <p:tgtEl>
                                          <p:spTgt spid="15"/>
                                        </p:tgtEl>
                                        <p:attrNameLst>
                                          <p:attrName>ppt_y</p:attrName>
                                        </p:attrNameLst>
                                      </p:cBhvr>
                                      <p:tavLst>
                                        <p:tav tm="0">
                                          <p:val>
                                            <p:strVal val="#ppt_y"/>
                                          </p:val>
                                        </p:tav>
                                        <p:tav tm="100000">
                                          <p:val>
                                            <p:strVal val="#ppt_y"/>
                                          </p:val>
                                        </p:tav>
                                      </p:tavLst>
                                    </p:anim>
                                  </p:childTnLst>
                                </p:cTn>
                              </p:par>
                              <p:par>
                                <p:cTn id="54" presetID="53" presetClass="entr" presetSubtype="16" fill="hold" grpId="0" nodeType="withEffect">
                                  <p:stCondLst>
                                    <p:cond delay="1900"/>
                                  </p:stCondLst>
                                  <p:childTnLst>
                                    <p:set>
                                      <p:cBhvr>
                                        <p:cTn id="55" dur="1" fill="hold">
                                          <p:stCondLst>
                                            <p:cond delay="0"/>
                                          </p:stCondLst>
                                        </p:cTn>
                                        <p:tgtEl>
                                          <p:spTgt spid="16"/>
                                        </p:tgtEl>
                                        <p:attrNameLst>
                                          <p:attrName>style.visibility</p:attrName>
                                        </p:attrNameLst>
                                      </p:cBhvr>
                                      <p:to>
                                        <p:strVal val="visible"/>
                                      </p:to>
                                    </p:set>
                                    <p:anim calcmode="lin" valueType="num">
                                      <p:cBhvr additive="base">
                                        <p:cTn id="51" dur="550" fill="hold"/>
                                        <p:tgtEl>
                                          <p:spTgt spid="16"/>
                                        </p:tgtEl>
                                        <p:attrNameLst>
                                          <p:attrName>ppt_w</p:attrName>
                                        </p:attrNameLst>
                                      </p:cBhvr>
                                      <p:tavLst>
                                        <p:tav tm="0">
                                          <p:val>
                                            <p:strVal val="0"/>
                                          </p:val>
                                        </p:tav>
                                        <p:tav tm="100000">
                                          <p:val>
                                            <p:strVal val="#ppt_w"/>
                                          </p:val>
                                        </p:tav>
                                      </p:tavLst>
                                    </p:anim>
                                    <p:anim calcmode="lin" valueType="num">
                                      <p:cBhvr additive="base">
                                        <p:cTn id="52" dur="550" fill="hold"/>
                                        <p:tgtEl>
                                          <p:spTgt spid="16"/>
                                        </p:tgtEl>
                                        <p:attrNameLst>
                                          <p:attrName>ppt_h</p:attrName>
                                        </p:attrNameLst>
                                      </p:cBhvr>
                                      <p:tavLst>
                                        <p:tav tm="0">
                                          <p:val>
                                            <p:strVal val="0"/>
                                          </p:val>
                                        </p:tav>
                                        <p:tav tm="100000">
                                          <p:val>
                                            <p:strVal val="#ppt_h"/>
                                          </p:val>
                                        </p:tav>
                                      </p:tavLst>
                                    </p:anim>
                                    <p:animEffect transition="in" filter="fade">
                                      <p:cBhvr>
                                        <p:cTn id="53" dur="5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8" grpId="0" animBg="1"/>
      <p:bldP spid="9" grpId="0" animBg="1"/>
      <p:bldP spid="11" grpId="0" animBg="1"/>
      <p:bldP spid="12" grpId="0" animBg="1"/>
      <p:bldP spid="14" grpId="0" animBg="1"/>
      <p:bldP spid="15" grpId="0" animBg="1"/>
      <p:bldP spid="1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A0-spin-175" descr="preencoded.png">    </p:cNvPr>
          <p:cNvPicPr>
            <a:picLocks noChangeAspect="1"/>
          </p:cNvPicPr>
          <p:nvPr/>
        </p:nvPicPr>
        <p:blipFill>
          <a:blip r:embed="rId2"/>
          <a:stretch>
            <a:fillRect/>
          </a:stretch>
        </p:blipFill>
        <p:spPr>
          <a:xfrm>
            <a:off x="5120640" y="548640"/>
            <a:ext cx="4023360" cy="4023360"/>
          </a:xfrm>
          <a:prstGeom prst="rect">
            <a:avLst/>
          </a:prstGeom>
        </p:spPr>
      </p:pic>
      <p:sp>
        <p:nvSpPr>
          <p:cNvPr id="3" name="A1-zoom-176"/>
          <p:cNvSpPr txBox="1"/>
          <p:nvPr/>
        </p:nvSpPr>
        <p:spPr>
          <a:xfrm>
            <a:off x="548640" y="685800"/>
            <a:ext cx="2743200" cy="1280160"/>
          </a:xfrm>
          <a:prstGeom prst="rect">
            <a:avLst/>
          </a:prstGeom>
          <a:noFill/>
          <a:ln/>
        </p:spPr>
        <p:txBody>
          <a:bodyPr wrap="square" lIns="0" tIns="0" rIns="0" bIns="0" rtlCol="0" anchor="t"/>
          <a:lstStyle/>
          <a:p>
            <a:pPr indent="0" marL="0">
              <a:buNone/>
            </a:pPr>
            <a:r>
              <a:rPr lang="en-US" sz="9600" b="1" dirty="0">
                <a:solidFill>
                  <a:srgbClr val="4FD69C"/>
                </a:solidFill>
                <a:latin typeface="Cambria" pitchFamily="34" charset="0"/>
                <a:ea typeface="Cambria" pitchFamily="34" charset="-122"/>
                <a:cs typeface="Cambria" pitchFamily="34" charset="-120"/>
              </a:rPr>
              <a:t>II</a:t>
            </a:r>
            <a:endParaRPr lang="en-US" sz="9600" dirty="0"/>
          </a:p>
        </p:txBody>
      </p:sp>
      <p:sp>
        <p:nvSpPr>
          <p:cNvPr id="4" name="A2-fadeup-177"/>
          <p:cNvSpPr txBox="1"/>
          <p:nvPr/>
        </p:nvSpPr>
        <p:spPr>
          <a:xfrm>
            <a:off x="548640" y="1965960"/>
            <a:ext cx="5852160" cy="1188720"/>
          </a:xfrm>
          <a:prstGeom prst="rect">
            <a:avLst/>
          </a:prstGeom>
          <a:noFill/>
          <a:ln/>
        </p:spPr>
        <p:txBody>
          <a:bodyPr wrap="square" lIns="0" tIns="0" rIns="0" bIns="0" rtlCol="0" anchor="b"/>
          <a:lstStyle/>
          <a:p>
            <a:pPr indent="0" marL="0">
              <a:buNone/>
            </a:pPr>
            <a:r>
              <a:rPr lang="en-US" sz="2800" b="1" dirty="0">
                <a:solidFill>
                  <a:srgbClr val="FFFFFF"/>
                </a:solidFill>
                <a:latin typeface="Cambria" pitchFamily="34" charset="0"/>
                <a:ea typeface="Cambria" pitchFamily="34" charset="-122"/>
                <a:cs typeface="Cambria" pitchFamily="34" charset="-120"/>
              </a:rPr>
              <a:t>Les avantages du marché unique pour les pays membres</a:t>
            </a:r>
            <a:endParaRPr lang="en-US" sz="2800" dirty="0"/>
          </a:p>
        </p:txBody>
      </p:sp>
      <p:sp>
        <p:nvSpPr>
          <p:cNvPr id="5" name="A3-fadeleft-178"/>
          <p:cNvSpPr txBox="1"/>
          <p:nvPr/>
        </p:nvSpPr>
        <p:spPr>
          <a:xfrm>
            <a:off x="548640" y="3337560"/>
            <a:ext cx="5943600" cy="292608"/>
          </a:xfrm>
          <a:prstGeom prst="rect">
            <a:avLst/>
          </a:prstGeom>
          <a:noFill/>
          <a:ln/>
        </p:spPr>
        <p:txBody>
          <a:bodyPr wrap="square" lIns="0" tIns="0" rIns="0" bIns="0" rtlCol="0" anchor="t"/>
          <a:lstStyle/>
          <a:p>
            <a:pPr indent="0" marL="0">
              <a:buNone/>
            </a:pPr>
            <a:r>
              <a:rPr lang="en-US" sz="1400" b="1" dirty="0">
                <a:solidFill>
                  <a:srgbClr val="4FD69C"/>
                </a:solidFill>
                <a:latin typeface="Calibri" pitchFamily="34" charset="0"/>
                <a:ea typeface="Calibri" pitchFamily="34" charset="-122"/>
                <a:cs typeface="Calibri" pitchFamily="34" charset="-120"/>
              </a:rPr>
              <a:t>2.1  </a:t>
            </a:r>
            <a:pPr indent="0" marL="0">
              <a:buNone/>
            </a:pPr>
            <a:r>
              <a:rPr lang="en-US" sz="1400" dirty="0">
                <a:solidFill>
                  <a:srgbClr val="D5DDF0"/>
                </a:solidFill>
                <a:latin typeface="Calibri" pitchFamily="34" charset="0"/>
                <a:ea typeface="Calibri" pitchFamily="34" charset="-122"/>
                <a:cs typeface="Calibri" pitchFamily="34" charset="-120"/>
              </a:rPr>
              <a:t>Plus d'échanges et plus de richesse</a:t>
            </a:r>
            <a:endParaRPr lang="en-US" sz="1400" dirty="0"/>
          </a:p>
        </p:txBody>
      </p:sp>
      <p:sp>
        <p:nvSpPr>
          <p:cNvPr id="6" name="A4-fadeleft-179"/>
          <p:cNvSpPr txBox="1"/>
          <p:nvPr/>
        </p:nvSpPr>
        <p:spPr>
          <a:xfrm>
            <a:off x="548640" y="3666744"/>
            <a:ext cx="5943600" cy="292608"/>
          </a:xfrm>
          <a:prstGeom prst="rect">
            <a:avLst/>
          </a:prstGeom>
          <a:noFill/>
          <a:ln/>
        </p:spPr>
        <p:txBody>
          <a:bodyPr wrap="square" lIns="0" tIns="0" rIns="0" bIns="0" rtlCol="0" anchor="t"/>
          <a:lstStyle/>
          <a:p>
            <a:pPr indent="0" marL="0">
              <a:buNone/>
            </a:pPr>
            <a:r>
              <a:rPr lang="en-US" sz="1400" b="1" dirty="0">
                <a:solidFill>
                  <a:srgbClr val="4FD69C"/>
                </a:solidFill>
                <a:latin typeface="Calibri" pitchFamily="34" charset="0"/>
                <a:ea typeface="Calibri" pitchFamily="34" charset="-122"/>
                <a:cs typeface="Calibri" pitchFamily="34" charset="-120"/>
              </a:rPr>
              <a:t>2.2  </a:t>
            </a:r>
            <a:pPr indent="0" marL="0">
              <a:buNone/>
            </a:pPr>
            <a:r>
              <a:rPr lang="en-US" sz="1400" dirty="0">
                <a:solidFill>
                  <a:srgbClr val="D5DDF0"/>
                </a:solidFill>
                <a:latin typeface="Calibri" pitchFamily="34" charset="0"/>
                <a:ea typeface="Calibri" pitchFamily="34" charset="-122"/>
                <a:cs typeface="Calibri" pitchFamily="34" charset="-120"/>
              </a:rPr>
              <a:t>Des entreprises plus fortes</a:t>
            </a:r>
            <a:endParaRPr lang="en-US" sz="1400" dirty="0"/>
          </a:p>
        </p:txBody>
      </p:sp>
      <p:sp>
        <p:nvSpPr>
          <p:cNvPr id="7" name="A5-fadeleft-180"/>
          <p:cNvSpPr txBox="1"/>
          <p:nvPr/>
        </p:nvSpPr>
        <p:spPr>
          <a:xfrm>
            <a:off x="548640" y="3995928"/>
            <a:ext cx="5943600" cy="292608"/>
          </a:xfrm>
          <a:prstGeom prst="rect">
            <a:avLst/>
          </a:prstGeom>
          <a:noFill/>
          <a:ln/>
        </p:spPr>
        <p:txBody>
          <a:bodyPr wrap="square" lIns="0" tIns="0" rIns="0" bIns="0" rtlCol="0" anchor="t"/>
          <a:lstStyle/>
          <a:p>
            <a:pPr indent="0" marL="0">
              <a:buNone/>
            </a:pPr>
            <a:r>
              <a:rPr lang="en-US" sz="1400" b="1" dirty="0">
                <a:solidFill>
                  <a:srgbClr val="4FD69C"/>
                </a:solidFill>
                <a:latin typeface="Calibri" pitchFamily="34" charset="0"/>
                <a:ea typeface="Calibri" pitchFamily="34" charset="-122"/>
                <a:cs typeface="Calibri" pitchFamily="34" charset="-120"/>
              </a:rPr>
              <a:t>2.3  </a:t>
            </a:r>
            <a:pPr indent="0" marL="0">
              <a:buNone/>
            </a:pPr>
            <a:r>
              <a:rPr lang="en-US" sz="1400" dirty="0">
                <a:solidFill>
                  <a:srgbClr val="D5DDF0"/>
                </a:solidFill>
                <a:latin typeface="Calibri" pitchFamily="34" charset="0"/>
                <a:ea typeface="Calibri" pitchFamily="34" charset="-122"/>
                <a:cs typeface="Calibri" pitchFamily="34" charset="-120"/>
              </a:rPr>
              <a:t>Capitaux et travailleurs plus mobiles</a:t>
            </a:r>
            <a:endParaRPr lang="en-US" sz="1400" dirty="0"/>
          </a:p>
        </p:txBody>
      </p:sp>
      <p:sp>
        <p:nvSpPr>
          <p:cNvPr id="8" name="A6-fadeleft-181"/>
          <p:cNvSpPr txBox="1"/>
          <p:nvPr/>
        </p:nvSpPr>
        <p:spPr>
          <a:xfrm>
            <a:off x="548640" y="4325112"/>
            <a:ext cx="5943600" cy="292608"/>
          </a:xfrm>
          <a:prstGeom prst="rect">
            <a:avLst/>
          </a:prstGeom>
          <a:noFill/>
          <a:ln/>
        </p:spPr>
        <p:txBody>
          <a:bodyPr wrap="square" lIns="0" tIns="0" rIns="0" bIns="0" rtlCol="0" anchor="t"/>
          <a:lstStyle/>
          <a:p>
            <a:pPr indent="0" marL="0">
              <a:buNone/>
            </a:pPr>
            <a:r>
              <a:rPr lang="en-US" sz="1400" b="1" dirty="0">
                <a:solidFill>
                  <a:srgbClr val="4FD69C"/>
                </a:solidFill>
                <a:latin typeface="Calibri" pitchFamily="34" charset="0"/>
                <a:ea typeface="Calibri" pitchFamily="34" charset="-122"/>
                <a:cs typeface="Calibri" pitchFamily="34" charset="-120"/>
              </a:rPr>
              <a:t>2.4 · 2.5  </a:t>
            </a:r>
            <a:pPr indent="0" marL="0">
              <a:buNone/>
            </a:pPr>
            <a:r>
              <a:rPr lang="en-US" sz="1400" dirty="0">
                <a:solidFill>
                  <a:srgbClr val="D5DDF0"/>
                </a:solidFill>
                <a:latin typeface="Calibri" pitchFamily="34" charset="0"/>
                <a:ea typeface="Calibri" pitchFamily="34" charset="-122"/>
                <a:cs typeface="Calibri" pitchFamily="34" charset="-120"/>
              </a:rPr>
              <a:t>Attractivité et moins de démarches</a:t>
            </a:r>
            <a:endParaRPr lang="en-US" sz="1400" dirty="0"/>
          </a:p>
        </p:txBody>
      </p:sp>
    </p:spTree>
  </p:cSld>
  <p:clrMapOvr>
    <a:masterClrMapping/>
  </p:clrMapOvr>
  <mc:AlternateContent xmlns:mc="http://schemas.openxmlformats.org/markup-compatibility/2006">
    <mc:Choice xmlns:p14="http://schemas.microsoft.com/office/powerpoint/2010/main" Requires="p14">
      <p:transition spd="slow" p14:dur="2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40" fill="hold">
                            <p:stCondLst>
                              <p:cond delay="0"/>
                            </p:stCondLst>
                            <p:childTnLst>
                              <p:par>
                                <p:cTn id="7" presetID="3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anim calcmode="lin" valueType="num">
                                      <p:cBhvr additive="base">
                                        <p:cTn id="3" dur="1600" fill="hold"/>
                                        <p:tgtEl>
                                          <p:spTgt spid="2"/>
                                        </p:tgtEl>
                                        <p:attrNameLst>
                                          <p:attrName>ppt_w</p:attrName>
                                        </p:attrNameLst>
                                      </p:cBhvr>
                                      <p:tavLst>
                                        <p:tav tm="0">
                                          <p:val>
                                            <p:strVal val="#ppt_w*0.4"/>
                                          </p:val>
                                        </p:tav>
                                        <p:tav tm="100000">
                                          <p:val>
                                            <p:strVal val="#ppt_w"/>
                                          </p:val>
                                        </p:tav>
                                      </p:tavLst>
                                    </p:anim>
                                    <p:anim calcmode="lin" valueType="num">
                                      <p:cBhvr additive="base">
                                        <p:cTn id="4" dur="1600" fill="hold"/>
                                        <p:tgtEl>
                                          <p:spTgt spid="2"/>
                                        </p:tgtEl>
                                        <p:attrNameLst>
                                          <p:attrName>ppt_h</p:attrName>
                                        </p:attrNameLst>
                                      </p:cBhvr>
                                      <p:tavLst>
                                        <p:tav tm="0">
                                          <p:val>
                                            <p:strVal val="#ppt_h*0.4"/>
                                          </p:val>
                                        </p:tav>
                                        <p:tav tm="100000">
                                          <p:val>
                                            <p:strVal val="#ppt_h"/>
                                          </p:val>
                                        </p:tav>
                                      </p:tavLst>
                                    </p:anim>
                                    <p:anim calcmode="lin" valueType="num">
                                      <p:cBhvr additive="base">
                                        <p:cTn id="5" dur="1600" fill="hold"/>
                                        <p:tgtEl>
                                          <p:spTgt spid="2"/>
                                        </p:tgtEl>
                                        <p:attrNameLst>
                                          <p:attrName>style.rotation</p:attrName>
                                        </p:attrNameLst>
                                      </p:cBhvr>
                                      <p:tavLst>
                                        <p:tav tm="0">
                                          <p:val>
                                            <p:strVal val="-120"/>
                                          </p:val>
                                        </p:tav>
                                        <p:tav tm="100000">
                                          <p:val>
                                            <p:strVal val="0"/>
                                          </p:val>
                                        </p:tav>
                                      </p:tavLst>
                                    </p:anim>
                                    <p:animEffect transition="in" filter="fade">
                                      <p:cBhvr>
                                        <p:cTn id="6" dur="1600"/>
                                        <p:tgtEl>
                                          <p:spTgt spid="2"/>
                                        </p:tgtEl>
                                      </p:cBhvr>
                                    </p:animEffect>
                                  </p:childTnLst>
                                </p:cTn>
                              </p:par>
                              <p:par>
                                <p:cTn id="12" presetID="53" presetClass="entr" presetSubtype="16" fill="hold" grpId="0" nodeType="withEffect">
                                  <p:stCondLst>
                                    <p:cond delay="380"/>
                                  </p:stCondLst>
                                  <p:childTnLst>
                                    <p:set>
                                      <p:cBhvr>
                                        <p:cTn id="13" dur="1" fill="hold">
                                          <p:stCondLst>
                                            <p:cond delay="0"/>
                                          </p:stCondLst>
                                        </p:cTn>
                                        <p:tgtEl>
                                          <p:spTgt spid="3"/>
                                        </p:tgtEl>
                                        <p:attrNameLst>
                                          <p:attrName>style.visibility</p:attrName>
                                        </p:attrNameLst>
                                      </p:cBhvr>
                                      <p:to>
                                        <p:strVal val="visible"/>
                                      </p:to>
                                    </p:set>
                                    <p:anim calcmode="lin" valueType="num">
                                      <p:cBhvr additive="base">
                                        <p:cTn id="9" dur="550" fill="hold"/>
                                        <p:tgtEl>
                                          <p:spTgt spid="3"/>
                                        </p:tgtEl>
                                        <p:attrNameLst>
                                          <p:attrName>ppt_w</p:attrName>
                                        </p:attrNameLst>
                                      </p:cBhvr>
                                      <p:tavLst>
                                        <p:tav tm="0">
                                          <p:val>
                                            <p:strVal val="0"/>
                                          </p:val>
                                        </p:tav>
                                        <p:tav tm="100000">
                                          <p:val>
                                            <p:strVal val="#ppt_w"/>
                                          </p:val>
                                        </p:tav>
                                      </p:tavLst>
                                    </p:anim>
                                    <p:anim calcmode="lin" valueType="num">
                                      <p:cBhvr additive="base">
                                        <p:cTn id="10" dur="550" fill="hold"/>
                                        <p:tgtEl>
                                          <p:spTgt spid="3"/>
                                        </p:tgtEl>
                                        <p:attrNameLst>
                                          <p:attrName>ppt_h</p:attrName>
                                        </p:attrNameLst>
                                      </p:cBhvr>
                                      <p:tavLst>
                                        <p:tav tm="0">
                                          <p:val>
                                            <p:strVal val="0"/>
                                          </p:val>
                                        </p:tav>
                                        <p:tav tm="100000">
                                          <p:val>
                                            <p:strVal val="#ppt_h"/>
                                          </p:val>
                                        </p:tav>
                                      </p:tavLst>
                                    </p:anim>
                                    <p:animEffect transition="in" filter="fade">
                                      <p:cBhvr>
                                        <p:cTn id="11" dur="550"/>
                                        <p:tgtEl>
                                          <p:spTgt spid="3"/>
                                        </p:tgtEl>
                                      </p:cBhvr>
                                    </p:animEffect>
                                  </p:childTnLst>
                                </p:cTn>
                              </p:par>
                              <p:par>
                                <p:cTn id="17" presetID="42" presetClass="entr" presetSubtype="0" fill="hold" grpId="0" nodeType="withEffect">
                                  <p:stCondLst>
                                    <p:cond delay="760"/>
                                  </p:stCondLst>
                                  <p:childTnLst>
                                    <p:set>
                                      <p:cBhvr>
                                        <p:cTn id="18" dur="1" fill="hold">
                                          <p:stCondLst>
                                            <p:cond delay="0"/>
                                          </p:stCondLst>
                                        </p:cTn>
                                        <p:tgtEl>
                                          <p:spTgt spid="4"/>
                                        </p:tgtEl>
                                        <p:attrNameLst>
                                          <p:attrName>style.visibility</p:attrName>
                                        </p:attrNameLst>
                                      </p:cBhvr>
                                      <p:to>
                                        <p:strVal val="visible"/>
                                      </p:to>
                                    </p:set>
                                    <p:animEffect transition="in" filter="fade">
                                      <p:cBhvr>
                                        <p:cTn id="14" dur="700"/>
                                        <p:tgtEl>
                                          <p:spTgt spid="4"/>
                                        </p:tgtEl>
                                      </p:cBhvr>
                                    </p:animEffect>
                                    <p:anim calcmode="lin" valueType="num">
                                      <p:cBhvr additive="base">
                                        <p:cTn id="15" dur="700" fill="hold"/>
                                        <p:tgtEl>
                                          <p:spTgt spid="4"/>
                                        </p:tgtEl>
                                        <p:attrNameLst>
                                          <p:attrName>ppt_x</p:attrName>
                                        </p:attrNameLst>
                                      </p:cBhvr>
                                      <p:tavLst>
                                        <p:tav tm="0">
                                          <p:val>
                                            <p:strVal val="#ppt_x"/>
                                          </p:val>
                                        </p:tav>
                                        <p:tav tm="100000">
                                          <p:val>
                                            <p:strVal val="#ppt_x"/>
                                          </p:val>
                                        </p:tav>
                                      </p:tavLst>
                                    </p:anim>
                                    <p:anim calcmode="lin" valueType="num">
                                      <p:cBhvr additive="base">
                                        <p:cTn id="16" dur="700" fill="hold"/>
                                        <p:tgtEl>
                                          <p:spTgt spid="4"/>
                                        </p:tgtEl>
                                        <p:attrNameLst>
                                          <p:attrName>ppt_y</p:attrName>
                                        </p:attrNameLst>
                                      </p:cBhvr>
                                      <p:tavLst>
                                        <p:tav tm="0">
                                          <p:val>
                                            <p:strVal val="#ppt_y+.08"/>
                                          </p:val>
                                        </p:tav>
                                        <p:tav tm="100000">
                                          <p:val>
                                            <p:strVal val="#ppt_y"/>
                                          </p:val>
                                        </p:tav>
                                      </p:tavLst>
                                    </p:anim>
                                  </p:childTnLst>
                                </p:cTn>
                              </p:par>
                              <p:par>
                                <p:cTn id="22" presetID="42" presetClass="entr" presetSubtype="0" fill="hold" grpId="0" nodeType="withEffect">
                                  <p:stCondLst>
                                    <p:cond delay="1140"/>
                                  </p:stCondLst>
                                  <p:childTnLst>
                                    <p:set>
                                      <p:cBhvr>
                                        <p:cTn id="23" dur="1" fill="hold">
                                          <p:stCondLst>
                                            <p:cond delay="0"/>
                                          </p:stCondLst>
                                        </p:cTn>
                                        <p:tgtEl>
                                          <p:spTgt spid="5"/>
                                        </p:tgtEl>
                                        <p:attrNameLst>
                                          <p:attrName>style.visibility</p:attrName>
                                        </p:attrNameLst>
                                      </p:cBhvr>
                                      <p:to>
                                        <p:strVal val="visible"/>
                                      </p:to>
                                    </p:set>
                                    <p:animEffect transition="in" filter="fade">
                                      <p:cBhvr>
                                        <p:cTn id="19" dur="650"/>
                                        <p:tgtEl>
                                          <p:spTgt spid="5"/>
                                        </p:tgtEl>
                                      </p:cBhvr>
                                    </p:animEffect>
                                    <p:anim calcmode="lin" valueType="num">
                                      <p:cBhvr additive="base">
                                        <p:cTn id="20" dur="650" fill="hold"/>
                                        <p:tgtEl>
                                          <p:spTgt spid="5"/>
                                        </p:tgtEl>
                                        <p:attrNameLst>
                                          <p:attrName>ppt_x</p:attrName>
                                        </p:attrNameLst>
                                      </p:cBhvr>
                                      <p:tavLst>
                                        <p:tav tm="0">
                                          <p:val>
                                            <p:strVal val="#ppt_x-.06"/>
                                          </p:val>
                                        </p:tav>
                                        <p:tav tm="100000">
                                          <p:val>
                                            <p:strVal val="#ppt_x"/>
                                          </p:val>
                                        </p:tav>
                                      </p:tavLst>
                                    </p:anim>
                                    <p:anim calcmode="lin" valueType="num">
                                      <p:cBhvr additive="base">
                                        <p:cTn id="21" dur="650" fill="hold"/>
                                        <p:tgtEl>
                                          <p:spTgt spid="5"/>
                                        </p:tgtEl>
                                        <p:attrNameLst>
                                          <p:attrName>ppt_y</p:attrName>
                                        </p:attrNameLst>
                                      </p:cBhvr>
                                      <p:tavLst>
                                        <p:tav tm="0">
                                          <p:val>
                                            <p:strVal val="#ppt_y"/>
                                          </p:val>
                                        </p:tav>
                                        <p:tav tm="100000">
                                          <p:val>
                                            <p:strVal val="#ppt_y"/>
                                          </p:val>
                                        </p:tav>
                                      </p:tavLst>
                                    </p:anim>
                                  </p:childTnLst>
                                </p:cTn>
                              </p:par>
                              <p:par>
                                <p:cTn id="27" presetID="42" presetClass="entr" presetSubtype="0" fill="hold" grpId="0" nodeType="withEffect">
                                  <p:stCondLst>
                                    <p:cond delay="1520"/>
                                  </p:stCondLst>
                                  <p:childTnLst>
                                    <p:set>
                                      <p:cBhvr>
                                        <p:cTn id="28" dur="1" fill="hold">
                                          <p:stCondLst>
                                            <p:cond delay="0"/>
                                          </p:stCondLst>
                                        </p:cTn>
                                        <p:tgtEl>
                                          <p:spTgt spid="6"/>
                                        </p:tgtEl>
                                        <p:attrNameLst>
                                          <p:attrName>style.visibility</p:attrName>
                                        </p:attrNameLst>
                                      </p:cBhvr>
                                      <p:to>
                                        <p:strVal val="visible"/>
                                      </p:to>
                                    </p:set>
                                    <p:animEffect transition="in" filter="fade">
                                      <p:cBhvr>
                                        <p:cTn id="24" dur="650"/>
                                        <p:tgtEl>
                                          <p:spTgt spid="6"/>
                                        </p:tgtEl>
                                      </p:cBhvr>
                                    </p:animEffect>
                                    <p:anim calcmode="lin" valueType="num">
                                      <p:cBhvr additive="base">
                                        <p:cTn id="25" dur="650" fill="hold"/>
                                        <p:tgtEl>
                                          <p:spTgt spid="6"/>
                                        </p:tgtEl>
                                        <p:attrNameLst>
                                          <p:attrName>ppt_x</p:attrName>
                                        </p:attrNameLst>
                                      </p:cBhvr>
                                      <p:tavLst>
                                        <p:tav tm="0">
                                          <p:val>
                                            <p:strVal val="#ppt_x-.06"/>
                                          </p:val>
                                        </p:tav>
                                        <p:tav tm="100000">
                                          <p:val>
                                            <p:strVal val="#ppt_x"/>
                                          </p:val>
                                        </p:tav>
                                      </p:tavLst>
                                    </p:anim>
                                    <p:anim calcmode="lin" valueType="num">
                                      <p:cBhvr additive="base">
                                        <p:cTn id="26" dur="650" fill="hold"/>
                                        <p:tgtEl>
                                          <p:spTgt spid="6"/>
                                        </p:tgtEl>
                                        <p:attrNameLst>
                                          <p:attrName>ppt_y</p:attrName>
                                        </p:attrNameLst>
                                      </p:cBhvr>
                                      <p:tavLst>
                                        <p:tav tm="0">
                                          <p:val>
                                            <p:strVal val="#ppt_y"/>
                                          </p:val>
                                        </p:tav>
                                        <p:tav tm="100000">
                                          <p:val>
                                            <p:strVal val="#ppt_y"/>
                                          </p:val>
                                        </p:tav>
                                      </p:tavLst>
                                    </p:anim>
                                  </p:childTnLst>
                                </p:cTn>
                              </p:par>
                              <p:par>
                                <p:cTn id="32" presetID="42" presetClass="entr" presetSubtype="0" fill="hold" grpId="0" nodeType="withEffect">
                                  <p:stCondLst>
                                    <p:cond delay="1900"/>
                                  </p:stCondLst>
                                  <p:childTnLst>
                                    <p:set>
                                      <p:cBhvr>
                                        <p:cTn id="33" dur="1" fill="hold">
                                          <p:stCondLst>
                                            <p:cond delay="0"/>
                                          </p:stCondLst>
                                        </p:cTn>
                                        <p:tgtEl>
                                          <p:spTgt spid="7"/>
                                        </p:tgtEl>
                                        <p:attrNameLst>
                                          <p:attrName>style.visibility</p:attrName>
                                        </p:attrNameLst>
                                      </p:cBhvr>
                                      <p:to>
                                        <p:strVal val="visible"/>
                                      </p:to>
                                    </p:set>
                                    <p:animEffect transition="in" filter="fade">
                                      <p:cBhvr>
                                        <p:cTn id="29" dur="650"/>
                                        <p:tgtEl>
                                          <p:spTgt spid="7"/>
                                        </p:tgtEl>
                                      </p:cBhvr>
                                    </p:animEffect>
                                    <p:anim calcmode="lin" valueType="num">
                                      <p:cBhvr additive="base">
                                        <p:cTn id="30" dur="650" fill="hold"/>
                                        <p:tgtEl>
                                          <p:spTgt spid="7"/>
                                        </p:tgtEl>
                                        <p:attrNameLst>
                                          <p:attrName>ppt_x</p:attrName>
                                        </p:attrNameLst>
                                      </p:cBhvr>
                                      <p:tavLst>
                                        <p:tav tm="0">
                                          <p:val>
                                            <p:strVal val="#ppt_x-.06"/>
                                          </p:val>
                                        </p:tav>
                                        <p:tav tm="100000">
                                          <p:val>
                                            <p:strVal val="#ppt_x"/>
                                          </p:val>
                                        </p:tav>
                                      </p:tavLst>
                                    </p:anim>
                                    <p:anim calcmode="lin" valueType="num">
                                      <p:cBhvr additive="base">
                                        <p:cTn id="31" dur="650" fill="hold"/>
                                        <p:tgtEl>
                                          <p:spTgt spid="7"/>
                                        </p:tgtEl>
                                        <p:attrNameLst>
                                          <p:attrName>ppt_y</p:attrName>
                                        </p:attrNameLst>
                                      </p:cBhvr>
                                      <p:tavLst>
                                        <p:tav tm="0">
                                          <p:val>
                                            <p:strVal val="#ppt_y"/>
                                          </p:val>
                                        </p:tav>
                                        <p:tav tm="100000">
                                          <p:val>
                                            <p:strVal val="#ppt_y"/>
                                          </p:val>
                                        </p:tav>
                                      </p:tavLst>
                                    </p:anim>
                                  </p:childTnLst>
                                </p:cTn>
                              </p:par>
                              <p:par>
                                <p:cTn id="37" presetID="42" presetClass="entr" presetSubtype="0" fill="hold" grpId="0" nodeType="withEffect">
                                  <p:stCondLst>
                                    <p:cond delay="2280"/>
                                  </p:stCondLst>
                                  <p:childTnLst>
                                    <p:set>
                                      <p:cBhvr>
                                        <p:cTn id="38" dur="1" fill="hold">
                                          <p:stCondLst>
                                            <p:cond delay="0"/>
                                          </p:stCondLst>
                                        </p:cTn>
                                        <p:tgtEl>
                                          <p:spTgt spid="8"/>
                                        </p:tgtEl>
                                        <p:attrNameLst>
                                          <p:attrName>style.visibility</p:attrName>
                                        </p:attrNameLst>
                                      </p:cBhvr>
                                      <p:to>
                                        <p:strVal val="visible"/>
                                      </p:to>
                                    </p:set>
                                    <p:animEffect transition="in" filter="fade">
                                      <p:cBhvr>
                                        <p:cTn id="34" dur="650"/>
                                        <p:tgtEl>
                                          <p:spTgt spid="8"/>
                                        </p:tgtEl>
                                      </p:cBhvr>
                                    </p:animEffect>
                                    <p:anim calcmode="lin" valueType="num">
                                      <p:cBhvr additive="base">
                                        <p:cTn id="35" dur="650" fill="hold"/>
                                        <p:tgtEl>
                                          <p:spTgt spid="8"/>
                                        </p:tgtEl>
                                        <p:attrNameLst>
                                          <p:attrName>ppt_x</p:attrName>
                                        </p:attrNameLst>
                                      </p:cBhvr>
                                      <p:tavLst>
                                        <p:tav tm="0">
                                          <p:val>
                                            <p:strVal val="#ppt_x-.06"/>
                                          </p:val>
                                        </p:tav>
                                        <p:tav tm="100000">
                                          <p:val>
                                            <p:strVal val="#ppt_x"/>
                                          </p:val>
                                        </p:tav>
                                      </p:tavLst>
                                    </p:anim>
                                    <p:anim calcmode="lin" valueType="num">
                                      <p:cBhvr additive="base">
                                        <p:cTn id="36" dur="65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7406640" y="-1005840"/>
            <a:ext cx="2560320" cy="2560320"/>
          </a:xfrm>
          <a:prstGeom prst="rect">
            <a:avLst/>
          </a:prstGeom>
        </p:spPr>
      </p:pic>
      <p:sp>
        <p:nvSpPr>
          <p:cNvPr id="3" name="Text 0"/>
          <p:cNvSpPr txBox="1"/>
          <p:nvPr/>
        </p:nvSpPr>
        <p:spPr>
          <a:xfrm>
            <a:off x="457200" y="274320"/>
            <a:ext cx="6858000" cy="228600"/>
          </a:xfrm>
          <a:prstGeom prst="rect">
            <a:avLst/>
          </a:prstGeom>
          <a:noFill/>
          <a:ln/>
        </p:spPr>
        <p:txBody>
          <a:bodyPr wrap="square" lIns="0" tIns="0" rIns="0" bIns="0" rtlCol="0" anchor="t"/>
          <a:lstStyle/>
          <a:p>
            <a:pPr indent="0" marL="0">
              <a:buNone/>
            </a:pPr>
            <a:r>
              <a:rPr lang="en-US" sz="1050" b="1" spc="200" kern="0" dirty="0">
                <a:solidFill>
                  <a:srgbClr val="1E9E6A"/>
                </a:solidFill>
                <a:latin typeface="Calibri" pitchFamily="34" charset="0"/>
                <a:ea typeface="Calibri" pitchFamily="34" charset="-122"/>
                <a:cs typeface="Calibri" pitchFamily="34" charset="-120"/>
              </a:rPr>
              <a:t>II · 2.1 — AVANTAGES</a:t>
            </a:r>
            <a:endParaRPr lang="en-US" sz="1050" dirty="0"/>
          </a:p>
        </p:txBody>
      </p:sp>
      <p:sp>
        <p:nvSpPr>
          <p:cNvPr id="4" name="Text 1"/>
          <p:cNvSpPr txBox="1"/>
          <p:nvPr/>
        </p:nvSpPr>
        <p:spPr>
          <a:xfrm>
            <a:off x="457200" y="502920"/>
            <a:ext cx="7863840" cy="548640"/>
          </a:xfrm>
          <a:prstGeom prst="rect">
            <a:avLst/>
          </a:prstGeom>
          <a:noFill/>
          <a:ln/>
        </p:spPr>
        <p:txBody>
          <a:bodyPr wrap="square" lIns="0" tIns="0" rIns="0" bIns="0" rtlCol="0" anchor="ctr"/>
          <a:lstStyle/>
          <a:p>
            <a:pPr indent="0" marL="0">
              <a:buNone/>
            </a:pPr>
            <a:r>
              <a:rPr lang="en-US" sz="2600" b="1" dirty="0">
                <a:solidFill>
                  <a:srgbClr val="0B1F4B"/>
                </a:solidFill>
                <a:latin typeface="Cambria" pitchFamily="34" charset="0"/>
                <a:ea typeface="Cambria" pitchFamily="34" charset="-122"/>
                <a:cs typeface="Cambria" pitchFamily="34" charset="-120"/>
              </a:rPr>
              <a:t>Le commerce intra-européen multiplié par six</a:t>
            </a:r>
            <a:endParaRPr lang="en-US" sz="2600" dirty="0"/>
          </a:p>
        </p:txBody>
      </p:sp>
      <p:sp>
        <p:nvSpPr>
          <p:cNvPr id="5" name="Text 2"/>
          <p:cNvSpPr txBox="1"/>
          <p:nvPr/>
        </p:nvSpPr>
        <p:spPr>
          <a:xfrm>
            <a:off x="8321040" y="4773168"/>
            <a:ext cx="365760" cy="228600"/>
          </a:xfrm>
          <a:prstGeom prst="rect">
            <a:avLst/>
          </a:prstGeom>
          <a:noFill/>
          <a:ln/>
        </p:spPr>
        <p:txBody>
          <a:bodyPr wrap="square" lIns="0" tIns="0" rIns="0" bIns="0" rtlCol="0" anchor="t"/>
          <a:lstStyle/>
          <a:p>
            <a:pPr algn="r" indent="0" marL="0">
              <a:buNone/>
            </a:pPr>
            <a:r>
              <a:rPr lang="en-US" sz="1000" dirty="0">
                <a:solidFill>
                  <a:srgbClr val="5B6478"/>
                </a:solidFill>
                <a:latin typeface="Calibri" pitchFamily="34" charset="0"/>
                <a:ea typeface="Calibri" pitchFamily="34" charset="-122"/>
                <a:cs typeface="Calibri" pitchFamily="34" charset="-120"/>
              </a:rPr>
              <a:t>12</a:t>
            </a:r>
            <a:endParaRPr lang="en-US" sz="1000" dirty="0"/>
          </a:p>
        </p:txBody>
      </p:sp>
      <p:graphicFrame>
        <p:nvGraphicFramePr>
          <p:cNvPr id="6" name="A1-rise-182" descr=""/>
          <p:cNvGraphicFramePr/>
          <p:nvPr/>
        </p:nvGraphicFramePr>
        <p:xfrm>
          <a:off x="365760" y="1188720"/>
          <a:ext cx="4206240" cy="3520440"/>
        </p:xfrm>
        <a:graphic xmlns:a="http://schemas.openxmlformats.org/drawingml/2006/main">
          <a:graphicData uri="http://schemas.openxmlformats.org/drawingml/2006/chart">
            <c:chart xmlns:c="http://schemas.openxmlformats.org/drawingml/2006/chart" r:id="rId3"/>
          </a:graphicData>
        </a:graphic>
      </p:graphicFrame>
      <p:sp>
        <p:nvSpPr>
          <p:cNvPr id="7" name="A2-fadeleft-183"/>
          <p:cNvSpPr/>
          <p:nvPr/>
        </p:nvSpPr>
        <p:spPr>
          <a:xfrm>
            <a:off x="4846320" y="1280160"/>
            <a:ext cx="3840480" cy="960120"/>
          </a:xfrm>
          <a:prstGeom prst="roundRect">
            <a:avLst>
              <a:gd name="adj" fmla="val 11429"/>
            </a:avLst>
          </a:prstGeom>
          <a:solidFill>
            <a:srgbClr val="FFFFFF"/>
          </a:solidFill>
          <a:ln w="12700">
            <a:solidFill>
              <a:srgbClr val="FFFFFF"/>
            </a:solidFill>
            <a:prstDash val="solid"/>
          </a:ln>
          <a:effectLst>
            <a:outerShdw sx="100000" sy="100000" kx="0" ky="0" algn="bl" rotWithShape="0" blurRad="101600" dist="25400" dir="5400000">
              <a:srgbClr val="0B1F4B">
                <a:alpha val="12000"/>
              </a:srgbClr>
            </a:outerShdw>
          </a:effectLst>
        </p:spPr>
      </p:sp>
      <p:sp>
        <p:nvSpPr>
          <p:cNvPr id="8" name="A2-zoom-184"/>
          <p:cNvSpPr txBox="1"/>
          <p:nvPr/>
        </p:nvSpPr>
        <p:spPr>
          <a:xfrm>
            <a:off x="4983480" y="1371600"/>
            <a:ext cx="1234440" cy="777240"/>
          </a:xfrm>
          <a:prstGeom prst="rect">
            <a:avLst/>
          </a:prstGeom>
          <a:noFill/>
          <a:ln/>
        </p:spPr>
        <p:txBody>
          <a:bodyPr wrap="square" lIns="0" tIns="0" rIns="0" bIns="0" rtlCol="0" anchor="ctr"/>
          <a:lstStyle/>
          <a:p>
            <a:pPr indent="0" marL="0">
              <a:buNone/>
            </a:pPr>
            <a:r>
              <a:rPr lang="en-US" sz="2800" b="1" dirty="0">
                <a:solidFill>
                  <a:srgbClr val="1E9E6A"/>
                </a:solidFill>
                <a:latin typeface="Cambria" pitchFamily="34" charset="0"/>
                <a:ea typeface="Cambria" pitchFamily="34" charset="-122"/>
                <a:cs typeface="Cambria" pitchFamily="34" charset="-120"/>
              </a:rPr>
              <a:t>60 %</a:t>
            </a:r>
            <a:endParaRPr lang="en-US" sz="2800" dirty="0"/>
          </a:p>
        </p:txBody>
      </p:sp>
      <p:sp>
        <p:nvSpPr>
          <p:cNvPr id="9" name="A2-fadeleft-185"/>
          <p:cNvSpPr txBox="1"/>
          <p:nvPr/>
        </p:nvSpPr>
        <p:spPr>
          <a:xfrm>
            <a:off x="6263640" y="1371600"/>
            <a:ext cx="2331720" cy="777240"/>
          </a:xfrm>
          <a:prstGeom prst="rect">
            <a:avLst/>
          </a:prstGeom>
          <a:noFill/>
          <a:ln/>
        </p:spPr>
        <p:txBody>
          <a:bodyPr wrap="square" lIns="0" tIns="0" rIns="0" bIns="0" rtlCol="0" anchor="ctr"/>
          <a:lstStyle/>
          <a:p>
            <a:pPr indent="0" marL="0">
              <a:buNone/>
            </a:pPr>
            <a:r>
              <a:rPr lang="en-US" sz="1150" dirty="0">
                <a:solidFill>
                  <a:srgbClr val="1B2333"/>
                </a:solidFill>
                <a:latin typeface="Calibri" pitchFamily="34" charset="0"/>
                <a:ea typeface="Calibri" pitchFamily="34" charset="-122"/>
                <a:cs typeface="Calibri" pitchFamily="34" charset="-120"/>
              </a:rPr>
              <a:t>du commerce de biens de l'UE est interne (54 % en 1995)</a:t>
            </a:r>
            <a:endParaRPr lang="en-US" sz="1150" dirty="0"/>
          </a:p>
        </p:txBody>
      </p:sp>
      <p:sp>
        <p:nvSpPr>
          <p:cNvPr id="10" name="A3-fadeleft-186"/>
          <p:cNvSpPr/>
          <p:nvPr/>
        </p:nvSpPr>
        <p:spPr>
          <a:xfrm>
            <a:off x="4846320" y="2395728"/>
            <a:ext cx="3840480" cy="960120"/>
          </a:xfrm>
          <a:prstGeom prst="roundRect">
            <a:avLst>
              <a:gd name="adj" fmla="val 11429"/>
            </a:avLst>
          </a:prstGeom>
          <a:solidFill>
            <a:srgbClr val="FFFFFF"/>
          </a:solidFill>
          <a:ln w="12700">
            <a:solidFill>
              <a:srgbClr val="FFFFFF"/>
            </a:solidFill>
            <a:prstDash val="solid"/>
          </a:ln>
          <a:effectLst>
            <a:outerShdw sx="100000" sy="100000" kx="0" ky="0" algn="bl" rotWithShape="0" blurRad="101600" dist="25400" dir="5400000">
              <a:srgbClr val="0B1F4B">
                <a:alpha val="12000"/>
              </a:srgbClr>
            </a:outerShdw>
          </a:effectLst>
        </p:spPr>
      </p:sp>
      <p:sp>
        <p:nvSpPr>
          <p:cNvPr id="11" name="A3-zoom-187"/>
          <p:cNvSpPr txBox="1"/>
          <p:nvPr/>
        </p:nvSpPr>
        <p:spPr>
          <a:xfrm>
            <a:off x="4983480" y="2487168"/>
            <a:ext cx="1234440" cy="777240"/>
          </a:xfrm>
          <a:prstGeom prst="rect">
            <a:avLst/>
          </a:prstGeom>
          <a:noFill/>
          <a:ln/>
        </p:spPr>
        <p:txBody>
          <a:bodyPr wrap="square" lIns="0" tIns="0" rIns="0" bIns="0" rtlCol="0" anchor="ctr"/>
          <a:lstStyle/>
          <a:p>
            <a:pPr indent="0" marL="0">
              <a:buNone/>
            </a:pPr>
            <a:r>
              <a:rPr lang="en-US" sz="2800" b="1" dirty="0">
                <a:solidFill>
                  <a:srgbClr val="1E9E6A"/>
                </a:solidFill>
                <a:latin typeface="Cambria" pitchFamily="34" charset="0"/>
                <a:ea typeface="Cambria" pitchFamily="34" charset="-122"/>
                <a:cs typeface="Cambria" pitchFamily="34" charset="-120"/>
              </a:rPr>
              <a:t>26 %</a:t>
            </a:r>
            <a:endParaRPr lang="en-US" sz="2800" dirty="0"/>
          </a:p>
        </p:txBody>
      </p:sp>
      <p:sp>
        <p:nvSpPr>
          <p:cNvPr id="12" name="A3-fadeleft-188"/>
          <p:cNvSpPr txBox="1"/>
          <p:nvPr/>
        </p:nvSpPr>
        <p:spPr>
          <a:xfrm>
            <a:off x="6263640" y="2487168"/>
            <a:ext cx="2331720" cy="777240"/>
          </a:xfrm>
          <a:prstGeom prst="rect">
            <a:avLst/>
          </a:prstGeom>
          <a:noFill/>
          <a:ln/>
        </p:spPr>
        <p:txBody>
          <a:bodyPr wrap="square" lIns="0" tIns="0" rIns="0" bIns="0" rtlCol="0" anchor="ctr"/>
          <a:lstStyle/>
          <a:p>
            <a:pPr indent="0" marL="0">
              <a:buNone/>
            </a:pPr>
            <a:r>
              <a:rPr lang="en-US" sz="1150" dirty="0">
                <a:solidFill>
                  <a:srgbClr val="1B2333"/>
                </a:solidFill>
                <a:latin typeface="Calibri" pitchFamily="34" charset="0"/>
                <a:ea typeface="Calibri" pitchFamily="34" charset="-122"/>
                <a:cs typeface="Calibri" pitchFamily="34" charset="-120"/>
              </a:rPr>
              <a:t>du PIB : commerce intra-UE, contre 17,3 % pour l'extra-UE</a:t>
            </a:r>
            <a:endParaRPr lang="en-US" sz="1150" dirty="0"/>
          </a:p>
        </p:txBody>
      </p:sp>
      <p:sp>
        <p:nvSpPr>
          <p:cNvPr id="13" name="A4-fadeleft-189"/>
          <p:cNvSpPr/>
          <p:nvPr/>
        </p:nvSpPr>
        <p:spPr>
          <a:xfrm>
            <a:off x="4846320" y="3511296"/>
            <a:ext cx="3840480" cy="960120"/>
          </a:xfrm>
          <a:prstGeom prst="roundRect">
            <a:avLst>
              <a:gd name="adj" fmla="val 11429"/>
            </a:avLst>
          </a:prstGeom>
          <a:solidFill>
            <a:srgbClr val="FFFFFF"/>
          </a:solidFill>
          <a:ln w="12700">
            <a:solidFill>
              <a:srgbClr val="FFFFFF"/>
            </a:solidFill>
            <a:prstDash val="solid"/>
          </a:ln>
          <a:effectLst>
            <a:outerShdw sx="100000" sy="100000" kx="0" ky="0" algn="bl" rotWithShape="0" blurRad="101600" dist="25400" dir="5400000">
              <a:srgbClr val="0B1F4B">
                <a:alpha val="12000"/>
              </a:srgbClr>
            </a:outerShdw>
          </a:effectLst>
        </p:spPr>
      </p:sp>
      <p:sp>
        <p:nvSpPr>
          <p:cNvPr id="14" name="A4-zoom-190"/>
          <p:cNvSpPr txBox="1"/>
          <p:nvPr/>
        </p:nvSpPr>
        <p:spPr>
          <a:xfrm>
            <a:off x="4983480" y="3602736"/>
            <a:ext cx="1234440" cy="777240"/>
          </a:xfrm>
          <a:prstGeom prst="rect">
            <a:avLst/>
          </a:prstGeom>
          <a:noFill/>
          <a:ln/>
        </p:spPr>
        <p:txBody>
          <a:bodyPr wrap="square" lIns="0" tIns="0" rIns="0" bIns="0" rtlCol="0" anchor="ctr"/>
          <a:lstStyle/>
          <a:p>
            <a:pPr indent="0" marL="0">
              <a:buNone/>
            </a:pPr>
            <a:r>
              <a:rPr lang="en-US" sz="2800" b="1" dirty="0">
                <a:solidFill>
                  <a:srgbClr val="1E9E6A"/>
                </a:solidFill>
                <a:latin typeface="Cambria" pitchFamily="34" charset="0"/>
                <a:ea typeface="Cambria" pitchFamily="34" charset="-122"/>
                <a:cs typeface="Cambria" pitchFamily="34" charset="-120"/>
              </a:rPr>
              <a:t>× 3,2</a:t>
            </a:r>
            <a:endParaRPr lang="en-US" sz="2800" dirty="0"/>
          </a:p>
        </p:txBody>
      </p:sp>
      <p:sp>
        <p:nvSpPr>
          <p:cNvPr id="15" name="A4-fadeleft-191"/>
          <p:cNvSpPr txBox="1"/>
          <p:nvPr/>
        </p:nvSpPr>
        <p:spPr>
          <a:xfrm>
            <a:off x="6263640" y="3602736"/>
            <a:ext cx="2331720" cy="777240"/>
          </a:xfrm>
          <a:prstGeom prst="rect">
            <a:avLst/>
          </a:prstGeom>
          <a:noFill/>
          <a:ln/>
        </p:spPr>
        <p:txBody>
          <a:bodyPr wrap="square" lIns="0" tIns="0" rIns="0" bIns="0" rtlCol="0" anchor="ctr"/>
          <a:lstStyle/>
          <a:p>
            <a:pPr indent="0" marL="0">
              <a:buNone/>
            </a:pPr>
            <a:r>
              <a:rPr lang="en-US" sz="1150" dirty="0">
                <a:solidFill>
                  <a:srgbClr val="1B2333"/>
                </a:solidFill>
                <a:latin typeface="Calibri" pitchFamily="34" charset="0"/>
                <a:ea typeface="Calibri" pitchFamily="34" charset="-122"/>
                <a:cs typeface="Calibri" pitchFamily="34" charset="-120"/>
              </a:rPr>
              <a:t>plus d'échanges entre deux membres qu'entre deux pays similaires hors UE (2012)</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51" fill="hold">
                      <p:stCondLst>
                        <p:cond delay="indefinite"/>
                        <p:cond evt="onBegin" delay="0">
                          <p:tn val="2"/>
                        </p:cond>
                      </p:stCondLst>
                      <p:childTnLst>
                        <p:par>
                          <p:cTn id="52" fill="hold">
                            <p:stCondLst>
                              <p:cond delay="0"/>
                            </p:stCondLst>
                            <p:childTnLst>
                              <p:par>
                                <p:cTn id="4" presetID="22" presetClass="entr" presetSubtype="4" fill="hold" grpId="0" nodeType="withEffect">
                                  <p:stCondLst>
                                    <p:cond delay="380"/>
                                  </p:stCondLst>
                                  <p:childTnLst>
                                    <p:set>
                                      <p:cBhvr>
                                        <p:cTn id="5" dur="1" fill="hold">
                                          <p:stCondLst>
                                            <p:cond delay="0"/>
                                          </p:stCondLst>
                                        </p:cTn>
                                        <p:tgtEl>
                                          <p:spTgt spid="6"/>
                                        </p:tgtEl>
                                        <p:attrNameLst>
                                          <p:attrName>style.visibility</p:attrName>
                                        </p:attrNameLst>
                                      </p:cBhvr>
                                      <p:to>
                                        <p:strVal val="visible"/>
                                      </p:to>
                                    </p:set>
                                    <p:animEffect transition="in" filter="wipe(down)">
                                      <p:cBhvr>
                                        <p:cTn id="3" dur="900"/>
                                        <p:tgtEl>
                                          <p:spTgt spid="6"/>
                                        </p:tgtEl>
                                      </p:cBhvr>
                                    </p:animEffect>
                                  </p:childTnLst>
                                </p:cTn>
                              </p:par>
                              <p:par>
                                <p:cTn id="9" presetID="42" presetClass="entr" presetSubtype="0" fill="hold" grpId="0" nodeType="withEffect">
                                  <p:stCondLst>
                                    <p:cond delay="760"/>
                                  </p:stCondLst>
                                  <p:childTnLst>
                                    <p:set>
                                      <p:cBhvr>
                                        <p:cTn id="10" dur="1" fill="hold">
                                          <p:stCondLst>
                                            <p:cond delay="0"/>
                                          </p:stCondLst>
                                        </p:cTn>
                                        <p:tgtEl>
                                          <p:spTgt spid="7"/>
                                        </p:tgtEl>
                                        <p:attrNameLst>
                                          <p:attrName>style.visibility</p:attrName>
                                        </p:attrNameLst>
                                      </p:cBhvr>
                                      <p:to>
                                        <p:strVal val="visible"/>
                                      </p:to>
                                    </p:set>
                                    <p:animEffect transition="in" filter="fade">
                                      <p:cBhvr>
                                        <p:cTn id="6" dur="650"/>
                                        <p:tgtEl>
                                          <p:spTgt spid="7"/>
                                        </p:tgtEl>
                                      </p:cBhvr>
                                    </p:animEffect>
                                    <p:anim calcmode="lin" valueType="num">
                                      <p:cBhvr additive="base">
                                        <p:cTn id="7" dur="650" fill="hold"/>
                                        <p:tgtEl>
                                          <p:spTgt spid="7"/>
                                        </p:tgtEl>
                                        <p:attrNameLst>
                                          <p:attrName>ppt_x</p:attrName>
                                        </p:attrNameLst>
                                      </p:cBhvr>
                                      <p:tavLst>
                                        <p:tav tm="0">
                                          <p:val>
                                            <p:strVal val="#ppt_x-.06"/>
                                          </p:val>
                                        </p:tav>
                                        <p:tav tm="100000">
                                          <p:val>
                                            <p:strVal val="#ppt_x"/>
                                          </p:val>
                                        </p:tav>
                                      </p:tavLst>
                                    </p:anim>
                                    <p:anim calcmode="lin" valueType="num">
                                      <p:cBhvr additive="base">
                                        <p:cTn id="8" dur="650" fill="hold"/>
                                        <p:tgtEl>
                                          <p:spTgt spid="7"/>
                                        </p:tgtEl>
                                        <p:attrNameLst>
                                          <p:attrName>ppt_y</p:attrName>
                                        </p:attrNameLst>
                                      </p:cBhvr>
                                      <p:tavLst>
                                        <p:tav tm="0">
                                          <p:val>
                                            <p:strVal val="#ppt_y"/>
                                          </p:val>
                                        </p:tav>
                                        <p:tav tm="100000">
                                          <p:val>
                                            <p:strVal val="#ppt_y"/>
                                          </p:val>
                                        </p:tav>
                                      </p:tavLst>
                                    </p:anim>
                                  </p:childTnLst>
                                </p:cTn>
                              </p:par>
                              <p:par>
                                <p:cTn id="14" presetID="53" presetClass="entr" presetSubtype="16" fill="hold" grpId="0" nodeType="withEffect">
                                  <p:stCondLst>
                                    <p:cond delay="76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1" dur="550" fill="hold"/>
                                        <p:tgtEl>
                                          <p:spTgt spid="8"/>
                                        </p:tgtEl>
                                        <p:attrNameLst>
                                          <p:attrName>ppt_w</p:attrName>
                                        </p:attrNameLst>
                                      </p:cBhvr>
                                      <p:tavLst>
                                        <p:tav tm="0">
                                          <p:val>
                                            <p:strVal val="0"/>
                                          </p:val>
                                        </p:tav>
                                        <p:tav tm="100000">
                                          <p:val>
                                            <p:strVal val="#ppt_w"/>
                                          </p:val>
                                        </p:tav>
                                      </p:tavLst>
                                    </p:anim>
                                    <p:anim calcmode="lin" valueType="num">
                                      <p:cBhvr additive="base">
                                        <p:cTn id="12" dur="550" fill="hold"/>
                                        <p:tgtEl>
                                          <p:spTgt spid="8"/>
                                        </p:tgtEl>
                                        <p:attrNameLst>
                                          <p:attrName>ppt_h</p:attrName>
                                        </p:attrNameLst>
                                      </p:cBhvr>
                                      <p:tavLst>
                                        <p:tav tm="0">
                                          <p:val>
                                            <p:strVal val="0"/>
                                          </p:val>
                                        </p:tav>
                                        <p:tav tm="100000">
                                          <p:val>
                                            <p:strVal val="#ppt_h"/>
                                          </p:val>
                                        </p:tav>
                                      </p:tavLst>
                                    </p:anim>
                                    <p:animEffect transition="in" filter="fade">
                                      <p:cBhvr>
                                        <p:cTn id="13" dur="550"/>
                                        <p:tgtEl>
                                          <p:spTgt spid="8"/>
                                        </p:tgtEl>
                                      </p:cBhvr>
                                    </p:animEffect>
                                  </p:childTnLst>
                                </p:cTn>
                              </p:par>
                              <p:par>
                                <p:cTn id="19" presetID="42" presetClass="entr" presetSubtype="0" fill="hold" grpId="0" nodeType="withEffect">
                                  <p:stCondLst>
                                    <p:cond delay="760"/>
                                  </p:stCondLst>
                                  <p:childTnLst>
                                    <p:set>
                                      <p:cBhvr>
                                        <p:cTn id="20" dur="1" fill="hold">
                                          <p:stCondLst>
                                            <p:cond delay="0"/>
                                          </p:stCondLst>
                                        </p:cTn>
                                        <p:tgtEl>
                                          <p:spTgt spid="9"/>
                                        </p:tgtEl>
                                        <p:attrNameLst>
                                          <p:attrName>style.visibility</p:attrName>
                                        </p:attrNameLst>
                                      </p:cBhvr>
                                      <p:to>
                                        <p:strVal val="visible"/>
                                      </p:to>
                                    </p:set>
                                    <p:animEffect transition="in" filter="fade">
                                      <p:cBhvr>
                                        <p:cTn id="16" dur="650"/>
                                        <p:tgtEl>
                                          <p:spTgt spid="9"/>
                                        </p:tgtEl>
                                      </p:cBhvr>
                                    </p:animEffect>
                                    <p:anim calcmode="lin" valueType="num">
                                      <p:cBhvr additive="base">
                                        <p:cTn id="17" dur="650" fill="hold"/>
                                        <p:tgtEl>
                                          <p:spTgt spid="9"/>
                                        </p:tgtEl>
                                        <p:attrNameLst>
                                          <p:attrName>ppt_x</p:attrName>
                                        </p:attrNameLst>
                                      </p:cBhvr>
                                      <p:tavLst>
                                        <p:tav tm="0">
                                          <p:val>
                                            <p:strVal val="#ppt_x-.06"/>
                                          </p:val>
                                        </p:tav>
                                        <p:tav tm="100000">
                                          <p:val>
                                            <p:strVal val="#ppt_x"/>
                                          </p:val>
                                        </p:tav>
                                      </p:tavLst>
                                    </p:anim>
                                    <p:anim calcmode="lin" valueType="num">
                                      <p:cBhvr additive="base">
                                        <p:cTn id="18" dur="650" fill="hold"/>
                                        <p:tgtEl>
                                          <p:spTgt spid="9"/>
                                        </p:tgtEl>
                                        <p:attrNameLst>
                                          <p:attrName>ppt_y</p:attrName>
                                        </p:attrNameLst>
                                      </p:cBhvr>
                                      <p:tavLst>
                                        <p:tav tm="0">
                                          <p:val>
                                            <p:strVal val="#ppt_y"/>
                                          </p:val>
                                        </p:tav>
                                        <p:tav tm="100000">
                                          <p:val>
                                            <p:strVal val="#ppt_y"/>
                                          </p:val>
                                        </p:tav>
                                      </p:tavLst>
                                    </p:anim>
                                  </p:childTnLst>
                                </p:cTn>
                              </p:par>
                              <p:par>
                                <p:cTn id="24" presetID="42" presetClass="entr" presetSubtype="0" fill="hold" grpId="0" nodeType="withEffect">
                                  <p:stCondLst>
                                    <p:cond delay="1140"/>
                                  </p:stCondLst>
                                  <p:childTnLst>
                                    <p:set>
                                      <p:cBhvr>
                                        <p:cTn id="25" dur="1" fill="hold">
                                          <p:stCondLst>
                                            <p:cond delay="0"/>
                                          </p:stCondLst>
                                        </p:cTn>
                                        <p:tgtEl>
                                          <p:spTgt spid="10"/>
                                        </p:tgtEl>
                                        <p:attrNameLst>
                                          <p:attrName>style.visibility</p:attrName>
                                        </p:attrNameLst>
                                      </p:cBhvr>
                                      <p:to>
                                        <p:strVal val="visible"/>
                                      </p:to>
                                    </p:set>
                                    <p:animEffect transition="in" filter="fade">
                                      <p:cBhvr>
                                        <p:cTn id="21" dur="650"/>
                                        <p:tgtEl>
                                          <p:spTgt spid="10"/>
                                        </p:tgtEl>
                                      </p:cBhvr>
                                    </p:animEffect>
                                    <p:anim calcmode="lin" valueType="num">
                                      <p:cBhvr additive="base">
                                        <p:cTn id="22" dur="650" fill="hold"/>
                                        <p:tgtEl>
                                          <p:spTgt spid="10"/>
                                        </p:tgtEl>
                                        <p:attrNameLst>
                                          <p:attrName>ppt_x</p:attrName>
                                        </p:attrNameLst>
                                      </p:cBhvr>
                                      <p:tavLst>
                                        <p:tav tm="0">
                                          <p:val>
                                            <p:strVal val="#ppt_x-.06"/>
                                          </p:val>
                                        </p:tav>
                                        <p:tav tm="100000">
                                          <p:val>
                                            <p:strVal val="#ppt_x"/>
                                          </p:val>
                                        </p:tav>
                                      </p:tavLst>
                                    </p:anim>
                                    <p:anim calcmode="lin" valueType="num">
                                      <p:cBhvr additive="base">
                                        <p:cTn id="23" dur="650" fill="hold"/>
                                        <p:tgtEl>
                                          <p:spTgt spid="10"/>
                                        </p:tgtEl>
                                        <p:attrNameLst>
                                          <p:attrName>ppt_y</p:attrName>
                                        </p:attrNameLst>
                                      </p:cBhvr>
                                      <p:tavLst>
                                        <p:tav tm="0">
                                          <p:val>
                                            <p:strVal val="#ppt_y"/>
                                          </p:val>
                                        </p:tav>
                                        <p:tav tm="100000">
                                          <p:val>
                                            <p:strVal val="#ppt_y"/>
                                          </p:val>
                                        </p:tav>
                                      </p:tavLst>
                                    </p:anim>
                                  </p:childTnLst>
                                </p:cTn>
                              </p:par>
                              <p:par>
                                <p:cTn id="29" presetID="53" presetClass="entr" presetSubtype="16" fill="hold" grpId="0" nodeType="withEffect">
                                  <p:stCondLst>
                                    <p:cond delay="114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26" dur="550" fill="hold"/>
                                        <p:tgtEl>
                                          <p:spTgt spid="11"/>
                                        </p:tgtEl>
                                        <p:attrNameLst>
                                          <p:attrName>ppt_w</p:attrName>
                                        </p:attrNameLst>
                                      </p:cBhvr>
                                      <p:tavLst>
                                        <p:tav tm="0">
                                          <p:val>
                                            <p:strVal val="0"/>
                                          </p:val>
                                        </p:tav>
                                        <p:tav tm="100000">
                                          <p:val>
                                            <p:strVal val="#ppt_w"/>
                                          </p:val>
                                        </p:tav>
                                      </p:tavLst>
                                    </p:anim>
                                    <p:anim calcmode="lin" valueType="num">
                                      <p:cBhvr additive="base">
                                        <p:cTn id="27" dur="550" fill="hold"/>
                                        <p:tgtEl>
                                          <p:spTgt spid="11"/>
                                        </p:tgtEl>
                                        <p:attrNameLst>
                                          <p:attrName>ppt_h</p:attrName>
                                        </p:attrNameLst>
                                      </p:cBhvr>
                                      <p:tavLst>
                                        <p:tav tm="0">
                                          <p:val>
                                            <p:strVal val="0"/>
                                          </p:val>
                                        </p:tav>
                                        <p:tav tm="100000">
                                          <p:val>
                                            <p:strVal val="#ppt_h"/>
                                          </p:val>
                                        </p:tav>
                                      </p:tavLst>
                                    </p:anim>
                                    <p:animEffect transition="in" filter="fade">
                                      <p:cBhvr>
                                        <p:cTn id="28" dur="550"/>
                                        <p:tgtEl>
                                          <p:spTgt spid="11"/>
                                        </p:tgtEl>
                                      </p:cBhvr>
                                    </p:animEffect>
                                  </p:childTnLst>
                                </p:cTn>
                              </p:par>
                              <p:par>
                                <p:cTn id="34" presetID="42" presetClass="entr" presetSubtype="0" fill="hold" grpId="0" nodeType="withEffect">
                                  <p:stCondLst>
                                    <p:cond delay="1140"/>
                                  </p:stCondLst>
                                  <p:childTnLst>
                                    <p:set>
                                      <p:cBhvr>
                                        <p:cTn id="35" dur="1" fill="hold">
                                          <p:stCondLst>
                                            <p:cond delay="0"/>
                                          </p:stCondLst>
                                        </p:cTn>
                                        <p:tgtEl>
                                          <p:spTgt spid="12"/>
                                        </p:tgtEl>
                                        <p:attrNameLst>
                                          <p:attrName>style.visibility</p:attrName>
                                        </p:attrNameLst>
                                      </p:cBhvr>
                                      <p:to>
                                        <p:strVal val="visible"/>
                                      </p:to>
                                    </p:set>
                                    <p:animEffect transition="in" filter="fade">
                                      <p:cBhvr>
                                        <p:cTn id="31" dur="650"/>
                                        <p:tgtEl>
                                          <p:spTgt spid="12"/>
                                        </p:tgtEl>
                                      </p:cBhvr>
                                    </p:animEffect>
                                    <p:anim calcmode="lin" valueType="num">
                                      <p:cBhvr additive="base">
                                        <p:cTn id="32" dur="650" fill="hold"/>
                                        <p:tgtEl>
                                          <p:spTgt spid="12"/>
                                        </p:tgtEl>
                                        <p:attrNameLst>
                                          <p:attrName>ppt_x</p:attrName>
                                        </p:attrNameLst>
                                      </p:cBhvr>
                                      <p:tavLst>
                                        <p:tav tm="0">
                                          <p:val>
                                            <p:strVal val="#ppt_x-.06"/>
                                          </p:val>
                                        </p:tav>
                                        <p:tav tm="100000">
                                          <p:val>
                                            <p:strVal val="#ppt_x"/>
                                          </p:val>
                                        </p:tav>
                                      </p:tavLst>
                                    </p:anim>
                                    <p:anim calcmode="lin" valueType="num">
                                      <p:cBhvr additive="base">
                                        <p:cTn id="33" dur="650" fill="hold"/>
                                        <p:tgtEl>
                                          <p:spTgt spid="12"/>
                                        </p:tgtEl>
                                        <p:attrNameLst>
                                          <p:attrName>ppt_y</p:attrName>
                                        </p:attrNameLst>
                                      </p:cBhvr>
                                      <p:tavLst>
                                        <p:tav tm="0">
                                          <p:val>
                                            <p:strVal val="#ppt_y"/>
                                          </p:val>
                                        </p:tav>
                                        <p:tav tm="100000">
                                          <p:val>
                                            <p:strVal val="#ppt_y"/>
                                          </p:val>
                                        </p:tav>
                                      </p:tavLst>
                                    </p:anim>
                                  </p:childTnLst>
                                </p:cTn>
                              </p:par>
                              <p:par>
                                <p:cTn id="39" presetID="42" presetClass="entr" presetSubtype="0" fill="hold" grpId="0" nodeType="withEffect">
                                  <p:stCondLst>
                                    <p:cond delay="1520"/>
                                  </p:stCondLst>
                                  <p:childTnLst>
                                    <p:set>
                                      <p:cBhvr>
                                        <p:cTn id="40" dur="1" fill="hold">
                                          <p:stCondLst>
                                            <p:cond delay="0"/>
                                          </p:stCondLst>
                                        </p:cTn>
                                        <p:tgtEl>
                                          <p:spTgt spid="13"/>
                                        </p:tgtEl>
                                        <p:attrNameLst>
                                          <p:attrName>style.visibility</p:attrName>
                                        </p:attrNameLst>
                                      </p:cBhvr>
                                      <p:to>
                                        <p:strVal val="visible"/>
                                      </p:to>
                                    </p:set>
                                    <p:animEffect transition="in" filter="fade">
                                      <p:cBhvr>
                                        <p:cTn id="36" dur="650"/>
                                        <p:tgtEl>
                                          <p:spTgt spid="13"/>
                                        </p:tgtEl>
                                      </p:cBhvr>
                                    </p:animEffect>
                                    <p:anim calcmode="lin" valueType="num">
                                      <p:cBhvr additive="base">
                                        <p:cTn id="37" dur="650" fill="hold"/>
                                        <p:tgtEl>
                                          <p:spTgt spid="13"/>
                                        </p:tgtEl>
                                        <p:attrNameLst>
                                          <p:attrName>ppt_x</p:attrName>
                                        </p:attrNameLst>
                                      </p:cBhvr>
                                      <p:tavLst>
                                        <p:tav tm="0">
                                          <p:val>
                                            <p:strVal val="#ppt_x-.06"/>
                                          </p:val>
                                        </p:tav>
                                        <p:tav tm="100000">
                                          <p:val>
                                            <p:strVal val="#ppt_x"/>
                                          </p:val>
                                        </p:tav>
                                      </p:tavLst>
                                    </p:anim>
                                    <p:anim calcmode="lin" valueType="num">
                                      <p:cBhvr additive="base">
                                        <p:cTn id="38" dur="650" fill="hold"/>
                                        <p:tgtEl>
                                          <p:spTgt spid="13"/>
                                        </p:tgtEl>
                                        <p:attrNameLst>
                                          <p:attrName>ppt_y</p:attrName>
                                        </p:attrNameLst>
                                      </p:cBhvr>
                                      <p:tavLst>
                                        <p:tav tm="0">
                                          <p:val>
                                            <p:strVal val="#ppt_y"/>
                                          </p:val>
                                        </p:tav>
                                        <p:tav tm="100000">
                                          <p:val>
                                            <p:strVal val="#ppt_y"/>
                                          </p:val>
                                        </p:tav>
                                      </p:tavLst>
                                    </p:anim>
                                  </p:childTnLst>
                                </p:cTn>
                              </p:par>
                              <p:par>
                                <p:cTn id="44" presetID="53" presetClass="entr" presetSubtype="16" fill="hold" grpId="0" nodeType="withEffect">
                                  <p:stCondLst>
                                    <p:cond delay="1520"/>
                                  </p:stCondLst>
                                  <p:childTnLst>
                                    <p:set>
                                      <p:cBhvr>
                                        <p:cTn id="45" dur="1" fill="hold">
                                          <p:stCondLst>
                                            <p:cond delay="0"/>
                                          </p:stCondLst>
                                        </p:cTn>
                                        <p:tgtEl>
                                          <p:spTgt spid="14"/>
                                        </p:tgtEl>
                                        <p:attrNameLst>
                                          <p:attrName>style.visibility</p:attrName>
                                        </p:attrNameLst>
                                      </p:cBhvr>
                                      <p:to>
                                        <p:strVal val="visible"/>
                                      </p:to>
                                    </p:set>
                                    <p:anim calcmode="lin" valueType="num">
                                      <p:cBhvr additive="base">
                                        <p:cTn id="41" dur="550" fill="hold"/>
                                        <p:tgtEl>
                                          <p:spTgt spid="14"/>
                                        </p:tgtEl>
                                        <p:attrNameLst>
                                          <p:attrName>ppt_w</p:attrName>
                                        </p:attrNameLst>
                                      </p:cBhvr>
                                      <p:tavLst>
                                        <p:tav tm="0">
                                          <p:val>
                                            <p:strVal val="0"/>
                                          </p:val>
                                        </p:tav>
                                        <p:tav tm="100000">
                                          <p:val>
                                            <p:strVal val="#ppt_w"/>
                                          </p:val>
                                        </p:tav>
                                      </p:tavLst>
                                    </p:anim>
                                    <p:anim calcmode="lin" valueType="num">
                                      <p:cBhvr additive="base">
                                        <p:cTn id="42" dur="550" fill="hold"/>
                                        <p:tgtEl>
                                          <p:spTgt spid="14"/>
                                        </p:tgtEl>
                                        <p:attrNameLst>
                                          <p:attrName>ppt_h</p:attrName>
                                        </p:attrNameLst>
                                      </p:cBhvr>
                                      <p:tavLst>
                                        <p:tav tm="0">
                                          <p:val>
                                            <p:strVal val="0"/>
                                          </p:val>
                                        </p:tav>
                                        <p:tav tm="100000">
                                          <p:val>
                                            <p:strVal val="#ppt_h"/>
                                          </p:val>
                                        </p:tav>
                                      </p:tavLst>
                                    </p:anim>
                                    <p:animEffect transition="in" filter="fade">
                                      <p:cBhvr>
                                        <p:cTn id="43" dur="550"/>
                                        <p:tgtEl>
                                          <p:spTgt spid="14"/>
                                        </p:tgtEl>
                                      </p:cBhvr>
                                    </p:animEffect>
                                  </p:childTnLst>
                                </p:cTn>
                              </p:par>
                              <p:par>
                                <p:cTn id="49" presetID="42" presetClass="entr" presetSubtype="0" fill="hold" grpId="0" nodeType="withEffect">
                                  <p:stCondLst>
                                    <p:cond delay="1520"/>
                                  </p:stCondLst>
                                  <p:childTnLst>
                                    <p:set>
                                      <p:cBhvr>
                                        <p:cTn id="50" dur="1" fill="hold">
                                          <p:stCondLst>
                                            <p:cond delay="0"/>
                                          </p:stCondLst>
                                        </p:cTn>
                                        <p:tgtEl>
                                          <p:spTgt spid="15"/>
                                        </p:tgtEl>
                                        <p:attrNameLst>
                                          <p:attrName>style.visibility</p:attrName>
                                        </p:attrNameLst>
                                      </p:cBhvr>
                                      <p:to>
                                        <p:strVal val="visible"/>
                                      </p:to>
                                    </p:set>
                                    <p:animEffect transition="in" filter="fade">
                                      <p:cBhvr>
                                        <p:cTn id="46" dur="650"/>
                                        <p:tgtEl>
                                          <p:spTgt spid="15"/>
                                        </p:tgtEl>
                                      </p:cBhvr>
                                    </p:animEffect>
                                    <p:anim calcmode="lin" valueType="num">
                                      <p:cBhvr additive="base">
                                        <p:cTn id="47" dur="650" fill="hold"/>
                                        <p:tgtEl>
                                          <p:spTgt spid="15"/>
                                        </p:tgtEl>
                                        <p:attrNameLst>
                                          <p:attrName>ppt_x</p:attrName>
                                        </p:attrNameLst>
                                      </p:cBhvr>
                                      <p:tavLst>
                                        <p:tav tm="0">
                                          <p:val>
                                            <p:strVal val="#ppt_x-.06"/>
                                          </p:val>
                                        </p:tav>
                                        <p:tav tm="100000">
                                          <p:val>
                                            <p:strVal val="#ppt_x"/>
                                          </p:val>
                                        </p:tav>
                                      </p:tavLst>
                                    </p:anim>
                                    <p:anim calcmode="lin" valueType="num">
                                      <p:cBhvr additive="base">
                                        <p:cTn id="48" dur="65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8" grpId="0" animBg="1"/>
      <p:bldP spid="9" grpId="0" animBg="1"/>
      <p:bldP spid="11" grpId="0" animBg="1"/>
      <p:bldP spid="12" grpId="0" animBg="1"/>
      <p:bldP spid="14" grpId="0" animBg="1"/>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7406640" y="-1005840"/>
            <a:ext cx="2560320" cy="2560320"/>
          </a:xfrm>
          <a:prstGeom prst="rect">
            <a:avLst/>
          </a:prstGeom>
        </p:spPr>
      </p:pic>
      <p:sp>
        <p:nvSpPr>
          <p:cNvPr id="3" name="Text 0"/>
          <p:cNvSpPr txBox="1"/>
          <p:nvPr/>
        </p:nvSpPr>
        <p:spPr>
          <a:xfrm>
            <a:off x="457200" y="274320"/>
            <a:ext cx="6858000" cy="228600"/>
          </a:xfrm>
          <a:prstGeom prst="rect">
            <a:avLst/>
          </a:prstGeom>
          <a:noFill/>
          <a:ln/>
        </p:spPr>
        <p:txBody>
          <a:bodyPr wrap="square" lIns="0" tIns="0" rIns="0" bIns="0" rtlCol="0" anchor="t"/>
          <a:lstStyle/>
          <a:p>
            <a:pPr indent="0" marL="0">
              <a:buNone/>
            </a:pPr>
            <a:r>
              <a:rPr lang="en-US" sz="1050" b="1" spc="200" kern="0" dirty="0">
                <a:solidFill>
                  <a:srgbClr val="1E9E6A"/>
                </a:solidFill>
                <a:latin typeface="Calibri" pitchFamily="34" charset="0"/>
                <a:ea typeface="Calibri" pitchFamily="34" charset="-122"/>
                <a:cs typeface="Calibri" pitchFamily="34" charset="-120"/>
              </a:rPr>
              <a:t>II · 2.1 — AVANTAGES</a:t>
            </a:r>
            <a:endParaRPr lang="en-US" sz="1050" dirty="0"/>
          </a:p>
        </p:txBody>
      </p:sp>
      <p:sp>
        <p:nvSpPr>
          <p:cNvPr id="4" name="Text 1"/>
          <p:cNvSpPr txBox="1"/>
          <p:nvPr/>
        </p:nvSpPr>
        <p:spPr>
          <a:xfrm>
            <a:off x="457200" y="502920"/>
            <a:ext cx="7863840" cy="548640"/>
          </a:xfrm>
          <a:prstGeom prst="rect">
            <a:avLst/>
          </a:prstGeom>
          <a:noFill/>
          <a:ln/>
        </p:spPr>
        <p:txBody>
          <a:bodyPr wrap="square" lIns="0" tIns="0" rIns="0" bIns="0" rtlCol="0" anchor="ctr"/>
          <a:lstStyle/>
          <a:p>
            <a:pPr indent="0" marL="0">
              <a:buNone/>
            </a:pPr>
            <a:r>
              <a:rPr lang="en-US" sz="2600" b="1" dirty="0">
                <a:solidFill>
                  <a:srgbClr val="0B1F4B"/>
                </a:solidFill>
                <a:latin typeface="Cambria" pitchFamily="34" charset="0"/>
                <a:ea typeface="Cambria" pitchFamily="34" charset="-122"/>
                <a:cs typeface="Cambria" pitchFamily="34" charset="-120"/>
              </a:rPr>
              <a:t>Plus d'échanges… et plus de richesse</a:t>
            </a:r>
            <a:endParaRPr lang="en-US" sz="2600" dirty="0"/>
          </a:p>
        </p:txBody>
      </p:sp>
      <p:sp>
        <p:nvSpPr>
          <p:cNvPr id="5" name="Text 2"/>
          <p:cNvSpPr txBox="1"/>
          <p:nvPr/>
        </p:nvSpPr>
        <p:spPr>
          <a:xfrm>
            <a:off x="8321040" y="4773168"/>
            <a:ext cx="365760" cy="228600"/>
          </a:xfrm>
          <a:prstGeom prst="rect">
            <a:avLst/>
          </a:prstGeom>
          <a:noFill/>
          <a:ln/>
        </p:spPr>
        <p:txBody>
          <a:bodyPr wrap="square" lIns="0" tIns="0" rIns="0" bIns="0" rtlCol="0" anchor="t"/>
          <a:lstStyle/>
          <a:p>
            <a:pPr algn="r" indent="0" marL="0">
              <a:buNone/>
            </a:pPr>
            <a:r>
              <a:rPr lang="en-US" sz="1000" dirty="0">
                <a:solidFill>
                  <a:srgbClr val="5B6478"/>
                </a:solidFill>
                <a:latin typeface="Calibri" pitchFamily="34" charset="0"/>
                <a:ea typeface="Calibri" pitchFamily="34" charset="-122"/>
                <a:cs typeface="Calibri" pitchFamily="34" charset="-120"/>
              </a:rPr>
              <a:t>13</a:t>
            </a:r>
            <a:endParaRPr lang="en-US" sz="1000" dirty="0"/>
          </a:p>
        </p:txBody>
      </p:sp>
      <p:graphicFrame>
        <p:nvGraphicFramePr>
          <p:cNvPr id="6" name="A1-rise-192" descr=""/>
          <p:cNvGraphicFramePr/>
          <p:nvPr/>
        </p:nvGraphicFramePr>
        <p:xfrm>
          <a:off x="365760" y="1188720"/>
          <a:ext cx="4572000" cy="3520440"/>
        </p:xfrm>
        <a:graphic xmlns:a="http://schemas.openxmlformats.org/drawingml/2006/main">
          <a:graphicData uri="http://schemas.openxmlformats.org/drawingml/2006/chart">
            <c:chart xmlns:c="http://schemas.openxmlformats.org/drawingml/2006/chart" r:id="rId3"/>
          </a:graphicData>
        </a:graphic>
      </p:graphicFrame>
      <p:sp>
        <p:nvSpPr>
          <p:cNvPr id="7" name="A2-fadeleft-193"/>
          <p:cNvSpPr/>
          <p:nvPr/>
        </p:nvSpPr>
        <p:spPr>
          <a:xfrm>
            <a:off x="5212080" y="1280160"/>
            <a:ext cx="3474720" cy="1600200"/>
          </a:xfrm>
          <a:prstGeom prst="roundRect">
            <a:avLst>
              <a:gd name="adj" fmla="val 6857"/>
            </a:avLst>
          </a:prstGeom>
          <a:solidFill>
            <a:srgbClr val="0B1F4B"/>
          </a:solidFill>
          <a:ln w="12700">
            <a:solidFill>
              <a:srgbClr val="0B1F4B"/>
            </a:solidFill>
            <a:prstDash val="solid"/>
          </a:ln>
          <a:effectLst>
            <a:outerShdw sx="100000" sy="100000" kx="0" ky="0" algn="bl" rotWithShape="0" blurRad="101600" dist="25400" dir="5400000">
              <a:srgbClr val="0B1F4B">
                <a:alpha val="12000"/>
              </a:srgbClr>
            </a:outerShdw>
          </a:effectLst>
        </p:spPr>
      </p:sp>
      <p:sp>
        <p:nvSpPr>
          <p:cNvPr id="8" name="A2-fade-194"/>
          <p:cNvSpPr txBox="1"/>
          <p:nvPr/>
        </p:nvSpPr>
        <p:spPr>
          <a:xfrm>
            <a:off x="5394960" y="1371600"/>
            <a:ext cx="3108960" cy="274320"/>
          </a:xfrm>
          <a:prstGeom prst="rect">
            <a:avLst/>
          </a:prstGeom>
          <a:noFill/>
          <a:ln/>
        </p:spPr>
        <p:txBody>
          <a:bodyPr wrap="square" lIns="0" tIns="0" rIns="0" bIns="0" rtlCol="0" anchor="t"/>
          <a:lstStyle/>
          <a:p>
            <a:pPr indent="0" marL="0">
              <a:buNone/>
            </a:pPr>
            <a:r>
              <a:rPr lang="en-US" sz="1100" b="1" dirty="0">
                <a:solidFill>
                  <a:srgbClr val="FFC21A"/>
                </a:solidFill>
                <a:latin typeface="Calibri" pitchFamily="34" charset="0"/>
                <a:ea typeface="Calibri" pitchFamily="34" charset="-122"/>
                <a:cs typeface="Calibri" pitchFamily="34" charset="-120"/>
              </a:rPr>
              <a:t>Gain de PIB réel moyen (Mayer et al., 2019)</a:t>
            </a:r>
            <a:endParaRPr lang="en-US" sz="1100" dirty="0"/>
          </a:p>
        </p:txBody>
      </p:sp>
      <p:sp>
        <p:nvSpPr>
          <p:cNvPr id="9" name="A2-zoom-195"/>
          <p:cNvSpPr txBox="1"/>
          <p:nvPr/>
        </p:nvSpPr>
        <p:spPr>
          <a:xfrm>
            <a:off x="5394960" y="1691640"/>
            <a:ext cx="1554480" cy="54864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+6,6 %</a:t>
            </a:r>
            <a:endParaRPr lang="en-US" sz="3000" dirty="0"/>
          </a:p>
        </p:txBody>
      </p:sp>
      <p:sp>
        <p:nvSpPr>
          <p:cNvPr id="10" name="A2-fade-196"/>
          <p:cNvSpPr txBox="1"/>
          <p:nvPr/>
        </p:nvSpPr>
        <p:spPr>
          <a:xfrm>
            <a:off x="5394960" y="2240280"/>
            <a:ext cx="1508760" cy="548640"/>
          </a:xfrm>
          <a:prstGeom prst="rect">
            <a:avLst/>
          </a:prstGeom>
          <a:noFill/>
          <a:ln/>
        </p:spPr>
        <p:txBody>
          <a:bodyPr wrap="square" lIns="0" tIns="0" rIns="0" bIns="0" rtlCol="0" anchor="t"/>
          <a:lstStyle/>
          <a:p>
            <a:pPr indent="0" marL="0">
              <a:buNone/>
            </a:pPr>
            <a:r>
              <a:rPr lang="en-US" sz="1000" dirty="0">
                <a:solidFill>
                  <a:srgbClr val="C9D5F0"/>
                </a:solidFill>
                <a:latin typeface="Calibri" pitchFamily="34" charset="0"/>
                <a:ea typeface="Calibri" pitchFamily="34" charset="-122"/>
                <a:cs typeface="Calibri" pitchFamily="34" charset="-120"/>
              </a:rPr>
              <a:t>vs un accord régional classique</a:t>
            </a:r>
            <a:endParaRPr lang="en-US" sz="1000" dirty="0"/>
          </a:p>
        </p:txBody>
      </p:sp>
      <p:sp>
        <p:nvSpPr>
          <p:cNvPr id="11" name="A3-zoom-197"/>
          <p:cNvSpPr txBox="1"/>
          <p:nvPr/>
        </p:nvSpPr>
        <p:spPr>
          <a:xfrm>
            <a:off x="7040880" y="1691640"/>
            <a:ext cx="1554480" cy="54864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+8,2 %</a:t>
            </a:r>
            <a:endParaRPr lang="en-US" sz="3000" dirty="0"/>
          </a:p>
        </p:txBody>
      </p:sp>
      <p:sp>
        <p:nvSpPr>
          <p:cNvPr id="12" name="A3-fade-198"/>
          <p:cNvSpPr txBox="1"/>
          <p:nvPr/>
        </p:nvSpPr>
        <p:spPr>
          <a:xfrm>
            <a:off x="7040880" y="2240280"/>
            <a:ext cx="1554480" cy="548640"/>
          </a:xfrm>
          <a:prstGeom prst="rect">
            <a:avLst/>
          </a:prstGeom>
          <a:noFill/>
          <a:ln/>
        </p:spPr>
        <p:txBody>
          <a:bodyPr wrap="square" lIns="0" tIns="0" rIns="0" bIns="0" rtlCol="0" anchor="t"/>
          <a:lstStyle/>
          <a:p>
            <a:pPr indent="0" marL="0">
              <a:buNone/>
            </a:pPr>
            <a:r>
              <a:rPr lang="en-US" sz="1000" dirty="0">
                <a:solidFill>
                  <a:srgbClr val="C9D5F0"/>
                </a:solidFill>
                <a:latin typeface="Calibri" pitchFamily="34" charset="0"/>
                <a:ea typeface="Calibri" pitchFamily="34" charset="-122"/>
                <a:cs typeface="Calibri" pitchFamily="34" charset="-120"/>
              </a:rPr>
              <a:t>vs un retour aux règles de l'OMC</a:t>
            </a:r>
            <a:endParaRPr lang="en-US" sz="1000" dirty="0"/>
          </a:p>
        </p:txBody>
      </p:sp>
      <p:sp>
        <p:nvSpPr>
          <p:cNvPr id="13" name="A4-fadeleft-199"/>
          <p:cNvSpPr/>
          <p:nvPr/>
        </p:nvSpPr>
        <p:spPr>
          <a:xfrm>
            <a:off x="5212080" y="3063240"/>
            <a:ext cx="3474720" cy="1600200"/>
          </a:xfrm>
          <a:prstGeom prst="roundRect">
            <a:avLst>
              <a:gd name="adj" fmla="val 6857"/>
            </a:avLst>
          </a:prstGeom>
          <a:solidFill>
            <a:srgbClr val="FFFFFF"/>
          </a:solidFill>
          <a:ln w="12700">
            <a:solidFill>
              <a:srgbClr val="FFFFFF"/>
            </a:solidFill>
            <a:prstDash val="solid"/>
          </a:ln>
          <a:effectLst>
            <a:outerShdw sx="100000" sy="100000" kx="0" ky="0" algn="bl" rotWithShape="0" blurRad="101600" dist="25400" dir="5400000">
              <a:srgbClr val="0B1F4B">
                <a:alpha val="12000"/>
              </a:srgbClr>
            </a:outerShdw>
          </a:effectLst>
        </p:spPr>
      </p:sp>
      <p:sp>
        <p:nvSpPr>
          <p:cNvPr id="14" name="A4-fade-200"/>
          <p:cNvSpPr txBox="1"/>
          <p:nvPr/>
        </p:nvSpPr>
        <p:spPr>
          <a:xfrm>
            <a:off x="5394960" y="3154680"/>
            <a:ext cx="3108960" cy="274320"/>
          </a:xfrm>
          <a:prstGeom prst="rect">
            <a:avLst/>
          </a:prstGeom>
          <a:noFill/>
          <a:ln/>
        </p:spPr>
        <p:txBody>
          <a:bodyPr wrap="square" lIns="0" tIns="0" rIns="0" bIns="0" rtlCol="0" anchor="t"/>
          <a:lstStyle/>
          <a:p>
            <a:pPr indent="0" marL="0">
              <a:buNone/>
            </a:pPr>
            <a:r>
              <a:rPr lang="en-US" sz="1100" b="1" dirty="0">
                <a:solidFill>
                  <a:srgbClr val="1E9E6A"/>
                </a:solidFill>
                <a:latin typeface="Calibri" pitchFamily="34" charset="0"/>
                <a:ea typeface="Calibri" pitchFamily="34" charset="-122"/>
                <a:cs typeface="Calibri" pitchFamily="34" charset="-120"/>
              </a:rPr>
              <a:t>Commission européenne (2025)</a:t>
            </a:r>
            <a:endParaRPr lang="en-US" sz="1100" dirty="0"/>
          </a:p>
        </p:txBody>
      </p:sp>
      <p:sp>
        <p:nvSpPr>
          <p:cNvPr id="15" name="A4-zoom-201"/>
          <p:cNvSpPr txBox="1"/>
          <p:nvPr/>
        </p:nvSpPr>
        <p:spPr>
          <a:xfrm>
            <a:off x="5394960" y="3474720"/>
            <a:ext cx="1600200" cy="548640"/>
          </a:xfrm>
          <a:prstGeom prst="rect">
            <a:avLst/>
          </a:prstGeom>
          <a:noFill/>
          <a:ln/>
        </p:spPr>
        <p:txBody>
          <a:bodyPr wrap="square" lIns="0" tIns="0" rIns="0" bIns="0" rtlCol="0" anchor="t"/>
          <a:lstStyle/>
          <a:p>
            <a:pPr indent="0" marL="0">
              <a:buNone/>
            </a:pPr>
            <a:r>
              <a:rPr lang="en-US" sz="2600" b="1" dirty="0">
                <a:solidFill>
                  <a:srgbClr val="0B1F4B"/>
                </a:solidFill>
                <a:latin typeface="Cambria" pitchFamily="34" charset="0"/>
                <a:ea typeface="Cambria" pitchFamily="34" charset="-122"/>
                <a:cs typeface="Cambria" pitchFamily="34" charset="-120"/>
              </a:rPr>
              <a:t>+3 à 4 %</a:t>
            </a:r>
            <a:endParaRPr lang="en-US" sz="2600" dirty="0"/>
          </a:p>
        </p:txBody>
      </p:sp>
      <p:sp>
        <p:nvSpPr>
          <p:cNvPr id="16" name="A4-fade-202"/>
          <p:cNvSpPr txBox="1"/>
          <p:nvPr/>
        </p:nvSpPr>
        <p:spPr>
          <a:xfrm>
            <a:off x="5394960" y="4023360"/>
            <a:ext cx="1554480" cy="457200"/>
          </a:xfrm>
          <a:prstGeom prst="rect">
            <a:avLst/>
          </a:prstGeom>
          <a:noFill/>
          <a:ln/>
        </p:spPr>
        <p:txBody>
          <a:bodyPr wrap="square" lIns="0" tIns="0" rIns="0" bIns="0" rtlCol="0" anchor="t"/>
          <a:lstStyle/>
          <a:p>
            <a:pPr indent="0" marL="0">
              <a:buNone/>
            </a:pPr>
            <a:r>
              <a:rPr lang="en-US" sz="1000" dirty="0">
                <a:solidFill>
                  <a:srgbClr val="5B6478"/>
                </a:solidFill>
                <a:latin typeface="Calibri" pitchFamily="34" charset="0"/>
                <a:ea typeface="Calibri" pitchFamily="34" charset="-122"/>
                <a:cs typeface="Calibri" pitchFamily="34" charset="-120"/>
              </a:rPr>
              <a:t>de PIB pour l'Union</a:t>
            </a:r>
            <a:endParaRPr lang="en-US" sz="1000" dirty="0"/>
          </a:p>
        </p:txBody>
      </p:sp>
      <p:sp>
        <p:nvSpPr>
          <p:cNvPr id="17" name="A5-zoom-203"/>
          <p:cNvSpPr txBox="1"/>
          <p:nvPr/>
        </p:nvSpPr>
        <p:spPr>
          <a:xfrm>
            <a:off x="7040880" y="3474720"/>
            <a:ext cx="1554480" cy="548640"/>
          </a:xfrm>
          <a:prstGeom prst="rect">
            <a:avLst/>
          </a:prstGeom>
          <a:noFill/>
          <a:ln/>
        </p:spPr>
        <p:txBody>
          <a:bodyPr wrap="square" lIns="0" tIns="0" rIns="0" bIns="0" rtlCol="0" anchor="t"/>
          <a:lstStyle/>
          <a:p>
            <a:pPr indent="0" marL="0">
              <a:buNone/>
            </a:pPr>
            <a:r>
              <a:rPr lang="en-US" sz="2600" b="1" dirty="0">
                <a:solidFill>
                  <a:srgbClr val="0B1F4B"/>
                </a:solidFill>
                <a:latin typeface="Cambria" pitchFamily="34" charset="0"/>
                <a:ea typeface="Cambria" pitchFamily="34" charset="-122"/>
                <a:cs typeface="Cambria" pitchFamily="34" charset="-120"/>
              </a:rPr>
              <a:t>3,6 M</a:t>
            </a:r>
            <a:endParaRPr lang="en-US" sz="2600" dirty="0"/>
          </a:p>
        </p:txBody>
      </p:sp>
      <p:sp>
        <p:nvSpPr>
          <p:cNvPr id="18" name="A5-fade-204"/>
          <p:cNvSpPr txBox="1"/>
          <p:nvPr/>
        </p:nvSpPr>
        <p:spPr>
          <a:xfrm>
            <a:off x="7040880" y="4023360"/>
            <a:ext cx="1554480" cy="457200"/>
          </a:xfrm>
          <a:prstGeom prst="rect">
            <a:avLst/>
          </a:prstGeom>
          <a:noFill/>
          <a:ln/>
        </p:spPr>
        <p:txBody>
          <a:bodyPr wrap="square" lIns="0" tIns="0" rIns="0" bIns="0" rtlCol="0" anchor="t"/>
          <a:lstStyle/>
          <a:p>
            <a:pPr indent="0" marL="0">
              <a:buNone/>
            </a:pPr>
            <a:r>
              <a:rPr lang="en-US" sz="1000" dirty="0">
                <a:solidFill>
                  <a:srgbClr val="5B6478"/>
                </a:solidFill>
                <a:latin typeface="Calibri" pitchFamily="34" charset="0"/>
                <a:ea typeface="Calibri" pitchFamily="34" charset="-122"/>
                <a:cs typeface="Calibri" pitchFamily="34" charset="-120"/>
              </a:rPr>
              <a:t>emplois créés</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54" fill="hold">
                      <p:stCondLst>
                        <p:cond delay="indefinite"/>
                        <p:cond evt="onBegin" delay="0">
                          <p:tn val="2"/>
                        </p:cond>
                      </p:stCondLst>
                      <p:childTnLst>
                        <p:par>
                          <p:cTn id="55" fill="hold">
                            <p:stCondLst>
                              <p:cond delay="0"/>
                            </p:stCondLst>
                            <p:childTnLst>
                              <p:par>
                                <p:cTn id="4" presetID="22" presetClass="entr" presetSubtype="4" fill="hold" grpId="0" nodeType="withEffect">
                                  <p:stCondLst>
                                    <p:cond delay="380"/>
                                  </p:stCondLst>
                                  <p:childTnLst>
                                    <p:set>
                                      <p:cBhvr>
                                        <p:cTn id="5" dur="1" fill="hold">
                                          <p:stCondLst>
                                            <p:cond delay="0"/>
                                          </p:stCondLst>
                                        </p:cTn>
                                        <p:tgtEl>
                                          <p:spTgt spid="6"/>
                                        </p:tgtEl>
                                        <p:attrNameLst>
                                          <p:attrName>style.visibility</p:attrName>
                                        </p:attrNameLst>
                                      </p:cBhvr>
                                      <p:to>
                                        <p:strVal val="visible"/>
                                      </p:to>
                                    </p:set>
                                    <p:animEffect transition="in" filter="wipe(down)">
                                      <p:cBhvr>
                                        <p:cTn id="3" dur="900"/>
                                        <p:tgtEl>
                                          <p:spTgt spid="6"/>
                                        </p:tgtEl>
                                      </p:cBhvr>
                                    </p:animEffect>
                                  </p:childTnLst>
                                </p:cTn>
                              </p:par>
                              <p:par>
                                <p:cTn id="9" presetID="42" presetClass="entr" presetSubtype="0" fill="hold" grpId="0" nodeType="withEffect">
                                  <p:stCondLst>
                                    <p:cond delay="760"/>
                                  </p:stCondLst>
                                  <p:childTnLst>
                                    <p:set>
                                      <p:cBhvr>
                                        <p:cTn id="10" dur="1" fill="hold">
                                          <p:stCondLst>
                                            <p:cond delay="0"/>
                                          </p:stCondLst>
                                        </p:cTn>
                                        <p:tgtEl>
                                          <p:spTgt spid="7"/>
                                        </p:tgtEl>
                                        <p:attrNameLst>
                                          <p:attrName>style.visibility</p:attrName>
                                        </p:attrNameLst>
                                      </p:cBhvr>
                                      <p:to>
                                        <p:strVal val="visible"/>
                                      </p:to>
                                    </p:set>
                                    <p:animEffect transition="in" filter="fade">
                                      <p:cBhvr>
                                        <p:cTn id="6" dur="650"/>
                                        <p:tgtEl>
                                          <p:spTgt spid="7"/>
                                        </p:tgtEl>
                                      </p:cBhvr>
                                    </p:animEffect>
                                    <p:anim calcmode="lin" valueType="num">
                                      <p:cBhvr additive="base">
                                        <p:cTn id="7" dur="650" fill="hold"/>
                                        <p:tgtEl>
                                          <p:spTgt spid="7"/>
                                        </p:tgtEl>
                                        <p:attrNameLst>
                                          <p:attrName>ppt_x</p:attrName>
                                        </p:attrNameLst>
                                      </p:cBhvr>
                                      <p:tavLst>
                                        <p:tav tm="0">
                                          <p:val>
                                            <p:strVal val="#ppt_x-.06"/>
                                          </p:val>
                                        </p:tav>
                                        <p:tav tm="100000">
                                          <p:val>
                                            <p:strVal val="#ppt_x"/>
                                          </p:val>
                                        </p:tav>
                                      </p:tavLst>
                                    </p:anim>
                                    <p:anim calcmode="lin" valueType="num">
                                      <p:cBhvr additive="base">
                                        <p:cTn id="8" dur="650" fill="hold"/>
                                        <p:tgtEl>
                                          <p:spTgt spid="7"/>
                                        </p:tgtEl>
                                        <p:attrNameLst>
                                          <p:attrName>ppt_y</p:attrName>
                                        </p:attrNameLst>
                                      </p:cBhvr>
                                      <p:tavLst>
                                        <p:tav tm="0">
                                          <p:val>
                                            <p:strVal val="#ppt_y"/>
                                          </p:val>
                                        </p:tav>
                                        <p:tav tm="100000">
                                          <p:val>
                                            <p:strVal val="#ppt_y"/>
                                          </p:val>
                                        </p:tav>
                                      </p:tavLst>
                                    </p:anim>
                                  </p:childTnLst>
                                </p:cTn>
                              </p:par>
                              <p:par>
                                <p:cTn id="12" presetID="10" presetClass="entr" presetSubtype="0" fill="hold" grpId="0" nodeType="withEffect">
                                  <p:stCondLst>
                                    <p:cond delay="760"/>
                                  </p:stCondLst>
                                  <p:childTnLst>
                                    <p:set>
                                      <p:cBhvr>
                                        <p:cTn id="13" dur="1" fill="hold">
                                          <p:stCondLst>
                                            <p:cond delay="0"/>
                                          </p:stCondLst>
                                        </p:cTn>
                                        <p:tgtEl>
                                          <p:spTgt spid="8"/>
                                        </p:tgtEl>
                                        <p:attrNameLst>
                                          <p:attrName>style.visibility</p:attrName>
                                        </p:attrNameLst>
                                      </p:cBhvr>
                                      <p:to>
                                        <p:strVal val="visible"/>
                                      </p:to>
                                    </p:set>
                                    <p:animEffect transition="in" filter="fade">
                                      <p:cBhvr>
                                        <p:cTn id="11" dur="600"/>
                                        <p:tgtEl>
                                          <p:spTgt spid="8"/>
                                        </p:tgtEl>
                                      </p:cBhvr>
                                    </p:animEffect>
                                  </p:childTnLst>
                                </p:cTn>
                              </p:par>
                              <p:par>
                                <p:cTn id="17" presetID="53" presetClass="entr" presetSubtype="16" fill="hold" grpId="0" nodeType="withEffect">
                                  <p:stCondLst>
                                    <p:cond delay="76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4" dur="550" fill="hold"/>
                                        <p:tgtEl>
                                          <p:spTgt spid="9"/>
                                        </p:tgtEl>
                                        <p:attrNameLst>
                                          <p:attrName>ppt_w</p:attrName>
                                        </p:attrNameLst>
                                      </p:cBhvr>
                                      <p:tavLst>
                                        <p:tav tm="0">
                                          <p:val>
                                            <p:strVal val="0"/>
                                          </p:val>
                                        </p:tav>
                                        <p:tav tm="100000">
                                          <p:val>
                                            <p:strVal val="#ppt_w"/>
                                          </p:val>
                                        </p:tav>
                                      </p:tavLst>
                                    </p:anim>
                                    <p:anim calcmode="lin" valueType="num">
                                      <p:cBhvr additive="base">
                                        <p:cTn id="15" dur="550" fill="hold"/>
                                        <p:tgtEl>
                                          <p:spTgt spid="9"/>
                                        </p:tgtEl>
                                        <p:attrNameLst>
                                          <p:attrName>ppt_h</p:attrName>
                                        </p:attrNameLst>
                                      </p:cBhvr>
                                      <p:tavLst>
                                        <p:tav tm="0">
                                          <p:val>
                                            <p:strVal val="0"/>
                                          </p:val>
                                        </p:tav>
                                        <p:tav tm="100000">
                                          <p:val>
                                            <p:strVal val="#ppt_h"/>
                                          </p:val>
                                        </p:tav>
                                      </p:tavLst>
                                    </p:anim>
                                    <p:animEffect transition="in" filter="fade">
                                      <p:cBhvr>
                                        <p:cTn id="16" dur="550"/>
                                        <p:tgtEl>
                                          <p:spTgt spid="9"/>
                                        </p:tgtEl>
                                      </p:cBhvr>
                                    </p:animEffect>
                                  </p:childTnLst>
                                </p:cTn>
                              </p:par>
                              <p:par>
                                <p:cTn id="20" presetID="10" presetClass="entr" presetSubtype="0" fill="hold" grpId="0" nodeType="withEffect">
                                  <p:stCondLst>
                                    <p:cond delay="760"/>
                                  </p:stCondLst>
                                  <p:childTnLst>
                                    <p:set>
                                      <p:cBhvr>
                                        <p:cTn id="21" dur="1" fill="hold">
                                          <p:stCondLst>
                                            <p:cond delay="0"/>
                                          </p:stCondLst>
                                        </p:cTn>
                                        <p:tgtEl>
                                          <p:spTgt spid="10"/>
                                        </p:tgtEl>
                                        <p:attrNameLst>
                                          <p:attrName>style.visibility</p:attrName>
                                        </p:attrNameLst>
                                      </p:cBhvr>
                                      <p:to>
                                        <p:strVal val="visible"/>
                                      </p:to>
                                    </p:set>
                                    <p:animEffect transition="in" filter="fade">
                                      <p:cBhvr>
                                        <p:cTn id="19" dur="600"/>
                                        <p:tgtEl>
                                          <p:spTgt spid="10"/>
                                        </p:tgtEl>
                                      </p:cBhvr>
                                    </p:animEffect>
                                  </p:childTnLst>
                                </p:cTn>
                              </p:par>
                              <p:par>
                                <p:cTn id="25" presetID="53" presetClass="entr" presetSubtype="16" fill="hold" grpId="0" nodeType="withEffect">
                                  <p:stCondLst>
                                    <p:cond delay="114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2" dur="550" fill="hold"/>
                                        <p:tgtEl>
                                          <p:spTgt spid="11"/>
                                        </p:tgtEl>
                                        <p:attrNameLst>
                                          <p:attrName>ppt_w</p:attrName>
                                        </p:attrNameLst>
                                      </p:cBhvr>
                                      <p:tavLst>
                                        <p:tav tm="0">
                                          <p:val>
                                            <p:strVal val="0"/>
                                          </p:val>
                                        </p:tav>
                                        <p:tav tm="100000">
                                          <p:val>
                                            <p:strVal val="#ppt_w"/>
                                          </p:val>
                                        </p:tav>
                                      </p:tavLst>
                                    </p:anim>
                                    <p:anim calcmode="lin" valueType="num">
                                      <p:cBhvr additive="base">
                                        <p:cTn id="23" dur="550" fill="hold"/>
                                        <p:tgtEl>
                                          <p:spTgt spid="11"/>
                                        </p:tgtEl>
                                        <p:attrNameLst>
                                          <p:attrName>ppt_h</p:attrName>
                                        </p:attrNameLst>
                                      </p:cBhvr>
                                      <p:tavLst>
                                        <p:tav tm="0">
                                          <p:val>
                                            <p:strVal val="0"/>
                                          </p:val>
                                        </p:tav>
                                        <p:tav tm="100000">
                                          <p:val>
                                            <p:strVal val="#ppt_h"/>
                                          </p:val>
                                        </p:tav>
                                      </p:tavLst>
                                    </p:anim>
                                    <p:animEffect transition="in" filter="fade">
                                      <p:cBhvr>
                                        <p:cTn id="24" dur="550"/>
                                        <p:tgtEl>
                                          <p:spTgt spid="11"/>
                                        </p:tgtEl>
                                      </p:cBhvr>
                                    </p:animEffect>
                                  </p:childTnLst>
                                </p:cTn>
                              </p:par>
                              <p:par>
                                <p:cTn id="28" presetID="10" presetClass="entr" presetSubtype="0" fill="hold" grpId="0" nodeType="withEffect">
                                  <p:stCondLst>
                                    <p:cond delay="1140"/>
                                  </p:stCondLst>
                                  <p:childTnLst>
                                    <p:set>
                                      <p:cBhvr>
                                        <p:cTn id="29" dur="1" fill="hold">
                                          <p:stCondLst>
                                            <p:cond delay="0"/>
                                          </p:stCondLst>
                                        </p:cTn>
                                        <p:tgtEl>
                                          <p:spTgt spid="12"/>
                                        </p:tgtEl>
                                        <p:attrNameLst>
                                          <p:attrName>style.visibility</p:attrName>
                                        </p:attrNameLst>
                                      </p:cBhvr>
                                      <p:to>
                                        <p:strVal val="visible"/>
                                      </p:to>
                                    </p:set>
                                    <p:animEffect transition="in" filter="fade">
                                      <p:cBhvr>
                                        <p:cTn id="27" dur="600"/>
                                        <p:tgtEl>
                                          <p:spTgt spid="12"/>
                                        </p:tgtEl>
                                      </p:cBhvr>
                                    </p:animEffect>
                                  </p:childTnLst>
                                </p:cTn>
                              </p:par>
                              <p:par>
                                <p:cTn id="33" presetID="42" presetClass="entr" presetSubtype="0" fill="hold" grpId="0" nodeType="withEffect">
                                  <p:stCondLst>
                                    <p:cond delay="1520"/>
                                  </p:stCondLst>
                                  <p:childTnLst>
                                    <p:set>
                                      <p:cBhvr>
                                        <p:cTn id="34" dur="1" fill="hold">
                                          <p:stCondLst>
                                            <p:cond delay="0"/>
                                          </p:stCondLst>
                                        </p:cTn>
                                        <p:tgtEl>
                                          <p:spTgt spid="13"/>
                                        </p:tgtEl>
                                        <p:attrNameLst>
                                          <p:attrName>style.visibility</p:attrName>
                                        </p:attrNameLst>
                                      </p:cBhvr>
                                      <p:to>
                                        <p:strVal val="visible"/>
                                      </p:to>
                                    </p:set>
                                    <p:animEffect transition="in" filter="fade">
                                      <p:cBhvr>
                                        <p:cTn id="30" dur="650"/>
                                        <p:tgtEl>
                                          <p:spTgt spid="13"/>
                                        </p:tgtEl>
                                      </p:cBhvr>
                                    </p:animEffect>
                                    <p:anim calcmode="lin" valueType="num">
                                      <p:cBhvr additive="base">
                                        <p:cTn id="31" dur="650" fill="hold"/>
                                        <p:tgtEl>
                                          <p:spTgt spid="13"/>
                                        </p:tgtEl>
                                        <p:attrNameLst>
                                          <p:attrName>ppt_x</p:attrName>
                                        </p:attrNameLst>
                                      </p:cBhvr>
                                      <p:tavLst>
                                        <p:tav tm="0">
                                          <p:val>
                                            <p:strVal val="#ppt_x-.06"/>
                                          </p:val>
                                        </p:tav>
                                        <p:tav tm="100000">
                                          <p:val>
                                            <p:strVal val="#ppt_x"/>
                                          </p:val>
                                        </p:tav>
                                      </p:tavLst>
                                    </p:anim>
                                    <p:anim calcmode="lin" valueType="num">
                                      <p:cBhvr additive="base">
                                        <p:cTn id="32" dur="650" fill="hold"/>
                                        <p:tgtEl>
                                          <p:spTgt spid="13"/>
                                        </p:tgtEl>
                                        <p:attrNameLst>
                                          <p:attrName>ppt_y</p:attrName>
                                        </p:attrNameLst>
                                      </p:cBhvr>
                                      <p:tavLst>
                                        <p:tav tm="0">
                                          <p:val>
                                            <p:strVal val="#ppt_y"/>
                                          </p:val>
                                        </p:tav>
                                        <p:tav tm="100000">
                                          <p:val>
                                            <p:strVal val="#ppt_y"/>
                                          </p:val>
                                        </p:tav>
                                      </p:tavLst>
                                    </p:anim>
                                  </p:childTnLst>
                                </p:cTn>
                              </p:par>
                              <p:par>
                                <p:cTn id="36" presetID="10" presetClass="entr" presetSubtype="0" fill="hold" grpId="0" nodeType="withEffect">
                                  <p:stCondLst>
                                    <p:cond delay="1520"/>
                                  </p:stCondLst>
                                  <p:childTnLst>
                                    <p:set>
                                      <p:cBhvr>
                                        <p:cTn id="37" dur="1" fill="hold">
                                          <p:stCondLst>
                                            <p:cond delay="0"/>
                                          </p:stCondLst>
                                        </p:cTn>
                                        <p:tgtEl>
                                          <p:spTgt spid="14"/>
                                        </p:tgtEl>
                                        <p:attrNameLst>
                                          <p:attrName>style.visibility</p:attrName>
                                        </p:attrNameLst>
                                      </p:cBhvr>
                                      <p:to>
                                        <p:strVal val="visible"/>
                                      </p:to>
                                    </p:set>
                                    <p:animEffect transition="in" filter="fade">
                                      <p:cBhvr>
                                        <p:cTn id="35" dur="600"/>
                                        <p:tgtEl>
                                          <p:spTgt spid="14"/>
                                        </p:tgtEl>
                                      </p:cBhvr>
                                    </p:animEffect>
                                  </p:childTnLst>
                                </p:cTn>
                              </p:par>
                              <p:par>
                                <p:cTn id="41" presetID="53" presetClass="entr" presetSubtype="16" fill="hold" grpId="0" nodeType="withEffect">
                                  <p:stCondLst>
                                    <p:cond delay="152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38" dur="550" fill="hold"/>
                                        <p:tgtEl>
                                          <p:spTgt spid="15"/>
                                        </p:tgtEl>
                                        <p:attrNameLst>
                                          <p:attrName>ppt_w</p:attrName>
                                        </p:attrNameLst>
                                      </p:cBhvr>
                                      <p:tavLst>
                                        <p:tav tm="0">
                                          <p:val>
                                            <p:strVal val="0"/>
                                          </p:val>
                                        </p:tav>
                                        <p:tav tm="100000">
                                          <p:val>
                                            <p:strVal val="#ppt_w"/>
                                          </p:val>
                                        </p:tav>
                                      </p:tavLst>
                                    </p:anim>
                                    <p:anim calcmode="lin" valueType="num">
                                      <p:cBhvr additive="base">
                                        <p:cTn id="39" dur="550" fill="hold"/>
                                        <p:tgtEl>
                                          <p:spTgt spid="15"/>
                                        </p:tgtEl>
                                        <p:attrNameLst>
                                          <p:attrName>ppt_h</p:attrName>
                                        </p:attrNameLst>
                                      </p:cBhvr>
                                      <p:tavLst>
                                        <p:tav tm="0">
                                          <p:val>
                                            <p:strVal val="0"/>
                                          </p:val>
                                        </p:tav>
                                        <p:tav tm="100000">
                                          <p:val>
                                            <p:strVal val="#ppt_h"/>
                                          </p:val>
                                        </p:tav>
                                      </p:tavLst>
                                    </p:anim>
                                    <p:animEffect transition="in" filter="fade">
                                      <p:cBhvr>
                                        <p:cTn id="40" dur="550"/>
                                        <p:tgtEl>
                                          <p:spTgt spid="15"/>
                                        </p:tgtEl>
                                      </p:cBhvr>
                                    </p:animEffect>
                                  </p:childTnLst>
                                </p:cTn>
                              </p:par>
                              <p:par>
                                <p:cTn id="44" presetID="10" presetClass="entr" presetSubtype="0" fill="hold" grpId="0" nodeType="withEffect">
                                  <p:stCondLst>
                                    <p:cond delay="1520"/>
                                  </p:stCondLst>
                                  <p:childTnLst>
                                    <p:set>
                                      <p:cBhvr>
                                        <p:cTn id="45" dur="1" fill="hold">
                                          <p:stCondLst>
                                            <p:cond delay="0"/>
                                          </p:stCondLst>
                                        </p:cTn>
                                        <p:tgtEl>
                                          <p:spTgt spid="16"/>
                                        </p:tgtEl>
                                        <p:attrNameLst>
                                          <p:attrName>style.visibility</p:attrName>
                                        </p:attrNameLst>
                                      </p:cBhvr>
                                      <p:to>
                                        <p:strVal val="visible"/>
                                      </p:to>
                                    </p:set>
                                    <p:animEffect transition="in" filter="fade">
                                      <p:cBhvr>
                                        <p:cTn id="43" dur="600"/>
                                        <p:tgtEl>
                                          <p:spTgt spid="16"/>
                                        </p:tgtEl>
                                      </p:cBhvr>
                                    </p:animEffect>
                                  </p:childTnLst>
                                </p:cTn>
                              </p:par>
                              <p:par>
                                <p:cTn id="49" presetID="53" presetClass="entr" presetSubtype="16" fill="hold" grpId="0" nodeType="withEffect">
                                  <p:stCondLst>
                                    <p:cond delay="190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46" dur="550" fill="hold"/>
                                        <p:tgtEl>
                                          <p:spTgt spid="17"/>
                                        </p:tgtEl>
                                        <p:attrNameLst>
                                          <p:attrName>ppt_w</p:attrName>
                                        </p:attrNameLst>
                                      </p:cBhvr>
                                      <p:tavLst>
                                        <p:tav tm="0">
                                          <p:val>
                                            <p:strVal val="0"/>
                                          </p:val>
                                        </p:tav>
                                        <p:tav tm="100000">
                                          <p:val>
                                            <p:strVal val="#ppt_w"/>
                                          </p:val>
                                        </p:tav>
                                      </p:tavLst>
                                    </p:anim>
                                    <p:anim calcmode="lin" valueType="num">
                                      <p:cBhvr additive="base">
                                        <p:cTn id="47" dur="550" fill="hold"/>
                                        <p:tgtEl>
                                          <p:spTgt spid="17"/>
                                        </p:tgtEl>
                                        <p:attrNameLst>
                                          <p:attrName>ppt_h</p:attrName>
                                        </p:attrNameLst>
                                      </p:cBhvr>
                                      <p:tavLst>
                                        <p:tav tm="0">
                                          <p:val>
                                            <p:strVal val="0"/>
                                          </p:val>
                                        </p:tav>
                                        <p:tav tm="100000">
                                          <p:val>
                                            <p:strVal val="#ppt_h"/>
                                          </p:val>
                                        </p:tav>
                                      </p:tavLst>
                                    </p:anim>
                                    <p:animEffect transition="in" filter="fade">
                                      <p:cBhvr>
                                        <p:cTn id="48" dur="550"/>
                                        <p:tgtEl>
                                          <p:spTgt spid="17"/>
                                        </p:tgtEl>
                                      </p:cBhvr>
                                    </p:animEffect>
                                  </p:childTnLst>
                                </p:cTn>
                              </p:par>
                              <p:par>
                                <p:cTn id="52" presetID="10" presetClass="entr" presetSubtype="0" fill="hold" grpId="0" nodeType="withEffect">
                                  <p:stCondLst>
                                    <p:cond delay="1900"/>
                                  </p:stCondLst>
                                  <p:childTnLst>
                                    <p:set>
                                      <p:cBhvr>
                                        <p:cTn id="53" dur="1" fill="hold">
                                          <p:stCondLst>
                                            <p:cond delay="0"/>
                                          </p:stCondLst>
                                        </p:cTn>
                                        <p:tgtEl>
                                          <p:spTgt spid="18"/>
                                        </p:tgtEl>
                                        <p:attrNameLst>
                                          <p:attrName>style.visibility</p:attrName>
                                        </p:attrNameLst>
                                      </p:cBhvr>
                                      <p:to>
                                        <p:strVal val="visible"/>
                                      </p:to>
                                    </p:set>
                                    <p:animEffect transition="in" filter="fade">
                                      <p:cBhvr>
                                        <p:cTn id="51" dur="6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8" grpId="0" animBg="1"/>
      <p:bldP spid="9" grpId="0" animBg="1"/>
      <p:bldP spid="10" grpId="0" animBg="1"/>
      <p:bldP spid="11" grpId="0" animBg="1"/>
      <p:bldP spid="12" grpId="0" animBg="1"/>
      <p:bldP spid="14" grpId="0" animBg="1"/>
      <p:bldP spid="15" grpId="0" animBg="1"/>
      <p:bldP spid="16" grpId="0" animBg="1"/>
      <p:bldP spid="17" grpId="0" animBg="1"/>
      <p:bldP spid="1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7406640" y="-1005840"/>
            <a:ext cx="2560320" cy="2560320"/>
          </a:xfrm>
          <a:prstGeom prst="rect">
            <a:avLst/>
          </a:prstGeom>
        </p:spPr>
      </p:pic>
      <p:sp>
        <p:nvSpPr>
          <p:cNvPr id="3" name="Text 0"/>
          <p:cNvSpPr txBox="1"/>
          <p:nvPr/>
        </p:nvSpPr>
        <p:spPr>
          <a:xfrm>
            <a:off x="457200" y="274320"/>
            <a:ext cx="6858000" cy="228600"/>
          </a:xfrm>
          <a:prstGeom prst="rect">
            <a:avLst/>
          </a:prstGeom>
          <a:noFill/>
          <a:ln/>
        </p:spPr>
        <p:txBody>
          <a:bodyPr wrap="square" lIns="0" tIns="0" rIns="0" bIns="0" rtlCol="0" anchor="t"/>
          <a:lstStyle/>
          <a:p>
            <a:pPr indent="0" marL="0">
              <a:buNone/>
            </a:pPr>
            <a:r>
              <a:rPr lang="en-US" sz="1050" b="1" spc="200" kern="0" dirty="0">
                <a:solidFill>
                  <a:srgbClr val="1E9E6A"/>
                </a:solidFill>
                <a:latin typeface="Calibri" pitchFamily="34" charset="0"/>
                <a:ea typeface="Calibri" pitchFamily="34" charset="-122"/>
                <a:cs typeface="Calibri" pitchFamily="34" charset="-120"/>
              </a:rPr>
              <a:t>II · 2.1 — AVANTAGES</a:t>
            </a:r>
            <a:endParaRPr lang="en-US" sz="1050" dirty="0"/>
          </a:p>
        </p:txBody>
      </p:sp>
      <p:sp>
        <p:nvSpPr>
          <p:cNvPr id="4" name="Text 1"/>
          <p:cNvSpPr txBox="1"/>
          <p:nvPr/>
        </p:nvSpPr>
        <p:spPr>
          <a:xfrm>
            <a:off x="457200" y="502920"/>
            <a:ext cx="7863840" cy="548640"/>
          </a:xfrm>
          <a:prstGeom prst="rect">
            <a:avLst/>
          </a:prstGeom>
          <a:noFill/>
          <a:ln/>
        </p:spPr>
        <p:txBody>
          <a:bodyPr wrap="square" lIns="0" tIns="0" rIns="0" bIns="0" rtlCol="0" anchor="ctr"/>
          <a:lstStyle/>
          <a:p>
            <a:pPr indent="0" marL="0">
              <a:buNone/>
            </a:pPr>
            <a:r>
              <a:rPr lang="en-US" sz="2600" b="1" dirty="0">
                <a:solidFill>
                  <a:srgbClr val="0B1F4B"/>
                </a:solidFill>
                <a:latin typeface="Cambria" pitchFamily="34" charset="0"/>
                <a:ea typeface="Cambria" pitchFamily="34" charset="-122"/>
                <a:cs typeface="Cambria" pitchFamily="34" charset="-120"/>
              </a:rPr>
              <a:t>Productivité en hausse, prix en baisse</a:t>
            </a:r>
            <a:endParaRPr lang="en-US" sz="2600" dirty="0"/>
          </a:p>
        </p:txBody>
      </p:sp>
      <p:sp>
        <p:nvSpPr>
          <p:cNvPr id="5" name="Text 2"/>
          <p:cNvSpPr txBox="1"/>
          <p:nvPr/>
        </p:nvSpPr>
        <p:spPr>
          <a:xfrm>
            <a:off x="8321040" y="4773168"/>
            <a:ext cx="365760" cy="228600"/>
          </a:xfrm>
          <a:prstGeom prst="rect">
            <a:avLst/>
          </a:prstGeom>
          <a:noFill/>
          <a:ln/>
        </p:spPr>
        <p:txBody>
          <a:bodyPr wrap="square" lIns="0" tIns="0" rIns="0" bIns="0" rtlCol="0" anchor="t"/>
          <a:lstStyle/>
          <a:p>
            <a:pPr algn="r" indent="0" marL="0">
              <a:buNone/>
            </a:pPr>
            <a:r>
              <a:rPr lang="en-US" sz="1000" dirty="0">
                <a:solidFill>
                  <a:srgbClr val="5B6478"/>
                </a:solidFill>
                <a:latin typeface="Calibri" pitchFamily="34" charset="0"/>
                <a:ea typeface="Calibri" pitchFamily="34" charset="-122"/>
                <a:cs typeface="Calibri" pitchFamily="34" charset="-120"/>
              </a:rPr>
              <a:t>14</a:t>
            </a:r>
            <a:endParaRPr lang="en-US" sz="1000" dirty="0"/>
          </a:p>
        </p:txBody>
      </p:sp>
      <p:sp>
        <p:nvSpPr>
          <p:cNvPr id="6" name="A1-fadeup-205"/>
          <p:cNvSpPr/>
          <p:nvPr/>
        </p:nvSpPr>
        <p:spPr>
          <a:xfrm>
            <a:off x="457200" y="1280160"/>
            <a:ext cx="3931920" cy="3383280"/>
          </a:xfrm>
          <a:prstGeom prst="roundRect">
            <a:avLst>
              <a:gd name="adj" fmla="val 3243"/>
            </a:avLst>
          </a:prstGeom>
          <a:solidFill>
            <a:srgbClr val="FFFFFF"/>
          </a:solidFill>
          <a:ln w="12700">
            <a:solidFill>
              <a:srgbClr val="FFFFFF"/>
            </a:solidFill>
            <a:prstDash val="solid"/>
          </a:ln>
          <a:effectLst>
            <a:outerShdw sx="100000" sy="100000" kx="0" ky="0" algn="bl" rotWithShape="0" blurRad="101600" dist="25400" dir="5400000">
              <a:srgbClr val="0B1F4B">
                <a:alpha val="12000"/>
              </a:srgbClr>
            </a:outerShdw>
          </a:effectLst>
        </p:spPr>
      </p:sp>
      <p:sp>
        <p:nvSpPr>
          <p:cNvPr id="7" name="A1-zoom-206"/>
          <p:cNvSpPr/>
          <p:nvPr/>
        </p:nvSpPr>
        <p:spPr>
          <a:xfrm>
            <a:off x="685800" y="1508760"/>
            <a:ext cx="640080" cy="640080"/>
          </a:xfrm>
          <a:prstGeom prst="ellipse">
            <a:avLst/>
          </a:prstGeom>
          <a:solidFill>
            <a:srgbClr val="1E9E6A"/>
          </a:solidFill>
          <a:ln w="12700">
            <a:solidFill>
              <a:srgbClr val="1E9E6A"/>
            </a:solidFill>
            <a:prstDash val="solid"/>
          </a:ln>
        </p:spPr>
      </p:sp>
      <p:pic>
        <p:nvPicPr>
          <p:cNvPr id="8" name="A1-zoom-207" descr="preencoded.png">    </p:cNvPr>
          <p:cNvPicPr>
            <a:picLocks noChangeAspect="1"/>
          </p:cNvPicPr>
          <p:nvPr/>
        </p:nvPicPr>
        <p:blipFill>
          <a:blip r:embed="rId3"/>
          <a:stretch>
            <a:fillRect/>
          </a:stretch>
        </p:blipFill>
        <p:spPr>
          <a:xfrm>
            <a:off x="858622" y="1681582"/>
            <a:ext cx="294437" cy="294437"/>
          </a:xfrm>
          <a:prstGeom prst="rect">
            <a:avLst/>
          </a:prstGeom>
        </p:spPr>
      </p:pic>
      <p:sp>
        <p:nvSpPr>
          <p:cNvPr id="9" name="A1-fadeup-208"/>
          <p:cNvSpPr txBox="1"/>
          <p:nvPr/>
        </p:nvSpPr>
        <p:spPr>
          <a:xfrm>
            <a:off x="1463040" y="1645920"/>
            <a:ext cx="2743200" cy="365760"/>
          </a:xfrm>
          <a:prstGeom prst="rect">
            <a:avLst/>
          </a:prstGeom>
          <a:noFill/>
          <a:ln/>
        </p:spPr>
        <p:txBody>
          <a:bodyPr wrap="square" lIns="0" tIns="0" rIns="0" bIns="0" rtlCol="0" anchor="t"/>
          <a:lstStyle/>
          <a:p>
            <a:pPr indent="0" marL="0">
              <a:buNone/>
            </a:pPr>
            <a:r>
              <a:rPr lang="en-US" sz="1800" b="1" dirty="0">
                <a:solidFill>
                  <a:srgbClr val="0B1F4B"/>
                </a:solidFill>
                <a:latin typeface="Cambria" pitchFamily="34" charset="0"/>
                <a:ea typeface="Cambria" pitchFamily="34" charset="-122"/>
                <a:cs typeface="Cambria" pitchFamily="34" charset="-120"/>
              </a:rPr>
              <a:t>Productivité</a:t>
            </a:r>
            <a:endParaRPr lang="en-US" sz="1800" dirty="0"/>
          </a:p>
        </p:txBody>
      </p:sp>
      <p:sp>
        <p:nvSpPr>
          <p:cNvPr id="10" name="A2-zoom-209"/>
          <p:cNvSpPr txBox="1"/>
          <p:nvPr/>
        </p:nvSpPr>
        <p:spPr>
          <a:xfrm>
            <a:off x="685800" y="2331720"/>
            <a:ext cx="3566160" cy="731520"/>
          </a:xfrm>
          <a:prstGeom prst="rect">
            <a:avLst/>
          </a:prstGeom>
          <a:noFill/>
          <a:ln/>
        </p:spPr>
        <p:txBody>
          <a:bodyPr wrap="square" lIns="0" tIns="0" rIns="0" bIns="0" rtlCol="0" anchor="t"/>
          <a:lstStyle/>
          <a:p>
            <a:pPr indent="0" marL="0">
              <a:buNone/>
            </a:pPr>
            <a:r>
              <a:rPr lang="en-US" sz="4800" b="1" dirty="0">
                <a:solidFill>
                  <a:srgbClr val="1E9E6A"/>
                </a:solidFill>
                <a:latin typeface="Cambria" pitchFamily="34" charset="0"/>
                <a:ea typeface="Cambria" pitchFamily="34" charset="-122"/>
                <a:cs typeface="Cambria" pitchFamily="34" charset="-120"/>
              </a:rPr>
              <a:t>≈ 50 %</a:t>
            </a:r>
            <a:endParaRPr lang="en-US" sz="4800" dirty="0"/>
          </a:p>
        </p:txBody>
      </p:sp>
      <p:sp>
        <p:nvSpPr>
          <p:cNvPr id="11" name="A2-fade-210"/>
          <p:cNvSpPr txBox="1"/>
          <p:nvPr/>
        </p:nvSpPr>
        <p:spPr>
          <a:xfrm>
            <a:off x="685800" y="3108960"/>
            <a:ext cx="3520440" cy="1371600"/>
          </a:xfrm>
          <a:prstGeom prst="rect">
            <a:avLst/>
          </a:prstGeom>
          <a:noFill/>
          <a:ln/>
        </p:spPr>
        <p:txBody>
          <a:bodyPr wrap="square" lIns="0" tIns="0" rIns="0" bIns="0" rtlCol="0" anchor="t"/>
          <a:lstStyle/>
          <a:p>
            <a:pPr indent="0" marL="0">
              <a:buNone/>
            </a:pPr>
            <a:r>
              <a:rPr lang="en-US" sz="1200" dirty="0">
                <a:solidFill>
                  <a:srgbClr val="5B6478"/>
                </a:solidFill>
                <a:latin typeface="Calibri" pitchFamily="34" charset="0"/>
                <a:ea typeface="Calibri" pitchFamily="34" charset="-122"/>
                <a:cs typeface="Calibri" pitchFamily="34" charset="-120"/>
              </a:rPr>
              <a:t>de la croissance de la productivité du travail en Europe (2009-2016) vient d'une meilleure allocation des ressources entre entreprises, soit 3,6 points (Bighelli et al., 2023).</a:t>
            </a:r>
            <a:endParaRPr lang="en-US" sz="1200" dirty="0"/>
          </a:p>
        </p:txBody>
      </p:sp>
      <p:sp>
        <p:nvSpPr>
          <p:cNvPr id="12" name="A3-fadeup-211"/>
          <p:cNvSpPr txBox="1"/>
          <p:nvPr/>
        </p:nvSpPr>
        <p:spPr>
          <a:xfrm>
            <a:off x="4754880" y="1325880"/>
            <a:ext cx="3931920" cy="365760"/>
          </a:xfrm>
          <a:prstGeom prst="rect">
            <a:avLst/>
          </a:prstGeom>
          <a:noFill/>
          <a:ln/>
        </p:spPr>
        <p:txBody>
          <a:bodyPr wrap="square" lIns="0" tIns="0" rIns="0" bIns="0" rtlCol="0" anchor="t"/>
          <a:lstStyle/>
          <a:p>
            <a:pPr indent="0" marL="0">
              <a:buNone/>
            </a:pPr>
            <a:r>
              <a:rPr lang="en-US" sz="1800" b="1" dirty="0">
                <a:solidFill>
                  <a:srgbClr val="0B1F4B"/>
                </a:solidFill>
                <a:latin typeface="Cambria" pitchFamily="34" charset="0"/>
                <a:ea typeface="Cambria" pitchFamily="34" charset="-122"/>
                <a:cs typeface="Cambria" pitchFamily="34" charset="-120"/>
              </a:rPr>
              <a:t>Les consommateurs y gagnent</a:t>
            </a:r>
            <a:endParaRPr lang="en-US" sz="1800" dirty="0"/>
          </a:p>
        </p:txBody>
      </p:sp>
      <p:sp>
        <p:nvSpPr>
          <p:cNvPr id="13" name="A4-zoom-212"/>
          <p:cNvSpPr/>
          <p:nvPr/>
        </p:nvSpPr>
        <p:spPr>
          <a:xfrm>
            <a:off x="4754880" y="1874520"/>
            <a:ext cx="566928" cy="566928"/>
          </a:xfrm>
          <a:prstGeom prst="ellipse">
            <a:avLst/>
          </a:prstGeom>
          <a:solidFill>
            <a:srgbClr val="E3F5EC"/>
          </a:solidFill>
          <a:ln w="12700">
            <a:solidFill>
              <a:srgbClr val="E3F5EC"/>
            </a:solidFill>
            <a:prstDash val="solid"/>
          </a:ln>
        </p:spPr>
      </p:sp>
      <p:pic>
        <p:nvPicPr>
          <p:cNvPr id="14" name="A4-zoom-213" descr="preencoded.png">    </p:cNvPr>
          <p:cNvPicPr>
            <a:picLocks noChangeAspect="1"/>
          </p:cNvPicPr>
          <p:nvPr/>
        </p:nvPicPr>
        <p:blipFill>
          <a:blip r:embed="rId4"/>
          <a:stretch>
            <a:fillRect/>
          </a:stretch>
        </p:blipFill>
        <p:spPr>
          <a:xfrm>
            <a:off x="4907951" y="2027591"/>
            <a:ext cx="260787" cy="260787"/>
          </a:xfrm>
          <a:prstGeom prst="rect">
            <a:avLst/>
          </a:prstGeom>
        </p:spPr>
      </p:pic>
      <p:sp>
        <p:nvSpPr>
          <p:cNvPr id="15" name="A4-fadeleft-214"/>
          <p:cNvSpPr txBox="1"/>
          <p:nvPr/>
        </p:nvSpPr>
        <p:spPr>
          <a:xfrm>
            <a:off x="5486400" y="1856232"/>
            <a:ext cx="3200400" cy="292608"/>
          </a:xfrm>
          <a:prstGeom prst="rect">
            <a:avLst/>
          </a:prstGeom>
          <a:noFill/>
          <a:ln/>
        </p:spPr>
        <p:txBody>
          <a:bodyPr wrap="square" lIns="0" tIns="0" rIns="0" bIns="0" rtlCol="0" anchor="t"/>
          <a:lstStyle/>
          <a:p>
            <a:pPr indent="0" marL="0">
              <a:buNone/>
            </a:pPr>
            <a:r>
              <a:rPr lang="en-US" sz="1350" b="1" dirty="0">
                <a:solidFill>
                  <a:srgbClr val="0B1F4B"/>
                </a:solidFill>
                <a:latin typeface="Calibri" pitchFamily="34" charset="0"/>
                <a:ea typeface="Calibri" pitchFamily="34" charset="-122"/>
                <a:cs typeface="Calibri" pitchFamily="34" charset="-120"/>
              </a:rPr>
              <a:t>Marges stables en Europe</a:t>
            </a:r>
            <a:endParaRPr lang="en-US" sz="1350" dirty="0"/>
          </a:p>
        </p:txBody>
      </p:sp>
      <p:sp>
        <p:nvSpPr>
          <p:cNvPr id="16" name="A4-fadeleft-215"/>
          <p:cNvSpPr txBox="1"/>
          <p:nvPr/>
        </p:nvSpPr>
        <p:spPr>
          <a:xfrm>
            <a:off x="5486400" y="2148840"/>
            <a:ext cx="3200400" cy="320040"/>
          </a:xfrm>
          <a:prstGeom prst="rect">
            <a:avLst/>
          </a:prstGeom>
          <a:noFill/>
          <a:ln/>
        </p:spPr>
        <p:txBody>
          <a:bodyPr wrap="square" lIns="0" tIns="0" rIns="0" bIns="0" rtlCol="0" anchor="t"/>
          <a:lstStyle/>
          <a:p>
            <a:pPr indent="0" marL="0">
              <a:buNone/>
            </a:pPr>
            <a:r>
              <a:rPr lang="en-US" sz="1150" dirty="0">
                <a:solidFill>
                  <a:srgbClr val="5B6478"/>
                </a:solidFill>
                <a:latin typeface="Calibri" pitchFamily="34" charset="0"/>
                <a:ea typeface="Calibri" pitchFamily="34" charset="-122"/>
                <a:cs typeface="Calibri" pitchFamily="34" charset="-120"/>
              </a:rPr>
              <a:t>alors qu'elles ont fortement augmenté aux États-Unis</a:t>
            </a:r>
            <a:endParaRPr lang="en-US" sz="1150" dirty="0"/>
          </a:p>
        </p:txBody>
      </p:sp>
      <p:sp>
        <p:nvSpPr>
          <p:cNvPr id="17" name="A5-zoom-216"/>
          <p:cNvSpPr/>
          <p:nvPr/>
        </p:nvSpPr>
        <p:spPr>
          <a:xfrm>
            <a:off x="4754880" y="2788920"/>
            <a:ext cx="566928" cy="566928"/>
          </a:xfrm>
          <a:prstGeom prst="ellipse">
            <a:avLst/>
          </a:prstGeom>
          <a:solidFill>
            <a:srgbClr val="E3F5EC"/>
          </a:solidFill>
          <a:ln w="12700">
            <a:solidFill>
              <a:srgbClr val="E3F5EC"/>
            </a:solidFill>
            <a:prstDash val="solid"/>
          </a:ln>
        </p:spPr>
      </p:sp>
      <p:pic>
        <p:nvPicPr>
          <p:cNvPr id="18" name="A5-zoom-217" descr="preencoded.png">    </p:cNvPr>
          <p:cNvPicPr>
            <a:picLocks noChangeAspect="1"/>
          </p:cNvPicPr>
          <p:nvPr/>
        </p:nvPicPr>
        <p:blipFill>
          <a:blip r:embed="rId5"/>
          <a:stretch>
            <a:fillRect/>
          </a:stretch>
        </p:blipFill>
        <p:spPr>
          <a:xfrm>
            <a:off x="4907951" y="2941991"/>
            <a:ext cx="260787" cy="260787"/>
          </a:xfrm>
          <a:prstGeom prst="rect">
            <a:avLst/>
          </a:prstGeom>
        </p:spPr>
      </p:pic>
      <p:sp>
        <p:nvSpPr>
          <p:cNvPr id="19" name="A5-fadeleft-218"/>
          <p:cNvSpPr txBox="1"/>
          <p:nvPr/>
        </p:nvSpPr>
        <p:spPr>
          <a:xfrm>
            <a:off x="5486400" y="2770632"/>
            <a:ext cx="3200400" cy="292608"/>
          </a:xfrm>
          <a:prstGeom prst="rect">
            <a:avLst/>
          </a:prstGeom>
          <a:noFill/>
          <a:ln/>
        </p:spPr>
        <p:txBody>
          <a:bodyPr wrap="square" lIns="0" tIns="0" rIns="0" bIns="0" rtlCol="0" anchor="t"/>
          <a:lstStyle/>
          <a:p>
            <a:pPr indent="0" marL="0">
              <a:buNone/>
            </a:pPr>
            <a:r>
              <a:rPr lang="en-US" sz="1350" b="1" dirty="0">
                <a:solidFill>
                  <a:srgbClr val="0B1F4B"/>
                </a:solidFill>
                <a:latin typeface="Calibri" pitchFamily="34" charset="0"/>
                <a:ea typeface="Calibri" pitchFamily="34" charset="-122"/>
                <a:cs typeface="Calibri" pitchFamily="34" charset="-120"/>
              </a:rPr>
              <a:t>Transport aérien libéralisé (1993)</a:t>
            </a:r>
            <a:endParaRPr lang="en-US" sz="1350" dirty="0"/>
          </a:p>
        </p:txBody>
      </p:sp>
      <p:sp>
        <p:nvSpPr>
          <p:cNvPr id="20" name="A5-fadeleft-219"/>
          <p:cNvSpPr txBox="1"/>
          <p:nvPr/>
        </p:nvSpPr>
        <p:spPr>
          <a:xfrm>
            <a:off x="5486400" y="3063240"/>
            <a:ext cx="3200400" cy="320040"/>
          </a:xfrm>
          <a:prstGeom prst="rect">
            <a:avLst/>
          </a:prstGeom>
          <a:noFill/>
          <a:ln/>
        </p:spPr>
        <p:txBody>
          <a:bodyPr wrap="square" lIns="0" tIns="0" rIns="0" bIns="0" rtlCol="0" anchor="t"/>
          <a:lstStyle/>
          <a:p>
            <a:pPr indent="0" marL="0">
              <a:buNone/>
            </a:pPr>
            <a:r>
              <a:rPr lang="en-US" sz="1150" dirty="0">
                <a:solidFill>
                  <a:srgbClr val="5B6478"/>
                </a:solidFill>
                <a:latin typeface="Calibri" pitchFamily="34" charset="0"/>
                <a:ea typeface="Calibri" pitchFamily="34" charset="-122"/>
                <a:cs typeface="Calibri" pitchFamily="34" charset="-120"/>
              </a:rPr>
              <a:t>essor des compagnies à bas coûts</a:t>
            </a:r>
            <a:endParaRPr lang="en-US" sz="1150" dirty="0"/>
          </a:p>
        </p:txBody>
      </p:sp>
      <p:sp>
        <p:nvSpPr>
          <p:cNvPr id="21" name="A6-zoom-220"/>
          <p:cNvSpPr/>
          <p:nvPr/>
        </p:nvSpPr>
        <p:spPr>
          <a:xfrm>
            <a:off x="4754880" y="3703320"/>
            <a:ext cx="566928" cy="566928"/>
          </a:xfrm>
          <a:prstGeom prst="ellipse">
            <a:avLst/>
          </a:prstGeom>
          <a:solidFill>
            <a:srgbClr val="E3F5EC"/>
          </a:solidFill>
          <a:ln w="12700">
            <a:solidFill>
              <a:srgbClr val="E3F5EC"/>
            </a:solidFill>
            <a:prstDash val="solid"/>
          </a:ln>
        </p:spPr>
      </p:sp>
      <p:pic>
        <p:nvPicPr>
          <p:cNvPr id="22" name="A6-zoom-221" descr="preencoded.png">    </p:cNvPr>
          <p:cNvPicPr>
            <a:picLocks noChangeAspect="1"/>
          </p:cNvPicPr>
          <p:nvPr/>
        </p:nvPicPr>
        <p:blipFill>
          <a:blip r:embed="rId6"/>
          <a:stretch>
            <a:fillRect/>
          </a:stretch>
        </p:blipFill>
        <p:spPr>
          <a:xfrm>
            <a:off x="4907951" y="3856391"/>
            <a:ext cx="260787" cy="260787"/>
          </a:xfrm>
          <a:prstGeom prst="rect">
            <a:avLst/>
          </a:prstGeom>
        </p:spPr>
      </p:pic>
      <p:sp>
        <p:nvSpPr>
          <p:cNvPr id="23" name="A6-fadeleft-222"/>
          <p:cNvSpPr txBox="1"/>
          <p:nvPr/>
        </p:nvSpPr>
        <p:spPr>
          <a:xfrm>
            <a:off x="5486400" y="3685032"/>
            <a:ext cx="3200400" cy="292608"/>
          </a:xfrm>
          <a:prstGeom prst="rect">
            <a:avLst/>
          </a:prstGeom>
          <a:noFill/>
          <a:ln/>
        </p:spPr>
        <p:txBody>
          <a:bodyPr wrap="square" lIns="0" tIns="0" rIns="0" bIns="0" rtlCol="0" anchor="t"/>
          <a:lstStyle/>
          <a:p>
            <a:pPr indent="0" marL="0">
              <a:buNone/>
            </a:pPr>
            <a:r>
              <a:rPr lang="en-US" sz="1350" b="1" dirty="0">
                <a:solidFill>
                  <a:srgbClr val="0B1F4B"/>
                </a:solidFill>
                <a:latin typeface="Calibri" pitchFamily="34" charset="0"/>
                <a:ea typeface="Calibri" pitchFamily="34" charset="-122"/>
                <a:cs typeface="Calibri" pitchFamily="34" charset="-120"/>
              </a:rPr>
              <a:t>Fin des frais d'itinérance (juin 2017)</a:t>
            </a:r>
            <a:endParaRPr lang="en-US" sz="1350" dirty="0"/>
          </a:p>
        </p:txBody>
      </p:sp>
      <p:sp>
        <p:nvSpPr>
          <p:cNvPr id="24" name="A6-fadeleft-223"/>
          <p:cNvSpPr txBox="1"/>
          <p:nvPr/>
        </p:nvSpPr>
        <p:spPr>
          <a:xfrm>
            <a:off x="5486400" y="3977640"/>
            <a:ext cx="3200400" cy="320040"/>
          </a:xfrm>
          <a:prstGeom prst="rect">
            <a:avLst/>
          </a:prstGeom>
          <a:noFill/>
          <a:ln/>
        </p:spPr>
        <p:txBody>
          <a:bodyPr wrap="square" lIns="0" tIns="0" rIns="0" bIns="0" rtlCol="0" anchor="t"/>
          <a:lstStyle/>
          <a:p>
            <a:pPr indent="0" marL="0">
              <a:buNone/>
            </a:pPr>
            <a:r>
              <a:rPr lang="en-US" sz="1150" dirty="0">
                <a:solidFill>
                  <a:srgbClr val="5B6478"/>
                </a:solidFill>
                <a:latin typeface="Calibri" pitchFamily="34" charset="0"/>
                <a:ea typeface="Calibri" pitchFamily="34" charset="-122"/>
                <a:cs typeface="Calibri" pitchFamily="34" charset="-120"/>
              </a:rPr>
              <a:t>téléphoner partout dans l'UE au prix national</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96" fill="hold">
                      <p:stCondLst>
                        <p:cond delay="indefinite"/>
                        <p:cond evt="onBegin" delay="0">
                          <p:tn val="2"/>
                        </p:cond>
                      </p:stCondLst>
                      <p:childTnLst>
                        <p:par>
                          <p:cTn id="97" fill="hold">
                            <p:stCondLst>
                              <p:cond delay="0"/>
                            </p:stCondLst>
                            <p:childTnLst>
                              <p:par>
                                <p:cTn id="6" presetID="42" presetClass="entr" presetSubtype="0" fill="hold" grpId="0" nodeType="withEffect">
                                  <p:stCondLst>
                                    <p:cond delay="380"/>
                                  </p:stCondLst>
                                  <p:childTnLst>
                                    <p:set>
                                      <p:cBhvr>
                                        <p:cTn id="7" dur="1" fill="hold">
                                          <p:stCondLst>
                                            <p:cond delay="0"/>
                                          </p:stCondLst>
                                        </p:cTn>
                                        <p:tgtEl>
                                          <p:spTgt spid="6"/>
                                        </p:tgtEl>
                                        <p:attrNameLst>
                                          <p:attrName>style.visibility</p:attrName>
                                        </p:attrNameLst>
                                      </p:cBhvr>
                                      <p:to>
                                        <p:strVal val="visible"/>
                                      </p:to>
                                    </p:set>
                                    <p:animEffect transition="in" filter="fade">
                                      <p:cBhvr>
                                        <p:cTn id="3" dur="700"/>
                                        <p:tgtEl>
                                          <p:spTgt spid="6"/>
                                        </p:tgtEl>
                                      </p:cBhvr>
                                    </p:animEffect>
                                    <p:anim calcmode="lin" valueType="num">
                                      <p:cBhvr additive="base">
                                        <p:cTn id="4" dur="700" fill="hold"/>
                                        <p:tgtEl>
                                          <p:spTgt spid="6"/>
                                        </p:tgtEl>
                                        <p:attrNameLst>
                                          <p:attrName>ppt_x</p:attrName>
                                        </p:attrNameLst>
                                      </p:cBhvr>
                                      <p:tavLst>
                                        <p:tav tm="0">
                                          <p:val>
                                            <p:strVal val="#ppt_x"/>
                                          </p:val>
                                        </p:tav>
                                        <p:tav tm="100000">
                                          <p:val>
                                            <p:strVal val="#ppt_x"/>
                                          </p:val>
                                        </p:tav>
                                      </p:tavLst>
                                    </p:anim>
                                    <p:anim calcmode="lin" valueType="num">
                                      <p:cBhvr additive="base">
                                        <p:cTn id="5" dur="700" fill="hold"/>
                                        <p:tgtEl>
                                          <p:spTgt spid="6"/>
                                        </p:tgtEl>
                                        <p:attrNameLst>
                                          <p:attrName>ppt_y</p:attrName>
                                        </p:attrNameLst>
                                      </p:cBhvr>
                                      <p:tavLst>
                                        <p:tav tm="0">
                                          <p:val>
                                            <p:strVal val="#ppt_y+.08"/>
                                          </p:val>
                                        </p:tav>
                                        <p:tav tm="100000">
                                          <p:val>
                                            <p:strVal val="#ppt_y"/>
                                          </p:val>
                                        </p:tav>
                                      </p:tavLst>
                                    </p:anim>
                                  </p:childTnLst>
                                </p:cTn>
                              </p:par>
                              <p:par>
                                <p:cTn id="11" presetID="53" presetClass="entr" presetSubtype="16" fill="hold" grpId="0" nodeType="withEffect">
                                  <p:stCondLst>
                                    <p:cond delay="38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8" dur="550" fill="hold"/>
                                        <p:tgtEl>
                                          <p:spTgt spid="7"/>
                                        </p:tgtEl>
                                        <p:attrNameLst>
                                          <p:attrName>ppt_w</p:attrName>
                                        </p:attrNameLst>
                                      </p:cBhvr>
                                      <p:tavLst>
                                        <p:tav tm="0">
                                          <p:val>
                                            <p:strVal val="0"/>
                                          </p:val>
                                        </p:tav>
                                        <p:tav tm="100000">
                                          <p:val>
                                            <p:strVal val="#ppt_w"/>
                                          </p:val>
                                        </p:tav>
                                      </p:tavLst>
                                    </p:anim>
                                    <p:anim calcmode="lin" valueType="num">
                                      <p:cBhvr additive="base">
                                        <p:cTn id="9" dur="550" fill="hold"/>
                                        <p:tgtEl>
                                          <p:spTgt spid="7"/>
                                        </p:tgtEl>
                                        <p:attrNameLst>
                                          <p:attrName>ppt_h</p:attrName>
                                        </p:attrNameLst>
                                      </p:cBhvr>
                                      <p:tavLst>
                                        <p:tav tm="0">
                                          <p:val>
                                            <p:strVal val="0"/>
                                          </p:val>
                                        </p:tav>
                                        <p:tav tm="100000">
                                          <p:val>
                                            <p:strVal val="#ppt_h"/>
                                          </p:val>
                                        </p:tav>
                                      </p:tavLst>
                                    </p:anim>
                                    <p:animEffect transition="in" filter="fade">
                                      <p:cBhvr>
                                        <p:cTn id="10" dur="550"/>
                                        <p:tgtEl>
                                          <p:spTgt spid="7"/>
                                        </p:tgtEl>
                                      </p:cBhvr>
                                    </p:animEffect>
                                  </p:childTnLst>
                                </p:cTn>
                              </p:par>
                              <p:par>
                                <p:cTn id="16" presetID="53" presetClass="entr" presetSubtype="16" fill="hold" grpId="0" nodeType="withEffect">
                                  <p:stCondLst>
                                    <p:cond delay="38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3" dur="550" fill="hold"/>
                                        <p:tgtEl>
                                          <p:spTgt spid="8"/>
                                        </p:tgtEl>
                                        <p:attrNameLst>
                                          <p:attrName>ppt_w</p:attrName>
                                        </p:attrNameLst>
                                      </p:cBhvr>
                                      <p:tavLst>
                                        <p:tav tm="0">
                                          <p:val>
                                            <p:strVal val="0"/>
                                          </p:val>
                                        </p:tav>
                                        <p:tav tm="100000">
                                          <p:val>
                                            <p:strVal val="#ppt_w"/>
                                          </p:val>
                                        </p:tav>
                                      </p:tavLst>
                                    </p:anim>
                                    <p:anim calcmode="lin" valueType="num">
                                      <p:cBhvr additive="base">
                                        <p:cTn id="14" dur="550" fill="hold"/>
                                        <p:tgtEl>
                                          <p:spTgt spid="8"/>
                                        </p:tgtEl>
                                        <p:attrNameLst>
                                          <p:attrName>ppt_h</p:attrName>
                                        </p:attrNameLst>
                                      </p:cBhvr>
                                      <p:tavLst>
                                        <p:tav tm="0">
                                          <p:val>
                                            <p:strVal val="0"/>
                                          </p:val>
                                        </p:tav>
                                        <p:tav tm="100000">
                                          <p:val>
                                            <p:strVal val="#ppt_h"/>
                                          </p:val>
                                        </p:tav>
                                      </p:tavLst>
                                    </p:anim>
                                    <p:animEffect transition="in" filter="fade">
                                      <p:cBhvr>
                                        <p:cTn id="15" dur="550"/>
                                        <p:tgtEl>
                                          <p:spTgt spid="8"/>
                                        </p:tgtEl>
                                      </p:cBhvr>
                                    </p:animEffect>
                                  </p:childTnLst>
                                </p:cTn>
                              </p:par>
                              <p:par>
                                <p:cTn id="21" presetID="42" presetClass="entr" presetSubtype="0" fill="hold" grpId="0" nodeType="withEffect">
                                  <p:stCondLst>
                                    <p:cond delay="380"/>
                                  </p:stCondLst>
                                  <p:childTnLst>
                                    <p:set>
                                      <p:cBhvr>
                                        <p:cTn id="22" dur="1" fill="hold">
                                          <p:stCondLst>
                                            <p:cond delay="0"/>
                                          </p:stCondLst>
                                        </p:cTn>
                                        <p:tgtEl>
                                          <p:spTgt spid="9"/>
                                        </p:tgtEl>
                                        <p:attrNameLst>
                                          <p:attrName>style.visibility</p:attrName>
                                        </p:attrNameLst>
                                      </p:cBhvr>
                                      <p:to>
                                        <p:strVal val="visible"/>
                                      </p:to>
                                    </p:set>
                                    <p:animEffect transition="in" filter="fade">
                                      <p:cBhvr>
                                        <p:cTn id="18" dur="700"/>
                                        <p:tgtEl>
                                          <p:spTgt spid="9"/>
                                        </p:tgtEl>
                                      </p:cBhvr>
                                    </p:animEffect>
                                    <p:anim calcmode="lin" valueType="num">
                                      <p:cBhvr additive="base">
                                        <p:cTn id="19" dur="700" fill="hold"/>
                                        <p:tgtEl>
                                          <p:spTgt spid="9"/>
                                        </p:tgtEl>
                                        <p:attrNameLst>
                                          <p:attrName>ppt_x</p:attrName>
                                        </p:attrNameLst>
                                      </p:cBhvr>
                                      <p:tavLst>
                                        <p:tav tm="0">
                                          <p:val>
                                            <p:strVal val="#ppt_x"/>
                                          </p:val>
                                        </p:tav>
                                        <p:tav tm="100000">
                                          <p:val>
                                            <p:strVal val="#ppt_x"/>
                                          </p:val>
                                        </p:tav>
                                      </p:tavLst>
                                    </p:anim>
                                    <p:anim calcmode="lin" valueType="num">
                                      <p:cBhvr additive="base">
                                        <p:cTn id="20" dur="700" fill="hold"/>
                                        <p:tgtEl>
                                          <p:spTgt spid="9"/>
                                        </p:tgtEl>
                                        <p:attrNameLst>
                                          <p:attrName>ppt_y</p:attrName>
                                        </p:attrNameLst>
                                      </p:cBhvr>
                                      <p:tavLst>
                                        <p:tav tm="0">
                                          <p:val>
                                            <p:strVal val="#ppt_y+.08"/>
                                          </p:val>
                                        </p:tav>
                                        <p:tav tm="100000">
                                          <p:val>
                                            <p:strVal val="#ppt_y"/>
                                          </p:val>
                                        </p:tav>
                                      </p:tavLst>
                                    </p:anim>
                                  </p:childTnLst>
                                </p:cTn>
                              </p:par>
                              <p:par>
                                <p:cTn id="26" presetID="53" presetClass="entr" presetSubtype="16" fill="hold" grpId="0" nodeType="withEffect">
                                  <p:stCondLst>
                                    <p:cond delay="76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3" dur="550" fill="hold"/>
                                        <p:tgtEl>
                                          <p:spTgt spid="10"/>
                                        </p:tgtEl>
                                        <p:attrNameLst>
                                          <p:attrName>ppt_w</p:attrName>
                                        </p:attrNameLst>
                                      </p:cBhvr>
                                      <p:tavLst>
                                        <p:tav tm="0">
                                          <p:val>
                                            <p:strVal val="0"/>
                                          </p:val>
                                        </p:tav>
                                        <p:tav tm="100000">
                                          <p:val>
                                            <p:strVal val="#ppt_w"/>
                                          </p:val>
                                        </p:tav>
                                      </p:tavLst>
                                    </p:anim>
                                    <p:anim calcmode="lin" valueType="num">
                                      <p:cBhvr additive="base">
                                        <p:cTn id="24" dur="550" fill="hold"/>
                                        <p:tgtEl>
                                          <p:spTgt spid="10"/>
                                        </p:tgtEl>
                                        <p:attrNameLst>
                                          <p:attrName>ppt_h</p:attrName>
                                        </p:attrNameLst>
                                      </p:cBhvr>
                                      <p:tavLst>
                                        <p:tav tm="0">
                                          <p:val>
                                            <p:strVal val="0"/>
                                          </p:val>
                                        </p:tav>
                                        <p:tav tm="100000">
                                          <p:val>
                                            <p:strVal val="#ppt_h"/>
                                          </p:val>
                                        </p:tav>
                                      </p:tavLst>
                                    </p:anim>
                                    <p:animEffect transition="in" filter="fade">
                                      <p:cBhvr>
                                        <p:cTn id="25" dur="550"/>
                                        <p:tgtEl>
                                          <p:spTgt spid="10"/>
                                        </p:tgtEl>
                                      </p:cBhvr>
                                    </p:animEffect>
                                  </p:childTnLst>
                                </p:cTn>
                              </p:par>
                              <p:par>
                                <p:cTn id="29" presetID="10" presetClass="entr" presetSubtype="0" fill="hold" grpId="0" nodeType="withEffect">
                                  <p:stCondLst>
                                    <p:cond delay="760"/>
                                  </p:stCondLst>
                                  <p:childTnLst>
                                    <p:set>
                                      <p:cBhvr>
                                        <p:cTn id="30" dur="1" fill="hold">
                                          <p:stCondLst>
                                            <p:cond delay="0"/>
                                          </p:stCondLst>
                                        </p:cTn>
                                        <p:tgtEl>
                                          <p:spTgt spid="11"/>
                                        </p:tgtEl>
                                        <p:attrNameLst>
                                          <p:attrName>style.visibility</p:attrName>
                                        </p:attrNameLst>
                                      </p:cBhvr>
                                      <p:to>
                                        <p:strVal val="visible"/>
                                      </p:to>
                                    </p:set>
                                    <p:animEffect transition="in" filter="fade">
                                      <p:cBhvr>
                                        <p:cTn id="28" dur="600"/>
                                        <p:tgtEl>
                                          <p:spTgt spid="11"/>
                                        </p:tgtEl>
                                      </p:cBhvr>
                                    </p:animEffect>
                                  </p:childTnLst>
                                </p:cTn>
                              </p:par>
                              <p:par>
                                <p:cTn id="34" presetID="42" presetClass="entr" presetSubtype="0" fill="hold" grpId="0" nodeType="withEffect">
                                  <p:stCondLst>
                                    <p:cond delay="1140"/>
                                  </p:stCondLst>
                                  <p:childTnLst>
                                    <p:set>
                                      <p:cBhvr>
                                        <p:cTn id="35" dur="1" fill="hold">
                                          <p:stCondLst>
                                            <p:cond delay="0"/>
                                          </p:stCondLst>
                                        </p:cTn>
                                        <p:tgtEl>
                                          <p:spTgt spid="12"/>
                                        </p:tgtEl>
                                        <p:attrNameLst>
                                          <p:attrName>style.visibility</p:attrName>
                                        </p:attrNameLst>
                                      </p:cBhvr>
                                      <p:to>
                                        <p:strVal val="visible"/>
                                      </p:to>
                                    </p:set>
                                    <p:animEffect transition="in" filter="fade">
                                      <p:cBhvr>
                                        <p:cTn id="31" dur="700"/>
                                        <p:tgtEl>
                                          <p:spTgt spid="12"/>
                                        </p:tgtEl>
                                      </p:cBhvr>
                                    </p:animEffect>
                                    <p:anim calcmode="lin" valueType="num">
                                      <p:cBhvr additive="base">
                                        <p:cTn id="32" dur="700" fill="hold"/>
                                        <p:tgtEl>
                                          <p:spTgt spid="12"/>
                                        </p:tgtEl>
                                        <p:attrNameLst>
                                          <p:attrName>ppt_x</p:attrName>
                                        </p:attrNameLst>
                                      </p:cBhvr>
                                      <p:tavLst>
                                        <p:tav tm="0">
                                          <p:val>
                                            <p:strVal val="#ppt_x"/>
                                          </p:val>
                                        </p:tav>
                                        <p:tav tm="100000">
                                          <p:val>
                                            <p:strVal val="#ppt_x"/>
                                          </p:val>
                                        </p:tav>
                                      </p:tavLst>
                                    </p:anim>
                                    <p:anim calcmode="lin" valueType="num">
                                      <p:cBhvr additive="base">
                                        <p:cTn id="33" dur="700" fill="hold"/>
                                        <p:tgtEl>
                                          <p:spTgt spid="12"/>
                                        </p:tgtEl>
                                        <p:attrNameLst>
                                          <p:attrName>ppt_y</p:attrName>
                                        </p:attrNameLst>
                                      </p:cBhvr>
                                      <p:tavLst>
                                        <p:tav tm="0">
                                          <p:val>
                                            <p:strVal val="#ppt_y+.08"/>
                                          </p:val>
                                        </p:tav>
                                        <p:tav tm="100000">
                                          <p:val>
                                            <p:strVal val="#ppt_y"/>
                                          </p:val>
                                        </p:tav>
                                      </p:tavLst>
                                    </p:anim>
                                  </p:childTnLst>
                                </p:cTn>
                              </p:par>
                              <p:par>
                                <p:cTn id="39" presetID="53" presetClass="entr" presetSubtype="16" fill="hold" grpId="0" nodeType="withEffect">
                                  <p:stCondLst>
                                    <p:cond delay="1520"/>
                                  </p:stCondLst>
                                  <p:childTnLst>
                                    <p:set>
                                      <p:cBhvr>
                                        <p:cTn id="40" dur="1" fill="hold">
                                          <p:stCondLst>
                                            <p:cond delay="0"/>
                                          </p:stCondLst>
                                        </p:cTn>
                                        <p:tgtEl>
                                          <p:spTgt spid="13"/>
                                        </p:tgtEl>
                                        <p:attrNameLst>
                                          <p:attrName>style.visibility</p:attrName>
                                        </p:attrNameLst>
                                      </p:cBhvr>
                                      <p:to>
                                        <p:strVal val="visible"/>
                                      </p:to>
                                    </p:set>
                                    <p:anim calcmode="lin" valueType="num">
                                      <p:cBhvr additive="base">
                                        <p:cTn id="36" dur="550" fill="hold"/>
                                        <p:tgtEl>
                                          <p:spTgt spid="13"/>
                                        </p:tgtEl>
                                        <p:attrNameLst>
                                          <p:attrName>ppt_w</p:attrName>
                                        </p:attrNameLst>
                                      </p:cBhvr>
                                      <p:tavLst>
                                        <p:tav tm="0">
                                          <p:val>
                                            <p:strVal val="0"/>
                                          </p:val>
                                        </p:tav>
                                        <p:tav tm="100000">
                                          <p:val>
                                            <p:strVal val="#ppt_w"/>
                                          </p:val>
                                        </p:tav>
                                      </p:tavLst>
                                    </p:anim>
                                    <p:anim calcmode="lin" valueType="num">
                                      <p:cBhvr additive="base">
                                        <p:cTn id="37" dur="550" fill="hold"/>
                                        <p:tgtEl>
                                          <p:spTgt spid="13"/>
                                        </p:tgtEl>
                                        <p:attrNameLst>
                                          <p:attrName>ppt_h</p:attrName>
                                        </p:attrNameLst>
                                      </p:cBhvr>
                                      <p:tavLst>
                                        <p:tav tm="0">
                                          <p:val>
                                            <p:strVal val="0"/>
                                          </p:val>
                                        </p:tav>
                                        <p:tav tm="100000">
                                          <p:val>
                                            <p:strVal val="#ppt_h"/>
                                          </p:val>
                                        </p:tav>
                                      </p:tavLst>
                                    </p:anim>
                                    <p:animEffect transition="in" filter="fade">
                                      <p:cBhvr>
                                        <p:cTn id="38" dur="550"/>
                                        <p:tgtEl>
                                          <p:spTgt spid="13"/>
                                        </p:tgtEl>
                                      </p:cBhvr>
                                    </p:animEffect>
                                  </p:childTnLst>
                                </p:cTn>
                              </p:par>
                              <p:par>
                                <p:cTn id="44" presetID="53" presetClass="entr" presetSubtype="16" fill="hold" grpId="0" nodeType="withEffect">
                                  <p:stCondLst>
                                    <p:cond delay="1520"/>
                                  </p:stCondLst>
                                  <p:childTnLst>
                                    <p:set>
                                      <p:cBhvr>
                                        <p:cTn id="45" dur="1" fill="hold">
                                          <p:stCondLst>
                                            <p:cond delay="0"/>
                                          </p:stCondLst>
                                        </p:cTn>
                                        <p:tgtEl>
                                          <p:spTgt spid="14"/>
                                        </p:tgtEl>
                                        <p:attrNameLst>
                                          <p:attrName>style.visibility</p:attrName>
                                        </p:attrNameLst>
                                      </p:cBhvr>
                                      <p:to>
                                        <p:strVal val="visible"/>
                                      </p:to>
                                    </p:set>
                                    <p:anim calcmode="lin" valueType="num">
                                      <p:cBhvr additive="base">
                                        <p:cTn id="41" dur="550" fill="hold"/>
                                        <p:tgtEl>
                                          <p:spTgt spid="14"/>
                                        </p:tgtEl>
                                        <p:attrNameLst>
                                          <p:attrName>ppt_w</p:attrName>
                                        </p:attrNameLst>
                                      </p:cBhvr>
                                      <p:tavLst>
                                        <p:tav tm="0">
                                          <p:val>
                                            <p:strVal val="0"/>
                                          </p:val>
                                        </p:tav>
                                        <p:tav tm="100000">
                                          <p:val>
                                            <p:strVal val="#ppt_w"/>
                                          </p:val>
                                        </p:tav>
                                      </p:tavLst>
                                    </p:anim>
                                    <p:anim calcmode="lin" valueType="num">
                                      <p:cBhvr additive="base">
                                        <p:cTn id="42" dur="550" fill="hold"/>
                                        <p:tgtEl>
                                          <p:spTgt spid="14"/>
                                        </p:tgtEl>
                                        <p:attrNameLst>
                                          <p:attrName>ppt_h</p:attrName>
                                        </p:attrNameLst>
                                      </p:cBhvr>
                                      <p:tavLst>
                                        <p:tav tm="0">
                                          <p:val>
                                            <p:strVal val="0"/>
                                          </p:val>
                                        </p:tav>
                                        <p:tav tm="100000">
                                          <p:val>
                                            <p:strVal val="#ppt_h"/>
                                          </p:val>
                                        </p:tav>
                                      </p:tavLst>
                                    </p:anim>
                                    <p:animEffect transition="in" filter="fade">
                                      <p:cBhvr>
                                        <p:cTn id="43" dur="550"/>
                                        <p:tgtEl>
                                          <p:spTgt spid="14"/>
                                        </p:tgtEl>
                                      </p:cBhvr>
                                    </p:animEffect>
                                  </p:childTnLst>
                                </p:cTn>
                              </p:par>
                              <p:par>
                                <p:cTn id="49" presetID="42" presetClass="entr" presetSubtype="0" fill="hold" grpId="0" nodeType="withEffect">
                                  <p:stCondLst>
                                    <p:cond delay="1520"/>
                                  </p:stCondLst>
                                  <p:childTnLst>
                                    <p:set>
                                      <p:cBhvr>
                                        <p:cTn id="50" dur="1" fill="hold">
                                          <p:stCondLst>
                                            <p:cond delay="0"/>
                                          </p:stCondLst>
                                        </p:cTn>
                                        <p:tgtEl>
                                          <p:spTgt spid="15"/>
                                        </p:tgtEl>
                                        <p:attrNameLst>
                                          <p:attrName>style.visibility</p:attrName>
                                        </p:attrNameLst>
                                      </p:cBhvr>
                                      <p:to>
                                        <p:strVal val="visible"/>
                                      </p:to>
                                    </p:set>
                                    <p:animEffect transition="in" filter="fade">
                                      <p:cBhvr>
                                        <p:cTn id="46" dur="650"/>
                                        <p:tgtEl>
                                          <p:spTgt spid="15"/>
                                        </p:tgtEl>
                                      </p:cBhvr>
                                    </p:animEffect>
                                    <p:anim calcmode="lin" valueType="num">
                                      <p:cBhvr additive="base">
                                        <p:cTn id="47" dur="650" fill="hold"/>
                                        <p:tgtEl>
                                          <p:spTgt spid="15"/>
                                        </p:tgtEl>
                                        <p:attrNameLst>
                                          <p:attrName>ppt_x</p:attrName>
                                        </p:attrNameLst>
                                      </p:cBhvr>
                                      <p:tavLst>
                                        <p:tav tm="0">
                                          <p:val>
                                            <p:strVal val="#ppt_x-.06"/>
                                          </p:val>
                                        </p:tav>
                                        <p:tav tm="100000">
                                          <p:val>
                                            <p:strVal val="#ppt_x"/>
                                          </p:val>
                                        </p:tav>
                                      </p:tavLst>
                                    </p:anim>
                                    <p:anim calcmode="lin" valueType="num">
                                      <p:cBhvr additive="base">
                                        <p:cTn id="48" dur="650" fill="hold"/>
                                        <p:tgtEl>
                                          <p:spTgt spid="15"/>
                                        </p:tgtEl>
                                        <p:attrNameLst>
                                          <p:attrName>ppt_y</p:attrName>
                                        </p:attrNameLst>
                                      </p:cBhvr>
                                      <p:tavLst>
                                        <p:tav tm="0">
                                          <p:val>
                                            <p:strVal val="#ppt_y"/>
                                          </p:val>
                                        </p:tav>
                                        <p:tav tm="100000">
                                          <p:val>
                                            <p:strVal val="#ppt_y"/>
                                          </p:val>
                                        </p:tav>
                                      </p:tavLst>
                                    </p:anim>
                                  </p:childTnLst>
                                </p:cTn>
                              </p:par>
                              <p:par>
                                <p:cTn id="54" presetID="42" presetClass="entr" presetSubtype="0" fill="hold" grpId="0" nodeType="withEffect">
                                  <p:stCondLst>
                                    <p:cond delay="1520"/>
                                  </p:stCondLst>
                                  <p:childTnLst>
                                    <p:set>
                                      <p:cBhvr>
                                        <p:cTn id="55" dur="1" fill="hold">
                                          <p:stCondLst>
                                            <p:cond delay="0"/>
                                          </p:stCondLst>
                                        </p:cTn>
                                        <p:tgtEl>
                                          <p:spTgt spid="16"/>
                                        </p:tgtEl>
                                        <p:attrNameLst>
                                          <p:attrName>style.visibility</p:attrName>
                                        </p:attrNameLst>
                                      </p:cBhvr>
                                      <p:to>
                                        <p:strVal val="visible"/>
                                      </p:to>
                                    </p:set>
                                    <p:animEffect transition="in" filter="fade">
                                      <p:cBhvr>
                                        <p:cTn id="51" dur="650"/>
                                        <p:tgtEl>
                                          <p:spTgt spid="16"/>
                                        </p:tgtEl>
                                      </p:cBhvr>
                                    </p:animEffect>
                                    <p:anim calcmode="lin" valueType="num">
                                      <p:cBhvr additive="base">
                                        <p:cTn id="52" dur="650" fill="hold"/>
                                        <p:tgtEl>
                                          <p:spTgt spid="16"/>
                                        </p:tgtEl>
                                        <p:attrNameLst>
                                          <p:attrName>ppt_x</p:attrName>
                                        </p:attrNameLst>
                                      </p:cBhvr>
                                      <p:tavLst>
                                        <p:tav tm="0">
                                          <p:val>
                                            <p:strVal val="#ppt_x-.06"/>
                                          </p:val>
                                        </p:tav>
                                        <p:tav tm="100000">
                                          <p:val>
                                            <p:strVal val="#ppt_x"/>
                                          </p:val>
                                        </p:tav>
                                      </p:tavLst>
                                    </p:anim>
                                    <p:anim calcmode="lin" valueType="num">
                                      <p:cBhvr additive="base">
                                        <p:cTn id="53" dur="650" fill="hold"/>
                                        <p:tgtEl>
                                          <p:spTgt spid="16"/>
                                        </p:tgtEl>
                                        <p:attrNameLst>
                                          <p:attrName>ppt_y</p:attrName>
                                        </p:attrNameLst>
                                      </p:cBhvr>
                                      <p:tavLst>
                                        <p:tav tm="0">
                                          <p:val>
                                            <p:strVal val="#ppt_y"/>
                                          </p:val>
                                        </p:tav>
                                        <p:tav tm="100000">
                                          <p:val>
                                            <p:strVal val="#ppt_y"/>
                                          </p:val>
                                        </p:tav>
                                      </p:tavLst>
                                    </p:anim>
                                  </p:childTnLst>
                                </p:cTn>
                              </p:par>
                              <p:par>
                                <p:cTn id="59" presetID="53" presetClass="entr" presetSubtype="16" fill="hold" grpId="0" nodeType="withEffect">
                                  <p:stCondLst>
                                    <p:cond delay="1900"/>
                                  </p:stCondLst>
                                  <p:childTnLst>
                                    <p:set>
                                      <p:cBhvr>
                                        <p:cTn id="60" dur="1" fill="hold">
                                          <p:stCondLst>
                                            <p:cond delay="0"/>
                                          </p:stCondLst>
                                        </p:cTn>
                                        <p:tgtEl>
                                          <p:spTgt spid="17"/>
                                        </p:tgtEl>
                                        <p:attrNameLst>
                                          <p:attrName>style.visibility</p:attrName>
                                        </p:attrNameLst>
                                      </p:cBhvr>
                                      <p:to>
                                        <p:strVal val="visible"/>
                                      </p:to>
                                    </p:set>
                                    <p:anim calcmode="lin" valueType="num">
                                      <p:cBhvr additive="base">
                                        <p:cTn id="56" dur="550" fill="hold"/>
                                        <p:tgtEl>
                                          <p:spTgt spid="17"/>
                                        </p:tgtEl>
                                        <p:attrNameLst>
                                          <p:attrName>ppt_w</p:attrName>
                                        </p:attrNameLst>
                                      </p:cBhvr>
                                      <p:tavLst>
                                        <p:tav tm="0">
                                          <p:val>
                                            <p:strVal val="0"/>
                                          </p:val>
                                        </p:tav>
                                        <p:tav tm="100000">
                                          <p:val>
                                            <p:strVal val="#ppt_w"/>
                                          </p:val>
                                        </p:tav>
                                      </p:tavLst>
                                    </p:anim>
                                    <p:anim calcmode="lin" valueType="num">
                                      <p:cBhvr additive="base">
                                        <p:cTn id="57" dur="550" fill="hold"/>
                                        <p:tgtEl>
                                          <p:spTgt spid="17"/>
                                        </p:tgtEl>
                                        <p:attrNameLst>
                                          <p:attrName>ppt_h</p:attrName>
                                        </p:attrNameLst>
                                      </p:cBhvr>
                                      <p:tavLst>
                                        <p:tav tm="0">
                                          <p:val>
                                            <p:strVal val="0"/>
                                          </p:val>
                                        </p:tav>
                                        <p:tav tm="100000">
                                          <p:val>
                                            <p:strVal val="#ppt_h"/>
                                          </p:val>
                                        </p:tav>
                                      </p:tavLst>
                                    </p:anim>
                                    <p:animEffect transition="in" filter="fade">
                                      <p:cBhvr>
                                        <p:cTn id="58" dur="550"/>
                                        <p:tgtEl>
                                          <p:spTgt spid="17"/>
                                        </p:tgtEl>
                                      </p:cBhvr>
                                    </p:animEffect>
                                  </p:childTnLst>
                                </p:cTn>
                              </p:par>
                              <p:par>
                                <p:cTn id="64" presetID="53" presetClass="entr" presetSubtype="16" fill="hold" grpId="0" nodeType="withEffect">
                                  <p:stCondLst>
                                    <p:cond delay="1900"/>
                                  </p:stCondLst>
                                  <p:childTnLst>
                                    <p:set>
                                      <p:cBhvr>
                                        <p:cTn id="65" dur="1" fill="hold">
                                          <p:stCondLst>
                                            <p:cond delay="0"/>
                                          </p:stCondLst>
                                        </p:cTn>
                                        <p:tgtEl>
                                          <p:spTgt spid="18"/>
                                        </p:tgtEl>
                                        <p:attrNameLst>
                                          <p:attrName>style.visibility</p:attrName>
                                        </p:attrNameLst>
                                      </p:cBhvr>
                                      <p:to>
                                        <p:strVal val="visible"/>
                                      </p:to>
                                    </p:set>
                                    <p:anim calcmode="lin" valueType="num">
                                      <p:cBhvr additive="base">
                                        <p:cTn id="61" dur="550" fill="hold"/>
                                        <p:tgtEl>
                                          <p:spTgt spid="18"/>
                                        </p:tgtEl>
                                        <p:attrNameLst>
                                          <p:attrName>ppt_w</p:attrName>
                                        </p:attrNameLst>
                                      </p:cBhvr>
                                      <p:tavLst>
                                        <p:tav tm="0">
                                          <p:val>
                                            <p:strVal val="0"/>
                                          </p:val>
                                        </p:tav>
                                        <p:tav tm="100000">
                                          <p:val>
                                            <p:strVal val="#ppt_w"/>
                                          </p:val>
                                        </p:tav>
                                      </p:tavLst>
                                    </p:anim>
                                    <p:anim calcmode="lin" valueType="num">
                                      <p:cBhvr additive="base">
                                        <p:cTn id="62" dur="550" fill="hold"/>
                                        <p:tgtEl>
                                          <p:spTgt spid="18"/>
                                        </p:tgtEl>
                                        <p:attrNameLst>
                                          <p:attrName>ppt_h</p:attrName>
                                        </p:attrNameLst>
                                      </p:cBhvr>
                                      <p:tavLst>
                                        <p:tav tm="0">
                                          <p:val>
                                            <p:strVal val="0"/>
                                          </p:val>
                                        </p:tav>
                                        <p:tav tm="100000">
                                          <p:val>
                                            <p:strVal val="#ppt_h"/>
                                          </p:val>
                                        </p:tav>
                                      </p:tavLst>
                                    </p:anim>
                                    <p:animEffect transition="in" filter="fade">
                                      <p:cBhvr>
                                        <p:cTn id="63" dur="550"/>
                                        <p:tgtEl>
                                          <p:spTgt spid="18"/>
                                        </p:tgtEl>
                                      </p:cBhvr>
                                    </p:animEffect>
                                  </p:childTnLst>
                                </p:cTn>
                              </p:par>
                              <p:par>
                                <p:cTn id="69" presetID="42" presetClass="entr" presetSubtype="0" fill="hold" grpId="0" nodeType="withEffect">
                                  <p:stCondLst>
                                    <p:cond delay="1900"/>
                                  </p:stCondLst>
                                  <p:childTnLst>
                                    <p:set>
                                      <p:cBhvr>
                                        <p:cTn id="70" dur="1" fill="hold">
                                          <p:stCondLst>
                                            <p:cond delay="0"/>
                                          </p:stCondLst>
                                        </p:cTn>
                                        <p:tgtEl>
                                          <p:spTgt spid="19"/>
                                        </p:tgtEl>
                                        <p:attrNameLst>
                                          <p:attrName>style.visibility</p:attrName>
                                        </p:attrNameLst>
                                      </p:cBhvr>
                                      <p:to>
                                        <p:strVal val="visible"/>
                                      </p:to>
                                    </p:set>
                                    <p:animEffect transition="in" filter="fade">
                                      <p:cBhvr>
                                        <p:cTn id="66" dur="650"/>
                                        <p:tgtEl>
                                          <p:spTgt spid="19"/>
                                        </p:tgtEl>
                                      </p:cBhvr>
                                    </p:animEffect>
                                    <p:anim calcmode="lin" valueType="num">
                                      <p:cBhvr additive="base">
                                        <p:cTn id="67" dur="650" fill="hold"/>
                                        <p:tgtEl>
                                          <p:spTgt spid="19"/>
                                        </p:tgtEl>
                                        <p:attrNameLst>
                                          <p:attrName>ppt_x</p:attrName>
                                        </p:attrNameLst>
                                      </p:cBhvr>
                                      <p:tavLst>
                                        <p:tav tm="0">
                                          <p:val>
                                            <p:strVal val="#ppt_x-.06"/>
                                          </p:val>
                                        </p:tav>
                                        <p:tav tm="100000">
                                          <p:val>
                                            <p:strVal val="#ppt_x"/>
                                          </p:val>
                                        </p:tav>
                                      </p:tavLst>
                                    </p:anim>
                                    <p:anim calcmode="lin" valueType="num">
                                      <p:cBhvr additive="base">
                                        <p:cTn id="68" dur="650" fill="hold"/>
                                        <p:tgtEl>
                                          <p:spTgt spid="19"/>
                                        </p:tgtEl>
                                        <p:attrNameLst>
                                          <p:attrName>ppt_y</p:attrName>
                                        </p:attrNameLst>
                                      </p:cBhvr>
                                      <p:tavLst>
                                        <p:tav tm="0">
                                          <p:val>
                                            <p:strVal val="#ppt_y"/>
                                          </p:val>
                                        </p:tav>
                                        <p:tav tm="100000">
                                          <p:val>
                                            <p:strVal val="#ppt_y"/>
                                          </p:val>
                                        </p:tav>
                                      </p:tavLst>
                                    </p:anim>
                                  </p:childTnLst>
                                </p:cTn>
                              </p:par>
                              <p:par>
                                <p:cTn id="74" presetID="42" presetClass="entr" presetSubtype="0" fill="hold" grpId="0" nodeType="withEffect">
                                  <p:stCondLst>
                                    <p:cond delay="1900"/>
                                  </p:stCondLst>
                                  <p:childTnLst>
                                    <p:set>
                                      <p:cBhvr>
                                        <p:cTn id="75" dur="1" fill="hold">
                                          <p:stCondLst>
                                            <p:cond delay="0"/>
                                          </p:stCondLst>
                                        </p:cTn>
                                        <p:tgtEl>
                                          <p:spTgt spid="20"/>
                                        </p:tgtEl>
                                        <p:attrNameLst>
                                          <p:attrName>style.visibility</p:attrName>
                                        </p:attrNameLst>
                                      </p:cBhvr>
                                      <p:to>
                                        <p:strVal val="visible"/>
                                      </p:to>
                                    </p:set>
                                    <p:animEffect transition="in" filter="fade">
                                      <p:cBhvr>
                                        <p:cTn id="71" dur="650"/>
                                        <p:tgtEl>
                                          <p:spTgt spid="20"/>
                                        </p:tgtEl>
                                      </p:cBhvr>
                                    </p:animEffect>
                                    <p:anim calcmode="lin" valueType="num">
                                      <p:cBhvr additive="base">
                                        <p:cTn id="72" dur="650" fill="hold"/>
                                        <p:tgtEl>
                                          <p:spTgt spid="20"/>
                                        </p:tgtEl>
                                        <p:attrNameLst>
                                          <p:attrName>ppt_x</p:attrName>
                                        </p:attrNameLst>
                                      </p:cBhvr>
                                      <p:tavLst>
                                        <p:tav tm="0">
                                          <p:val>
                                            <p:strVal val="#ppt_x-.06"/>
                                          </p:val>
                                        </p:tav>
                                        <p:tav tm="100000">
                                          <p:val>
                                            <p:strVal val="#ppt_x"/>
                                          </p:val>
                                        </p:tav>
                                      </p:tavLst>
                                    </p:anim>
                                    <p:anim calcmode="lin" valueType="num">
                                      <p:cBhvr additive="base">
                                        <p:cTn id="73" dur="650" fill="hold"/>
                                        <p:tgtEl>
                                          <p:spTgt spid="20"/>
                                        </p:tgtEl>
                                        <p:attrNameLst>
                                          <p:attrName>ppt_y</p:attrName>
                                        </p:attrNameLst>
                                      </p:cBhvr>
                                      <p:tavLst>
                                        <p:tav tm="0">
                                          <p:val>
                                            <p:strVal val="#ppt_y"/>
                                          </p:val>
                                        </p:tav>
                                        <p:tav tm="100000">
                                          <p:val>
                                            <p:strVal val="#ppt_y"/>
                                          </p:val>
                                        </p:tav>
                                      </p:tavLst>
                                    </p:anim>
                                  </p:childTnLst>
                                </p:cTn>
                              </p:par>
                              <p:par>
                                <p:cTn id="79" presetID="53" presetClass="entr" presetSubtype="16" fill="hold" grpId="0" nodeType="withEffect">
                                  <p:stCondLst>
                                    <p:cond delay="2280"/>
                                  </p:stCondLst>
                                  <p:childTnLst>
                                    <p:set>
                                      <p:cBhvr>
                                        <p:cTn id="80" dur="1" fill="hold">
                                          <p:stCondLst>
                                            <p:cond delay="0"/>
                                          </p:stCondLst>
                                        </p:cTn>
                                        <p:tgtEl>
                                          <p:spTgt spid="21"/>
                                        </p:tgtEl>
                                        <p:attrNameLst>
                                          <p:attrName>style.visibility</p:attrName>
                                        </p:attrNameLst>
                                      </p:cBhvr>
                                      <p:to>
                                        <p:strVal val="visible"/>
                                      </p:to>
                                    </p:set>
                                    <p:anim calcmode="lin" valueType="num">
                                      <p:cBhvr additive="base">
                                        <p:cTn id="76" dur="550" fill="hold"/>
                                        <p:tgtEl>
                                          <p:spTgt spid="21"/>
                                        </p:tgtEl>
                                        <p:attrNameLst>
                                          <p:attrName>ppt_w</p:attrName>
                                        </p:attrNameLst>
                                      </p:cBhvr>
                                      <p:tavLst>
                                        <p:tav tm="0">
                                          <p:val>
                                            <p:strVal val="0"/>
                                          </p:val>
                                        </p:tav>
                                        <p:tav tm="100000">
                                          <p:val>
                                            <p:strVal val="#ppt_w"/>
                                          </p:val>
                                        </p:tav>
                                      </p:tavLst>
                                    </p:anim>
                                    <p:anim calcmode="lin" valueType="num">
                                      <p:cBhvr additive="base">
                                        <p:cTn id="77" dur="550" fill="hold"/>
                                        <p:tgtEl>
                                          <p:spTgt spid="21"/>
                                        </p:tgtEl>
                                        <p:attrNameLst>
                                          <p:attrName>ppt_h</p:attrName>
                                        </p:attrNameLst>
                                      </p:cBhvr>
                                      <p:tavLst>
                                        <p:tav tm="0">
                                          <p:val>
                                            <p:strVal val="0"/>
                                          </p:val>
                                        </p:tav>
                                        <p:tav tm="100000">
                                          <p:val>
                                            <p:strVal val="#ppt_h"/>
                                          </p:val>
                                        </p:tav>
                                      </p:tavLst>
                                    </p:anim>
                                    <p:animEffect transition="in" filter="fade">
                                      <p:cBhvr>
                                        <p:cTn id="78" dur="550"/>
                                        <p:tgtEl>
                                          <p:spTgt spid="21"/>
                                        </p:tgtEl>
                                      </p:cBhvr>
                                    </p:animEffect>
                                  </p:childTnLst>
                                </p:cTn>
                              </p:par>
                              <p:par>
                                <p:cTn id="84" presetID="53" presetClass="entr" presetSubtype="16" fill="hold" grpId="0" nodeType="withEffect">
                                  <p:stCondLst>
                                    <p:cond delay="2280"/>
                                  </p:stCondLst>
                                  <p:childTnLst>
                                    <p:set>
                                      <p:cBhvr>
                                        <p:cTn id="85" dur="1" fill="hold">
                                          <p:stCondLst>
                                            <p:cond delay="0"/>
                                          </p:stCondLst>
                                        </p:cTn>
                                        <p:tgtEl>
                                          <p:spTgt spid="22"/>
                                        </p:tgtEl>
                                        <p:attrNameLst>
                                          <p:attrName>style.visibility</p:attrName>
                                        </p:attrNameLst>
                                      </p:cBhvr>
                                      <p:to>
                                        <p:strVal val="visible"/>
                                      </p:to>
                                    </p:set>
                                    <p:anim calcmode="lin" valueType="num">
                                      <p:cBhvr additive="base">
                                        <p:cTn id="81" dur="550" fill="hold"/>
                                        <p:tgtEl>
                                          <p:spTgt spid="22"/>
                                        </p:tgtEl>
                                        <p:attrNameLst>
                                          <p:attrName>ppt_w</p:attrName>
                                        </p:attrNameLst>
                                      </p:cBhvr>
                                      <p:tavLst>
                                        <p:tav tm="0">
                                          <p:val>
                                            <p:strVal val="0"/>
                                          </p:val>
                                        </p:tav>
                                        <p:tav tm="100000">
                                          <p:val>
                                            <p:strVal val="#ppt_w"/>
                                          </p:val>
                                        </p:tav>
                                      </p:tavLst>
                                    </p:anim>
                                    <p:anim calcmode="lin" valueType="num">
                                      <p:cBhvr additive="base">
                                        <p:cTn id="82" dur="550" fill="hold"/>
                                        <p:tgtEl>
                                          <p:spTgt spid="22"/>
                                        </p:tgtEl>
                                        <p:attrNameLst>
                                          <p:attrName>ppt_h</p:attrName>
                                        </p:attrNameLst>
                                      </p:cBhvr>
                                      <p:tavLst>
                                        <p:tav tm="0">
                                          <p:val>
                                            <p:strVal val="0"/>
                                          </p:val>
                                        </p:tav>
                                        <p:tav tm="100000">
                                          <p:val>
                                            <p:strVal val="#ppt_h"/>
                                          </p:val>
                                        </p:tav>
                                      </p:tavLst>
                                    </p:anim>
                                    <p:animEffect transition="in" filter="fade">
                                      <p:cBhvr>
                                        <p:cTn id="83" dur="550"/>
                                        <p:tgtEl>
                                          <p:spTgt spid="22"/>
                                        </p:tgtEl>
                                      </p:cBhvr>
                                    </p:animEffect>
                                  </p:childTnLst>
                                </p:cTn>
                              </p:par>
                              <p:par>
                                <p:cTn id="89" presetID="42" presetClass="entr" presetSubtype="0" fill="hold" grpId="0" nodeType="withEffect">
                                  <p:stCondLst>
                                    <p:cond delay="2280"/>
                                  </p:stCondLst>
                                  <p:childTnLst>
                                    <p:set>
                                      <p:cBhvr>
                                        <p:cTn id="90" dur="1" fill="hold">
                                          <p:stCondLst>
                                            <p:cond delay="0"/>
                                          </p:stCondLst>
                                        </p:cTn>
                                        <p:tgtEl>
                                          <p:spTgt spid="23"/>
                                        </p:tgtEl>
                                        <p:attrNameLst>
                                          <p:attrName>style.visibility</p:attrName>
                                        </p:attrNameLst>
                                      </p:cBhvr>
                                      <p:to>
                                        <p:strVal val="visible"/>
                                      </p:to>
                                    </p:set>
                                    <p:animEffect transition="in" filter="fade">
                                      <p:cBhvr>
                                        <p:cTn id="86" dur="650"/>
                                        <p:tgtEl>
                                          <p:spTgt spid="23"/>
                                        </p:tgtEl>
                                      </p:cBhvr>
                                    </p:animEffect>
                                    <p:anim calcmode="lin" valueType="num">
                                      <p:cBhvr additive="base">
                                        <p:cTn id="87" dur="650" fill="hold"/>
                                        <p:tgtEl>
                                          <p:spTgt spid="23"/>
                                        </p:tgtEl>
                                        <p:attrNameLst>
                                          <p:attrName>ppt_x</p:attrName>
                                        </p:attrNameLst>
                                      </p:cBhvr>
                                      <p:tavLst>
                                        <p:tav tm="0">
                                          <p:val>
                                            <p:strVal val="#ppt_x-.06"/>
                                          </p:val>
                                        </p:tav>
                                        <p:tav tm="100000">
                                          <p:val>
                                            <p:strVal val="#ppt_x"/>
                                          </p:val>
                                        </p:tav>
                                      </p:tavLst>
                                    </p:anim>
                                    <p:anim calcmode="lin" valueType="num">
                                      <p:cBhvr additive="base">
                                        <p:cTn id="88" dur="650" fill="hold"/>
                                        <p:tgtEl>
                                          <p:spTgt spid="23"/>
                                        </p:tgtEl>
                                        <p:attrNameLst>
                                          <p:attrName>ppt_y</p:attrName>
                                        </p:attrNameLst>
                                      </p:cBhvr>
                                      <p:tavLst>
                                        <p:tav tm="0">
                                          <p:val>
                                            <p:strVal val="#ppt_y"/>
                                          </p:val>
                                        </p:tav>
                                        <p:tav tm="100000">
                                          <p:val>
                                            <p:strVal val="#ppt_y"/>
                                          </p:val>
                                        </p:tav>
                                      </p:tavLst>
                                    </p:anim>
                                  </p:childTnLst>
                                </p:cTn>
                              </p:par>
                              <p:par>
                                <p:cTn id="94" presetID="42" presetClass="entr" presetSubtype="0" fill="hold" grpId="0" nodeType="withEffect">
                                  <p:stCondLst>
                                    <p:cond delay="2280"/>
                                  </p:stCondLst>
                                  <p:childTnLst>
                                    <p:set>
                                      <p:cBhvr>
                                        <p:cTn id="95" dur="1" fill="hold">
                                          <p:stCondLst>
                                            <p:cond delay="0"/>
                                          </p:stCondLst>
                                        </p:cTn>
                                        <p:tgtEl>
                                          <p:spTgt spid="24"/>
                                        </p:tgtEl>
                                        <p:attrNameLst>
                                          <p:attrName>style.visibility</p:attrName>
                                        </p:attrNameLst>
                                      </p:cBhvr>
                                      <p:to>
                                        <p:strVal val="visible"/>
                                      </p:to>
                                    </p:set>
                                    <p:animEffect transition="in" filter="fade">
                                      <p:cBhvr>
                                        <p:cTn id="91" dur="650"/>
                                        <p:tgtEl>
                                          <p:spTgt spid="24"/>
                                        </p:tgtEl>
                                      </p:cBhvr>
                                    </p:animEffect>
                                    <p:anim calcmode="lin" valueType="num">
                                      <p:cBhvr additive="base">
                                        <p:cTn id="92" dur="650" fill="hold"/>
                                        <p:tgtEl>
                                          <p:spTgt spid="24"/>
                                        </p:tgtEl>
                                        <p:attrNameLst>
                                          <p:attrName>ppt_x</p:attrName>
                                        </p:attrNameLst>
                                      </p:cBhvr>
                                      <p:tavLst>
                                        <p:tav tm="0">
                                          <p:val>
                                            <p:strVal val="#ppt_x-.06"/>
                                          </p:val>
                                        </p:tav>
                                        <p:tav tm="100000">
                                          <p:val>
                                            <p:strVal val="#ppt_x"/>
                                          </p:val>
                                        </p:tav>
                                      </p:tavLst>
                                    </p:anim>
                                    <p:anim calcmode="lin" valueType="num">
                                      <p:cBhvr additive="base">
                                        <p:cTn id="93" dur="65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5" grpId="0" animBg="1"/>
      <p:bldP spid="16" grpId="0" animBg="1"/>
      <p:bldP spid="19" grpId="0" animBg="1"/>
      <p:bldP spid="20" grpId="0" animBg="1"/>
      <p:bldP spid="23" grpId="0" animBg="1"/>
      <p:bldP spid="2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7406640" y="-1005840"/>
            <a:ext cx="2560320" cy="2560320"/>
          </a:xfrm>
          <a:prstGeom prst="rect">
            <a:avLst/>
          </a:prstGeom>
        </p:spPr>
      </p:pic>
      <p:sp>
        <p:nvSpPr>
          <p:cNvPr id="3" name="Text 0"/>
          <p:cNvSpPr txBox="1"/>
          <p:nvPr/>
        </p:nvSpPr>
        <p:spPr>
          <a:xfrm>
            <a:off x="457200" y="274320"/>
            <a:ext cx="6858000" cy="228600"/>
          </a:xfrm>
          <a:prstGeom prst="rect">
            <a:avLst/>
          </a:prstGeom>
          <a:noFill/>
          <a:ln/>
        </p:spPr>
        <p:txBody>
          <a:bodyPr wrap="square" lIns="0" tIns="0" rIns="0" bIns="0" rtlCol="0" anchor="t"/>
          <a:lstStyle/>
          <a:p>
            <a:pPr indent="0" marL="0">
              <a:buNone/>
            </a:pPr>
            <a:r>
              <a:rPr lang="en-US" sz="1050" b="1" spc="200" kern="0" dirty="0">
                <a:solidFill>
                  <a:srgbClr val="1E9E6A"/>
                </a:solidFill>
                <a:latin typeface="Calibri" pitchFamily="34" charset="0"/>
                <a:ea typeface="Calibri" pitchFamily="34" charset="-122"/>
                <a:cs typeface="Calibri" pitchFamily="34" charset="-120"/>
              </a:rPr>
              <a:t>II · 2.2 — AVANTAGES</a:t>
            </a:r>
            <a:endParaRPr lang="en-US" sz="1050" dirty="0"/>
          </a:p>
        </p:txBody>
      </p:sp>
      <p:sp>
        <p:nvSpPr>
          <p:cNvPr id="4" name="Text 1"/>
          <p:cNvSpPr txBox="1"/>
          <p:nvPr/>
        </p:nvSpPr>
        <p:spPr>
          <a:xfrm>
            <a:off x="457200" y="502920"/>
            <a:ext cx="7863840" cy="548640"/>
          </a:xfrm>
          <a:prstGeom prst="rect">
            <a:avLst/>
          </a:prstGeom>
          <a:noFill/>
          <a:ln/>
        </p:spPr>
        <p:txBody>
          <a:bodyPr wrap="square" lIns="0" tIns="0" rIns="0" bIns="0" rtlCol="0" anchor="ctr"/>
          <a:lstStyle/>
          <a:p>
            <a:pPr indent="0" marL="0">
              <a:buNone/>
            </a:pPr>
            <a:r>
              <a:rPr lang="en-US" sz="2600" b="1" dirty="0">
                <a:solidFill>
                  <a:srgbClr val="0B1F4B"/>
                </a:solidFill>
                <a:latin typeface="Cambria" pitchFamily="34" charset="0"/>
                <a:ea typeface="Cambria" pitchFamily="34" charset="-122"/>
                <a:cs typeface="Cambria" pitchFamily="34" charset="-120"/>
              </a:rPr>
              <a:t>Des entreprises plus fortes, plus de concurrence</a:t>
            </a:r>
            <a:endParaRPr lang="en-US" sz="2600" dirty="0"/>
          </a:p>
        </p:txBody>
      </p:sp>
      <p:sp>
        <p:nvSpPr>
          <p:cNvPr id="5" name="Text 2"/>
          <p:cNvSpPr txBox="1"/>
          <p:nvPr/>
        </p:nvSpPr>
        <p:spPr>
          <a:xfrm>
            <a:off x="8321040" y="4773168"/>
            <a:ext cx="365760" cy="228600"/>
          </a:xfrm>
          <a:prstGeom prst="rect">
            <a:avLst/>
          </a:prstGeom>
          <a:noFill/>
          <a:ln/>
        </p:spPr>
        <p:txBody>
          <a:bodyPr wrap="square" lIns="0" tIns="0" rIns="0" bIns="0" rtlCol="0" anchor="t"/>
          <a:lstStyle/>
          <a:p>
            <a:pPr algn="r" indent="0" marL="0">
              <a:buNone/>
            </a:pPr>
            <a:r>
              <a:rPr lang="en-US" sz="1000" dirty="0">
                <a:solidFill>
                  <a:srgbClr val="5B6478"/>
                </a:solidFill>
                <a:latin typeface="Calibri" pitchFamily="34" charset="0"/>
                <a:ea typeface="Calibri" pitchFamily="34" charset="-122"/>
                <a:cs typeface="Calibri" pitchFamily="34" charset="-120"/>
              </a:rPr>
              <a:t>15</a:t>
            </a:r>
            <a:endParaRPr lang="en-US" sz="1000" dirty="0"/>
          </a:p>
        </p:txBody>
      </p:sp>
      <p:sp>
        <p:nvSpPr>
          <p:cNvPr id="6" name="A1-zoom-224"/>
          <p:cNvSpPr txBox="1"/>
          <p:nvPr/>
        </p:nvSpPr>
        <p:spPr>
          <a:xfrm>
            <a:off x="457200" y="1280160"/>
            <a:ext cx="1828800" cy="566928"/>
          </a:xfrm>
          <a:prstGeom prst="rect">
            <a:avLst/>
          </a:prstGeom>
          <a:noFill/>
          <a:ln/>
        </p:spPr>
        <p:txBody>
          <a:bodyPr wrap="square" lIns="0" tIns="0" rIns="0" bIns="0" rtlCol="0" anchor="t"/>
          <a:lstStyle/>
          <a:p>
            <a:pPr indent="0" marL="0">
              <a:buNone/>
            </a:pPr>
            <a:r>
              <a:rPr lang="en-US" sz="3000" b="1" dirty="0">
                <a:solidFill>
                  <a:srgbClr val="1E9E6A"/>
                </a:solidFill>
                <a:latin typeface="Cambria" pitchFamily="34" charset="0"/>
                <a:ea typeface="Cambria" pitchFamily="34" charset="-122"/>
                <a:cs typeface="Cambria" pitchFamily="34" charset="-120"/>
              </a:rPr>
              <a:t>450 M</a:t>
            </a:r>
            <a:endParaRPr lang="en-US" sz="3000" dirty="0"/>
          </a:p>
        </p:txBody>
      </p:sp>
      <p:sp>
        <p:nvSpPr>
          <p:cNvPr id="7" name="A1-fade-225"/>
          <p:cNvSpPr txBox="1"/>
          <p:nvPr/>
        </p:nvSpPr>
        <p:spPr>
          <a:xfrm>
            <a:off x="457200" y="1865376"/>
            <a:ext cx="1828800" cy="457200"/>
          </a:xfrm>
          <a:prstGeom prst="rect">
            <a:avLst/>
          </a:prstGeom>
          <a:noFill/>
          <a:ln/>
        </p:spPr>
        <p:txBody>
          <a:bodyPr wrap="square" lIns="0" tIns="0" rIns="0" bIns="0" rtlCol="0" anchor="t"/>
          <a:lstStyle/>
          <a:p>
            <a:pPr indent="0" marL="0">
              <a:buNone/>
            </a:pPr>
            <a:r>
              <a:rPr lang="en-US" sz="1150" dirty="0">
                <a:solidFill>
                  <a:srgbClr val="5B6478"/>
                </a:solidFill>
                <a:latin typeface="Calibri" pitchFamily="34" charset="0"/>
                <a:ea typeface="Calibri" pitchFamily="34" charset="-122"/>
                <a:cs typeface="Calibri" pitchFamily="34" charset="-120"/>
              </a:rPr>
              <a:t>clients potentiels : des économies d'échelle (rapport Cecchini, 1988)</a:t>
            </a:r>
            <a:endParaRPr lang="en-US" sz="1150" dirty="0"/>
          </a:p>
        </p:txBody>
      </p:sp>
      <p:sp>
        <p:nvSpPr>
          <p:cNvPr id="8" name="A2-zoom-226"/>
          <p:cNvSpPr txBox="1"/>
          <p:nvPr/>
        </p:nvSpPr>
        <p:spPr>
          <a:xfrm>
            <a:off x="2514600" y="1280160"/>
            <a:ext cx="1737360" cy="566928"/>
          </a:xfrm>
          <a:prstGeom prst="rect">
            <a:avLst/>
          </a:prstGeom>
          <a:noFill/>
          <a:ln/>
        </p:spPr>
        <p:txBody>
          <a:bodyPr wrap="square" lIns="0" tIns="0" rIns="0" bIns="0" rtlCol="0" anchor="t"/>
          <a:lstStyle/>
          <a:p>
            <a:pPr indent="0" marL="0">
              <a:buNone/>
            </a:pPr>
            <a:r>
              <a:rPr lang="en-US" sz="3000" b="1" dirty="0">
                <a:solidFill>
                  <a:srgbClr val="1E9E6A"/>
                </a:solidFill>
                <a:latin typeface="Cambria" pitchFamily="34" charset="0"/>
                <a:ea typeface="Cambria" pitchFamily="34" charset="-122"/>
                <a:cs typeface="Cambria" pitchFamily="34" charset="-120"/>
              </a:rPr>
              <a:t>70 %</a:t>
            </a:r>
            <a:endParaRPr lang="en-US" sz="3000" dirty="0"/>
          </a:p>
        </p:txBody>
      </p:sp>
      <p:sp>
        <p:nvSpPr>
          <p:cNvPr id="9" name="A2-fade-227"/>
          <p:cNvSpPr txBox="1"/>
          <p:nvPr/>
        </p:nvSpPr>
        <p:spPr>
          <a:xfrm>
            <a:off x="2514600" y="1865376"/>
            <a:ext cx="1737360" cy="457200"/>
          </a:xfrm>
          <a:prstGeom prst="rect">
            <a:avLst/>
          </a:prstGeom>
          <a:noFill/>
          <a:ln/>
        </p:spPr>
        <p:txBody>
          <a:bodyPr wrap="square" lIns="0" tIns="0" rIns="0" bIns="0" rtlCol="0" anchor="t"/>
          <a:lstStyle/>
          <a:p>
            <a:pPr indent="0" marL="0">
              <a:buNone/>
            </a:pPr>
            <a:r>
              <a:rPr lang="en-US" sz="1150" dirty="0">
                <a:solidFill>
                  <a:srgbClr val="5B6478"/>
                </a:solidFill>
                <a:latin typeface="Calibri" pitchFamily="34" charset="0"/>
                <a:ea typeface="Calibri" pitchFamily="34" charset="-122"/>
                <a:cs typeface="Calibri" pitchFamily="34" charset="-120"/>
              </a:rPr>
              <a:t>des exportations de biens des PME se font dans le marché unique</a:t>
            </a:r>
            <a:endParaRPr lang="en-US" sz="1150" dirty="0"/>
          </a:p>
        </p:txBody>
      </p:sp>
      <p:sp>
        <p:nvSpPr>
          <p:cNvPr id="10" name="A3-zoom-228"/>
          <p:cNvSpPr txBox="1"/>
          <p:nvPr/>
        </p:nvSpPr>
        <p:spPr>
          <a:xfrm>
            <a:off x="4480560" y="1280160"/>
            <a:ext cx="1737360" cy="566928"/>
          </a:xfrm>
          <a:prstGeom prst="rect">
            <a:avLst/>
          </a:prstGeom>
          <a:noFill/>
          <a:ln/>
        </p:spPr>
        <p:txBody>
          <a:bodyPr wrap="square" lIns="0" tIns="0" rIns="0" bIns="0" rtlCol="0" anchor="t"/>
          <a:lstStyle/>
          <a:p>
            <a:pPr indent="0" marL="0">
              <a:buNone/>
            </a:pPr>
            <a:r>
              <a:rPr lang="en-US" sz="3000" b="1" dirty="0">
                <a:solidFill>
                  <a:srgbClr val="1E9E6A"/>
                </a:solidFill>
                <a:latin typeface="Cambria" pitchFamily="34" charset="0"/>
                <a:ea typeface="Cambria" pitchFamily="34" charset="-122"/>
                <a:cs typeface="Cambria" pitchFamily="34" charset="-120"/>
              </a:rPr>
              <a:t>80 %</a:t>
            </a:r>
            <a:endParaRPr lang="en-US" sz="3000" dirty="0"/>
          </a:p>
        </p:txBody>
      </p:sp>
      <p:sp>
        <p:nvSpPr>
          <p:cNvPr id="11" name="A3-fade-229"/>
          <p:cNvSpPr txBox="1"/>
          <p:nvPr/>
        </p:nvSpPr>
        <p:spPr>
          <a:xfrm>
            <a:off x="4480560" y="1865376"/>
            <a:ext cx="1737360" cy="457200"/>
          </a:xfrm>
          <a:prstGeom prst="rect">
            <a:avLst/>
          </a:prstGeom>
          <a:noFill/>
          <a:ln/>
        </p:spPr>
        <p:txBody>
          <a:bodyPr wrap="square" lIns="0" tIns="0" rIns="0" bIns="0" rtlCol="0" anchor="t"/>
          <a:lstStyle/>
          <a:p>
            <a:pPr indent="0" marL="0">
              <a:buNone/>
            </a:pPr>
            <a:r>
              <a:rPr lang="en-US" sz="1150" dirty="0">
                <a:solidFill>
                  <a:srgbClr val="5B6478"/>
                </a:solidFill>
                <a:latin typeface="Calibri" pitchFamily="34" charset="0"/>
                <a:ea typeface="Calibri" pitchFamily="34" charset="-122"/>
                <a:cs typeface="Calibri" pitchFamily="34" charset="-120"/>
              </a:rPr>
              <a:t>des PME exportatrices vendent dans d'autres États membres</a:t>
            </a:r>
            <a:endParaRPr lang="en-US" sz="1150" dirty="0"/>
          </a:p>
        </p:txBody>
      </p:sp>
      <p:sp>
        <p:nvSpPr>
          <p:cNvPr id="12" name="A4-fadeleft-230"/>
          <p:cNvSpPr/>
          <p:nvPr/>
        </p:nvSpPr>
        <p:spPr>
          <a:xfrm>
            <a:off x="6446520" y="1280160"/>
            <a:ext cx="2240280" cy="1234440"/>
          </a:xfrm>
          <a:prstGeom prst="roundRect">
            <a:avLst>
              <a:gd name="adj" fmla="val 8889"/>
            </a:avLst>
          </a:prstGeom>
          <a:solidFill>
            <a:srgbClr val="0B1F4B"/>
          </a:solidFill>
          <a:ln w="12700">
            <a:solidFill>
              <a:srgbClr val="0B1F4B"/>
            </a:solidFill>
            <a:prstDash val="solid"/>
          </a:ln>
          <a:effectLst>
            <a:outerShdw sx="100000" sy="100000" kx="0" ky="0" algn="bl" rotWithShape="0" blurRad="101600" dist="25400" dir="5400000">
              <a:srgbClr val="0B1F4B">
                <a:alpha val="12000"/>
              </a:srgbClr>
            </a:outerShdw>
          </a:effectLst>
        </p:spPr>
      </p:sp>
      <p:sp>
        <p:nvSpPr>
          <p:cNvPr id="13" name="A4-fade-231"/>
          <p:cNvSpPr txBox="1"/>
          <p:nvPr/>
        </p:nvSpPr>
        <p:spPr>
          <a:xfrm>
            <a:off x="6583680" y="1353312"/>
            <a:ext cx="2011680" cy="1115568"/>
          </a:xfrm>
          <a:prstGeom prst="rect">
            <a:avLst/>
          </a:prstGeom>
          <a:noFill/>
          <a:ln/>
        </p:spPr>
        <p:txBody>
          <a:bodyPr wrap="square" lIns="0" tIns="0" rIns="0" bIns="0" rtlCol="0" anchor="t"/>
          <a:lstStyle/>
          <a:p>
            <a:pPr indent="0" marL="0">
              <a:buNone/>
            </a:pPr>
            <a:r>
              <a:rPr lang="en-US" sz="1050" b="1" dirty="0">
                <a:solidFill>
                  <a:srgbClr val="FFC21A"/>
                </a:solidFill>
                <a:latin typeface="Calibri" pitchFamily="34" charset="0"/>
                <a:ea typeface="Calibri" pitchFamily="34" charset="-122"/>
                <a:cs typeface="Calibri" pitchFamily="34" charset="-120"/>
              </a:rPr>
              <a:t>Homologation unique
</a:t>
            </a:r>
            <a:pPr indent="0" marL="0">
              <a:buNone/>
            </a:pPr>
            <a:r>
              <a:rPr lang="en-US" sz="1050" dirty="0">
                <a:solidFill>
                  <a:srgbClr val="E1E8F7"/>
                </a:solidFill>
                <a:latin typeface="Calibri" pitchFamily="34" charset="0"/>
                <a:ea typeface="Calibri" pitchFamily="34" charset="-122"/>
                <a:cs typeface="Calibri" pitchFamily="34" charset="-120"/>
              </a:rPr>
              <a:t>Un modèle de voiture homologué une seule fois pour toute l'UE (règlement 2018/858)</a:t>
            </a:r>
            <a:endParaRPr lang="en-US" sz="1050" dirty="0"/>
          </a:p>
        </p:txBody>
      </p:sp>
      <p:sp>
        <p:nvSpPr>
          <p:cNvPr id="14" name="A5-fade-232"/>
          <p:cNvSpPr txBox="1"/>
          <p:nvPr/>
        </p:nvSpPr>
        <p:spPr>
          <a:xfrm>
            <a:off x="457200" y="2788920"/>
            <a:ext cx="8229600" cy="320040"/>
          </a:xfrm>
          <a:prstGeom prst="rect">
            <a:avLst/>
          </a:prstGeom>
          <a:noFill/>
          <a:ln/>
        </p:spPr>
        <p:txBody>
          <a:bodyPr wrap="square" lIns="0" tIns="0" rIns="0" bIns="0" rtlCol="0" anchor="t"/>
          <a:lstStyle/>
          <a:p>
            <a:pPr indent="0" marL="0">
              <a:buNone/>
            </a:pPr>
            <a:r>
              <a:rPr lang="en-US" sz="1400" b="1" dirty="0">
                <a:solidFill>
                  <a:srgbClr val="0B1F4B"/>
                </a:solidFill>
                <a:latin typeface="Calibri" pitchFamily="34" charset="0"/>
                <a:ea typeface="Calibri" pitchFamily="34" charset="-122"/>
                <a:cs typeface="Calibri" pitchFamily="34" charset="-120"/>
              </a:rPr>
              <a:t>Une chaîne de valeur automobile transfrontalière</a:t>
            </a:r>
            <a:endParaRPr lang="en-US" sz="1400" dirty="0"/>
          </a:p>
        </p:txBody>
      </p:sp>
      <p:sp>
        <p:nvSpPr>
          <p:cNvPr id="15" name="A6-fadeleft-233"/>
          <p:cNvSpPr/>
          <p:nvPr/>
        </p:nvSpPr>
        <p:spPr>
          <a:xfrm>
            <a:off x="457200" y="3246120"/>
            <a:ext cx="1417320" cy="685800"/>
          </a:xfrm>
          <a:prstGeom prst="chevron">
            <a:avLst/>
          </a:prstGeom>
          <a:solidFill>
            <a:srgbClr val="13306E"/>
          </a:solidFill>
          <a:ln w="12700">
            <a:solidFill>
              <a:srgbClr val="FFFFFF"/>
            </a:solidFill>
            <a:prstDash val="solid"/>
          </a:ln>
        </p:spPr>
      </p:sp>
      <p:sp>
        <p:nvSpPr>
          <p:cNvPr id="16" name="A6-fadeleft-234"/>
          <p:cNvSpPr txBox="1"/>
          <p:nvPr/>
        </p:nvSpPr>
        <p:spPr>
          <a:xfrm>
            <a:off x="685800" y="3246120"/>
            <a:ext cx="1005840"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Allemagne</a:t>
            </a:r>
            <a:endParaRPr lang="en-US" sz="1150" dirty="0"/>
          </a:p>
        </p:txBody>
      </p:sp>
      <p:sp>
        <p:nvSpPr>
          <p:cNvPr id="17" name="A7-fadeleft-235"/>
          <p:cNvSpPr/>
          <p:nvPr/>
        </p:nvSpPr>
        <p:spPr>
          <a:xfrm>
            <a:off x="1938528" y="3246120"/>
            <a:ext cx="1417320" cy="685800"/>
          </a:xfrm>
          <a:prstGeom prst="chevron">
            <a:avLst/>
          </a:prstGeom>
          <a:solidFill>
            <a:srgbClr val="1F4FA8"/>
          </a:solidFill>
          <a:ln w="12700">
            <a:solidFill>
              <a:srgbClr val="FFFFFF"/>
            </a:solidFill>
            <a:prstDash val="solid"/>
          </a:ln>
        </p:spPr>
      </p:sp>
      <p:sp>
        <p:nvSpPr>
          <p:cNvPr id="18" name="A7-fadeleft-236"/>
          <p:cNvSpPr txBox="1"/>
          <p:nvPr/>
        </p:nvSpPr>
        <p:spPr>
          <a:xfrm>
            <a:off x="2167128" y="3246120"/>
            <a:ext cx="1005840"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Tchéquie</a:t>
            </a:r>
            <a:endParaRPr lang="en-US" sz="1150" dirty="0"/>
          </a:p>
        </p:txBody>
      </p:sp>
      <p:sp>
        <p:nvSpPr>
          <p:cNvPr id="19" name="A8-fadeleft-237"/>
          <p:cNvSpPr/>
          <p:nvPr/>
        </p:nvSpPr>
        <p:spPr>
          <a:xfrm>
            <a:off x="3419856" y="3246120"/>
            <a:ext cx="1417320" cy="685800"/>
          </a:xfrm>
          <a:prstGeom prst="chevron">
            <a:avLst/>
          </a:prstGeom>
          <a:solidFill>
            <a:srgbClr val="13306E"/>
          </a:solidFill>
          <a:ln w="12700">
            <a:solidFill>
              <a:srgbClr val="FFFFFF"/>
            </a:solidFill>
            <a:prstDash val="solid"/>
          </a:ln>
        </p:spPr>
      </p:sp>
      <p:sp>
        <p:nvSpPr>
          <p:cNvPr id="20" name="A8-fadeleft-238"/>
          <p:cNvSpPr txBox="1"/>
          <p:nvPr/>
        </p:nvSpPr>
        <p:spPr>
          <a:xfrm>
            <a:off x="3648456" y="3246120"/>
            <a:ext cx="1005840"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Slovaquie</a:t>
            </a:r>
            <a:endParaRPr lang="en-US" sz="1150" dirty="0"/>
          </a:p>
        </p:txBody>
      </p:sp>
      <p:sp>
        <p:nvSpPr>
          <p:cNvPr id="21" name="A9-fadeleft-239"/>
          <p:cNvSpPr/>
          <p:nvPr/>
        </p:nvSpPr>
        <p:spPr>
          <a:xfrm>
            <a:off x="4901184" y="3246120"/>
            <a:ext cx="1417320" cy="685800"/>
          </a:xfrm>
          <a:prstGeom prst="chevron">
            <a:avLst/>
          </a:prstGeom>
          <a:solidFill>
            <a:srgbClr val="1F4FA8"/>
          </a:solidFill>
          <a:ln w="12700">
            <a:solidFill>
              <a:srgbClr val="FFFFFF"/>
            </a:solidFill>
            <a:prstDash val="solid"/>
          </a:ln>
        </p:spPr>
      </p:sp>
      <p:sp>
        <p:nvSpPr>
          <p:cNvPr id="22" name="A9-fadeleft-240"/>
          <p:cNvSpPr txBox="1"/>
          <p:nvPr/>
        </p:nvSpPr>
        <p:spPr>
          <a:xfrm>
            <a:off x="5129784" y="3246120"/>
            <a:ext cx="1005840"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Hongrie</a:t>
            </a:r>
            <a:endParaRPr lang="en-US" sz="1150" dirty="0"/>
          </a:p>
        </p:txBody>
      </p:sp>
      <p:sp>
        <p:nvSpPr>
          <p:cNvPr id="23" name="A10-fadeleft-241"/>
          <p:cNvSpPr/>
          <p:nvPr/>
        </p:nvSpPr>
        <p:spPr>
          <a:xfrm>
            <a:off x="6382512" y="3246120"/>
            <a:ext cx="1417320" cy="685800"/>
          </a:xfrm>
          <a:prstGeom prst="chevron">
            <a:avLst/>
          </a:prstGeom>
          <a:solidFill>
            <a:srgbClr val="13306E"/>
          </a:solidFill>
          <a:ln w="12700">
            <a:solidFill>
              <a:srgbClr val="FFFFFF"/>
            </a:solidFill>
            <a:prstDash val="solid"/>
          </a:ln>
        </p:spPr>
      </p:sp>
      <p:sp>
        <p:nvSpPr>
          <p:cNvPr id="24" name="A10-fadeleft-242"/>
          <p:cNvSpPr txBox="1"/>
          <p:nvPr/>
        </p:nvSpPr>
        <p:spPr>
          <a:xfrm>
            <a:off x="6611112" y="3246120"/>
            <a:ext cx="1005840"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Pologne</a:t>
            </a:r>
            <a:endParaRPr lang="en-US" sz="1150" dirty="0"/>
          </a:p>
        </p:txBody>
      </p:sp>
      <p:sp>
        <p:nvSpPr>
          <p:cNvPr id="25" name="A11-zoom-243"/>
          <p:cNvSpPr/>
          <p:nvPr/>
        </p:nvSpPr>
        <p:spPr>
          <a:xfrm>
            <a:off x="8001000" y="3182112"/>
            <a:ext cx="804672" cy="804672"/>
          </a:xfrm>
          <a:prstGeom prst="ellipse">
            <a:avLst/>
          </a:prstGeom>
          <a:solidFill>
            <a:srgbClr val="FFC21A"/>
          </a:solidFill>
          <a:ln w="12700">
            <a:solidFill>
              <a:srgbClr val="FFC21A"/>
            </a:solidFill>
            <a:prstDash val="solid"/>
          </a:ln>
        </p:spPr>
      </p:sp>
      <p:pic>
        <p:nvPicPr>
          <p:cNvPr id="26" name="A11-zoom-244" descr="preencoded.png">    </p:cNvPr>
          <p:cNvPicPr>
            <a:picLocks noChangeAspect="1"/>
          </p:cNvPicPr>
          <p:nvPr/>
        </p:nvPicPr>
        <p:blipFill>
          <a:blip r:embed="rId3"/>
          <a:stretch>
            <a:fillRect/>
          </a:stretch>
        </p:blipFill>
        <p:spPr>
          <a:xfrm>
            <a:off x="8218261" y="3399373"/>
            <a:ext cx="370149" cy="370149"/>
          </a:xfrm>
          <a:prstGeom prst="rect">
            <a:avLst/>
          </a:prstGeom>
        </p:spPr>
      </p:pic>
      <p:sp>
        <p:nvSpPr>
          <p:cNvPr id="27" name="A11-fade-245"/>
          <p:cNvSpPr txBox="1"/>
          <p:nvPr/>
        </p:nvSpPr>
        <p:spPr>
          <a:xfrm>
            <a:off x="457200" y="4114800"/>
            <a:ext cx="7498080" cy="320040"/>
          </a:xfrm>
          <a:prstGeom prst="rect">
            <a:avLst/>
          </a:prstGeom>
          <a:noFill/>
          <a:ln/>
        </p:spPr>
        <p:txBody>
          <a:bodyPr wrap="square" lIns="0" tIns="0" rIns="0" bIns="0" rtlCol="0" anchor="t"/>
          <a:lstStyle/>
          <a:p>
            <a:pPr indent="0" marL="0">
              <a:buNone/>
            </a:pPr>
            <a:r>
              <a:rPr lang="en-US" sz="1150" i="1" dirty="0">
                <a:solidFill>
                  <a:srgbClr val="5B6478"/>
                </a:solidFill>
                <a:latin typeface="Calibri" pitchFamily="34" charset="0"/>
                <a:ea typeface="Calibri" pitchFamily="34" charset="-122"/>
                <a:cs typeface="Calibri" pitchFamily="34" charset="-120"/>
              </a:rPr>
              <a:t>Pièces et composants circulent sans frontières avant l'assemblage final</a:t>
            </a:r>
            <a:endParaRPr lang="en-US" sz="1150" dirty="0"/>
          </a:p>
        </p:txBody>
      </p:sp>
      <p:sp>
        <p:nvSpPr>
          <p:cNvPr id="28" name="A11-fade-246"/>
          <p:cNvSpPr txBox="1"/>
          <p:nvPr/>
        </p:nvSpPr>
        <p:spPr>
          <a:xfrm>
            <a:off x="7726680" y="4041648"/>
            <a:ext cx="1325880" cy="274320"/>
          </a:xfrm>
          <a:prstGeom prst="rect">
            <a:avLst/>
          </a:prstGeom>
          <a:noFill/>
          <a:ln/>
        </p:spPr>
        <p:txBody>
          <a:bodyPr wrap="square" lIns="0" tIns="0" rIns="0" bIns="0" rtlCol="0" anchor="t"/>
          <a:lstStyle/>
          <a:p>
            <a:pPr algn="ctr" indent="0" marL="0">
              <a:buNone/>
            </a:pPr>
            <a:r>
              <a:rPr lang="en-US" sz="1050" b="1" dirty="0">
                <a:solidFill>
                  <a:srgbClr val="B98500"/>
                </a:solidFill>
                <a:latin typeface="Calibri" pitchFamily="34" charset="0"/>
                <a:ea typeface="Calibri" pitchFamily="34" charset="-122"/>
                <a:cs typeface="Calibri" pitchFamily="34" charset="-120"/>
              </a:rPr>
              <a:t>Assemblage</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104" fill="hold">
                      <p:stCondLst>
                        <p:cond delay="indefinite"/>
                        <p:cond evt="onBegin" delay="0">
                          <p:tn val="2"/>
                        </p:cond>
                      </p:stCondLst>
                      <p:childTnLst>
                        <p:par>
                          <p:cTn id="105" fill="hold">
                            <p:stCondLst>
                              <p:cond delay="0"/>
                            </p:stCondLst>
                            <p:childTnLst>
                              <p:par>
                                <p:cTn id="6" presetID="53" presetClass="entr" presetSubtype="16" fill="hold" grpId="0" nodeType="withEffect">
                                  <p:stCondLst>
                                    <p:cond delay="380"/>
                                  </p:stCondLst>
                                  <p:childTnLst>
                                    <p:set>
                                      <p:cBhvr>
                                        <p:cTn id="7" dur="1" fill="hold">
                                          <p:stCondLst>
                                            <p:cond delay="0"/>
                                          </p:stCondLst>
                                        </p:cTn>
                                        <p:tgtEl>
                                          <p:spTgt spid="6"/>
                                        </p:tgtEl>
                                        <p:attrNameLst>
                                          <p:attrName>style.visibility</p:attrName>
                                        </p:attrNameLst>
                                      </p:cBhvr>
                                      <p:to>
                                        <p:strVal val="visible"/>
                                      </p:to>
                                    </p:set>
                                    <p:anim calcmode="lin" valueType="num">
                                      <p:cBhvr additive="base">
                                        <p:cTn id="3" dur="550" fill="hold"/>
                                        <p:tgtEl>
                                          <p:spTgt spid="6"/>
                                        </p:tgtEl>
                                        <p:attrNameLst>
                                          <p:attrName>ppt_w</p:attrName>
                                        </p:attrNameLst>
                                      </p:cBhvr>
                                      <p:tavLst>
                                        <p:tav tm="0">
                                          <p:val>
                                            <p:strVal val="0"/>
                                          </p:val>
                                        </p:tav>
                                        <p:tav tm="100000">
                                          <p:val>
                                            <p:strVal val="#ppt_w"/>
                                          </p:val>
                                        </p:tav>
                                      </p:tavLst>
                                    </p:anim>
                                    <p:anim calcmode="lin" valueType="num">
                                      <p:cBhvr additive="base">
                                        <p:cTn id="4" dur="550" fill="hold"/>
                                        <p:tgtEl>
                                          <p:spTgt spid="6"/>
                                        </p:tgtEl>
                                        <p:attrNameLst>
                                          <p:attrName>ppt_h</p:attrName>
                                        </p:attrNameLst>
                                      </p:cBhvr>
                                      <p:tavLst>
                                        <p:tav tm="0">
                                          <p:val>
                                            <p:strVal val="0"/>
                                          </p:val>
                                        </p:tav>
                                        <p:tav tm="100000">
                                          <p:val>
                                            <p:strVal val="#ppt_h"/>
                                          </p:val>
                                        </p:tav>
                                      </p:tavLst>
                                    </p:anim>
                                    <p:animEffect transition="in" filter="fade">
                                      <p:cBhvr>
                                        <p:cTn id="5" dur="550"/>
                                        <p:tgtEl>
                                          <p:spTgt spid="6"/>
                                        </p:tgtEl>
                                      </p:cBhvr>
                                    </p:animEffect>
                                  </p:childTnLst>
                                </p:cTn>
                              </p:par>
                              <p:par>
                                <p:cTn id="9" presetID="10" presetClass="entr" presetSubtype="0" fill="hold" grpId="0" nodeType="withEffect">
                                  <p:stCondLst>
                                    <p:cond delay="380"/>
                                  </p:stCondLst>
                                  <p:childTnLst>
                                    <p:set>
                                      <p:cBhvr>
                                        <p:cTn id="10" dur="1" fill="hold">
                                          <p:stCondLst>
                                            <p:cond delay="0"/>
                                          </p:stCondLst>
                                        </p:cTn>
                                        <p:tgtEl>
                                          <p:spTgt spid="7"/>
                                        </p:tgtEl>
                                        <p:attrNameLst>
                                          <p:attrName>style.visibility</p:attrName>
                                        </p:attrNameLst>
                                      </p:cBhvr>
                                      <p:to>
                                        <p:strVal val="visible"/>
                                      </p:to>
                                    </p:set>
                                    <p:animEffect transition="in" filter="fade">
                                      <p:cBhvr>
                                        <p:cTn id="8" dur="600"/>
                                        <p:tgtEl>
                                          <p:spTgt spid="7"/>
                                        </p:tgtEl>
                                      </p:cBhvr>
                                    </p:animEffect>
                                  </p:childTnLst>
                                </p:cTn>
                              </p:par>
                              <p:par>
                                <p:cTn id="14" presetID="53" presetClass="entr" presetSubtype="16" fill="hold" grpId="0" nodeType="withEffect">
                                  <p:stCondLst>
                                    <p:cond delay="76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1" dur="550" fill="hold"/>
                                        <p:tgtEl>
                                          <p:spTgt spid="8"/>
                                        </p:tgtEl>
                                        <p:attrNameLst>
                                          <p:attrName>ppt_w</p:attrName>
                                        </p:attrNameLst>
                                      </p:cBhvr>
                                      <p:tavLst>
                                        <p:tav tm="0">
                                          <p:val>
                                            <p:strVal val="0"/>
                                          </p:val>
                                        </p:tav>
                                        <p:tav tm="100000">
                                          <p:val>
                                            <p:strVal val="#ppt_w"/>
                                          </p:val>
                                        </p:tav>
                                      </p:tavLst>
                                    </p:anim>
                                    <p:anim calcmode="lin" valueType="num">
                                      <p:cBhvr additive="base">
                                        <p:cTn id="12" dur="550" fill="hold"/>
                                        <p:tgtEl>
                                          <p:spTgt spid="8"/>
                                        </p:tgtEl>
                                        <p:attrNameLst>
                                          <p:attrName>ppt_h</p:attrName>
                                        </p:attrNameLst>
                                      </p:cBhvr>
                                      <p:tavLst>
                                        <p:tav tm="0">
                                          <p:val>
                                            <p:strVal val="0"/>
                                          </p:val>
                                        </p:tav>
                                        <p:tav tm="100000">
                                          <p:val>
                                            <p:strVal val="#ppt_h"/>
                                          </p:val>
                                        </p:tav>
                                      </p:tavLst>
                                    </p:anim>
                                    <p:animEffect transition="in" filter="fade">
                                      <p:cBhvr>
                                        <p:cTn id="13" dur="550"/>
                                        <p:tgtEl>
                                          <p:spTgt spid="8"/>
                                        </p:tgtEl>
                                      </p:cBhvr>
                                    </p:animEffect>
                                  </p:childTnLst>
                                </p:cTn>
                              </p:par>
                              <p:par>
                                <p:cTn id="17" presetID="10" presetClass="entr" presetSubtype="0" fill="hold" grpId="0" nodeType="withEffect">
                                  <p:stCondLst>
                                    <p:cond delay="760"/>
                                  </p:stCondLst>
                                  <p:childTnLst>
                                    <p:set>
                                      <p:cBhvr>
                                        <p:cTn id="18" dur="1" fill="hold">
                                          <p:stCondLst>
                                            <p:cond delay="0"/>
                                          </p:stCondLst>
                                        </p:cTn>
                                        <p:tgtEl>
                                          <p:spTgt spid="9"/>
                                        </p:tgtEl>
                                        <p:attrNameLst>
                                          <p:attrName>style.visibility</p:attrName>
                                        </p:attrNameLst>
                                      </p:cBhvr>
                                      <p:to>
                                        <p:strVal val="visible"/>
                                      </p:to>
                                    </p:set>
                                    <p:animEffect transition="in" filter="fade">
                                      <p:cBhvr>
                                        <p:cTn id="16" dur="600"/>
                                        <p:tgtEl>
                                          <p:spTgt spid="9"/>
                                        </p:tgtEl>
                                      </p:cBhvr>
                                    </p:animEffect>
                                  </p:childTnLst>
                                </p:cTn>
                              </p:par>
                              <p:par>
                                <p:cTn id="22" presetID="53" presetClass="entr" presetSubtype="16" fill="hold" grpId="0" nodeType="withEffect">
                                  <p:stCondLst>
                                    <p:cond delay="1140"/>
                                  </p:stCondLst>
                                  <p:childTnLst>
                                    <p:set>
                                      <p:cBhvr>
                                        <p:cTn id="23" dur="1" fill="hold">
                                          <p:stCondLst>
                                            <p:cond delay="0"/>
                                          </p:stCondLst>
                                        </p:cTn>
                                        <p:tgtEl>
                                          <p:spTgt spid="10"/>
                                        </p:tgtEl>
                                        <p:attrNameLst>
                                          <p:attrName>style.visibility</p:attrName>
                                        </p:attrNameLst>
                                      </p:cBhvr>
                                      <p:to>
                                        <p:strVal val="visible"/>
                                      </p:to>
                                    </p:set>
                                    <p:anim calcmode="lin" valueType="num">
                                      <p:cBhvr additive="base">
                                        <p:cTn id="19" dur="550" fill="hold"/>
                                        <p:tgtEl>
                                          <p:spTgt spid="10"/>
                                        </p:tgtEl>
                                        <p:attrNameLst>
                                          <p:attrName>ppt_w</p:attrName>
                                        </p:attrNameLst>
                                      </p:cBhvr>
                                      <p:tavLst>
                                        <p:tav tm="0">
                                          <p:val>
                                            <p:strVal val="0"/>
                                          </p:val>
                                        </p:tav>
                                        <p:tav tm="100000">
                                          <p:val>
                                            <p:strVal val="#ppt_w"/>
                                          </p:val>
                                        </p:tav>
                                      </p:tavLst>
                                    </p:anim>
                                    <p:anim calcmode="lin" valueType="num">
                                      <p:cBhvr additive="base">
                                        <p:cTn id="20" dur="550" fill="hold"/>
                                        <p:tgtEl>
                                          <p:spTgt spid="10"/>
                                        </p:tgtEl>
                                        <p:attrNameLst>
                                          <p:attrName>ppt_h</p:attrName>
                                        </p:attrNameLst>
                                      </p:cBhvr>
                                      <p:tavLst>
                                        <p:tav tm="0">
                                          <p:val>
                                            <p:strVal val="0"/>
                                          </p:val>
                                        </p:tav>
                                        <p:tav tm="100000">
                                          <p:val>
                                            <p:strVal val="#ppt_h"/>
                                          </p:val>
                                        </p:tav>
                                      </p:tavLst>
                                    </p:anim>
                                    <p:animEffect transition="in" filter="fade">
                                      <p:cBhvr>
                                        <p:cTn id="21" dur="550"/>
                                        <p:tgtEl>
                                          <p:spTgt spid="10"/>
                                        </p:tgtEl>
                                      </p:cBhvr>
                                    </p:animEffect>
                                  </p:childTnLst>
                                </p:cTn>
                              </p:par>
                              <p:par>
                                <p:cTn id="25" presetID="10" presetClass="entr" presetSubtype="0" fill="hold" grpId="0" nodeType="withEffect">
                                  <p:stCondLst>
                                    <p:cond delay="1140"/>
                                  </p:stCondLst>
                                  <p:childTnLst>
                                    <p:set>
                                      <p:cBhvr>
                                        <p:cTn id="26" dur="1" fill="hold">
                                          <p:stCondLst>
                                            <p:cond delay="0"/>
                                          </p:stCondLst>
                                        </p:cTn>
                                        <p:tgtEl>
                                          <p:spTgt spid="11"/>
                                        </p:tgtEl>
                                        <p:attrNameLst>
                                          <p:attrName>style.visibility</p:attrName>
                                        </p:attrNameLst>
                                      </p:cBhvr>
                                      <p:to>
                                        <p:strVal val="visible"/>
                                      </p:to>
                                    </p:set>
                                    <p:animEffect transition="in" filter="fade">
                                      <p:cBhvr>
                                        <p:cTn id="24" dur="600"/>
                                        <p:tgtEl>
                                          <p:spTgt spid="11"/>
                                        </p:tgtEl>
                                      </p:cBhvr>
                                    </p:animEffect>
                                  </p:childTnLst>
                                </p:cTn>
                              </p:par>
                              <p:par>
                                <p:cTn id="30" presetID="42" presetClass="entr" presetSubtype="0" fill="hold" grpId="0" nodeType="withEffect">
                                  <p:stCondLst>
                                    <p:cond delay="1520"/>
                                  </p:stCondLst>
                                  <p:childTnLst>
                                    <p:set>
                                      <p:cBhvr>
                                        <p:cTn id="31" dur="1" fill="hold">
                                          <p:stCondLst>
                                            <p:cond delay="0"/>
                                          </p:stCondLst>
                                        </p:cTn>
                                        <p:tgtEl>
                                          <p:spTgt spid="12"/>
                                        </p:tgtEl>
                                        <p:attrNameLst>
                                          <p:attrName>style.visibility</p:attrName>
                                        </p:attrNameLst>
                                      </p:cBhvr>
                                      <p:to>
                                        <p:strVal val="visible"/>
                                      </p:to>
                                    </p:set>
                                    <p:animEffect transition="in" filter="fade">
                                      <p:cBhvr>
                                        <p:cTn id="27" dur="650"/>
                                        <p:tgtEl>
                                          <p:spTgt spid="12"/>
                                        </p:tgtEl>
                                      </p:cBhvr>
                                    </p:animEffect>
                                    <p:anim calcmode="lin" valueType="num">
                                      <p:cBhvr additive="base">
                                        <p:cTn id="28" dur="650" fill="hold"/>
                                        <p:tgtEl>
                                          <p:spTgt spid="12"/>
                                        </p:tgtEl>
                                        <p:attrNameLst>
                                          <p:attrName>ppt_x</p:attrName>
                                        </p:attrNameLst>
                                      </p:cBhvr>
                                      <p:tavLst>
                                        <p:tav tm="0">
                                          <p:val>
                                            <p:strVal val="#ppt_x-.06"/>
                                          </p:val>
                                        </p:tav>
                                        <p:tav tm="100000">
                                          <p:val>
                                            <p:strVal val="#ppt_x"/>
                                          </p:val>
                                        </p:tav>
                                      </p:tavLst>
                                    </p:anim>
                                    <p:anim calcmode="lin" valueType="num">
                                      <p:cBhvr additive="base">
                                        <p:cTn id="29" dur="650" fill="hold"/>
                                        <p:tgtEl>
                                          <p:spTgt spid="12"/>
                                        </p:tgtEl>
                                        <p:attrNameLst>
                                          <p:attrName>ppt_y</p:attrName>
                                        </p:attrNameLst>
                                      </p:cBhvr>
                                      <p:tavLst>
                                        <p:tav tm="0">
                                          <p:val>
                                            <p:strVal val="#ppt_y"/>
                                          </p:val>
                                        </p:tav>
                                        <p:tav tm="100000">
                                          <p:val>
                                            <p:strVal val="#ppt_y"/>
                                          </p:val>
                                        </p:tav>
                                      </p:tavLst>
                                    </p:anim>
                                  </p:childTnLst>
                                </p:cTn>
                              </p:par>
                              <p:par>
                                <p:cTn id="33" presetID="10" presetClass="entr" presetSubtype="0" fill="hold" grpId="0" nodeType="withEffect">
                                  <p:stCondLst>
                                    <p:cond delay="1520"/>
                                  </p:stCondLst>
                                  <p:childTnLst>
                                    <p:set>
                                      <p:cBhvr>
                                        <p:cTn id="34" dur="1" fill="hold">
                                          <p:stCondLst>
                                            <p:cond delay="0"/>
                                          </p:stCondLst>
                                        </p:cTn>
                                        <p:tgtEl>
                                          <p:spTgt spid="13"/>
                                        </p:tgtEl>
                                        <p:attrNameLst>
                                          <p:attrName>style.visibility</p:attrName>
                                        </p:attrNameLst>
                                      </p:cBhvr>
                                      <p:to>
                                        <p:strVal val="visible"/>
                                      </p:to>
                                    </p:set>
                                    <p:animEffect transition="in" filter="fade">
                                      <p:cBhvr>
                                        <p:cTn id="32" dur="600"/>
                                        <p:tgtEl>
                                          <p:spTgt spid="13"/>
                                        </p:tgtEl>
                                      </p:cBhvr>
                                    </p:animEffect>
                                  </p:childTnLst>
                                </p:cTn>
                              </p:par>
                              <p:par>
                                <p:cTn id="36" presetID="10" presetClass="entr" presetSubtype="0" fill="hold" grpId="0" nodeType="withEffect">
                                  <p:stCondLst>
                                    <p:cond delay="1900"/>
                                  </p:stCondLst>
                                  <p:childTnLst>
                                    <p:set>
                                      <p:cBhvr>
                                        <p:cTn id="37" dur="1" fill="hold">
                                          <p:stCondLst>
                                            <p:cond delay="0"/>
                                          </p:stCondLst>
                                        </p:cTn>
                                        <p:tgtEl>
                                          <p:spTgt spid="14"/>
                                        </p:tgtEl>
                                        <p:attrNameLst>
                                          <p:attrName>style.visibility</p:attrName>
                                        </p:attrNameLst>
                                      </p:cBhvr>
                                      <p:to>
                                        <p:strVal val="visible"/>
                                      </p:to>
                                    </p:set>
                                    <p:animEffect transition="in" filter="fade">
                                      <p:cBhvr>
                                        <p:cTn id="35" dur="600"/>
                                        <p:tgtEl>
                                          <p:spTgt spid="14"/>
                                        </p:tgtEl>
                                      </p:cBhvr>
                                    </p:animEffect>
                                  </p:childTnLst>
                                </p:cTn>
                              </p:par>
                              <p:par>
                                <p:cTn id="41" presetID="42" presetClass="entr" presetSubtype="0" fill="hold" grpId="0" nodeType="withEffect">
                                  <p:stCondLst>
                                    <p:cond delay="2280"/>
                                  </p:stCondLst>
                                  <p:childTnLst>
                                    <p:set>
                                      <p:cBhvr>
                                        <p:cTn id="42" dur="1" fill="hold">
                                          <p:stCondLst>
                                            <p:cond delay="0"/>
                                          </p:stCondLst>
                                        </p:cTn>
                                        <p:tgtEl>
                                          <p:spTgt spid="15"/>
                                        </p:tgtEl>
                                        <p:attrNameLst>
                                          <p:attrName>style.visibility</p:attrName>
                                        </p:attrNameLst>
                                      </p:cBhvr>
                                      <p:to>
                                        <p:strVal val="visible"/>
                                      </p:to>
                                    </p:set>
                                    <p:animEffect transition="in" filter="fade">
                                      <p:cBhvr>
                                        <p:cTn id="38" dur="650"/>
                                        <p:tgtEl>
                                          <p:spTgt spid="15"/>
                                        </p:tgtEl>
                                      </p:cBhvr>
                                    </p:animEffect>
                                    <p:anim calcmode="lin" valueType="num">
                                      <p:cBhvr additive="base">
                                        <p:cTn id="39" dur="650" fill="hold"/>
                                        <p:tgtEl>
                                          <p:spTgt spid="15"/>
                                        </p:tgtEl>
                                        <p:attrNameLst>
                                          <p:attrName>ppt_x</p:attrName>
                                        </p:attrNameLst>
                                      </p:cBhvr>
                                      <p:tavLst>
                                        <p:tav tm="0">
                                          <p:val>
                                            <p:strVal val="#ppt_x-.06"/>
                                          </p:val>
                                        </p:tav>
                                        <p:tav tm="100000">
                                          <p:val>
                                            <p:strVal val="#ppt_x"/>
                                          </p:val>
                                        </p:tav>
                                      </p:tavLst>
                                    </p:anim>
                                    <p:anim calcmode="lin" valueType="num">
                                      <p:cBhvr additive="base">
                                        <p:cTn id="40" dur="650" fill="hold"/>
                                        <p:tgtEl>
                                          <p:spTgt spid="15"/>
                                        </p:tgtEl>
                                        <p:attrNameLst>
                                          <p:attrName>ppt_y</p:attrName>
                                        </p:attrNameLst>
                                      </p:cBhvr>
                                      <p:tavLst>
                                        <p:tav tm="0">
                                          <p:val>
                                            <p:strVal val="#ppt_y"/>
                                          </p:val>
                                        </p:tav>
                                        <p:tav tm="100000">
                                          <p:val>
                                            <p:strVal val="#ppt_y"/>
                                          </p:val>
                                        </p:tav>
                                      </p:tavLst>
                                    </p:anim>
                                  </p:childTnLst>
                                </p:cTn>
                              </p:par>
                              <p:par>
                                <p:cTn id="46" presetID="42" presetClass="entr" presetSubtype="0" fill="hold" grpId="0" nodeType="withEffect">
                                  <p:stCondLst>
                                    <p:cond delay="2280"/>
                                  </p:stCondLst>
                                  <p:childTnLst>
                                    <p:set>
                                      <p:cBhvr>
                                        <p:cTn id="47" dur="1" fill="hold">
                                          <p:stCondLst>
                                            <p:cond delay="0"/>
                                          </p:stCondLst>
                                        </p:cTn>
                                        <p:tgtEl>
                                          <p:spTgt spid="16"/>
                                        </p:tgtEl>
                                        <p:attrNameLst>
                                          <p:attrName>style.visibility</p:attrName>
                                        </p:attrNameLst>
                                      </p:cBhvr>
                                      <p:to>
                                        <p:strVal val="visible"/>
                                      </p:to>
                                    </p:set>
                                    <p:animEffect transition="in" filter="fade">
                                      <p:cBhvr>
                                        <p:cTn id="43" dur="650"/>
                                        <p:tgtEl>
                                          <p:spTgt spid="16"/>
                                        </p:tgtEl>
                                      </p:cBhvr>
                                    </p:animEffect>
                                    <p:anim calcmode="lin" valueType="num">
                                      <p:cBhvr additive="base">
                                        <p:cTn id="44" dur="650" fill="hold"/>
                                        <p:tgtEl>
                                          <p:spTgt spid="16"/>
                                        </p:tgtEl>
                                        <p:attrNameLst>
                                          <p:attrName>ppt_x</p:attrName>
                                        </p:attrNameLst>
                                      </p:cBhvr>
                                      <p:tavLst>
                                        <p:tav tm="0">
                                          <p:val>
                                            <p:strVal val="#ppt_x-.06"/>
                                          </p:val>
                                        </p:tav>
                                        <p:tav tm="100000">
                                          <p:val>
                                            <p:strVal val="#ppt_x"/>
                                          </p:val>
                                        </p:tav>
                                      </p:tavLst>
                                    </p:anim>
                                    <p:anim calcmode="lin" valueType="num">
                                      <p:cBhvr additive="base">
                                        <p:cTn id="45" dur="650" fill="hold"/>
                                        <p:tgtEl>
                                          <p:spTgt spid="16"/>
                                        </p:tgtEl>
                                        <p:attrNameLst>
                                          <p:attrName>ppt_y</p:attrName>
                                        </p:attrNameLst>
                                      </p:cBhvr>
                                      <p:tavLst>
                                        <p:tav tm="0">
                                          <p:val>
                                            <p:strVal val="#ppt_y"/>
                                          </p:val>
                                        </p:tav>
                                        <p:tav tm="100000">
                                          <p:val>
                                            <p:strVal val="#ppt_y"/>
                                          </p:val>
                                        </p:tav>
                                      </p:tavLst>
                                    </p:anim>
                                  </p:childTnLst>
                                </p:cTn>
                              </p:par>
                              <p:par>
                                <p:cTn id="51" presetID="42" presetClass="entr" presetSubtype="0" fill="hold" grpId="0" nodeType="withEffect">
                                  <p:stCondLst>
                                    <p:cond delay="2660"/>
                                  </p:stCondLst>
                                  <p:childTnLst>
                                    <p:set>
                                      <p:cBhvr>
                                        <p:cTn id="52" dur="1" fill="hold">
                                          <p:stCondLst>
                                            <p:cond delay="0"/>
                                          </p:stCondLst>
                                        </p:cTn>
                                        <p:tgtEl>
                                          <p:spTgt spid="17"/>
                                        </p:tgtEl>
                                        <p:attrNameLst>
                                          <p:attrName>style.visibility</p:attrName>
                                        </p:attrNameLst>
                                      </p:cBhvr>
                                      <p:to>
                                        <p:strVal val="visible"/>
                                      </p:to>
                                    </p:set>
                                    <p:animEffect transition="in" filter="fade">
                                      <p:cBhvr>
                                        <p:cTn id="48" dur="650"/>
                                        <p:tgtEl>
                                          <p:spTgt spid="17"/>
                                        </p:tgtEl>
                                      </p:cBhvr>
                                    </p:animEffect>
                                    <p:anim calcmode="lin" valueType="num">
                                      <p:cBhvr additive="base">
                                        <p:cTn id="49" dur="650" fill="hold"/>
                                        <p:tgtEl>
                                          <p:spTgt spid="17"/>
                                        </p:tgtEl>
                                        <p:attrNameLst>
                                          <p:attrName>ppt_x</p:attrName>
                                        </p:attrNameLst>
                                      </p:cBhvr>
                                      <p:tavLst>
                                        <p:tav tm="0">
                                          <p:val>
                                            <p:strVal val="#ppt_x-.06"/>
                                          </p:val>
                                        </p:tav>
                                        <p:tav tm="100000">
                                          <p:val>
                                            <p:strVal val="#ppt_x"/>
                                          </p:val>
                                        </p:tav>
                                      </p:tavLst>
                                    </p:anim>
                                    <p:anim calcmode="lin" valueType="num">
                                      <p:cBhvr additive="base">
                                        <p:cTn id="50" dur="650" fill="hold"/>
                                        <p:tgtEl>
                                          <p:spTgt spid="17"/>
                                        </p:tgtEl>
                                        <p:attrNameLst>
                                          <p:attrName>ppt_y</p:attrName>
                                        </p:attrNameLst>
                                      </p:cBhvr>
                                      <p:tavLst>
                                        <p:tav tm="0">
                                          <p:val>
                                            <p:strVal val="#ppt_y"/>
                                          </p:val>
                                        </p:tav>
                                        <p:tav tm="100000">
                                          <p:val>
                                            <p:strVal val="#ppt_y"/>
                                          </p:val>
                                        </p:tav>
                                      </p:tavLst>
                                    </p:anim>
                                  </p:childTnLst>
                                </p:cTn>
                              </p:par>
                              <p:par>
                                <p:cTn id="56" presetID="42" presetClass="entr" presetSubtype="0" fill="hold" grpId="0" nodeType="withEffect">
                                  <p:stCondLst>
                                    <p:cond delay="2660"/>
                                  </p:stCondLst>
                                  <p:childTnLst>
                                    <p:set>
                                      <p:cBhvr>
                                        <p:cTn id="57" dur="1" fill="hold">
                                          <p:stCondLst>
                                            <p:cond delay="0"/>
                                          </p:stCondLst>
                                        </p:cTn>
                                        <p:tgtEl>
                                          <p:spTgt spid="18"/>
                                        </p:tgtEl>
                                        <p:attrNameLst>
                                          <p:attrName>style.visibility</p:attrName>
                                        </p:attrNameLst>
                                      </p:cBhvr>
                                      <p:to>
                                        <p:strVal val="visible"/>
                                      </p:to>
                                    </p:set>
                                    <p:animEffect transition="in" filter="fade">
                                      <p:cBhvr>
                                        <p:cTn id="53" dur="650"/>
                                        <p:tgtEl>
                                          <p:spTgt spid="18"/>
                                        </p:tgtEl>
                                      </p:cBhvr>
                                    </p:animEffect>
                                    <p:anim calcmode="lin" valueType="num">
                                      <p:cBhvr additive="base">
                                        <p:cTn id="54" dur="650" fill="hold"/>
                                        <p:tgtEl>
                                          <p:spTgt spid="18"/>
                                        </p:tgtEl>
                                        <p:attrNameLst>
                                          <p:attrName>ppt_x</p:attrName>
                                        </p:attrNameLst>
                                      </p:cBhvr>
                                      <p:tavLst>
                                        <p:tav tm="0">
                                          <p:val>
                                            <p:strVal val="#ppt_x-.06"/>
                                          </p:val>
                                        </p:tav>
                                        <p:tav tm="100000">
                                          <p:val>
                                            <p:strVal val="#ppt_x"/>
                                          </p:val>
                                        </p:tav>
                                      </p:tavLst>
                                    </p:anim>
                                    <p:anim calcmode="lin" valueType="num">
                                      <p:cBhvr additive="base">
                                        <p:cTn id="55" dur="650" fill="hold"/>
                                        <p:tgtEl>
                                          <p:spTgt spid="18"/>
                                        </p:tgtEl>
                                        <p:attrNameLst>
                                          <p:attrName>ppt_y</p:attrName>
                                        </p:attrNameLst>
                                      </p:cBhvr>
                                      <p:tavLst>
                                        <p:tav tm="0">
                                          <p:val>
                                            <p:strVal val="#ppt_y"/>
                                          </p:val>
                                        </p:tav>
                                        <p:tav tm="100000">
                                          <p:val>
                                            <p:strVal val="#ppt_y"/>
                                          </p:val>
                                        </p:tav>
                                      </p:tavLst>
                                    </p:anim>
                                  </p:childTnLst>
                                </p:cTn>
                              </p:par>
                              <p:par>
                                <p:cTn id="61" presetID="42" presetClass="entr" presetSubtype="0" fill="hold" grpId="0" nodeType="withEffect">
                                  <p:stCondLst>
                                    <p:cond delay="3040"/>
                                  </p:stCondLst>
                                  <p:childTnLst>
                                    <p:set>
                                      <p:cBhvr>
                                        <p:cTn id="62" dur="1" fill="hold">
                                          <p:stCondLst>
                                            <p:cond delay="0"/>
                                          </p:stCondLst>
                                        </p:cTn>
                                        <p:tgtEl>
                                          <p:spTgt spid="19"/>
                                        </p:tgtEl>
                                        <p:attrNameLst>
                                          <p:attrName>style.visibility</p:attrName>
                                        </p:attrNameLst>
                                      </p:cBhvr>
                                      <p:to>
                                        <p:strVal val="visible"/>
                                      </p:to>
                                    </p:set>
                                    <p:animEffect transition="in" filter="fade">
                                      <p:cBhvr>
                                        <p:cTn id="58" dur="650"/>
                                        <p:tgtEl>
                                          <p:spTgt spid="19"/>
                                        </p:tgtEl>
                                      </p:cBhvr>
                                    </p:animEffect>
                                    <p:anim calcmode="lin" valueType="num">
                                      <p:cBhvr additive="base">
                                        <p:cTn id="59" dur="650" fill="hold"/>
                                        <p:tgtEl>
                                          <p:spTgt spid="19"/>
                                        </p:tgtEl>
                                        <p:attrNameLst>
                                          <p:attrName>ppt_x</p:attrName>
                                        </p:attrNameLst>
                                      </p:cBhvr>
                                      <p:tavLst>
                                        <p:tav tm="0">
                                          <p:val>
                                            <p:strVal val="#ppt_x-.06"/>
                                          </p:val>
                                        </p:tav>
                                        <p:tav tm="100000">
                                          <p:val>
                                            <p:strVal val="#ppt_x"/>
                                          </p:val>
                                        </p:tav>
                                      </p:tavLst>
                                    </p:anim>
                                    <p:anim calcmode="lin" valueType="num">
                                      <p:cBhvr additive="base">
                                        <p:cTn id="60" dur="650" fill="hold"/>
                                        <p:tgtEl>
                                          <p:spTgt spid="19"/>
                                        </p:tgtEl>
                                        <p:attrNameLst>
                                          <p:attrName>ppt_y</p:attrName>
                                        </p:attrNameLst>
                                      </p:cBhvr>
                                      <p:tavLst>
                                        <p:tav tm="0">
                                          <p:val>
                                            <p:strVal val="#ppt_y"/>
                                          </p:val>
                                        </p:tav>
                                        <p:tav tm="100000">
                                          <p:val>
                                            <p:strVal val="#ppt_y"/>
                                          </p:val>
                                        </p:tav>
                                      </p:tavLst>
                                    </p:anim>
                                  </p:childTnLst>
                                </p:cTn>
                              </p:par>
                              <p:par>
                                <p:cTn id="66" presetID="42" presetClass="entr" presetSubtype="0" fill="hold" grpId="0" nodeType="withEffect">
                                  <p:stCondLst>
                                    <p:cond delay="3040"/>
                                  </p:stCondLst>
                                  <p:childTnLst>
                                    <p:set>
                                      <p:cBhvr>
                                        <p:cTn id="67" dur="1" fill="hold">
                                          <p:stCondLst>
                                            <p:cond delay="0"/>
                                          </p:stCondLst>
                                        </p:cTn>
                                        <p:tgtEl>
                                          <p:spTgt spid="20"/>
                                        </p:tgtEl>
                                        <p:attrNameLst>
                                          <p:attrName>style.visibility</p:attrName>
                                        </p:attrNameLst>
                                      </p:cBhvr>
                                      <p:to>
                                        <p:strVal val="visible"/>
                                      </p:to>
                                    </p:set>
                                    <p:animEffect transition="in" filter="fade">
                                      <p:cBhvr>
                                        <p:cTn id="63" dur="650"/>
                                        <p:tgtEl>
                                          <p:spTgt spid="20"/>
                                        </p:tgtEl>
                                      </p:cBhvr>
                                    </p:animEffect>
                                    <p:anim calcmode="lin" valueType="num">
                                      <p:cBhvr additive="base">
                                        <p:cTn id="64" dur="650" fill="hold"/>
                                        <p:tgtEl>
                                          <p:spTgt spid="20"/>
                                        </p:tgtEl>
                                        <p:attrNameLst>
                                          <p:attrName>ppt_x</p:attrName>
                                        </p:attrNameLst>
                                      </p:cBhvr>
                                      <p:tavLst>
                                        <p:tav tm="0">
                                          <p:val>
                                            <p:strVal val="#ppt_x-.06"/>
                                          </p:val>
                                        </p:tav>
                                        <p:tav tm="100000">
                                          <p:val>
                                            <p:strVal val="#ppt_x"/>
                                          </p:val>
                                        </p:tav>
                                      </p:tavLst>
                                    </p:anim>
                                    <p:anim calcmode="lin" valueType="num">
                                      <p:cBhvr additive="base">
                                        <p:cTn id="65" dur="650" fill="hold"/>
                                        <p:tgtEl>
                                          <p:spTgt spid="20"/>
                                        </p:tgtEl>
                                        <p:attrNameLst>
                                          <p:attrName>ppt_y</p:attrName>
                                        </p:attrNameLst>
                                      </p:cBhvr>
                                      <p:tavLst>
                                        <p:tav tm="0">
                                          <p:val>
                                            <p:strVal val="#ppt_y"/>
                                          </p:val>
                                        </p:tav>
                                        <p:tav tm="100000">
                                          <p:val>
                                            <p:strVal val="#ppt_y"/>
                                          </p:val>
                                        </p:tav>
                                      </p:tavLst>
                                    </p:anim>
                                  </p:childTnLst>
                                </p:cTn>
                              </p:par>
                              <p:par>
                                <p:cTn id="71" presetID="42" presetClass="entr" presetSubtype="0" fill="hold" grpId="0" nodeType="withEffect">
                                  <p:stCondLst>
                                    <p:cond delay="3420"/>
                                  </p:stCondLst>
                                  <p:childTnLst>
                                    <p:set>
                                      <p:cBhvr>
                                        <p:cTn id="72" dur="1" fill="hold">
                                          <p:stCondLst>
                                            <p:cond delay="0"/>
                                          </p:stCondLst>
                                        </p:cTn>
                                        <p:tgtEl>
                                          <p:spTgt spid="21"/>
                                        </p:tgtEl>
                                        <p:attrNameLst>
                                          <p:attrName>style.visibility</p:attrName>
                                        </p:attrNameLst>
                                      </p:cBhvr>
                                      <p:to>
                                        <p:strVal val="visible"/>
                                      </p:to>
                                    </p:set>
                                    <p:animEffect transition="in" filter="fade">
                                      <p:cBhvr>
                                        <p:cTn id="68" dur="650"/>
                                        <p:tgtEl>
                                          <p:spTgt spid="21"/>
                                        </p:tgtEl>
                                      </p:cBhvr>
                                    </p:animEffect>
                                    <p:anim calcmode="lin" valueType="num">
                                      <p:cBhvr additive="base">
                                        <p:cTn id="69" dur="650" fill="hold"/>
                                        <p:tgtEl>
                                          <p:spTgt spid="21"/>
                                        </p:tgtEl>
                                        <p:attrNameLst>
                                          <p:attrName>ppt_x</p:attrName>
                                        </p:attrNameLst>
                                      </p:cBhvr>
                                      <p:tavLst>
                                        <p:tav tm="0">
                                          <p:val>
                                            <p:strVal val="#ppt_x-.06"/>
                                          </p:val>
                                        </p:tav>
                                        <p:tav tm="100000">
                                          <p:val>
                                            <p:strVal val="#ppt_x"/>
                                          </p:val>
                                        </p:tav>
                                      </p:tavLst>
                                    </p:anim>
                                    <p:anim calcmode="lin" valueType="num">
                                      <p:cBhvr additive="base">
                                        <p:cTn id="70" dur="650" fill="hold"/>
                                        <p:tgtEl>
                                          <p:spTgt spid="21"/>
                                        </p:tgtEl>
                                        <p:attrNameLst>
                                          <p:attrName>ppt_y</p:attrName>
                                        </p:attrNameLst>
                                      </p:cBhvr>
                                      <p:tavLst>
                                        <p:tav tm="0">
                                          <p:val>
                                            <p:strVal val="#ppt_y"/>
                                          </p:val>
                                        </p:tav>
                                        <p:tav tm="100000">
                                          <p:val>
                                            <p:strVal val="#ppt_y"/>
                                          </p:val>
                                        </p:tav>
                                      </p:tavLst>
                                    </p:anim>
                                  </p:childTnLst>
                                </p:cTn>
                              </p:par>
                              <p:par>
                                <p:cTn id="76" presetID="42" presetClass="entr" presetSubtype="0" fill="hold" grpId="0" nodeType="withEffect">
                                  <p:stCondLst>
                                    <p:cond delay="3420"/>
                                  </p:stCondLst>
                                  <p:childTnLst>
                                    <p:set>
                                      <p:cBhvr>
                                        <p:cTn id="77" dur="1" fill="hold">
                                          <p:stCondLst>
                                            <p:cond delay="0"/>
                                          </p:stCondLst>
                                        </p:cTn>
                                        <p:tgtEl>
                                          <p:spTgt spid="22"/>
                                        </p:tgtEl>
                                        <p:attrNameLst>
                                          <p:attrName>style.visibility</p:attrName>
                                        </p:attrNameLst>
                                      </p:cBhvr>
                                      <p:to>
                                        <p:strVal val="visible"/>
                                      </p:to>
                                    </p:set>
                                    <p:animEffect transition="in" filter="fade">
                                      <p:cBhvr>
                                        <p:cTn id="73" dur="650"/>
                                        <p:tgtEl>
                                          <p:spTgt spid="22"/>
                                        </p:tgtEl>
                                      </p:cBhvr>
                                    </p:animEffect>
                                    <p:anim calcmode="lin" valueType="num">
                                      <p:cBhvr additive="base">
                                        <p:cTn id="74" dur="650" fill="hold"/>
                                        <p:tgtEl>
                                          <p:spTgt spid="22"/>
                                        </p:tgtEl>
                                        <p:attrNameLst>
                                          <p:attrName>ppt_x</p:attrName>
                                        </p:attrNameLst>
                                      </p:cBhvr>
                                      <p:tavLst>
                                        <p:tav tm="0">
                                          <p:val>
                                            <p:strVal val="#ppt_x-.06"/>
                                          </p:val>
                                        </p:tav>
                                        <p:tav tm="100000">
                                          <p:val>
                                            <p:strVal val="#ppt_x"/>
                                          </p:val>
                                        </p:tav>
                                      </p:tavLst>
                                    </p:anim>
                                    <p:anim calcmode="lin" valueType="num">
                                      <p:cBhvr additive="base">
                                        <p:cTn id="75" dur="650" fill="hold"/>
                                        <p:tgtEl>
                                          <p:spTgt spid="22"/>
                                        </p:tgtEl>
                                        <p:attrNameLst>
                                          <p:attrName>ppt_y</p:attrName>
                                        </p:attrNameLst>
                                      </p:cBhvr>
                                      <p:tavLst>
                                        <p:tav tm="0">
                                          <p:val>
                                            <p:strVal val="#ppt_y"/>
                                          </p:val>
                                        </p:tav>
                                        <p:tav tm="100000">
                                          <p:val>
                                            <p:strVal val="#ppt_y"/>
                                          </p:val>
                                        </p:tav>
                                      </p:tavLst>
                                    </p:anim>
                                  </p:childTnLst>
                                </p:cTn>
                              </p:par>
                              <p:par>
                                <p:cTn id="81" presetID="42" presetClass="entr" presetSubtype="0" fill="hold" grpId="0" nodeType="withEffect">
                                  <p:stCondLst>
                                    <p:cond delay="3800"/>
                                  </p:stCondLst>
                                  <p:childTnLst>
                                    <p:set>
                                      <p:cBhvr>
                                        <p:cTn id="82" dur="1" fill="hold">
                                          <p:stCondLst>
                                            <p:cond delay="0"/>
                                          </p:stCondLst>
                                        </p:cTn>
                                        <p:tgtEl>
                                          <p:spTgt spid="23"/>
                                        </p:tgtEl>
                                        <p:attrNameLst>
                                          <p:attrName>style.visibility</p:attrName>
                                        </p:attrNameLst>
                                      </p:cBhvr>
                                      <p:to>
                                        <p:strVal val="visible"/>
                                      </p:to>
                                    </p:set>
                                    <p:animEffect transition="in" filter="fade">
                                      <p:cBhvr>
                                        <p:cTn id="78" dur="650"/>
                                        <p:tgtEl>
                                          <p:spTgt spid="23"/>
                                        </p:tgtEl>
                                      </p:cBhvr>
                                    </p:animEffect>
                                    <p:anim calcmode="lin" valueType="num">
                                      <p:cBhvr additive="base">
                                        <p:cTn id="79" dur="650" fill="hold"/>
                                        <p:tgtEl>
                                          <p:spTgt spid="23"/>
                                        </p:tgtEl>
                                        <p:attrNameLst>
                                          <p:attrName>ppt_x</p:attrName>
                                        </p:attrNameLst>
                                      </p:cBhvr>
                                      <p:tavLst>
                                        <p:tav tm="0">
                                          <p:val>
                                            <p:strVal val="#ppt_x-.06"/>
                                          </p:val>
                                        </p:tav>
                                        <p:tav tm="100000">
                                          <p:val>
                                            <p:strVal val="#ppt_x"/>
                                          </p:val>
                                        </p:tav>
                                      </p:tavLst>
                                    </p:anim>
                                    <p:anim calcmode="lin" valueType="num">
                                      <p:cBhvr additive="base">
                                        <p:cTn id="80" dur="650" fill="hold"/>
                                        <p:tgtEl>
                                          <p:spTgt spid="23"/>
                                        </p:tgtEl>
                                        <p:attrNameLst>
                                          <p:attrName>ppt_y</p:attrName>
                                        </p:attrNameLst>
                                      </p:cBhvr>
                                      <p:tavLst>
                                        <p:tav tm="0">
                                          <p:val>
                                            <p:strVal val="#ppt_y"/>
                                          </p:val>
                                        </p:tav>
                                        <p:tav tm="100000">
                                          <p:val>
                                            <p:strVal val="#ppt_y"/>
                                          </p:val>
                                        </p:tav>
                                      </p:tavLst>
                                    </p:anim>
                                  </p:childTnLst>
                                </p:cTn>
                              </p:par>
                              <p:par>
                                <p:cTn id="86" presetID="42" presetClass="entr" presetSubtype="0" fill="hold" grpId="0" nodeType="withEffect">
                                  <p:stCondLst>
                                    <p:cond delay="3800"/>
                                  </p:stCondLst>
                                  <p:childTnLst>
                                    <p:set>
                                      <p:cBhvr>
                                        <p:cTn id="87" dur="1" fill="hold">
                                          <p:stCondLst>
                                            <p:cond delay="0"/>
                                          </p:stCondLst>
                                        </p:cTn>
                                        <p:tgtEl>
                                          <p:spTgt spid="24"/>
                                        </p:tgtEl>
                                        <p:attrNameLst>
                                          <p:attrName>style.visibility</p:attrName>
                                        </p:attrNameLst>
                                      </p:cBhvr>
                                      <p:to>
                                        <p:strVal val="visible"/>
                                      </p:to>
                                    </p:set>
                                    <p:animEffect transition="in" filter="fade">
                                      <p:cBhvr>
                                        <p:cTn id="83" dur="650"/>
                                        <p:tgtEl>
                                          <p:spTgt spid="24"/>
                                        </p:tgtEl>
                                      </p:cBhvr>
                                    </p:animEffect>
                                    <p:anim calcmode="lin" valueType="num">
                                      <p:cBhvr additive="base">
                                        <p:cTn id="84" dur="650" fill="hold"/>
                                        <p:tgtEl>
                                          <p:spTgt spid="24"/>
                                        </p:tgtEl>
                                        <p:attrNameLst>
                                          <p:attrName>ppt_x</p:attrName>
                                        </p:attrNameLst>
                                      </p:cBhvr>
                                      <p:tavLst>
                                        <p:tav tm="0">
                                          <p:val>
                                            <p:strVal val="#ppt_x-.06"/>
                                          </p:val>
                                        </p:tav>
                                        <p:tav tm="100000">
                                          <p:val>
                                            <p:strVal val="#ppt_x"/>
                                          </p:val>
                                        </p:tav>
                                      </p:tavLst>
                                    </p:anim>
                                    <p:anim calcmode="lin" valueType="num">
                                      <p:cBhvr additive="base">
                                        <p:cTn id="85" dur="650" fill="hold"/>
                                        <p:tgtEl>
                                          <p:spTgt spid="24"/>
                                        </p:tgtEl>
                                        <p:attrNameLst>
                                          <p:attrName>ppt_y</p:attrName>
                                        </p:attrNameLst>
                                      </p:cBhvr>
                                      <p:tavLst>
                                        <p:tav tm="0">
                                          <p:val>
                                            <p:strVal val="#ppt_y"/>
                                          </p:val>
                                        </p:tav>
                                        <p:tav tm="100000">
                                          <p:val>
                                            <p:strVal val="#ppt_y"/>
                                          </p:val>
                                        </p:tav>
                                      </p:tavLst>
                                    </p:anim>
                                  </p:childTnLst>
                                </p:cTn>
                              </p:par>
                              <p:par>
                                <p:cTn id="91" presetID="53" presetClass="entr" presetSubtype="16" fill="hold" grpId="0" nodeType="withEffect">
                                  <p:stCondLst>
                                    <p:cond delay="4180"/>
                                  </p:stCondLst>
                                  <p:childTnLst>
                                    <p:set>
                                      <p:cBhvr>
                                        <p:cTn id="92" dur="1" fill="hold">
                                          <p:stCondLst>
                                            <p:cond delay="0"/>
                                          </p:stCondLst>
                                        </p:cTn>
                                        <p:tgtEl>
                                          <p:spTgt spid="25"/>
                                        </p:tgtEl>
                                        <p:attrNameLst>
                                          <p:attrName>style.visibility</p:attrName>
                                        </p:attrNameLst>
                                      </p:cBhvr>
                                      <p:to>
                                        <p:strVal val="visible"/>
                                      </p:to>
                                    </p:set>
                                    <p:anim calcmode="lin" valueType="num">
                                      <p:cBhvr additive="base">
                                        <p:cTn id="88" dur="550" fill="hold"/>
                                        <p:tgtEl>
                                          <p:spTgt spid="25"/>
                                        </p:tgtEl>
                                        <p:attrNameLst>
                                          <p:attrName>ppt_w</p:attrName>
                                        </p:attrNameLst>
                                      </p:cBhvr>
                                      <p:tavLst>
                                        <p:tav tm="0">
                                          <p:val>
                                            <p:strVal val="0"/>
                                          </p:val>
                                        </p:tav>
                                        <p:tav tm="100000">
                                          <p:val>
                                            <p:strVal val="#ppt_w"/>
                                          </p:val>
                                        </p:tav>
                                      </p:tavLst>
                                    </p:anim>
                                    <p:anim calcmode="lin" valueType="num">
                                      <p:cBhvr additive="base">
                                        <p:cTn id="89" dur="550" fill="hold"/>
                                        <p:tgtEl>
                                          <p:spTgt spid="25"/>
                                        </p:tgtEl>
                                        <p:attrNameLst>
                                          <p:attrName>ppt_h</p:attrName>
                                        </p:attrNameLst>
                                      </p:cBhvr>
                                      <p:tavLst>
                                        <p:tav tm="0">
                                          <p:val>
                                            <p:strVal val="0"/>
                                          </p:val>
                                        </p:tav>
                                        <p:tav tm="100000">
                                          <p:val>
                                            <p:strVal val="#ppt_h"/>
                                          </p:val>
                                        </p:tav>
                                      </p:tavLst>
                                    </p:anim>
                                    <p:animEffect transition="in" filter="fade">
                                      <p:cBhvr>
                                        <p:cTn id="90" dur="550"/>
                                        <p:tgtEl>
                                          <p:spTgt spid="25"/>
                                        </p:tgtEl>
                                      </p:cBhvr>
                                    </p:animEffect>
                                  </p:childTnLst>
                                </p:cTn>
                              </p:par>
                              <p:par>
                                <p:cTn id="96" presetID="53" presetClass="entr" presetSubtype="16" fill="hold" grpId="0" nodeType="withEffect">
                                  <p:stCondLst>
                                    <p:cond delay="4180"/>
                                  </p:stCondLst>
                                  <p:childTnLst>
                                    <p:set>
                                      <p:cBhvr>
                                        <p:cTn id="97" dur="1" fill="hold">
                                          <p:stCondLst>
                                            <p:cond delay="0"/>
                                          </p:stCondLst>
                                        </p:cTn>
                                        <p:tgtEl>
                                          <p:spTgt spid="26"/>
                                        </p:tgtEl>
                                        <p:attrNameLst>
                                          <p:attrName>style.visibility</p:attrName>
                                        </p:attrNameLst>
                                      </p:cBhvr>
                                      <p:to>
                                        <p:strVal val="visible"/>
                                      </p:to>
                                    </p:set>
                                    <p:anim calcmode="lin" valueType="num">
                                      <p:cBhvr additive="base">
                                        <p:cTn id="93" dur="550" fill="hold"/>
                                        <p:tgtEl>
                                          <p:spTgt spid="26"/>
                                        </p:tgtEl>
                                        <p:attrNameLst>
                                          <p:attrName>ppt_w</p:attrName>
                                        </p:attrNameLst>
                                      </p:cBhvr>
                                      <p:tavLst>
                                        <p:tav tm="0">
                                          <p:val>
                                            <p:strVal val="0"/>
                                          </p:val>
                                        </p:tav>
                                        <p:tav tm="100000">
                                          <p:val>
                                            <p:strVal val="#ppt_w"/>
                                          </p:val>
                                        </p:tav>
                                      </p:tavLst>
                                    </p:anim>
                                    <p:anim calcmode="lin" valueType="num">
                                      <p:cBhvr additive="base">
                                        <p:cTn id="94" dur="550" fill="hold"/>
                                        <p:tgtEl>
                                          <p:spTgt spid="26"/>
                                        </p:tgtEl>
                                        <p:attrNameLst>
                                          <p:attrName>ppt_h</p:attrName>
                                        </p:attrNameLst>
                                      </p:cBhvr>
                                      <p:tavLst>
                                        <p:tav tm="0">
                                          <p:val>
                                            <p:strVal val="0"/>
                                          </p:val>
                                        </p:tav>
                                        <p:tav tm="100000">
                                          <p:val>
                                            <p:strVal val="#ppt_h"/>
                                          </p:val>
                                        </p:tav>
                                      </p:tavLst>
                                    </p:anim>
                                    <p:animEffect transition="in" filter="fade">
                                      <p:cBhvr>
                                        <p:cTn id="95" dur="550"/>
                                        <p:tgtEl>
                                          <p:spTgt spid="26"/>
                                        </p:tgtEl>
                                      </p:cBhvr>
                                    </p:animEffect>
                                  </p:childTnLst>
                                </p:cTn>
                              </p:par>
                              <p:par>
                                <p:cTn id="99" presetID="10" presetClass="entr" presetSubtype="0" fill="hold" grpId="0" nodeType="withEffect">
                                  <p:stCondLst>
                                    <p:cond delay="4180"/>
                                  </p:stCondLst>
                                  <p:childTnLst>
                                    <p:set>
                                      <p:cBhvr>
                                        <p:cTn id="100" dur="1" fill="hold">
                                          <p:stCondLst>
                                            <p:cond delay="0"/>
                                          </p:stCondLst>
                                        </p:cTn>
                                        <p:tgtEl>
                                          <p:spTgt spid="27"/>
                                        </p:tgtEl>
                                        <p:attrNameLst>
                                          <p:attrName>style.visibility</p:attrName>
                                        </p:attrNameLst>
                                      </p:cBhvr>
                                      <p:to>
                                        <p:strVal val="visible"/>
                                      </p:to>
                                    </p:set>
                                    <p:animEffect transition="in" filter="fade">
                                      <p:cBhvr>
                                        <p:cTn id="98" dur="600"/>
                                        <p:tgtEl>
                                          <p:spTgt spid="27"/>
                                        </p:tgtEl>
                                      </p:cBhvr>
                                    </p:animEffect>
                                  </p:childTnLst>
                                </p:cTn>
                              </p:par>
                              <p:par>
                                <p:cTn id="102" presetID="10" presetClass="entr" presetSubtype="0" fill="hold" grpId="0" nodeType="withEffect">
                                  <p:stCondLst>
                                    <p:cond delay="4180"/>
                                  </p:stCondLst>
                                  <p:childTnLst>
                                    <p:set>
                                      <p:cBhvr>
                                        <p:cTn id="103" dur="1" fill="hold">
                                          <p:stCondLst>
                                            <p:cond delay="0"/>
                                          </p:stCondLst>
                                        </p:cTn>
                                        <p:tgtEl>
                                          <p:spTgt spid="28"/>
                                        </p:tgtEl>
                                        <p:attrNameLst>
                                          <p:attrName>style.visibility</p:attrName>
                                        </p:attrNameLst>
                                      </p:cBhvr>
                                      <p:to>
                                        <p:strVal val="visible"/>
                                      </p:to>
                                    </p:set>
                                    <p:animEffect transition="in" filter="fade">
                                      <p:cBhvr>
                                        <p:cTn id="101" dur="6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3" grpId="0" animBg="1"/>
      <p:bldP spid="14" grpId="0" animBg="1"/>
      <p:bldP spid="16" grpId="0" animBg="1"/>
      <p:bldP spid="18" grpId="0" animBg="1"/>
      <p:bldP spid="20" grpId="0" animBg="1"/>
      <p:bldP spid="22" grpId="0" animBg="1"/>
      <p:bldP spid="24" grpId="0" animBg="1"/>
      <p:bldP spid="27" grpId="0" animBg="1"/>
      <p:bldP spid="2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7406640" y="-1005840"/>
            <a:ext cx="2560320" cy="2560320"/>
          </a:xfrm>
          <a:prstGeom prst="rect">
            <a:avLst/>
          </a:prstGeom>
        </p:spPr>
      </p:pic>
      <p:sp>
        <p:nvSpPr>
          <p:cNvPr id="3" name="Text 0"/>
          <p:cNvSpPr txBox="1"/>
          <p:nvPr/>
        </p:nvSpPr>
        <p:spPr>
          <a:xfrm>
            <a:off x="457200" y="274320"/>
            <a:ext cx="6858000" cy="228600"/>
          </a:xfrm>
          <a:prstGeom prst="rect">
            <a:avLst/>
          </a:prstGeom>
          <a:noFill/>
          <a:ln/>
        </p:spPr>
        <p:txBody>
          <a:bodyPr wrap="square" lIns="0" tIns="0" rIns="0" bIns="0" rtlCol="0" anchor="t"/>
          <a:lstStyle/>
          <a:p>
            <a:pPr indent="0" marL="0">
              <a:buNone/>
            </a:pPr>
            <a:r>
              <a:rPr lang="en-US" sz="1050" b="1" spc="200" kern="0" dirty="0">
                <a:solidFill>
                  <a:srgbClr val="1E9E6A"/>
                </a:solidFill>
                <a:latin typeface="Calibri" pitchFamily="34" charset="0"/>
                <a:ea typeface="Calibri" pitchFamily="34" charset="-122"/>
                <a:cs typeface="Calibri" pitchFamily="34" charset="-120"/>
              </a:rPr>
              <a:t>II · 2.3 — AVANTAGES</a:t>
            </a:r>
            <a:endParaRPr lang="en-US" sz="1050" dirty="0"/>
          </a:p>
        </p:txBody>
      </p:sp>
      <p:sp>
        <p:nvSpPr>
          <p:cNvPr id="4" name="Text 1"/>
          <p:cNvSpPr txBox="1"/>
          <p:nvPr/>
        </p:nvSpPr>
        <p:spPr>
          <a:xfrm>
            <a:off x="457200" y="502920"/>
            <a:ext cx="7863840" cy="548640"/>
          </a:xfrm>
          <a:prstGeom prst="rect">
            <a:avLst/>
          </a:prstGeom>
          <a:noFill/>
          <a:ln/>
        </p:spPr>
        <p:txBody>
          <a:bodyPr wrap="square" lIns="0" tIns="0" rIns="0" bIns="0" rtlCol="0" anchor="ctr"/>
          <a:lstStyle/>
          <a:p>
            <a:pPr indent="0" marL="0">
              <a:buNone/>
            </a:pPr>
            <a:r>
              <a:rPr lang="en-US" sz="2600" b="1" dirty="0">
                <a:solidFill>
                  <a:srgbClr val="0B1F4B"/>
                </a:solidFill>
                <a:latin typeface="Cambria" pitchFamily="34" charset="0"/>
                <a:ea typeface="Cambria" pitchFamily="34" charset="-122"/>
                <a:cs typeface="Cambria" pitchFamily="34" charset="-120"/>
              </a:rPr>
              <a:t>Les capitaux et les travailleurs circulent librement</a:t>
            </a:r>
            <a:endParaRPr lang="en-US" sz="2600" dirty="0"/>
          </a:p>
        </p:txBody>
      </p:sp>
      <p:sp>
        <p:nvSpPr>
          <p:cNvPr id="5" name="Text 2"/>
          <p:cNvSpPr txBox="1"/>
          <p:nvPr/>
        </p:nvSpPr>
        <p:spPr>
          <a:xfrm>
            <a:off x="8321040" y="4773168"/>
            <a:ext cx="365760" cy="228600"/>
          </a:xfrm>
          <a:prstGeom prst="rect">
            <a:avLst/>
          </a:prstGeom>
          <a:noFill/>
          <a:ln/>
        </p:spPr>
        <p:txBody>
          <a:bodyPr wrap="square" lIns="0" tIns="0" rIns="0" bIns="0" rtlCol="0" anchor="t"/>
          <a:lstStyle/>
          <a:p>
            <a:pPr algn="r" indent="0" marL="0">
              <a:buNone/>
            </a:pPr>
            <a:r>
              <a:rPr lang="en-US" sz="1000" dirty="0">
                <a:solidFill>
                  <a:srgbClr val="5B6478"/>
                </a:solidFill>
                <a:latin typeface="Calibri" pitchFamily="34" charset="0"/>
                <a:ea typeface="Calibri" pitchFamily="34" charset="-122"/>
                <a:cs typeface="Calibri" pitchFamily="34" charset="-120"/>
              </a:rPr>
              <a:t>16</a:t>
            </a:r>
            <a:endParaRPr lang="en-US" sz="1000" dirty="0"/>
          </a:p>
        </p:txBody>
      </p:sp>
      <p:sp>
        <p:nvSpPr>
          <p:cNvPr id="6" name="A1-zoom-247"/>
          <p:cNvSpPr/>
          <p:nvPr/>
        </p:nvSpPr>
        <p:spPr>
          <a:xfrm>
            <a:off x="457200" y="1280160"/>
            <a:ext cx="548640" cy="548640"/>
          </a:xfrm>
          <a:prstGeom prst="ellipse">
            <a:avLst/>
          </a:prstGeom>
          <a:solidFill>
            <a:srgbClr val="1E9E6A"/>
          </a:solidFill>
          <a:ln w="12700">
            <a:solidFill>
              <a:srgbClr val="1E9E6A"/>
            </a:solidFill>
            <a:prstDash val="solid"/>
          </a:ln>
        </p:spPr>
      </p:sp>
      <p:pic>
        <p:nvPicPr>
          <p:cNvPr id="7" name="A1-zoom-248" descr="preencoded.png">    </p:cNvPr>
          <p:cNvPicPr>
            <a:picLocks noChangeAspect="1"/>
          </p:cNvPicPr>
          <p:nvPr/>
        </p:nvPicPr>
        <p:blipFill>
          <a:blip r:embed="rId3"/>
          <a:stretch>
            <a:fillRect/>
          </a:stretch>
        </p:blipFill>
        <p:spPr>
          <a:xfrm>
            <a:off x="605333" y="1428293"/>
            <a:ext cx="252374" cy="252374"/>
          </a:xfrm>
          <a:prstGeom prst="rect">
            <a:avLst/>
          </a:prstGeom>
        </p:spPr>
      </p:pic>
      <p:sp>
        <p:nvSpPr>
          <p:cNvPr id="8" name="A1-fadeleft-249"/>
          <p:cNvSpPr txBox="1"/>
          <p:nvPr/>
        </p:nvSpPr>
        <p:spPr>
          <a:xfrm>
            <a:off x="1143000" y="1325880"/>
            <a:ext cx="2743200" cy="411480"/>
          </a:xfrm>
          <a:prstGeom prst="rect">
            <a:avLst/>
          </a:prstGeom>
          <a:noFill/>
          <a:ln/>
        </p:spPr>
        <p:txBody>
          <a:bodyPr wrap="square" lIns="0" tIns="0" rIns="0" bIns="0" rtlCol="0" anchor="t"/>
          <a:lstStyle/>
          <a:p>
            <a:pPr indent="0" marL="0">
              <a:buNone/>
            </a:pPr>
            <a:r>
              <a:rPr lang="en-US" sz="1800" b="1" dirty="0">
                <a:solidFill>
                  <a:srgbClr val="0B1F4B"/>
                </a:solidFill>
                <a:latin typeface="Cambria" pitchFamily="34" charset="0"/>
                <a:ea typeface="Cambria" pitchFamily="34" charset="-122"/>
                <a:cs typeface="Cambria" pitchFamily="34" charset="-120"/>
              </a:rPr>
              <a:t>Capitaux</a:t>
            </a:r>
            <a:endParaRPr lang="en-US" sz="1800" dirty="0"/>
          </a:p>
        </p:txBody>
      </p:sp>
      <p:graphicFrame>
        <p:nvGraphicFramePr>
          <p:cNvPr id="9" name="A2-wipe-250" descr=""/>
          <p:cNvGraphicFramePr/>
          <p:nvPr/>
        </p:nvGraphicFramePr>
        <p:xfrm>
          <a:off x="365760" y="1874520"/>
          <a:ext cx="3840480" cy="2011680"/>
        </p:xfrm>
        <a:graphic xmlns:a="http://schemas.openxmlformats.org/drawingml/2006/main">
          <a:graphicData uri="http://schemas.openxmlformats.org/drawingml/2006/chart">
            <c:chart xmlns:c="http://schemas.openxmlformats.org/drawingml/2006/chart" r:id="rId4"/>
          </a:graphicData>
        </a:graphic>
      </p:graphicFrame>
      <p:sp>
        <p:nvSpPr>
          <p:cNvPr id="10" name="A3-fade-251"/>
          <p:cNvSpPr txBox="1"/>
          <p:nvPr/>
        </p:nvSpPr>
        <p:spPr>
          <a:xfrm>
            <a:off x="457200" y="3977640"/>
            <a:ext cx="3749040" cy="548640"/>
          </a:xfrm>
          <a:prstGeom prst="rect">
            <a:avLst/>
          </a:prstGeom>
          <a:noFill/>
          <a:ln/>
        </p:spPr>
        <p:txBody>
          <a:bodyPr wrap="square" lIns="0" tIns="0" rIns="0" bIns="0" rtlCol="0" anchor="t"/>
          <a:lstStyle/>
          <a:p>
            <a:pPr indent="0" marL="0">
              <a:buNone/>
            </a:pPr>
            <a:r>
              <a:rPr lang="en-US" sz="1150" dirty="0">
                <a:solidFill>
                  <a:srgbClr val="5B6478"/>
                </a:solidFill>
                <a:latin typeface="Calibri" pitchFamily="34" charset="0"/>
                <a:ea typeface="Calibri" pitchFamily="34" charset="-122"/>
                <a:cs typeface="Calibri" pitchFamily="34" charset="-120"/>
              </a:rPr>
              <a:t>Adhésion à l'UE : +22 à 28 % d'IDE bilatéraux intra-UE (Stojkov &amp; Warin, 2018)</a:t>
            </a:r>
            <a:endParaRPr lang="en-US" sz="1150" dirty="0"/>
          </a:p>
        </p:txBody>
      </p:sp>
      <p:sp>
        <p:nvSpPr>
          <p:cNvPr id="11" name="A4-zoom-252"/>
          <p:cNvSpPr/>
          <p:nvPr/>
        </p:nvSpPr>
        <p:spPr>
          <a:xfrm>
            <a:off x="4663440" y="1280160"/>
            <a:ext cx="548640" cy="548640"/>
          </a:xfrm>
          <a:prstGeom prst="ellipse">
            <a:avLst/>
          </a:prstGeom>
          <a:solidFill>
            <a:srgbClr val="1E9E6A"/>
          </a:solidFill>
          <a:ln w="12700">
            <a:solidFill>
              <a:srgbClr val="1E9E6A"/>
            </a:solidFill>
            <a:prstDash val="solid"/>
          </a:ln>
        </p:spPr>
      </p:sp>
      <p:pic>
        <p:nvPicPr>
          <p:cNvPr id="12" name="A4-zoom-253" descr="preencoded.png">    </p:cNvPr>
          <p:cNvPicPr>
            <a:picLocks noChangeAspect="1"/>
          </p:cNvPicPr>
          <p:nvPr/>
        </p:nvPicPr>
        <p:blipFill>
          <a:blip r:embed="rId5"/>
          <a:stretch>
            <a:fillRect/>
          </a:stretch>
        </p:blipFill>
        <p:spPr>
          <a:xfrm>
            <a:off x="4811573" y="1428293"/>
            <a:ext cx="252374" cy="252374"/>
          </a:xfrm>
          <a:prstGeom prst="rect">
            <a:avLst/>
          </a:prstGeom>
        </p:spPr>
      </p:pic>
      <p:sp>
        <p:nvSpPr>
          <p:cNvPr id="13" name="A4-fadeleft-254"/>
          <p:cNvSpPr txBox="1"/>
          <p:nvPr/>
        </p:nvSpPr>
        <p:spPr>
          <a:xfrm>
            <a:off x="5349240" y="1325880"/>
            <a:ext cx="2743200" cy="411480"/>
          </a:xfrm>
          <a:prstGeom prst="rect">
            <a:avLst/>
          </a:prstGeom>
          <a:noFill/>
          <a:ln/>
        </p:spPr>
        <p:txBody>
          <a:bodyPr wrap="square" lIns="0" tIns="0" rIns="0" bIns="0" rtlCol="0" anchor="t"/>
          <a:lstStyle/>
          <a:p>
            <a:pPr indent="0" marL="0">
              <a:buNone/>
            </a:pPr>
            <a:r>
              <a:rPr lang="en-US" sz="1800" b="1" dirty="0">
                <a:solidFill>
                  <a:srgbClr val="0B1F4B"/>
                </a:solidFill>
                <a:latin typeface="Cambria" pitchFamily="34" charset="0"/>
                <a:ea typeface="Cambria" pitchFamily="34" charset="-122"/>
                <a:cs typeface="Cambria" pitchFamily="34" charset="-120"/>
              </a:rPr>
              <a:t>Travailleurs</a:t>
            </a:r>
            <a:endParaRPr lang="en-US" sz="1800" dirty="0"/>
          </a:p>
        </p:txBody>
      </p:sp>
      <p:sp>
        <p:nvSpPr>
          <p:cNvPr id="14" name="A5-zoom-255"/>
          <p:cNvSpPr txBox="1"/>
          <p:nvPr/>
        </p:nvSpPr>
        <p:spPr>
          <a:xfrm>
            <a:off x="4663440" y="1920240"/>
            <a:ext cx="1188720" cy="502920"/>
          </a:xfrm>
          <a:prstGeom prst="rect">
            <a:avLst/>
          </a:prstGeom>
          <a:noFill/>
          <a:ln/>
        </p:spPr>
        <p:txBody>
          <a:bodyPr wrap="square" lIns="0" tIns="0" rIns="0" bIns="0" rtlCol="0" anchor="ctr"/>
          <a:lstStyle/>
          <a:p>
            <a:pPr indent="0" marL="0">
              <a:buNone/>
            </a:pPr>
            <a:r>
              <a:rPr lang="en-US" sz="2400" b="1" dirty="0">
                <a:solidFill>
                  <a:srgbClr val="1E9E6A"/>
                </a:solidFill>
                <a:latin typeface="Cambria" pitchFamily="34" charset="0"/>
                <a:ea typeface="Cambria" pitchFamily="34" charset="-122"/>
                <a:cs typeface="Cambria" pitchFamily="34" charset="-120"/>
              </a:rPr>
              <a:t>17 M</a:t>
            </a:r>
            <a:endParaRPr lang="en-US" sz="2400" dirty="0"/>
          </a:p>
        </p:txBody>
      </p:sp>
      <p:sp>
        <p:nvSpPr>
          <p:cNvPr id="15" name="A5-fadeleft-256"/>
          <p:cNvSpPr txBox="1"/>
          <p:nvPr/>
        </p:nvSpPr>
        <p:spPr>
          <a:xfrm>
            <a:off x="5897880" y="1920240"/>
            <a:ext cx="2788920" cy="502920"/>
          </a:xfrm>
          <a:prstGeom prst="rect">
            <a:avLst/>
          </a:prstGeom>
          <a:noFill/>
          <a:ln/>
        </p:spPr>
        <p:txBody>
          <a:bodyPr wrap="square" lIns="0" tIns="0" rIns="0" bIns="0" rtlCol="0" anchor="ctr"/>
          <a:lstStyle/>
          <a:p>
            <a:pPr indent="0" marL="0">
              <a:buNone/>
            </a:pPr>
            <a:r>
              <a:rPr lang="en-US" sz="1100" dirty="0">
                <a:solidFill>
                  <a:srgbClr val="1B2333"/>
                </a:solidFill>
                <a:latin typeface="Calibri" pitchFamily="34" charset="0"/>
                <a:ea typeface="Calibri" pitchFamily="34" charset="-122"/>
                <a:cs typeface="Calibri" pitchFamily="34" charset="-120"/>
              </a:rPr>
              <a:t>de citoyens vivent ou travaillent dans un autre État membre</a:t>
            </a:r>
            <a:endParaRPr lang="en-US" sz="1100" dirty="0"/>
          </a:p>
        </p:txBody>
      </p:sp>
      <p:sp>
        <p:nvSpPr>
          <p:cNvPr id="16" name="A6-zoom-257"/>
          <p:cNvSpPr txBox="1"/>
          <p:nvPr/>
        </p:nvSpPr>
        <p:spPr>
          <a:xfrm>
            <a:off x="4663440" y="2542032"/>
            <a:ext cx="1188720" cy="502920"/>
          </a:xfrm>
          <a:prstGeom prst="rect">
            <a:avLst/>
          </a:prstGeom>
          <a:noFill/>
          <a:ln/>
        </p:spPr>
        <p:txBody>
          <a:bodyPr wrap="square" lIns="0" tIns="0" rIns="0" bIns="0" rtlCol="0" anchor="ctr"/>
          <a:lstStyle/>
          <a:p>
            <a:pPr indent="0" marL="0">
              <a:buNone/>
            </a:pPr>
            <a:r>
              <a:rPr lang="en-US" sz="2400" b="1" dirty="0">
                <a:solidFill>
                  <a:srgbClr val="1E9E6A"/>
                </a:solidFill>
                <a:latin typeface="Cambria" pitchFamily="34" charset="0"/>
                <a:ea typeface="Cambria" pitchFamily="34" charset="-122"/>
                <a:cs typeface="Cambria" pitchFamily="34" charset="-120"/>
              </a:rPr>
              <a:t>1,8 M</a:t>
            </a:r>
            <a:endParaRPr lang="en-US" sz="2400" dirty="0"/>
          </a:p>
        </p:txBody>
      </p:sp>
      <p:sp>
        <p:nvSpPr>
          <p:cNvPr id="17" name="A6-fadeleft-258"/>
          <p:cNvSpPr txBox="1"/>
          <p:nvPr/>
        </p:nvSpPr>
        <p:spPr>
          <a:xfrm>
            <a:off x="5897880" y="2542032"/>
            <a:ext cx="2788920" cy="502920"/>
          </a:xfrm>
          <a:prstGeom prst="rect">
            <a:avLst/>
          </a:prstGeom>
          <a:noFill/>
          <a:ln/>
        </p:spPr>
        <p:txBody>
          <a:bodyPr wrap="square" lIns="0" tIns="0" rIns="0" bIns="0" rtlCol="0" anchor="ctr"/>
          <a:lstStyle/>
          <a:p>
            <a:pPr indent="0" marL="0">
              <a:buNone/>
            </a:pPr>
            <a:r>
              <a:rPr lang="en-US" sz="1100" dirty="0">
                <a:solidFill>
                  <a:srgbClr val="1B2333"/>
                </a:solidFill>
                <a:latin typeface="Calibri" pitchFamily="34" charset="0"/>
                <a:ea typeface="Calibri" pitchFamily="34" charset="-122"/>
                <a:cs typeface="Calibri" pitchFamily="34" charset="-120"/>
              </a:rPr>
              <a:t>travailleurs transfrontaliers</a:t>
            </a:r>
            <a:endParaRPr lang="en-US" sz="1100" dirty="0"/>
          </a:p>
        </p:txBody>
      </p:sp>
      <p:sp>
        <p:nvSpPr>
          <p:cNvPr id="18" name="A7-zoom-259"/>
          <p:cNvSpPr txBox="1"/>
          <p:nvPr/>
        </p:nvSpPr>
        <p:spPr>
          <a:xfrm>
            <a:off x="4663440" y="3163824"/>
            <a:ext cx="1188720" cy="502920"/>
          </a:xfrm>
          <a:prstGeom prst="rect">
            <a:avLst/>
          </a:prstGeom>
          <a:noFill/>
          <a:ln/>
        </p:spPr>
        <p:txBody>
          <a:bodyPr wrap="square" lIns="0" tIns="0" rIns="0" bIns="0" rtlCol="0" anchor="ctr"/>
          <a:lstStyle/>
          <a:p>
            <a:pPr indent="0" marL="0">
              <a:buNone/>
            </a:pPr>
            <a:r>
              <a:rPr lang="en-US" sz="2400" b="1" dirty="0">
                <a:solidFill>
                  <a:srgbClr val="1E9E6A"/>
                </a:solidFill>
                <a:latin typeface="Cambria" pitchFamily="34" charset="0"/>
                <a:ea typeface="Cambria" pitchFamily="34" charset="-122"/>
                <a:cs typeface="Cambria" pitchFamily="34" charset="-120"/>
              </a:rPr>
              <a:t>≈ 4 M</a:t>
            </a:r>
            <a:endParaRPr lang="en-US" sz="2400" dirty="0"/>
          </a:p>
        </p:txBody>
      </p:sp>
      <p:sp>
        <p:nvSpPr>
          <p:cNvPr id="19" name="A7-fadeleft-260"/>
          <p:cNvSpPr txBox="1"/>
          <p:nvPr/>
        </p:nvSpPr>
        <p:spPr>
          <a:xfrm>
            <a:off x="5897880" y="3163824"/>
            <a:ext cx="2788920" cy="502920"/>
          </a:xfrm>
          <a:prstGeom prst="rect">
            <a:avLst/>
          </a:prstGeom>
          <a:noFill/>
          <a:ln/>
        </p:spPr>
        <p:txBody>
          <a:bodyPr wrap="square" lIns="0" tIns="0" rIns="0" bIns="0" rtlCol="0" anchor="ctr"/>
          <a:lstStyle/>
          <a:p>
            <a:pPr indent="0" marL="0">
              <a:buNone/>
            </a:pPr>
            <a:r>
              <a:rPr lang="en-US" sz="1100" dirty="0">
                <a:solidFill>
                  <a:srgbClr val="1B2333"/>
                </a:solidFill>
                <a:latin typeface="Calibri" pitchFamily="34" charset="0"/>
                <a:ea typeface="Calibri" pitchFamily="34" charset="-122"/>
                <a:cs typeface="Calibri" pitchFamily="34" charset="-120"/>
              </a:rPr>
              <a:t>citoyens des nouveaux membres installés dans l'UE à 15 (2004-2014)</a:t>
            </a:r>
            <a:endParaRPr lang="en-US" sz="1100" dirty="0"/>
          </a:p>
        </p:txBody>
      </p:sp>
      <p:sp>
        <p:nvSpPr>
          <p:cNvPr id="20" name="A8-fadeup-261"/>
          <p:cNvSpPr/>
          <p:nvPr/>
        </p:nvSpPr>
        <p:spPr>
          <a:xfrm>
            <a:off x="4663440" y="3840480"/>
            <a:ext cx="4023360" cy="777240"/>
          </a:xfrm>
          <a:prstGeom prst="roundRect">
            <a:avLst>
              <a:gd name="adj" fmla="val 14118"/>
            </a:avLst>
          </a:prstGeom>
          <a:solidFill>
            <a:srgbClr val="E3F5EC"/>
          </a:solidFill>
          <a:ln w="12700">
            <a:solidFill>
              <a:srgbClr val="E3F5EC"/>
            </a:solidFill>
            <a:prstDash val="solid"/>
          </a:ln>
          <a:effectLst>
            <a:outerShdw sx="100000" sy="100000" kx="0" ky="0" algn="bl" rotWithShape="0" blurRad="101600" dist="25400" dir="5400000">
              <a:srgbClr val="0B1F4B">
                <a:alpha val="12000"/>
              </a:srgbClr>
            </a:outerShdw>
          </a:effectLst>
        </p:spPr>
      </p:sp>
      <p:sp>
        <p:nvSpPr>
          <p:cNvPr id="21" name="A8-zoom-262"/>
          <p:cNvSpPr/>
          <p:nvPr/>
        </p:nvSpPr>
        <p:spPr>
          <a:xfrm>
            <a:off x="4773168" y="3941064"/>
            <a:ext cx="566928" cy="566928"/>
          </a:xfrm>
          <a:prstGeom prst="ellipse">
            <a:avLst/>
          </a:prstGeom>
          <a:solidFill>
            <a:srgbClr val="1E9E6A"/>
          </a:solidFill>
          <a:ln w="12700">
            <a:solidFill>
              <a:srgbClr val="1E9E6A"/>
            </a:solidFill>
            <a:prstDash val="solid"/>
          </a:ln>
        </p:spPr>
      </p:sp>
      <p:pic>
        <p:nvPicPr>
          <p:cNvPr id="22" name="A8-zoom-263" descr="preencoded.png">    </p:cNvPr>
          <p:cNvPicPr>
            <a:picLocks noChangeAspect="1"/>
          </p:cNvPicPr>
          <p:nvPr/>
        </p:nvPicPr>
        <p:blipFill>
          <a:blip r:embed="rId6"/>
          <a:stretch>
            <a:fillRect/>
          </a:stretch>
        </p:blipFill>
        <p:spPr>
          <a:xfrm>
            <a:off x="4926239" y="4094135"/>
            <a:ext cx="260787" cy="260787"/>
          </a:xfrm>
          <a:prstGeom prst="rect">
            <a:avLst/>
          </a:prstGeom>
        </p:spPr>
      </p:pic>
      <p:sp>
        <p:nvSpPr>
          <p:cNvPr id="23" name="A8-fadeup-264"/>
          <p:cNvSpPr txBox="1"/>
          <p:nvPr/>
        </p:nvSpPr>
        <p:spPr>
          <a:xfrm>
            <a:off x="5468112" y="3858768"/>
            <a:ext cx="3127248" cy="731520"/>
          </a:xfrm>
          <a:prstGeom prst="rect">
            <a:avLst/>
          </a:prstGeom>
          <a:noFill/>
          <a:ln/>
        </p:spPr>
        <p:txBody>
          <a:bodyPr wrap="square" lIns="0" tIns="0" rIns="0" bIns="0" rtlCol="0" anchor="ctr"/>
          <a:lstStyle/>
          <a:p>
            <a:pPr indent="0" marL="0">
              <a:buNone/>
            </a:pPr>
            <a:r>
              <a:rPr lang="en-US" sz="1150" b="1" dirty="0">
                <a:solidFill>
                  <a:srgbClr val="1E9E6A"/>
                </a:solidFill>
                <a:latin typeface="Calibri" pitchFamily="34" charset="0"/>
                <a:ea typeface="Calibri" pitchFamily="34" charset="-122"/>
                <a:cs typeface="Calibri" pitchFamily="34" charset="-120"/>
              </a:rPr>
              <a:t>Erasmus : </a:t>
            </a:r>
            <a:pPr indent="0" marL="0">
              <a:buNone/>
            </a:pPr>
            <a:r>
              <a:rPr lang="en-US" sz="1150" dirty="0">
                <a:solidFill>
                  <a:srgbClr val="1B2333"/>
                </a:solidFill>
                <a:latin typeface="Calibri" pitchFamily="34" charset="0"/>
                <a:ea typeface="Calibri" pitchFamily="34" charset="-122"/>
                <a:cs typeface="Calibri" pitchFamily="34" charset="-120"/>
              </a:rPr>
              <a:t>3 200 étudiants en 1987 → plus de 16,5 millions de bénéficiaires</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89" fill="hold">
                      <p:stCondLst>
                        <p:cond delay="indefinite"/>
                        <p:cond evt="onBegin" delay="0">
                          <p:tn val="2"/>
                        </p:cond>
                      </p:stCondLst>
                      <p:childTnLst>
                        <p:par>
                          <p:cTn id="90" fill="hold">
                            <p:stCondLst>
                              <p:cond delay="0"/>
                            </p:stCondLst>
                            <p:childTnLst>
                              <p:par>
                                <p:cTn id="6" presetID="53" presetClass="entr" presetSubtype="16" fill="hold" grpId="0" nodeType="withEffect">
                                  <p:stCondLst>
                                    <p:cond delay="380"/>
                                  </p:stCondLst>
                                  <p:childTnLst>
                                    <p:set>
                                      <p:cBhvr>
                                        <p:cTn id="7" dur="1" fill="hold">
                                          <p:stCondLst>
                                            <p:cond delay="0"/>
                                          </p:stCondLst>
                                        </p:cTn>
                                        <p:tgtEl>
                                          <p:spTgt spid="6"/>
                                        </p:tgtEl>
                                        <p:attrNameLst>
                                          <p:attrName>style.visibility</p:attrName>
                                        </p:attrNameLst>
                                      </p:cBhvr>
                                      <p:to>
                                        <p:strVal val="visible"/>
                                      </p:to>
                                    </p:set>
                                    <p:anim calcmode="lin" valueType="num">
                                      <p:cBhvr additive="base">
                                        <p:cTn id="3" dur="550" fill="hold"/>
                                        <p:tgtEl>
                                          <p:spTgt spid="6"/>
                                        </p:tgtEl>
                                        <p:attrNameLst>
                                          <p:attrName>ppt_w</p:attrName>
                                        </p:attrNameLst>
                                      </p:cBhvr>
                                      <p:tavLst>
                                        <p:tav tm="0">
                                          <p:val>
                                            <p:strVal val="0"/>
                                          </p:val>
                                        </p:tav>
                                        <p:tav tm="100000">
                                          <p:val>
                                            <p:strVal val="#ppt_w"/>
                                          </p:val>
                                        </p:tav>
                                      </p:tavLst>
                                    </p:anim>
                                    <p:anim calcmode="lin" valueType="num">
                                      <p:cBhvr additive="base">
                                        <p:cTn id="4" dur="550" fill="hold"/>
                                        <p:tgtEl>
                                          <p:spTgt spid="6"/>
                                        </p:tgtEl>
                                        <p:attrNameLst>
                                          <p:attrName>ppt_h</p:attrName>
                                        </p:attrNameLst>
                                      </p:cBhvr>
                                      <p:tavLst>
                                        <p:tav tm="0">
                                          <p:val>
                                            <p:strVal val="0"/>
                                          </p:val>
                                        </p:tav>
                                        <p:tav tm="100000">
                                          <p:val>
                                            <p:strVal val="#ppt_h"/>
                                          </p:val>
                                        </p:tav>
                                      </p:tavLst>
                                    </p:anim>
                                    <p:animEffect transition="in" filter="fade">
                                      <p:cBhvr>
                                        <p:cTn id="5" dur="550"/>
                                        <p:tgtEl>
                                          <p:spTgt spid="6"/>
                                        </p:tgtEl>
                                      </p:cBhvr>
                                    </p:animEffect>
                                  </p:childTnLst>
                                </p:cTn>
                              </p:par>
                              <p:par>
                                <p:cTn id="11" presetID="53" presetClass="entr" presetSubtype="16" fill="hold" grpId="0" nodeType="withEffect">
                                  <p:stCondLst>
                                    <p:cond delay="38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8" dur="550" fill="hold"/>
                                        <p:tgtEl>
                                          <p:spTgt spid="7"/>
                                        </p:tgtEl>
                                        <p:attrNameLst>
                                          <p:attrName>ppt_w</p:attrName>
                                        </p:attrNameLst>
                                      </p:cBhvr>
                                      <p:tavLst>
                                        <p:tav tm="0">
                                          <p:val>
                                            <p:strVal val="0"/>
                                          </p:val>
                                        </p:tav>
                                        <p:tav tm="100000">
                                          <p:val>
                                            <p:strVal val="#ppt_w"/>
                                          </p:val>
                                        </p:tav>
                                      </p:tavLst>
                                    </p:anim>
                                    <p:anim calcmode="lin" valueType="num">
                                      <p:cBhvr additive="base">
                                        <p:cTn id="9" dur="550" fill="hold"/>
                                        <p:tgtEl>
                                          <p:spTgt spid="7"/>
                                        </p:tgtEl>
                                        <p:attrNameLst>
                                          <p:attrName>ppt_h</p:attrName>
                                        </p:attrNameLst>
                                      </p:cBhvr>
                                      <p:tavLst>
                                        <p:tav tm="0">
                                          <p:val>
                                            <p:strVal val="0"/>
                                          </p:val>
                                        </p:tav>
                                        <p:tav tm="100000">
                                          <p:val>
                                            <p:strVal val="#ppt_h"/>
                                          </p:val>
                                        </p:tav>
                                      </p:tavLst>
                                    </p:anim>
                                    <p:animEffect transition="in" filter="fade">
                                      <p:cBhvr>
                                        <p:cTn id="10" dur="550"/>
                                        <p:tgtEl>
                                          <p:spTgt spid="7"/>
                                        </p:tgtEl>
                                      </p:cBhvr>
                                    </p:animEffect>
                                  </p:childTnLst>
                                </p:cTn>
                              </p:par>
                              <p:par>
                                <p:cTn id="16" presetID="42" presetClass="entr" presetSubtype="0" fill="hold" grpId="0" nodeType="withEffect">
                                  <p:stCondLst>
                                    <p:cond delay="380"/>
                                  </p:stCondLst>
                                  <p:childTnLst>
                                    <p:set>
                                      <p:cBhvr>
                                        <p:cTn id="17" dur="1" fill="hold">
                                          <p:stCondLst>
                                            <p:cond delay="0"/>
                                          </p:stCondLst>
                                        </p:cTn>
                                        <p:tgtEl>
                                          <p:spTgt spid="8"/>
                                        </p:tgtEl>
                                        <p:attrNameLst>
                                          <p:attrName>style.visibility</p:attrName>
                                        </p:attrNameLst>
                                      </p:cBhvr>
                                      <p:to>
                                        <p:strVal val="visible"/>
                                      </p:to>
                                    </p:set>
                                    <p:animEffect transition="in" filter="fade">
                                      <p:cBhvr>
                                        <p:cTn id="13" dur="650"/>
                                        <p:tgtEl>
                                          <p:spTgt spid="8"/>
                                        </p:tgtEl>
                                      </p:cBhvr>
                                    </p:animEffect>
                                    <p:anim calcmode="lin" valueType="num">
                                      <p:cBhvr additive="base">
                                        <p:cTn id="14" dur="650" fill="hold"/>
                                        <p:tgtEl>
                                          <p:spTgt spid="8"/>
                                        </p:tgtEl>
                                        <p:attrNameLst>
                                          <p:attrName>ppt_x</p:attrName>
                                        </p:attrNameLst>
                                      </p:cBhvr>
                                      <p:tavLst>
                                        <p:tav tm="0">
                                          <p:val>
                                            <p:strVal val="#ppt_x-.06"/>
                                          </p:val>
                                        </p:tav>
                                        <p:tav tm="100000">
                                          <p:val>
                                            <p:strVal val="#ppt_x"/>
                                          </p:val>
                                        </p:tav>
                                      </p:tavLst>
                                    </p:anim>
                                    <p:anim calcmode="lin" valueType="num">
                                      <p:cBhvr additive="base">
                                        <p:cTn id="15" dur="650" fill="hold"/>
                                        <p:tgtEl>
                                          <p:spTgt spid="8"/>
                                        </p:tgtEl>
                                        <p:attrNameLst>
                                          <p:attrName>ppt_y</p:attrName>
                                        </p:attrNameLst>
                                      </p:cBhvr>
                                      <p:tavLst>
                                        <p:tav tm="0">
                                          <p:val>
                                            <p:strVal val="#ppt_y"/>
                                          </p:val>
                                        </p:tav>
                                        <p:tav tm="100000">
                                          <p:val>
                                            <p:strVal val="#ppt_y"/>
                                          </p:val>
                                        </p:tav>
                                      </p:tavLst>
                                    </p:anim>
                                  </p:childTnLst>
                                </p:cTn>
                              </p:par>
                              <p:par>
                                <p:cTn id="19" presetID="22" presetClass="entr" presetSubtype="8" fill="hold" grpId="0" nodeType="withEffect">
                                  <p:stCondLst>
                                    <p:cond delay="760"/>
                                  </p:stCondLst>
                                  <p:childTnLst>
                                    <p:set>
                                      <p:cBhvr>
                                        <p:cTn id="20" dur="1" fill="hold">
                                          <p:stCondLst>
                                            <p:cond delay="0"/>
                                          </p:stCondLst>
                                        </p:cTn>
                                        <p:tgtEl>
                                          <p:spTgt spid="9"/>
                                        </p:tgtEl>
                                        <p:attrNameLst>
                                          <p:attrName>style.visibility</p:attrName>
                                        </p:attrNameLst>
                                      </p:cBhvr>
                                      <p:to>
                                        <p:strVal val="visible"/>
                                      </p:to>
                                    </p:set>
                                    <p:animEffect transition="in" filter="wipe(left)">
                                      <p:cBhvr>
                                        <p:cTn id="18" dur="800"/>
                                        <p:tgtEl>
                                          <p:spTgt spid="9"/>
                                        </p:tgtEl>
                                      </p:cBhvr>
                                    </p:animEffect>
                                  </p:childTnLst>
                                </p:cTn>
                              </p:par>
                              <p:par>
                                <p:cTn id="22" presetID="10" presetClass="entr" presetSubtype="0" fill="hold" grpId="0" nodeType="withEffect">
                                  <p:stCondLst>
                                    <p:cond delay="1140"/>
                                  </p:stCondLst>
                                  <p:childTnLst>
                                    <p:set>
                                      <p:cBhvr>
                                        <p:cTn id="23" dur="1" fill="hold">
                                          <p:stCondLst>
                                            <p:cond delay="0"/>
                                          </p:stCondLst>
                                        </p:cTn>
                                        <p:tgtEl>
                                          <p:spTgt spid="10"/>
                                        </p:tgtEl>
                                        <p:attrNameLst>
                                          <p:attrName>style.visibility</p:attrName>
                                        </p:attrNameLst>
                                      </p:cBhvr>
                                      <p:to>
                                        <p:strVal val="visible"/>
                                      </p:to>
                                    </p:set>
                                    <p:animEffect transition="in" filter="fade">
                                      <p:cBhvr>
                                        <p:cTn id="21" dur="600"/>
                                        <p:tgtEl>
                                          <p:spTgt spid="10"/>
                                        </p:tgtEl>
                                      </p:cBhvr>
                                    </p:animEffect>
                                  </p:childTnLst>
                                </p:cTn>
                              </p:par>
                              <p:par>
                                <p:cTn id="27" presetID="53" presetClass="entr" presetSubtype="16" fill="hold" grpId="0" nodeType="withEffect">
                                  <p:stCondLst>
                                    <p:cond delay="152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4" dur="550" fill="hold"/>
                                        <p:tgtEl>
                                          <p:spTgt spid="11"/>
                                        </p:tgtEl>
                                        <p:attrNameLst>
                                          <p:attrName>ppt_w</p:attrName>
                                        </p:attrNameLst>
                                      </p:cBhvr>
                                      <p:tavLst>
                                        <p:tav tm="0">
                                          <p:val>
                                            <p:strVal val="0"/>
                                          </p:val>
                                        </p:tav>
                                        <p:tav tm="100000">
                                          <p:val>
                                            <p:strVal val="#ppt_w"/>
                                          </p:val>
                                        </p:tav>
                                      </p:tavLst>
                                    </p:anim>
                                    <p:anim calcmode="lin" valueType="num">
                                      <p:cBhvr additive="base">
                                        <p:cTn id="25" dur="550" fill="hold"/>
                                        <p:tgtEl>
                                          <p:spTgt spid="11"/>
                                        </p:tgtEl>
                                        <p:attrNameLst>
                                          <p:attrName>ppt_h</p:attrName>
                                        </p:attrNameLst>
                                      </p:cBhvr>
                                      <p:tavLst>
                                        <p:tav tm="0">
                                          <p:val>
                                            <p:strVal val="0"/>
                                          </p:val>
                                        </p:tav>
                                        <p:tav tm="100000">
                                          <p:val>
                                            <p:strVal val="#ppt_h"/>
                                          </p:val>
                                        </p:tav>
                                      </p:tavLst>
                                    </p:anim>
                                    <p:animEffect transition="in" filter="fade">
                                      <p:cBhvr>
                                        <p:cTn id="26" dur="550"/>
                                        <p:tgtEl>
                                          <p:spTgt spid="11"/>
                                        </p:tgtEl>
                                      </p:cBhvr>
                                    </p:animEffect>
                                  </p:childTnLst>
                                </p:cTn>
                              </p:par>
                              <p:par>
                                <p:cTn id="32" presetID="53" presetClass="entr" presetSubtype="16" fill="hold" grpId="0" nodeType="withEffect">
                                  <p:stCondLst>
                                    <p:cond delay="1520"/>
                                  </p:stCondLst>
                                  <p:childTnLst>
                                    <p:set>
                                      <p:cBhvr>
                                        <p:cTn id="33" dur="1" fill="hold">
                                          <p:stCondLst>
                                            <p:cond delay="0"/>
                                          </p:stCondLst>
                                        </p:cTn>
                                        <p:tgtEl>
                                          <p:spTgt spid="12"/>
                                        </p:tgtEl>
                                        <p:attrNameLst>
                                          <p:attrName>style.visibility</p:attrName>
                                        </p:attrNameLst>
                                      </p:cBhvr>
                                      <p:to>
                                        <p:strVal val="visible"/>
                                      </p:to>
                                    </p:set>
                                    <p:anim calcmode="lin" valueType="num">
                                      <p:cBhvr additive="base">
                                        <p:cTn id="29" dur="550" fill="hold"/>
                                        <p:tgtEl>
                                          <p:spTgt spid="12"/>
                                        </p:tgtEl>
                                        <p:attrNameLst>
                                          <p:attrName>ppt_w</p:attrName>
                                        </p:attrNameLst>
                                      </p:cBhvr>
                                      <p:tavLst>
                                        <p:tav tm="0">
                                          <p:val>
                                            <p:strVal val="0"/>
                                          </p:val>
                                        </p:tav>
                                        <p:tav tm="100000">
                                          <p:val>
                                            <p:strVal val="#ppt_w"/>
                                          </p:val>
                                        </p:tav>
                                      </p:tavLst>
                                    </p:anim>
                                    <p:anim calcmode="lin" valueType="num">
                                      <p:cBhvr additive="base">
                                        <p:cTn id="30" dur="550" fill="hold"/>
                                        <p:tgtEl>
                                          <p:spTgt spid="12"/>
                                        </p:tgtEl>
                                        <p:attrNameLst>
                                          <p:attrName>ppt_h</p:attrName>
                                        </p:attrNameLst>
                                      </p:cBhvr>
                                      <p:tavLst>
                                        <p:tav tm="0">
                                          <p:val>
                                            <p:strVal val="0"/>
                                          </p:val>
                                        </p:tav>
                                        <p:tav tm="100000">
                                          <p:val>
                                            <p:strVal val="#ppt_h"/>
                                          </p:val>
                                        </p:tav>
                                      </p:tavLst>
                                    </p:anim>
                                    <p:animEffect transition="in" filter="fade">
                                      <p:cBhvr>
                                        <p:cTn id="31" dur="550"/>
                                        <p:tgtEl>
                                          <p:spTgt spid="12"/>
                                        </p:tgtEl>
                                      </p:cBhvr>
                                    </p:animEffect>
                                  </p:childTnLst>
                                </p:cTn>
                              </p:par>
                              <p:par>
                                <p:cTn id="37" presetID="42" presetClass="entr" presetSubtype="0" fill="hold" grpId="0" nodeType="withEffect">
                                  <p:stCondLst>
                                    <p:cond delay="1520"/>
                                  </p:stCondLst>
                                  <p:childTnLst>
                                    <p:set>
                                      <p:cBhvr>
                                        <p:cTn id="38" dur="1" fill="hold">
                                          <p:stCondLst>
                                            <p:cond delay="0"/>
                                          </p:stCondLst>
                                        </p:cTn>
                                        <p:tgtEl>
                                          <p:spTgt spid="13"/>
                                        </p:tgtEl>
                                        <p:attrNameLst>
                                          <p:attrName>style.visibility</p:attrName>
                                        </p:attrNameLst>
                                      </p:cBhvr>
                                      <p:to>
                                        <p:strVal val="visible"/>
                                      </p:to>
                                    </p:set>
                                    <p:animEffect transition="in" filter="fade">
                                      <p:cBhvr>
                                        <p:cTn id="34" dur="650"/>
                                        <p:tgtEl>
                                          <p:spTgt spid="13"/>
                                        </p:tgtEl>
                                      </p:cBhvr>
                                    </p:animEffect>
                                    <p:anim calcmode="lin" valueType="num">
                                      <p:cBhvr additive="base">
                                        <p:cTn id="35" dur="650" fill="hold"/>
                                        <p:tgtEl>
                                          <p:spTgt spid="13"/>
                                        </p:tgtEl>
                                        <p:attrNameLst>
                                          <p:attrName>ppt_x</p:attrName>
                                        </p:attrNameLst>
                                      </p:cBhvr>
                                      <p:tavLst>
                                        <p:tav tm="0">
                                          <p:val>
                                            <p:strVal val="#ppt_x-.06"/>
                                          </p:val>
                                        </p:tav>
                                        <p:tav tm="100000">
                                          <p:val>
                                            <p:strVal val="#ppt_x"/>
                                          </p:val>
                                        </p:tav>
                                      </p:tavLst>
                                    </p:anim>
                                    <p:anim calcmode="lin" valueType="num">
                                      <p:cBhvr additive="base">
                                        <p:cTn id="36" dur="650" fill="hold"/>
                                        <p:tgtEl>
                                          <p:spTgt spid="13"/>
                                        </p:tgtEl>
                                        <p:attrNameLst>
                                          <p:attrName>ppt_y</p:attrName>
                                        </p:attrNameLst>
                                      </p:cBhvr>
                                      <p:tavLst>
                                        <p:tav tm="0">
                                          <p:val>
                                            <p:strVal val="#ppt_y"/>
                                          </p:val>
                                        </p:tav>
                                        <p:tav tm="100000">
                                          <p:val>
                                            <p:strVal val="#ppt_y"/>
                                          </p:val>
                                        </p:tav>
                                      </p:tavLst>
                                    </p:anim>
                                  </p:childTnLst>
                                </p:cTn>
                              </p:par>
                              <p:par>
                                <p:cTn id="42" presetID="53" presetClass="entr" presetSubtype="16" fill="hold" grpId="0" nodeType="withEffect">
                                  <p:stCondLst>
                                    <p:cond delay="1900"/>
                                  </p:stCondLst>
                                  <p:childTnLst>
                                    <p:set>
                                      <p:cBhvr>
                                        <p:cTn id="43" dur="1" fill="hold">
                                          <p:stCondLst>
                                            <p:cond delay="0"/>
                                          </p:stCondLst>
                                        </p:cTn>
                                        <p:tgtEl>
                                          <p:spTgt spid="14"/>
                                        </p:tgtEl>
                                        <p:attrNameLst>
                                          <p:attrName>style.visibility</p:attrName>
                                        </p:attrNameLst>
                                      </p:cBhvr>
                                      <p:to>
                                        <p:strVal val="visible"/>
                                      </p:to>
                                    </p:set>
                                    <p:anim calcmode="lin" valueType="num">
                                      <p:cBhvr additive="base">
                                        <p:cTn id="39" dur="550" fill="hold"/>
                                        <p:tgtEl>
                                          <p:spTgt spid="14"/>
                                        </p:tgtEl>
                                        <p:attrNameLst>
                                          <p:attrName>ppt_w</p:attrName>
                                        </p:attrNameLst>
                                      </p:cBhvr>
                                      <p:tavLst>
                                        <p:tav tm="0">
                                          <p:val>
                                            <p:strVal val="0"/>
                                          </p:val>
                                        </p:tav>
                                        <p:tav tm="100000">
                                          <p:val>
                                            <p:strVal val="#ppt_w"/>
                                          </p:val>
                                        </p:tav>
                                      </p:tavLst>
                                    </p:anim>
                                    <p:anim calcmode="lin" valueType="num">
                                      <p:cBhvr additive="base">
                                        <p:cTn id="40" dur="550" fill="hold"/>
                                        <p:tgtEl>
                                          <p:spTgt spid="14"/>
                                        </p:tgtEl>
                                        <p:attrNameLst>
                                          <p:attrName>ppt_h</p:attrName>
                                        </p:attrNameLst>
                                      </p:cBhvr>
                                      <p:tavLst>
                                        <p:tav tm="0">
                                          <p:val>
                                            <p:strVal val="0"/>
                                          </p:val>
                                        </p:tav>
                                        <p:tav tm="100000">
                                          <p:val>
                                            <p:strVal val="#ppt_h"/>
                                          </p:val>
                                        </p:tav>
                                      </p:tavLst>
                                    </p:anim>
                                    <p:animEffect transition="in" filter="fade">
                                      <p:cBhvr>
                                        <p:cTn id="41" dur="550"/>
                                        <p:tgtEl>
                                          <p:spTgt spid="14"/>
                                        </p:tgtEl>
                                      </p:cBhvr>
                                    </p:animEffect>
                                  </p:childTnLst>
                                </p:cTn>
                              </p:par>
                              <p:par>
                                <p:cTn id="47" presetID="42" presetClass="entr" presetSubtype="0" fill="hold" grpId="0" nodeType="withEffect">
                                  <p:stCondLst>
                                    <p:cond delay="1900"/>
                                  </p:stCondLst>
                                  <p:childTnLst>
                                    <p:set>
                                      <p:cBhvr>
                                        <p:cTn id="48" dur="1" fill="hold">
                                          <p:stCondLst>
                                            <p:cond delay="0"/>
                                          </p:stCondLst>
                                        </p:cTn>
                                        <p:tgtEl>
                                          <p:spTgt spid="15"/>
                                        </p:tgtEl>
                                        <p:attrNameLst>
                                          <p:attrName>style.visibility</p:attrName>
                                        </p:attrNameLst>
                                      </p:cBhvr>
                                      <p:to>
                                        <p:strVal val="visible"/>
                                      </p:to>
                                    </p:set>
                                    <p:animEffect transition="in" filter="fade">
                                      <p:cBhvr>
                                        <p:cTn id="44" dur="650"/>
                                        <p:tgtEl>
                                          <p:spTgt spid="15"/>
                                        </p:tgtEl>
                                      </p:cBhvr>
                                    </p:animEffect>
                                    <p:anim calcmode="lin" valueType="num">
                                      <p:cBhvr additive="base">
                                        <p:cTn id="45" dur="650" fill="hold"/>
                                        <p:tgtEl>
                                          <p:spTgt spid="15"/>
                                        </p:tgtEl>
                                        <p:attrNameLst>
                                          <p:attrName>ppt_x</p:attrName>
                                        </p:attrNameLst>
                                      </p:cBhvr>
                                      <p:tavLst>
                                        <p:tav tm="0">
                                          <p:val>
                                            <p:strVal val="#ppt_x-.06"/>
                                          </p:val>
                                        </p:tav>
                                        <p:tav tm="100000">
                                          <p:val>
                                            <p:strVal val="#ppt_x"/>
                                          </p:val>
                                        </p:tav>
                                      </p:tavLst>
                                    </p:anim>
                                    <p:anim calcmode="lin" valueType="num">
                                      <p:cBhvr additive="base">
                                        <p:cTn id="46" dur="650" fill="hold"/>
                                        <p:tgtEl>
                                          <p:spTgt spid="15"/>
                                        </p:tgtEl>
                                        <p:attrNameLst>
                                          <p:attrName>ppt_y</p:attrName>
                                        </p:attrNameLst>
                                      </p:cBhvr>
                                      <p:tavLst>
                                        <p:tav tm="0">
                                          <p:val>
                                            <p:strVal val="#ppt_y"/>
                                          </p:val>
                                        </p:tav>
                                        <p:tav tm="100000">
                                          <p:val>
                                            <p:strVal val="#ppt_y"/>
                                          </p:val>
                                        </p:tav>
                                      </p:tavLst>
                                    </p:anim>
                                  </p:childTnLst>
                                </p:cTn>
                              </p:par>
                              <p:par>
                                <p:cTn id="52" presetID="53" presetClass="entr" presetSubtype="16" fill="hold" grpId="0" nodeType="withEffect">
                                  <p:stCondLst>
                                    <p:cond delay="2280"/>
                                  </p:stCondLst>
                                  <p:childTnLst>
                                    <p:set>
                                      <p:cBhvr>
                                        <p:cTn id="53" dur="1" fill="hold">
                                          <p:stCondLst>
                                            <p:cond delay="0"/>
                                          </p:stCondLst>
                                        </p:cTn>
                                        <p:tgtEl>
                                          <p:spTgt spid="16"/>
                                        </p:tgtEl>
                                        <p:attrNameLst>
                                          <p:attrName>style.visibility</p:attrName>
                                        </p:attrNameLst>
                                      </p:cBhvr>
                                      <p:to>
                                        <p:strVal val="visible"/>
                                      </p:to>
                                    </p:set>
                                    <p:anim calcmode="lin" valueType="num">
                                      <p:cBhvr additive="base">
                                        <p:cTn id="49" dur="550" fill="hold"/>
                                        <p:tgtEl>
                                          <p:spTgt spid="16"/>
                                        </p:tgtEl>
                                        <p:attrNameLst>
                                          <p:attrName>ppt_w</p:attrName>
                                        </p:attrNameLst>
                                      </p:cBhvr>
                                      <p:tavLst>
                                        <p:tav tm="0">
                                          <p:val>
                                            <p:strVal val="0"/>
                                          </p:val>
                                        </p:tav>
                                        <p:tav tm="100000">
                                          <p:val>
                                            <p:strVal val="#ppt_w"/>
                                          </p:val>
                                        </p:tav>
                                      </p:tavLst>
                                    </p:anim>
                                    <p:anim calcmode="lin" valueType="num">
                                      <p:cBhvr additive="base">
                                        <p:cTn id="50" dur="550" fill="hold"/>
                                        <p:tgtEl>
                                          <p:spTgt spid="16"/>
                                        </p:tgtEl>
                                        <p:attrNameLst>
                                          <p:attrName>ppt_h</p:attrName>
                                        </p:attrNameLst>
                                      </p:cBhvr>
                                      <p:tavLst>
                                        <p:tav tm="0">
                                          <p:val>
                                            <p:strVal val="0"/>
                                          </p:val>
                                        </p:tav>
                                        <p:tav tm="100000">
                                          <p:val>
                                            <p:strVal val="#ppt_h"/>
                                          </p:val>
                                        </p:tav>
                                      </p:tavLst>
                                    </p:anim>
                                    <p:animEffect transition="in" filter="fade">
                                      <p:cBhvr>
                                        <p:cTn id="51" dur="550"/>
                                        <p:tgtEl>
                                          <p:spTgt spid="16"/>
                                        </p:tgtEl>
                                      </p:cBhvr>
                                    </p:animEffect>
                                  </p:childTnLst>
                                </p:cTn>
                              </p:par>
                              <p:par>
                                <p:cTn id="57" presetID="42" presetClass="entr" presetSubtype="0" fill="hold" grpId="0" nodeType="withEffect">
                                  <p:stCondLst>
                                    <p:cond delay="2280"/>
                                  </p:stCondLst>
                                  <p:childTnLst>
                                    <p:set>
                                      <p:cBhvr>
                                        <p:cTn id="58" dur="1" fill="hold">
                                          <p:stCondLst>
                                            <p:cond delay="0"/>
                                          </p:stCondLst>
                                        </p:cTn>
                                        <p:tgtEl>
                                          <p:spTgt spid="17"/>
                                        </p:tgtEl>
                                        <p:attrNameLst>
                                          <p:attrName>style.visibility</p:attrName>
                                        </p:attrNameLst>
                                      </p:cBhvr>
                                      <p:to>
                                        <p:strVal val="visible"/>
                                      </p:to>
                                    </p:set>
                                    <p:animEffect transition="in" filter="fade">
                                      <p:cBhvr>
                                        <p:cTn id="54" dur="650"/>
                                        <p:tgtEl>
                                          <p:spTgt spid="17"/>
                                        </p:tgtEl>
                                      </p:cBhvr>
                                    </p:animEffect>
                                    <p:anim calcmode="lin" valueType="num">
                                      <p:cBhvr additive="base">
                                        <p:cTn id="55" dur="650" fill="hold"/>
                                        <p:tgtEl>
                                          <p:spTgt spid="17"/>
                                        </p:tgtEl>
                                        <p:attrNameLst>
                                          <p:attrName>ppt_x</p:attrName>
                                        </p:attrNameLst>
                                      </p:cBhvr>
                                      <p:tavLst>
                                        <p:tav tm="0">
                                          <p:val>
                                            <p:strVal val="#ppt_x-.06"/>
                                          </p:val>
                                        </p:tav>
                                        <p:tav tm="100000">
                                          <p:val>
                                            <p:strVal val="#ppt_x"/>
                                          </p:val>
                                        </p:tav>
                                      </p:tavLst>
                                    </p:anim>
                                    <p:anim calcmode="lin" valueType="num">
                                      <p:cBhvr additive="base">
                                        <p:cTn id="56" dur="650" fill="hold"/>
                                        <p:tgtEl>
                                          <p:spTgt spid="17"/>
                                        </p:tgtEl>
                                        <p:attrNameLst>
                                          <p:attrName>ppt_y</p:attrName>
                                        </p:attrNameLst>
                                      </p:cBhvr>
                                      <p:tavLst>
                                        <p:tav tm="0">
                                          <p:val>
                                            <p:strVal val="#ppt_y"/>
                                          </p:val>
                                        </p:tav>
                                        <p:tav tm="100000">
                                          <p:val>
                                            <p:strVal val="#ppt_y"/>
                                          </p:val>
                                        </p:tav>
                                      </p:tavLst>
                                    </p:anim>
                                  </p:childTnLst>
                                </p:cTn>
                              </p:par>
                              <p:par>
                                <p:cTn id="62" presetID="53" presetClass="entr" presetSubtype="16" fill="hold" grpId="0" nodeType="withEffect">
                                  <p:stCondLst>
                                    <p:cond delay="2660"/>
                                  </p:stCondLst>
                                  <p:childTnLst>
                                    <p:set>
                                      <p:cBhvr>
                                        <p:cTn id="63" dur="1" fill="hold">
                                          <p:stCondLst>
                                            <p:cond delay="0"/>
                                          </p:stCondLst>
                                        </p:cTn>
                                        <p:tgtEl>
                                          <p:spTgt spid="18"/>
                                        </p:tgtEl>
                                        <p:attrNameLst>
                                          <p:attrName>style.visibility</p:attrName>
                                        </p:attrNameLst>
                                      </p:cBhvr>
                                      <p:to>
                                        <p:strVal val="visible"/>
                                      </p:to>
                                    </p:set>
                                    <p:anim calcmode="lin" valueType="num">
                                      <p:cBhvr additive="base">
                                        <p:cTn id="59" dur="550" fill="hold"/>
                                        <p:tgtEl>
                                          <p:spTgt spid="18"/>
                                        </p:tgtEl>
                                        <p:attrNameLst>
                                          <p:attrName>ppt_w</p:attrName>
                                        </p:attrNameLst>
                                      </p:cBhvr>
                                      <p:tavLst>
                                        <p:tav tm="0">
                                          <p:val>
                                            <p:strVal val="0"/>
                                          </p:val>
                                        </p:tav>
                                        <p:tav tm="100000">
                                          <p:val>
                                            <p:strVal val="#ppt_w"/>
                                          </p:val>
                                        </p:tav>
                                      </p:tavLst>
                                    </p:anim>
                                    <p:anim calcmode="lin" valueType="num">
                                      <p:cBhvr additive="base">
                                        <p:cTn id="60" dur="550" fill="hold"/>
                                        <p:tgtEl>
                                          <p:spTgt spid="18"/>
                                        </p:tgtEl>
                                        <p:attrNameLst>
                                          <p:attrName>ppt_h</p:attrName>
                                        </p:attrNameLst>
                                      </p:cBhvr>
                                      <p:tavLst>
                                        <p:tav tm="0">
                                          <p:val>
                                            <p:strVal val="0"/>
                                          </p:val>
                                        </p:tav>
                                        <p:tav tm="100000">
                                          <p:val>
                                            <p:strVal val="#ppt_h"/>
                                          </p:val>
                                        </p:tav>
                                      </p:tavLst>
                                    </p:anim>
                                    <p:animEffect transition="in" filter="fade">
                                      <p:cBhvr>
                                        <p:cTn id="61" dur="550"/>
                                        <p:tgtEl>
                                          <p:spTgt spid="18"/>
                                        </p:tgtEl>
                                      </p:cBhvr>
                                    </p:animEffect>
                                  </p:childTnLst>
                                </p:cTn>
                              </p:par>
                              <p:par>
                                <p:cTn id="67" presetID="42" presetClass="entr" presetSubtype="0" fill="hold" grpId="0" nodeType="withEffect">
                                  <p:stCondLst>
                                    <p:cond delay="2660"/>
                                  </p:stCondLst>
                                  <p:childTnLst>
                                    <p:set>
                                      <p:cBhvr>
                                        <p:cTn id="68" dur="1" fill="hold">
                                          <p:stCondLst>
                                            <p:cond delay="0"/>
                                          </p:stCondLst>
                                        </p:cTn>
                                        <p:tgtEl>
                                          <p:spTgt spid="19"/>
                                        </p:tgtEl>
                                        <p:attrNameLst>
                                          <p:attrName>style.visibility</p:attrName>
                                        </p:attrNameLst>
                                      </p:cBhvr>
                                      <p:to>
                                        <p:strVal val="visible"/>
                                      </p:to>
                                    </p:set>
                                    <p:animEffect transition="in" filter="fade">
                                      <p:cBhvr>
                                        <p:cTn id="64" dur="650"/>
                                        <p:tgtEl>
                                          <p:spTgt spid="19"/>
                                        </p:tgtEl>
                                      </p:cBhvr>
                                    </p:animEffect>
                                    <p:anim calcmode="lin" valueType="num">
                                      <p:cBhvr additive="base">
                                        <p:cTn id="65" dur="650" fill="hold"/>
                                        <p:tgtEl>
                                          <p:spTgt spid="19"/>
                                        </p:tgtEl>
                                        <p:attrNameLst>
                                          <p:attrName>ppt_x</p:attrName>
                                        </p:attrNameLst>
                                      </p:cBhvr>
                                      <p:tavLst>
                                        <p:tav tm="0">
                                          <p:val>
                                            <p:strVal val="#ppt_x-.06"/>
                                          </p:val>
                                        </p:tav>
                                        <p:tav tm="100000">
                                          <p:val>
                                            <p:strVal val="#ppt_x"/>
                                          </p:val>
                                        </p:tav>
                                      </p:tavLst>
                                    </p:anim>
                                    <p:anim calcmode="lin" valueType="num">
                                      <p:cBhvr additive="base">
                                        <p:cTn id="66" dur="650" fill="hold"/>
                                        <p:tgtEl>
                                          <p:spTgt spid="19"/>
                                        </p:tgtEl>
                                        <p:attrNameLst>
                                          <p:attrName>ppt_y</p:attrName>
                                        </p:attrNameLst>
                                      </p:cBhvr>
                                      <p:tavLst>
                                        <p:tav tm="0">
                                          <p:val>
                                            <p:strVal val="#ppt_y"/>
                                          </p:val>
                                        </p:tav>
                                        <p:tav tm="100000">
                                          <p:val>
                                            <p:strVal val="#ppt_y"/>
                                          </p:val>
                                        </p:tav>
                                      </p:tavLst>
                                    </p:anim>
                                  </p:childTnLst>
                                </p:cTn>
                              </p:par>
                              <p:par>
                                <p:cTn id="72" presetID="42" presetClass="entr" presetSubtype="0" fill="hold" grpId="0" nodeType="withEffect">
                                  <p:stCondLst>
                                    <p:cond delay="3040"/>
                                  </p:stCondLst>
                                  <p:childTnLst>
                                    <p:set>
                                      <p:cBhvr>
                                        <p:cTn id="73" dur="1" fill="hold">
                                          <p:stCondLst>
                                            <p:cond delay="0"/>
                                          </p:stCondLst>
                                        </p:cTn>
                                        <p:tgtEl>
                                          <p:spTgt spid="20"/>
                                        </p:tgtEl>
                                        <p:attrNameLst>
                                          <p:attrName>style.visibility</p:attrName>
                                        </p:attrNameLst>
                                      </p:cBhvr>
                                      <p:to>
                                        <p:strVal val="visible"/>
                                      </p:to>
                                    </p:set>
                                    <p:animEffect transition="in" filter="fade">
                                      <p:cBhvr>
                                        <p:cTn id="69" dur="700"/>
                                        <p:tgtEl>
                                          <p:spTgt spid="20"/>
                                        </p:tgtEl>
                                      </p:cBhvr>
                                    </p:animEffect>
                                    <p:anim calcmode="lin" valueType="num">
                                      <p:cBhvr additive="base">
                                        <p:cTn id="70" dur="700" fill="hold"/>
                                        <p:tgtEl>
                                          <p:spTgt spid="20"/>
                                        </p:tgtEl>
                                        <p:attrNameLst>
                                          <p:attrName>ppt_x</p:attrName>
                                        </p:attrNameLst>
                                      </p:cBhvr>
                                      <p:tavLst>
                                        <p:tav tm="0">
                                          <p:val>
                                            <p:strVal val="#ppt_x"/>
                                          </p:val>
                                        </p:tav>
                                        <p:tav tm="100000">
                                          <p:val>
                                            <p:strVal val="#ppt_x"/>
                                          </p:val>
                                        </p:tav>
                                      </p:tavLst>
                                    </p:anim>
                                    <p:anim calcmode="lin" valueType="num">
                                      <p:cBhvr additive="base">
                                        <p:cTn id="71" dur="700" fill="hold"/>
                                        <p:tgtEl>
                                          <p:spTgt spid="20"/>
                                        </p:tgtEl>
                                        <p:attrNameLst>
                                          <p:attrName>ppt_y</p:attrName>
                                        </p:attrNameLst>
                                      </p:cBhvr>
                                      <p:tavLst>
                                        <p:tav tm="0">
                                          <p:val>
                                            <p:strVal val="#ppt_y+.08"/>
                                          </p:val>
                                        </p:tav>
                                        <p:tav tm="100000">
                                          <p:val>
                                            <p:strVal val="#ppt_y"/>
                                          </p:val>
                                        </p:tav>
                                      </p:tavLst>
                                    </p:anim>
                                  </p:childTnLst>
                                </p:cTn>
                              </p:par>
                              <p:par>
                                <p:cTn id="77" presetID="53" presetClass="entr" presetSubtype="16" fill="hold" grpId="0" nodeType="withEffect">
                                  <p:stCondLst>
                                    <p:cond delay="3040"/>
                                  </p:stCondLst>
                                  <p:childTnLst>
                                    <p:set>
                                      <p:cBhvr>
                                        <p:cTn id="78" dur="1" fill="hold">
                                          <p:stCondLst>
                                            <p:cond delay="0"/>
                                          </p:stCondLst>
                                        </p:cTn>
                                        <p:tgtEl>
                                          <p:spTgt spid="21"/>
                                        </p:tgtEl>
                                        <p:attrNameLst>
                                          <p:attrName>style.visibility</p:attrName>
                                        </p:attrNameLst>
                                      </p:cBhvr>
                                      <p:to>
                                        <p:strVal val="visible"/>
                                      </p:to>
                                    </p:set>
                                    <p:anim calcmode="lin" valueType="num">
                                      <p:cBhvr additive="base">
                                        <p:cTn id="74" dur="550" fill="hold"/>
                                        <p:tgtEl>
                                          <p:spTgt spid="21"/>
                                        </p:tgtEl>
                                        <p:attrNameLst>
                                          <p:attrName>ppt_w</p:attrName>
                                        </p:attrNameLst>
                                      </p:cBhvr>
                                      <p:tavLst>
                                        <p:tav tm="0">
                                          <p:val>
                                            <p:strVal val="0"/>
                                          </p:val>
                                        </p:tav>
                                        <p:tav tm="100000">
                                          <p:val>
                                            <p:strVal val="#ppt_w"/>
                                          </p:val>
                                        </p:tav>
                                      </p:tavLst>
                                    </p:anim>
                                    <p:anim calcmode="lin" valueType="num">
                                      <p:cBhvr additive="base">
                                        <p:cTn id="75" dur="550" fill="hold"/>
                                        <p:tgtEl>
                                          <p:spTgt spid="21"/>
                                        </p:tgtEl>
                                        <p:attrNameLst>
                                          <p:attrName>ppt_h</p:attrName>
                                        </p:attrNameLst>
                                      </p:cBhvr>
                                      <p:tavLst>
                                        <p:tav tm="0">
                                          <p:val>
                                            <p:strVal val="0"/>
                                          </p:val>
                                        </p:tav>
                                        <p:tav tm="100000">
                                          <p:val>
                                            <p:strVal val="#ppt_h"/>
                                          </p:val>
                                        </p:tav>
                                      </p:tavLst>
                                    </p:anim>
                                    <p:animEffect transition="in" filter="fade">
                                      <p:cBhvr>
                                        <p:cTn id="76" dur="550"/>
                                        <p:tgtEl>
                                          <p:spTgt spid="21"/>
                                        </p:tgtEl>
                                      </p:cBhvr>
                                    </p:animEffect>
                                  </p:childTnLst>
                                </p:cTn>
                              </p:par>
                              <p:par>
                                <p:cTn id="82" presetID="53" presetClass="entr" presetSubtype="16" fill="hold" grpId="0" nodeType="withEffect">
                                  <p:stCondLst>
                                    <p:cond delay="3040"/>
                                  </p:stCondLst>
                                  <p:childTnLst>
                                    <p:set>
                                      <p:cBhvr>
                                        <p:cTn id="83" dur="1" fill="hold">
                                          <p:stCondLst>
                                            <p:cond delay="0"/>
                                          </p:stCondLst>
                                        </p:cTn>
                                        <p:tgtEl>
                                          <p:spTgt spid="22"/>
                                        </p:tgtEl>
                                        <p:attrNameLst>
                                          <p:attrName>style.visibility</p:attrName>
                                        </p:attrNameLst>
                                      </p:cBhvr>
                                      <p:to>
                                        <p:strVal val="visible"/>
                                      </p:to>
                                    </p:set>
                                    <p:anim calcmode="lin" valueType="num">
                                      <p:cBhvr additive="base">
                                        <p:cTn id="79" dur="550" fill="hold"/>
                                        <p:tgtEl>
                                          <p:spTgt spid="22"/>
                                        </p:tgtEl>
                                        <p:attrNameLst>
                                          <p:attrName>ppt_w</p:attrName>
                                        </p:attrNameLst>
                                      </p:cBhvr>
                                      <p:tavLst>
                                        <p:tav tm="0">
                                          <p:val>
                                            <p:strVal val="0"/>
                                          </p:val>
                                        </p:tav>
                                        <p:tav tm="100000">
                                          <p:val>
                                            <p:strVal val="#ppt_w"/>
                                          </p:val>
                                        </p:tav>
                                      </p:tavLst>
                                    </p:anim>
                                    <p:anim calcmode="lin" valueType="num">
                                      <p:cBhvr additive="base">
                                        <p:cTn id="80" dur="550" fill="hold"/>
                                        <p:tgtEl>
                                          <p:spTgt spid="22"/>
                                        </p:tgtEl>
                                        <p:attrNameLst>
                                          <p:attrName>ppt_h</p:attrName>
                                        </p:attrNameLst>
                                      </p:cBhvr>
                                      <p:tavLst>
                                        <p:tav tm="0">
                                          <p:val>
                                            <p:strVal val="0"/>
                                          </p:val>
                                        </p:tav>
                                        <p:tav tm="100000">
                                          <p:val>
                                            <p:strVal val="#ppt_h"/>
                                          </p:val>
                                        </p:tav>
                                      </p:tavLst>
                                    </p:anim>
                                    <p:animEffect transition="in" filter="fade">
                                      <p:cBhvr>
                                        <p:cTn id="81" dur="550"/>
                                        <p:tgtEl>
                                          <p:spTgt spid="22"/>
                                        </p:tgtEl>
                                      </p:cBhvr>
                                    </p:animEffect>
                                  </p:childTnLst>
                                </p:cTn>
                              </p:par>
                              <p:par>
                                <p:cTn id="87" presetID="42" presetClass="entr" presetSubtype="0" fill="hold" grpId="0" nodeType="withEffect">
                                  <p:stCondLst>
                                    <p:cond delay="3040"/>
                                  </p:stCondLst>
                                  <p:childTnLst>
                                    <p:set>
                                      <p:cBhvr>
                                        <p:cTn id="88" dur="1" fill="hold">
                                          <p:stCondLst>
                                            <p:cond delay="0"/>
                                          </p:stCondLst>
                                        </p:cTn>
                                        <p:tgtEl>
                                          <p:spTgt spid="23"/>
                                        </p:tgtEl>
                                        <p:attrNameLst>
                                          <p:attrName>style.visibility</p:attrName>
                                        </p:attrNameLst>
                                      </p:cBhvr>
                                      <p:to>
                                        <p:strVal val="visible"/>
                                      </p:to>
                                    </p:set>
                                    <p:animEffect transition="in" filter="fade">
                                      <p:cBhvr>
                                        <p:cTn id="84" dur="700"/>
                                        <p:tgtEl>
                                          <p:spTgt spid="23"/>
                                        </p:tgtEl>
                                      </p:cBhvr>
                                    </p:animEffect>
                                    <p:anim calcmode="lin" valueType="num">
                                      <p:cBhvr additive="base">
                                        <p:cTn id="85" dur="700" fill="hold"/>
                                        <p:tgtEl>
                                          <p:spTgt spid="23"/>
                                        </p:tgtEl>
                                        <p:attrNameLst>
                                          <p:attrName>ppt_x</p:attrName>
                                        </p:attrNameLst>
                                      </p:cBhvr>
                                      <p:tavLst>
                                        <p:tav tm="0">
                                          <p:val>
                                            <p:strVal val="#ppt_x"/>
                                          </p:val>
                                        </p:tav>
                                        <p:tav tm="100000">
                                          <p:val>
                                            <p:strVal val="#ppt_x"/>
                                          </p:val>
                                        </p:tav>
                                      </p:tavLst>
                                    </p:anim>
                                    <p:anim calcmode="lin" valueType="num">
                                      <p:cBhvr additive="base">
                                        <p:cTn id="86" dur="700" fill="hold"/>
                                        <p:tgtEl>
                                          <p:spTgt spid="2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Graphic spid="9" grpId="0">
        <p:bldAsOne/>
      </p:bldGraphic>
      <p:bldP spid="10" grpId="0" animBg="1"/>
      <p:bldP spid="13" grpId="0" animBg="1"/>
      <p:bldP spid="14" grpId="0" animBg="1"/>
      <p:bldP spid="15" grpId="0" animBg="1"/>
      <p:bldP spid="16" grpId="0" animBg="1"/>
      <p:bldP spid="17" grpId="0" animBg="1"/>
      <p:bldP spid="18" grpId="0" animBg="1"/>
      <p:bldP spid="19" grpId="0" animBg="1"/>
      <p:bldP spid="2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7406640" y="-1005840"/>
            <a:ext cx="2560320" cy="2560320"/>
          </a:xfrm>
          <a:prstGeom prst="rect">
            <a:avLst/>
          </a:prstGeom>
        </p:spPr>
      </p:pic>
      <p:sp>
        <p:nvSpPr>
          <p:cNvPr id="3" name="Text 0"/>
          <p:cNvSpPr txBox="1"/>
          <p:nvPr/>
        </p:nvSpPr>
        <p:spPr>
          <a:xfrm>
            <a:off x="457200" y="274320"/>
            <a:ext cx="6858000" cy="228600"/>
          </a:xfrm>
          <a:prstGeom prst="rect">
            <a:avLst/>
          </a:prstGeom>
          <a:noFill/>
          <a:ln/>
        </p:spPr>
        <p:txBody>
          <a:bodyPr wrap="square" lIns="0" tIns="0" rIns="0" bIns="0" rtlCol="0" anchor="t"/>
          <a:lstStyle/>
          <a:p>
            <a:pPr indent="0" marL="0">
              <a:buNone/>
            </a:pPr>
            <a:r>
              <a:rPr lang="en-US" sz="1050" b="1" spc="200" kern="0" dirty="0">
                <a:solidFill>
                  <a:srgbClr val="1E9E6A"/>
                </a:solidFill>
                <a:latin typeface="Calibri" pitchFamily="34" charset="0"/>
                <a:ea typeface="Calibri" pitchFamily="34" charset="-122"/>
                <a:cs typeface="Calibri" pitchFamily="34" charset="-120"/>
              </a:rPr>
              <a:t>II · 2.4 — AVANTAGES</a:t>
            </a:r>
            <a:endParaRPr lang="en-US" sz="1050" dirty="0"/>
          </a:p>
        </p:txBody>
      </p:sp>
      <p:sp>
        <p:nvSpPr>
          <p:cNvPr id="4" name="Text 1"/>
          <p:cNvSpPr txBox="1"/>
          <p:nvPr/>
        </p:nvSpPr>
        <p:spPr>
          <a:xfrm>
            <a:off x="457200" y="502920"/>
            <a:ext cx="7863840" cy="548640"/>
          </a:xfrm>
          <a:prstGeom prst="rect">
            <a:avLst/>
          </a:prstGeom>
          <a:noFill/>
          <a:ln/>
        </p:spPr>
        <p:txBody>
          <a:bodyPr wrap="square" lIns="0" tIns="0" rIns="0" bIns="0" rtlCol="0" anchor="ctr"/>
          <a:lstStyle/>
          <a:p>
            <a:pPr indent="0" marL="0">
              <a:buNone/>
            </a:pPr>
            <a:r>
              <a:rPr lang="en-US" sz="2600" b="1" dirty="0">
                <a:solidFill>
                  <a:srgbClr val="0B1F4B"/>
                </a:solidFill>
                <a:latin typeface="Cambria" pitchFamily="34" charset="0"/>
                <a:ea typeface="Cambria" pitchFamily="34" charset="-122"/>
                <a:cs typeface="Cambria" pitchFamily="34" charset="-120"/>
              </a:rPr>
              <a:t>Un aimant pour les investissements venus d'ailleurs</a:t>
            </a:r>
            <a:endParaRPr lang="en-US" sz="2600" dirty="0"/>
          </a:p>
        </p:txBody>
      </p:sp>
      <p:sp>
        <p:nvSpPr>
          <p:cNvPr id="5" name="Text 2"/>
          <p:cNvSpPr txBox="1"/>
          <p:nvPr/>
        </p:nvSpPr>
        <p:spPr>
          <a:xfrm>
            <a:off x="8321040" y="4773168"/>
            <a:ext cx="365760" cy="228600"/>
          </a:xfrm>
          <a:prstGeom prst="rect">
            <a:avLst/>
          </a:prstGeom>
          <a:noFill/>
          <a:ln/>
        </p:spPr>
        <p:txBody>
          <a:bodyPr wrap="square" lIns="0" tIns="0" rIns="0" bIns="0" rtlCol="0" anchor="t"/>
          <a:lstStyle/>
          <a:p>
            <a:pPr algn="r" indent="0" marL="0">
              <a:buNone/>
            </a:pPr>
            <a:r>
              <a:rPr lang="en-US" sz="1000" dirty="0">
                <a:solidFill>
                  <a:srgbClr val="5B6478"/>
                </a:solidFill>
                <a:latin typeface="Calibri" pitchFamily="34" charset="0"/>
                <a:ea typeface="Calibri" pitchFamily="34" charset="-122"/>
                <a:cs typeface="Calibri" pitchFamily="34" charset="-120"/>
              </a:rPr>
              <a:t>17</a:t>
            </a:r>
            <a:endParaRPr lang="en-US" sz="1000" dirty="0"/>
          </a:p>
        </p:txBody>
      </p:sp>
      <p:graphicFrame>
        <p:nvGraphicFramePr>
          <p:cNvPr id="6" name="A1-zoom-265" descr=""/>
          <p:cNvGraphicFramePr/>
          <p:nvPr/>
        </p:nvGraphicFramePr>
        <p:xfrm>
          <a:off x="365760" y="1188720"/>
          <a:ext cx="3017520" cy="3017520"/>
        </p:xfrm>
        <a:graphic xmlns:a="http://schemas.openxmlformats.org/drawingml/2006/main">
          <a:graphicData uri="http://schemas.openxmlformats.org/drawingml/2006/chart">
            <c:chart xmlns:c="http://schemas.openxmlformats.org/drawingml/2006/chart" r:id="rId3"/>
          </a:graphicData>
        </a:graphic>
      </p:graphicFrame>
      <p:sp>
        <p:nvSpPr>
          <p:cNvPr id="7" name="A2-zoom-266"/>
          <p:cNvSpPr txBox="1"/>
          <p:nvPr/>
        </p:nvSpPr>
        <p:spPr>
          <a:xfrm>
            <a:off x="822960" y="2331720"/>
            <a:ext cx="2103120" cy="502920"/>
          </a:xfrm>
          <a:prstGeom prst="rect">
            <a:avLst/>
          </a:prstGeom>
          <a:noFill/>
          <a:ln/>
        </p:spPr>
        <p:txBody>
          <a:bodyPr wrap="square" lIns="0" tIns="0" rIns="0" bIns="0" rtlCol="0" anchor="t"/>
          <a:lstStyle/>
          <a:p>
            <a:pPr algn="ctr" indent="0" marL="0">
              <a:buNone/>
            </a:pPr>
            <a:r>
              <a:rPr lang="en-US" sz="2800" b="1" dirty="0">
                <a:solidFill>
                  <a:srgbClr val="1E9E6A"/>
                </a:solidFill>
                <a:latin typeface="Cambria" pitchFamily="34" charset="0"/>
                <a:ea typeface="Cambria" pitchFamily="34" charset="-122"/>
                <a:cs typeface="Cambria" pitchFamily="34" charset="-120"/>
              </a:rPr>
              <a:t>25,2 %</a:t>
            </a:r>
            <a:endParaRPr lang="en-US" sz="2800" dirty="0"/>
          </a:p>
        </p:txBody>
      </p:sp>
      <p:sp>
        <p:nvSpPr>
          <p:cNvPr id="8" name="A2-fade-267"/>
          <p:cNvSpPr txBox="1"/>
          <p:nvPr/>
        </p:nvSpPr>
        <p:spPr>
          <a:xfrm>
            <a:off x="411480" y="4206240"/>
            <a:ext cx="2926080" cy="457200"/>
          </a:xfrm>
          <a:prstGeom prst="rect">
            <a:avLst/>
          </a:prstGeom>
          <a:noFill/>
          <a:ln/>
        </p:spPr>
        <p:txBody>
          <a:bodyPr wrap="square" lIns="0" tIns="0" rIns="0" bIns="0" rtlCol="0" anchor="t"/>
          <a:lstStyle/>
          <a:p>
            <a:pPr algn="ctr" indent="0" marL="0">
              <a:buNone/>
            </a:pPr>
            <a:r>
              <a:rPr lang="en-US" sz="1100" dirty="0">
                <a:solidFill>
                  <a:srgbClr val="5B6478"/>
                </a:solidFill>
                <a:latin typeface="Calibri" pitchFamily="34" charset="0"/>
                <a:ea typeface="Calibri" pitchFamily="34" charset="-122"/>
                <a:cs typeface="Calibri" pitchFamily="34" charset="-120"/>
              </a:rPr>
              <a:t>du stock mondial d'IDE entrants (2022) : 1re zone mondiale</a:t>
            </a:r>
            <a:endParaRPr lang="en-US" sz="1100" dirty="0"/>
          </a:p>
        </p:txBody>
      </p:sp>
      <p:sp>
        <p:nvSpPr>
          <p:cNvPr id="9" name="A3-fadeleft-268"/>
          <p:cNvSpPr txBox="1"/>
          <p:nvPr/>
        </p:nvSpPr>
        <p:spPr>
          <a:xfrm>
            <a:off x="3749040" y="1234440"/>
            <a:ext cx="4937760" cy="685800"/>
          </a:xfrm>
          <a:prstGeom prst="rect">
            <a:avLst/>
          </a:prstGeom>
          <a:noFill/>
          <a:ln/>
        </p:spPr>
        <p:txBody>
          <a:bodyPr wrap="square" lIns="0" tIns="0" rIns="0" bIns="0" rtlCol="0" anchor="ctr"/>
          <a:lstStyle/>
          <a:p>
            <a:pPr indent="0" marL="0">
              <a:buNone/>
            </a:pPr>
            <a:r>
              <a:rPr lang="en-US" sz="2600" b="1" dirty="0">
                <a:solidFill>
                  <a:srgbClr val="1E9E6A"/>
                </a:solidFill>
                <a:latin typeface="Cambria" pitchFamily="34" charset="0"/>
                <a:ea typeface="Cambria" pitchFamily="34" charset="-122"/>
                <a:cs typeface="Cambria" pitchFamily="34" charset="-120"/>
              </a:rPr>
              <a:t>+60 % </a:t>
            </a:r>
            <a:pPr indent="0" marL="0">
              <a:buNone/>
            </a:pPr>
            <a:r>
              <a:rPr lang="en-US" sz="1250" dirty="0">
                <a:solidFill>
                  <a:srgbClr val="1B2333"/>
                </a:solidFill>
                <a:latin typeface="Calibri" pitchFamily="34" charset="0"/>
                <a:ea typeface="Calibri" pitchFamily="34" charset="-122"/>
                <a:cs typeface="Calibri" pitchFamily="34" charset="-120"/>
              </a:rPr>
              <a:t>d'IDE venus de l'extérieur pour un pays qui adhère (Bruno, Campos &amp; Estrin, 2021)</a:t>
            </a:r>
            <a:endParaRPr lang="en-US" sz="1250" dirty="0"/>
          </a:p>
        </p:txBody>
      </p:sp>
      <p:sp>
        <p:nvSpPr>
          <p:cNvPr id="10" name="A4-fadeleft-269"/>
          <p:cNvSpPr/>
          <p:nvPr/>
        </p:nvSpPr>
        <p:spPr>
          <a:xfrm>
            <a:off x="3749040" y="2103120"/>
            <a:ext cx="4937760" cy="731520"/>
          </a:xfrm>
          <a:prstGeom prst="roundRect">
            <a:avLst>
              <a:gd name="adj" fmla="val 15000"/>
            </a:avLst>
          </a:prstGeom>
          <a:solidFill>
            <a:srgbClr val="FFFFFF"/>
          </a:solidFill>
          <a:ln w="12700">
            <a:solidFill>
              <a:srgbClr val="FFFFFF"/>
            </a:solidFill>
            <a:prstDash val="solid"/>
          </a:ln>
          <a:effectLst>
            <a:outerShdw sx="100000" sy="100000" kx="0" ky="0" algn="bl" rotWithShape="0" blurRad="101600" dist="25400" dir="5400000">
              <a:srgbClr val="0B1F4B">
                <a:alpha val="12000"/>
              </a:srgbClr>
            </a:outerShdw>
          </a:effectLst>
        </p:spPr>
      </p:sp>
      <p:sp>
        <p:nvSpPr>
          <p:cNvPr id="11" name="A4-zoom-270"/>
          <p:cNvSpPr/>
          <p:nvPr/>
        </p:nvSpPr>
        <p:spPr>
          <a:xfrm>
            <a:off x="3867912" y="2194560"/>
            <a:ext cx="548640" cy="548640"/>
          </a:xfrm>
          <a:prstGeom prst="ellipse">
            <a:avLst/>
          </a:prstGeom>
          <a:solidFill>
            <a:srgbClr val="0B1F4B"/>
          </a:solidFill>
          <a:ln w="12700">
            <a:solidFill>
              <a:srgbClr val="0B1F4B"/>
            </a:solidFill>
            <a:prstDash val="solid"/>
          </a:ln>
        </p:spPr>
      </p:sp>
      <p:pic>
        <p:nvPicPr>
          <p:cNvPr id="12" name="A4-zoom-271" descr="preencoded.png">    </p:cNvPr>
          <p:cNvPicPr>
            <a:picLocks noChangeAspect="1"/>
          </p:cNvPicPr>
          <p:nvPr/>
        </p:nvPicPr>
        <p:blipFill>
          <a:blip r:embed="rId4"/>
          <a:stretch>
            <a:fillRect/>
          </a:stretch>
        </p:blipFill>
        <p:spPr>
          <a:xfrm>
            <a:off x="4016045" y="2342693"/>
            <a:ext cx="252374" cy="252374"/>
          </a:xfrm>
          <a:prstGeom prst="rect">
            <a:avLst/>
          </a:prstGeom>
        </p:spPr>
      </p:pic>
      <p:sp>
        <p:nvSpPr>
          <p:cNvPr id="13" name="A4-fadeleft-272"/>
          <p:cNvSpPr txBox="1"/>
          <p:nvPr/>
        </p:nvSpPr>
        <p:spPr>
          <a:xfrm>
            <a:off x="4572000" y="2103120"/>
            <a:ext cx="777240" cy="731520"/>
          </a:xfrm>
          <a:prstGeom prst="rect">
            <a:avLst/>
          </a:prstGeom>
          <a:noFill/>
          <a:ln/>
        </p:spPr>
        <p:txBody>
          <a:bodyPr wrap="square" lIns="0" tIns="0" rIns="0" bIns="0" rtlCol="0" anchor="ctr"/>
          <a:lstStyle/>
          <a:p>
            <a:pPr indent="0" marL="0">
              <a:buNone/>
            </a:pPr>
            <a:r>
              <a:rPr lang="en-US" sz="2000" b="1" dirty="0">
                <a:solidFill>
                  <a:srgbClr val="1E9E6A"/>
                </a:solidFill>
                <a:latin typeface="Cambria" pitchFamily="34" charset="0"/>
                <a:ea typeface="Cambria" pitchFamily="34" charset="-122"/>
                <a:cs typeface="Cambria" pitchFamily="34" charset="-120"/>
              </a:rPr>
              <a:t>2001</a:t>
            </a:r>
            <a:endParaRPr lang="en-US" sz="2000" dirty="0"/>
          </a:p>
        </p:txBody>
      </p:sp>
      <p:sp>
        <p:nvSpPr>
          <p:cNvPr id="14" name="A4-fadeleft-273"/>
          <p:cNvSpPr txBox="1"/>
          <p:nvPr/>
        </p:nvSpPr>
        <p:spPr>
          <a:xfrm>
            <a:off x="5394960" y="2103120"/>
            <a:ext cx="3200400" cy="731520"/>
          </a:xfrm>
          <a:prstGeom prst="rect">
            <a:avLst/>
          </a:prstGeom>
          <a:noFill/>
          <a:ln/>
        </p:spPr>
        <p:txBody>
          <a:bodyPr wrap="square" lIns="0" tIns="0" rIns="0" bIns="0" rtlCol="0" anchor="ctr"/>
          <a:lstStyle/>
          <a:p>
            <a:pPr indent="0" marL="0">
              <a:buNone/>
            </a:pPr>
            <a:r>
              <a:rPr lang="en-US" sz="1500" b="1" dirty="0">
                <a:solidFill>
                  <a:srgbClr val="0B1F4B"/>
                </a:solidFill>
                <a:latin typeface="Calibri" pitchFamily="34" charset="0"/>
                <a:ea typeface="Calibri" pitchFamily="34" charset="-122"/>
                <a:cs typeface="Calibri" pitchFamily="34" charset="-120"/>
              </a:rPr>
              <a:t>Toyota  </a:t>
            </a:r>
            <a:pPr indent="0" marL="0">
              <a:buNone/>
            </a:pPr>
            <a:r>
              <a:rPr lang="en-US" sz="1150" dirty="0">
                <a:solidFill>
                  <a:srgbClr val="5B6478"/>
                </a:solidFill>
                <a:latin typeface="Calibri" pitchFamily="34" charset="0"/>
                <a:ea typeface="Calibri" pitchFamily="34" charset="-122"/>
                <a:cs typeface="Calibri" pitchFamily="34" charset="-120"/>
              </a:rPr>
              <a:t>Onnaing, près de Valenciennes (France)</a:t>
            </a:r>
            <a:endParaRPr lang="en-US" sz="1150" dirty="0"/>
          </a:p>
        </p:txBody>
      </p:sp>
      <p:sp>
        <p:nvSpPr>
          <p:cNvPr id="15" name="A5-fadeleft-274"/>
          <p:cNvSpPr/>
          <p:nvPr/>
        </p:nvSpPr>
        <p:spPr>
          <a:xfrm>
            <a:off x="3749040" y="2971800"/>
            <a:ext cx="4937760" cy="731520"/>
          </a:xfrm>
          <a:prstGeom prst="roundRect">
            <a:avLst>
              <a:gd name="adj" fmla="val 15000"/>
            </a:avLst>
          </a:prstGeom>
          <a:solidFill>
            <a:srgbClr val="FFFFFF"/>
          </a:solidFill>
          <a:ln w="12700">
            <a:solidFill>
              <a:srgbClr val="FFFFFF"/>
            </a:solidFill>
            <a:prstDash val="solid"/>
          </a:ln>
          <a:effectLst>
            <a:outerShdw sx="100000" sy="100000" kx="0" ky="0" algn="bl" rotWithShape="0" blurRad="101600" dist="25400" dir="5400000">
              <a:srgbClr val="0B1F4B">
                <a:alpha val="12000"/>
              </a:srgbClr>
            </a:outerShdw>
          </a:effectLst>
        </p:spPr>
      </p:sp>
      <p:sp>
        <p:nvSpPr>
          <p:cNvPr id="16" name="A5-zoom-275"/>
          <p:cNvSpPr/>
          <p:nvPr/>
        </p:nvSpPr>
        <p:spPr>
          <a:xfrm>
            <a:off x="3867912" y="3063240"/>
            <a:ext cx="548640" cy="548640"/>
          </a:xfrm>
          <a:prstGeom prst="ellipse">
            <a:avLst/>
          </a:prstGeom>
          <a:solidFill>
            <a:srgbClr val="0B1F4B"/>
          </a:solidFill>
          <a:ln w="12700">
            <a:solidFill>
              <a:srgbClr val="0B1F4B"/>
            </a:solidFill>
            <a:prstDash val="solid"/>
          </a:ln>
        </p:spPr>
      </p:sp>
      <p:pic>
        <p:nvPicPr>
          <p:cNvPr id="17" name="A5-zoom-276" descr="preencoded.png">    </p:cNvPr>
          <p:cNvPicPr>
            <a:picLocks noChangeAspect="1"/>
          </p:cNvPicPr>
          <p:nvPr/>
        </p:nvPicPr>
        <p:blipFill>
          <a:blip r:embed="rId5"/>
          <a:stretch>
            <a:fillRect/>
          </a:stretch>
        </p:blipFill>
        <p:spPr>
          <a:xfrm>
            <a:off x="4016045" y="3211373"/>
            <a:ext cx="252374" cy="252374"/>
          </a:xfrm>
          <a:prstGeom prst="rect">
            <a:avLst/>
          </a:prstGeom>
        </p:spPr>
      </p:pic>
      <p:sp>
        <p:nvSpPr>
          <p:cNvPr id="18" name="A5-fadeleft-277"/>
          <p:cNvSpPr txBox="1"/>
          <p:nvPr/>
        </p:nvSpPr>
        <p:spPr>
          <a:xfrm>
            <a:off x="4572000" y="2971800"/>
            <a:ext cx="777240" cy="731520"/>
          </a:xfrm>
          <a:prstGeom prst="rect">
            <a:avLst/>
          </a:prstGeom>
          <a:noFill/>
          <a:ln/>
        </p:spPr>
        <p:txBody>
          <a:bodyPr wrap="square" lIns="0" tIns="0" rIns="0" bIns="0" rtlCol="0" anchor="ctr"/>
          <a:lstStyle/>
          <a:p>
            <a:pPr indent="0" marL="0">
              <a:buNone/>
            </a:pPr>
            <a:r>
              <a:rPr lang="en-US" sz="2000" b="1" dirty="0">
                <a:solidFill>
                  <a:srgbClr val="1E9E6A"/>
                </a:solidFill>
                <a:latin typeface="Cambria" pitchFamily="34" charset="0"/>
                <a:ea typeface="Cambria" pitchFamily="34" charset="-122"/>
                <a:cs typeface="Cambria" pitchFamily="34" charset="-120"/>
              </a:rPr>
              <a:t>2006</a:t>
            </a:r>
            <a:endParaRPr lang="en-US" sz="2000" dirty="0"/>
          </a:p>
        </p:txBody>
      </p:sp>
      <p:sp>
        <p:nvSpPr>
          <p:cNvPr id="19" name="A5-fadeleft-278"/>
          <p:cNvSpPr txBox="1"/>
          <p:nvPr/>
        </p:nvSpPr>
        <p:spPr>
          <a:xfrm>
            <a:off x="5394960" y="2971800"/>
            <a:ext cx="3200400" cy="731520"/>
          </a:xfrm>
          <a:prstGeom prst="rect">
            <a:avLst/>
          </a:prstGeom>
          <a:noFill/>
          <a:ln/>
        </p:spPr>
        <p:txBody>
          <a:bodyPr wrap="square" lIns="0" tIns="0" rIns="0" bIns="0" rtlCol="0" anchor="ctr"/>
          <a:lstStyle/>
          <a:p>
            <a:pPr indent="0" marL="0">
              <a:buNone/>
            </a:pPr>
            <a:r>
              <a:rPr lang="en-US" sz="1500" b="1" dirty="0">
                <a:solidFill>
                  <a:srgbClr val="0B1F4B"/>
                </a:solidFill>
                <a:latin typeface="Calibri" pitchFamily="34" charset="0"/>
                <a:ea typeface="Calibri" pitchFamily="34" charset="-122"/>
                <a:cs typeface="Calibri" pitchFamily="34" charset="-120"/>
              </a:rPr>
              <a:t>Kia  </a:t>
            </a:r>
            <a:pPr indent="0" marL="0">
              <a:buNone/>
            </a:pPr>
            <a:r>
              <a:rPr lang="en-US" sz="1150" dirty="0">
                <a:solidFill>
                  <a:srgbClr val="5B6478"/>
                </a:solidFill>
                <a:latin typeface="Calibri" pitchFamily="34" charset="0"/>
                <a:ea typeface="Calibri" pitchFamily="34" charset="-122"/>
                <a:cs typeface="Calibri" pitchFamily="34" charset="-120"/>
              </a:rPr>
              <a:t>Žilina (Slovaquie)</a:t>
            </a:r>
            <a:endParaRPr lang="en-US" sz="1150" dirty="0"/>
          </a:p>
        </p:txBody>
      </p:sp>
      <p:sp>
        <p:nvSpPr>
          <p:cNvPr id="20" name="A6-fadeleft-279"/>
          <p:cNvSpPr/>
          <p:nvPr/>
        </p:nvSpPr>
        <p:spPr>
          <a:xfrm>
            <a:off x="3749040" y="3840480"/>
            <a:ext cx="4937760" cy="731520"/>
          </a:xfrm>
          <a:prstGeom prst="roundRect">
            <a:avLst>
              <a:gd name="adj" fmla="val 15000"/>
            </a:avLst>
          </a:prstGeom>
          <a:solidFill>
            <a:srgbClr val="FFFFFF"/>
          </a:solidFill>
          <a:ln w="12700">
            <a:solidFill>
              <a:srgbClr val="FFFFFF"/>
            </a:solidFill>
            <a:prstDash val="solid"/>
          </a:ln>
          <a:effectLst>
            <a:outerShdw sx="100000" sy="100000" kx="0" ky="0" algn="bl" rotWithShape="0" blurRad="101600" dist="25400" dir="5400000">
              <a:srgbClr val="0B1F4B">
                <a:alpha val="12000"/>
              </a:srgbClr>
            </a:outerShdw>
          </a:effectLst>
        </p:spPr>
      </p:sp>
      <p:sp>
        <p:nvSpPr>
          <p:cNvPr id="21" name="A6-zoom-280"/>
          <p:cNvSpPr/>
          <p:nvPr/>
        </p:nvSpPr>
        <p:spPr>
          <a:xfrm>
            <a:off x="3867912" y="3931920"/>
            <a:ext cx="548640" cy="548640"/>
          </a:xfrm>
          <a:prstGeom prst="ellipse">
            <a:avLst/>
          </a:prstGeom>
          <a:solidFill>
            <a:srgbClr val="0B1F4B"/>
          </a:solidFill>
          <a:ln w="12700">
            <a:solidFill>
              <a:srgbClr val="0B1F4B"/>
            </a:solidFill>
            <a:prstDash val="solid"/>
          </a:ln>
        </p:spPr>
      </p:sp>
      <p:pic>
        <p:nvPicPr>
          <p:cNvPr id="22" name="A6-zoom-281" descr="preencoded.png">    </p:cNvPr>
          <p:cNvPicPr>
            <a:picLocks noChangeAspect="1"/>
          </p:cNvPicPr>
          <p:nvPr/>
        </p:nvPicPr>
        <p:blipFill>
          <a:blip r:embed="rId6"/>
          <a:stretch>
            <a:fillRect/>
          </a:stretch>
        </p:blipFill>
        <p:spPr>
          <a:xfrm>
            <a:off x="4016045" y="4080053"/>
            <a:ext cx="252374" cy="252374"/>
          </a:xfrm>
          <a:prstGeom prst="rect">
            <a:avLst/>
          </a:prstGeom>
        </p:spPr>
      </p:pic>
      <p:sp>
        <p:nvSpPr>
          <p:cNvPr id="23" name="A6-fadeleft-282"/>
          <p:cNvSpPr txBox="1"/>
          <p:nvPr/>
        </p:nvSpPr>
        <p:spPr>
          <a:xfrm>
            <a:off x="4572000" y="3840480"/>
            <a:ext cx="777240" cy="731520"/>
          </a:xfrm>
          <a:prstGeom prst="rect">
            <a:avLst/>
          </a:prstGeom>
          <a:noFill/>
          <a:ln/>
        </p:spPr>
        <p:txBody>
          <a:bodyPr wrap="square" lIns="0" tIns="0" rIns="0" bIns="0" rtlCol="0" anchor="ctr"/>
          <a:lstStyle/>
          <a:p>
            <a:pPr indent="0" marL="0">
              <a:buNone/>
            </a:pPr>
            <a:r>
              <a:rPr lang="en-US" sz="2000" b="1" dirty="0">
                <a:solidFill>
                  <a:srgbClr val="1E9E6A"/>
                </a:solidFill>
                <a:latin typeface="Cambria" pitchFamily="34" charset="0"/>
                <a:ea typeface="Cambria" pitchFamily="34" charset="-122"/>
                <a:cs typeface="Cambria" pitchFamily="34" charset="-120"/>
              </a:rPr>
              <a:t>2008</a:t>
            </a:r>
            <a:endParaRPr lang="en-US" sz="2000" dirty="0"/>
          </a:p>
        </p:txBody>
      </p:sp>
      <p:sp>
        <p:nvSpPr>
          <p:cNvPr id="24" name="A6-fadeleft-283"/>
          <p:cNvSpPr txBox="1"/>
          <p:nvPr/>
        </p:nvSpPr>
        <p:spPr>
          <a:xfrm>
            <a:off x="5394960" y="3840480"/>
            <a:ext cx="3200400" cy="731520"/>
          </a:xfrm>
          <a:prstGeom prst="rect">
            <a:avLst/>
          </a:prstGeom>
          <a:noFill/>
          <a:ln/>
        </p:spPr>
        <p:txBody>
          <a:bodyPr wrap="square" lIns="0" tIns="0" rIns="0" bIns="0" rtlCol="0" anchor="ctr"/>
          <a:lstStyle/>
          <a:p>
            <a:pPr indent="0" marL="0">
              <a:buNone/>
            </a:pPr>
            <a:r>
              <a:rPr lang="en-US" sz="1500" b="1" dirty="0">
                <a:solidFill>
                  <a:srgbClr val="0B1F4B"/>
                </a:solidFill>
                <a:latin typeface="Calibri" pitchFamily="34" charset="0"/>
                <a:ea typeface="Calibri" pitchFamily="34" charset="-122"/>
                <a:cs typeface="Calibri" pitchFamily="34" charset="-120"/>
              </a:rPr>
              <a:t>Hyundai  </a:t>
            </a:r>
            <a:pPr indent="0" marL="0">
              <a:buNone/>
            </a:pPr>
            <a:r>
              <a:rPr lang="en-US" sz="1150" dirty="0">
                <a:solidFill>
                  <a:srgbClr val="5B6478"/>
                </a:solidFill>
                <a:latin typeface="Calibri" pitchFamily="34" charset="0"/>
                <a:ea typeface="Calibri" pitchFamily="34" charset="-122"/>
                <a:cs typeface="Calibri" pitchFamily="34" charset="-120"/>
              </a:rPr>
              <a:t>Nošovice (Tchéquie)</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96" fill="hold">
                      <p:stCondLst>
                        <p:cond delay="indefinite"/>
                        <p:cond evt="onBegin" delay="0">
                          <p:tn val="2"/>
                        </p:cond>
                      </p:stCondLst>
                      <p:childTnLst>
                        <p:par>
                          <p:cTn id="97" fill="hold">
                            <p:stCondLst>
                              <p:cond delay="0"/>
                            </p:stCondLst>
                            <p:childTnLst>
                              <p:par>
                                <p:cTn id="6" presetID="53" presetClass="entr" presetSubtype="16" fill="hold" grpId="0" nodeType="withEffect">
                                  <p:stCondLst>
                                    <p:cond delay="380"/>
                                  </p:stCondLst>
                                  <p:childTnLst>
                                    <p:set>
                                      <p:cBhvr>
                                        <p:cTn id="7" dur="1" fill="hold">
                                          <p:stCondLst>
                                            <p:cond delay="0"/>
                                          </p:stCondLst>
                                        </p:cTn>
                                        <p:tgtEl>
                                          <p:spTgt spid="6"/>
                                        </p:tgtEl>
                                        <p:attrNameLst>
                                          <p:attrName>style.visibility</p:attrName>
                                        </p:attrNameLst>
                                      </p:cBhvr>
                                      <p:to>
                                        <p:strVal val="visible"/>
                                      </p:to>
                                    </p:set>
                                    <p:anim calcmode="lin" valueType="num">
                                      <p:cBhvr additive="base">
                                        <p:cTn id="3" dur="550" fill="hold"/>
                                        <p:tgtEl>
                                          <p:spTgt spid="6"/>
                                        </p:tgtEl>
                                        <p:attrNameLst>
                                          <p:attrName>ppt_w</p:attrName>
                                        </p:attrNameLst>
                                      </p:cBhvr>
                                      <p:tavLst>
                                        <p:tav tm="0">
                                          <p:val>
                                            <p:strVal val="0"/>
                                          </p:val>
                                        </p:tav>
                                        <p:tav tm="100000">
                                          <p:val>
                                            <p:strVal val="#ppt_w"/>
                                          </p:val>
                                        </p:tav>
                                      </p:tavLst>
                                    </p:anim>
                                    <p:anim calcmode="lin" valueType="num">
                                      <p:cBhvr additive="base">
                                        <p:cTn id="4" dur="550" fill="hold"/>
                                        <p:tgtEl>
                                          <p:spTgt spid="6"/>
                                        </p:tgtEl>
                                        <p:attrNameLst>
                                          <p:attrName>ppt_h</p:attrName>
                                        </p:attrNameLst>
                                      </p:cBhvr>
                                      <p:tavLst>
                                        <p:tav tm="0">
                                          <p:val>
                                            <p:strVal val="0"/>
                                          </p:val>
                                        </p:tav>
                                        <p:tav tm="100000">
                                          <p:val>
                                            <p:strVal val="#ppt_h"/>
                                          </p:val>
                                        </p:tav>
                                      </p:tavLst>
                                    </p:anim>
                                    <p:animEffect transition="in" filter="fade">
                                      <p:cBhvr>
                                        <p:cTn id="5" dur="550"/>
                                        <p:tgtEl>
                                          <p:spTgt spid="6"/>
                                        </p:tgtEl>
                                      </p:cBhvr>
                                    </p:animEffect>
                                  </p:childTnLst>
                                </p:cTn>
                              </p:par>
                              <p:par>
                                <p:cTn id="11" presetID="53" presetClass="entr" presetSubtype="16" fill="hold" grpId="0" nodeType="withEffect">
                                  <p:stCondLst>
                                    <p:cond delay="76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8" dur="550" fill="hold"/>
                                        <p:tgtEl>
                                          <p:spTgt spid="7"/>
                                        </p:tgtEl>
                                        <p:attrNameLst>
                                          <p:attrName>ppt_w</p:attrName>
                                        </p:attrNameLst>
                                      </p:cBhvr>
                                      <p:tavLst>
                                        <p:tav tm="0">
                                          <p:val>
                                            <p:strVal val="0"/>
                                          </p:val>
                                        </p:tav>
                                        <p:tav tm="100000">
                                          <p:val>
                                            <p:strVal val="#ppt_w"/>
                                          </p:val>
                                        </p:tav>
                                      </p:tavLst>
                                    </p:anim>
                                    <p:anim calcmode="lin" valueType="num">
                                      <p:cBhvr additive="base">
                                        <p:cTn id="9" dur="550" fill="hold"/>
                                        <p:tgtEl>
                                          <p:spTgt spid="7"/>
                                        </p:tgtEl>
                                        <p:attrNameLst>
                                          <p:attrName>ppt_h</p:attrName>
                                        </p:attrNameLst>
                                      </p:cBhvr>
                                      <p:tavLst>
                                        <p:tav tm="0">
                                          <p:val>
                                            <p:strVal val="0"/>
                                          </p:val>
                                        </p:tav>
                                        <p:tav tm="100000">
                                          <p:val>
                                            <p:strVal val="#ppt_h"/>
                                          </p:val>
                                        </p:tav>
                                      </p:tavLst>
                                    </p:anim>
                                    <p:animEffect transition="in" filter="fade">
                                      <p:cBhvr>
                                        <p:cTn id="10" dur="550"/>
                                        <p:tgtEl>
                                          <p:spTgt spid="7"/>
                                        </p:tgtEl>
                                      </p:cBhvr>
                                    </p:animEffect>
                                  </p:childTnLst>
                                </p:cTn>
                              </p:par>
                              <p:par>
                                <p:cTn id="14" presetID="10" presetClass="entr" presetSubtype="0" fill="hold" grpId="0" nodeType="withEffect">
                                  <p:stCondLst>
                                    <p:cond delay="760"/>
                                  </p:stCondLst>
                                  <p:childTnLst>
                                    <p:set>
                                      <p:cBhvr>
                                        <p:cTn id="15" dur="1" fill="hold">
                                          <p:stCondLst>
                                            <p:cond delay="0"/>
                                          </p:stCondLst>
                                        </p:cTn>
                                        <p:tgtEl>
                                          <p:spTgt spid="8"/>
                                        </p:tgtEl>
                                        <p:attrNameLst>
                                          <p:attrName>style.visibility</p:attrName>
                                        </p:attrNameLst>
                                      </p:cBhvr>
                                      <p:to>
                                        <p:strVal val="visible"/>
                                      </p:to>
                                    </p:set>
                                    <p:animEffect transition="in" filter="fade">
                                      <p:cBhvr>
                                        <p:cTn id="13" dur="600"/>
                                        <p:tgtEl>
                                          <p:spTgt spid="8"/>
                                        </p:tgtEl>
                                      </p:cBhvr>
                                    </p:animEffect>
                                  </p:childTnLst>
                                </p:cTn>
                              </p:par>
                              <p:par>
                                <p:cTn id="19" presetID="42" presetClass="entr" presetSubtype="0" fill="hold" grpId="0" nodeType="withEffect">
                                  <p:stCondLst>
                                    <p:cond delay="1140"/>
                                  </p:stCondLst>
                                  <p:childTnLst>
                                    <p:set>
                                      <p:cBhvr>
                                        <p:cTn id="20" dur="1" fill="hold">
                                          <p:stCondLst>
                                            <p:cond delay="0"/>
                                          </p:stCondLst>
                                        </p:cTn>
                                        <p:tgtEl>
                                          <p:spTgt spid="9"/>
                                        </p:tgtEl>
                                        <p:attrNameLst>
                                          <p:attrName>style.visibility</p:attrName>
                                        </p:attrNameLst>
                                      </p:cBhvr>
                                      <p:to>
                                        <p:strVal val="visible"/>
                                      </p:to>
                                    </p:set>
                                    <p:animEffect transition="in" filter="fade">
                                      <p:cBhvr>
                                        <p:cTn id="16" dur="650"/>
                                        <p:tgtEl>
                                          <p:spTgt spid="9"/>
                                        </p:tgtEl>
                                      </p:cBhvr>
                                    </p:animEffect>
                                    <p:anim calcmode="lin" valueType="num">
                                      <p:cBhvr additive="base">
                                        <p:cTn id="17" dur="650" fill="hold"/>
                                        <p:tgtEl>
                                          <p:spTgt spid="9"/>
                                        </p:tgtEl>
                                        <p:attrNameLst>
                                          <p:attrName>ppt_x</p:attrName>
                                        </p:attrNameLst>
                                      </p:cBhvr>
                                      <p:tavLst>
                                        <p:tav tm="0">
                                          <p:val>
                                            <p:strVal val="#ppt_x-.06"/>
                                          </p:val>
                                        </p:tav>
                                        <p:tav tm="100000">
                                          <p:val>
                                            <p:strVal val="#ppt_x"/>
                                          </p:val>
                                        </p:tav>
                                      </p:tavLst>
                                    </p:anim>
                                    <p:anim calcmode="lin" valueType="num">
                                      <p:cBhvr additive="base">
                                        <p:cTn id="18" dur="650" fill="hold"/>
                                        <p:tgtEl>
                                          <p:spTgt spid="9"/>
                                        </p:tgtEl>
                                        <p:attrNameLst>
                                          <p:attrName>ppt_y</p:attrName>
                                        </p:attrNameLst>
                                      </p:cBhvr>
                                      <p:tavLst>
                                        <p:tav tm="0">
                                          <p:val>
                                            <p:strVal val="#ppt_y"/>
                                          </p:val>
                                        </p:tav>
                                        <p:tav tm="100000">
                                          <p:val>
                                            <p:strVal val="#ppt_y"/>
                                          </p:val>
                                        </p:tav>
                                      </p:tavLst>
                                    </p:anim>
                                  </p:childTnLst>
                                </p:cTn>
                              </p:par>
                              <p:par>
                                <p:cTn id="24" presetID="42" presetClass="entr" presetSubtype="0" fill="hold" grpId="0" nodeType="withEffect">
                                  <p:stCondLst>
                                    <p:cond delay="1520"/>
                                  </p:stCondLst>
                                  <p:childTnLst>
                                    <p:set>
                                      <p:cBhvr>
                                        <p:cTn id="25" dur="1" fill="hold">
                                          <p:stCondLst>
                                            <p:cond delay="0"/>
                                          </p:stCondLst>
                                        </p:cTn>
                                        <p:tgtEl>
                                          <p:spTgt spid="10"/>
                                        </p:tgtEl>
                                        <p:attrNameLst>
                                          <p:attrName>style.visibility</p:attrName>
                                        </p:attrNameLst>
                                      </p:cBhvr>
                                      <p:to>
                                        <p:strVal val="visible"/>
                                      </p:to>
                                    </p:set>
                                    <p:animEffect transition="in" filter="fade">
                                      <p:cBhvr>
                                        <p:cTn id="21" dur="650"/>
                                        <p:tgtEl>
                                          <p:spTgt spid="10"/>
                                        </p:tgtEl>
                                      </p:cBhvr>
                                    </p:animEffect>
                                    <p:anim calcmode="lin" valueType="num">
                                      <p:cBhvr additive="base">
                                        <p:cTn id="22" dur="650" fill="hold"/>
                                        <p:tgtEl>
                                          <p:spTgt spid="10"/>
                                        </p:tgtEl>
                                        <p:attrNameLst>
                                          <p:attrName>ppt_x</p:attrName>
                                        </p:attrNameLst>
                                      </p:cBhvr>
                                      <p:tavLst>
                                        <p:tav tm="0">
                                          <p:val>
                                            <p:strVal val="#ppt_x-.06"/>
                                          </p:val>
                                        </p:tav>
                                        <p:tav tm="100000">
                                          <p:val>
                                            <p:strVal val="#ppt_x"/>
                                          </p:val>
                                        </p:tav>
                                      </p:tavLst>
                                    </p:anim>
                                    <p:anim calcmode="lin" valueType="num">
                                      <p:cBhvr additive="base">
                                        <p:cTn id="23" dur="650" fill="hold"/>
                                        <p:tgtEl>
                                          <p:spTgt spid="10"/>
                                        </p:tgtEl>
                                        <p:attrNameLst>
                                          <p:attrName>ppt_y</p:attrName>
                                        </p:attrNameLst>
                                      </p:cBhvr>
                                      <p:tavLst>
                                        <p:tav tm="0">
                                          <p:val>
                                            <p:strVal val="#ppt_y"/>
                                          </p:val>
                                        </p:tav>
                                        <p:tav tm="100000">
                                          <p:val>
                                            <p:strVal val="#ppt_y"/>
                                          </p:val>
                                        </p:tav>
                                      </p:tavLst>
                                    </p:anim>
                                  </p:childTnLst>
                                </p:cTn>
                              </p:par>
                              <p:par>
                                <p:cTn id="29" presetID="53" presetClass="entr" presetSubtype="16" fill="hold" grpId="0" nodeType="withEffect">
                                  <p:stCondLst>
                                    <p:cond delay="152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26" dur="550" fill="hold"/>
                                        <p:tgtEl>
                                          <p:spTgt spid="11"/>
                                        </p:tgtEl>
                                        <p:attrNameLst>
                                          <p:attrName>ppt_w</p:attrName>
                                        </p:attrNameLst>
                                      </p:cBhvr>
                                      <p:tavLst>
                                        <p:tav tm="0">
                                          <p:val>
                                            <p:strVal val="0"/>
                                          </p:val>
                                        </p:tav>
                                        <p:tav tm="100000">
                                          <p:val>
                                            <p:strVal val="#ppt_w"/>
                                          </p:val>
                                        </p:tav>
                                      </p:tavLst>
                                    </p:anim>
                                    <p:anim calcmode="lin" valueType="num">
                                      <p:cBhvr additive="base">
                                        <p:cTn id="27" dur="550" fill="hold"/>
                                        <p:tgtEl>
                                          <p:spTgt spid="11"/>
                                        </p:tgtEl>
                                        <p:attrNameLst>
                                          <p:attrName>ppt_h</p:attrName>
                                        </p:attrNameLst>
                                      </p:cBhvr>
                                      <p:tavLst>
                                        <p:tav tm="0">
                                          <p:val>
                                            <p:strVal val="0"/>
                                          </p:val>
                                        </p:tav>
                                        <p:tav tm="100000">
                                          <p:val>
                                            <p:strVal val="#ppt_h"/>
                                          </p:val>
                                        </p:tav>
                                      </p:tavLst>
                                    </p:anim>
                                    <p:animEffect transition="in" filter="fade">
                                      <p:cBhvr>
                                        <p:cTn id="28" dur="550"/>
                                        <p:tgtEl>
                                          <p:spTgt spid="11"/>
                                        </p:tgtEl>
                                      </p:cBhvr>
                                    </p:animEffect>
                                  </p:childTnLst>
                                </p:cTn>
                              </p:par>
                              <p:par>
                                <p:cTn id="34" presetID="53" presetClass="entr" presetSubtype="16" fill="hold" grpId="0" nodeType="withEffect">
                                  <p:stCondLst>
                                    <p:cond delay="1520"/>
                                  </p:stCondLst>
                                  <p:childTnLst>
                                    <p:set>
                                      <p:cBhvr>
                                        <p:cTn id="35" dur="1" fill="hold">
                                          <p:stCondLst>
                                            <p:cond delay="0"/>
                                          </p:stCondLst>
                                        </p:cTn>
                                        <p:tgtEl>
                                          <p:spTgt spid="12"/>
                                        </p:tgtEl>
                                        <p:attrNameLst>
                                          <p:attrName>style.visibility</p:attrName>
                                        </p:attrNameLst>
                                      </p:cBhvr>
                                      <p:to>
                                        <p:strVal val="visible"/>
                                      </p:to>
                                    </p:set>
                                    <p:anim calcmode="lin" valueType="num">
                                      <p:cBhvr additive="base">
                                        <p:cTn id="31" dur="550" fill="hold"/>
                                        <p:tgtEl>
                                          <p:spTgt spid="12"/>
                                        </p:tgtEl>
                                        <p:attrNameLst>
                                          <p:attrName>ppt_w</p:attrName>
                                        </p:attrNameLst>
                                      </p:cBhvr>
                                      <p:tavLst>
                                        <p:tav tm="0">
                                          <p:val>
                                            <p:strVal val="0"/>
                                          </p:val>
                                        </p:tav>
                                        <p:tav tm="100000">
                                          <p:val>
                                            <p:strVal val="#ppt_w"/>
                                          </p:val>
                                        </p:tav>
                                      </p:tavLst>
                                    </p:anim>
                                    <p:anim calcmode="lin" valueType="num">
                                      <p:cBhvr additive="base">
                                        <p:cTn id="32" dur="550" fill="hold"/>
                                        <p:tgtEl>
                                          <p:spTgt spid="12"/>
                                        </p:tgtEl>
                                        <p:attrNameLst>
                                          <p:attrName>ppt_h</p:attrName>
                                        </p:attrNameLst>
                                      </p:cBhvr>
                                      <p:tavLst>
                                        <p:tav tm="0">
                                          <p:val>
                                            <p:strVal val="0"/>
                                          </p:val>
                                        </p:tav>
                                        <p:tav tm="100000">
                                          <p:val>
                                            <p:strVal val="#ppt_h"/>
                                          </p:val>
                                        </p:tav>
                                      </p:tavLst>
                                    </p:anim>
                                    <p:animEffect transition="in" filter="fade">
                                      <p:cBhvr>
                                        <p:cTn id="33" dur="550"/>
                                        <p:tgtEl>
                                          <p:spTgt spid="12"/>
                                        </p:tgtEl>
                                      </p:cBhvr>
                                    </p:animEffect>
                                  </p:childTnLst>
                                </p:cTn>
                              </p:par>
                              <p:par>
                                <p:cTn id="39" presetID="42" presetClass="entr" presetSubtype="0" fill="hold" grpId="0" nodeType="withEffect">
                                  <p:stCondLst>
                                    <p:cond delay="1520"/>
                                  </p:stCondLst>
                                  <p:childTnLst>
                                    <p:set>
                                      <p:cBhvr>
                                        <p:cTn id="40" dur="1" fill="hold">
                                          <p:stCondLst>
                                            <p:cond delay="0"/>
                                          </p:stCondLst>
                                        </p:cTn>
                                        <p:tgtEl>
                                          <p:spTgt spid="13"/>
                                        </p:tgtEl>
                                        <p:attrNameLst>
                                          <p:attrName>style.visibility</p:attrName>
                                        </p:attrNameLst>
                                      </p:cBhvr>
                                      <p:to>
                                        <p:strVal val="visible"/>
                                      </p:to>
                                    </p:set>
                                    <p:animEffect transition="in" filter="fade">
                                      <p:cBhvr>
                                        <p:cTn id="36" dur="650"/>
                                        <p:tgtEl>
                                          <p:spTgt spid="13"/>
                                        </p:tgtEl>
                                      </p:cBhvr>
                                    </p:animEffect>
                                    <p:anim calcmode="lin" valueType="num">
                                      <p:cBhvr additive="base">
                                        <p:cTn id="37" dur="650" fill="hold"/>
                                        <p:tgtEl>
                                          <p:spTgt spid="13"/>
                                        </p:tgtEl>
                                        <p:attrNameLst>
                                          <p:attrName>ppt_x</p:attrName>
                                        </p:attrNameLst>
                                      </p:cBhvr>
                                      <p:tavLst>
                                        <p:tav tm="0">
                                          <p:val>
                                            <p:strVal val="#ppt_x-.06"/>
                                          </p:val>
                                        </p:tav>
                                        <p:tav tm="100000">
                                          <p:val>
                                            <p:strVal val="#ppt_x"/>
                                          </p:val>
                                        </p:tav>
                                      </p:tavLst>
                                    </p:anim>
                                    <p:anim calcmode="lin" valueType="num">
                                      <p:cBhvr additive="base">
                                        <p:cTn id="38" dur="650" fill="hold"/>
                                        <p:tgtEl>
                                          <p:spTgt spid="13"/>
                                        </p:tgtEl>
                                        <p:attrNameLst>
                                          <p:attrName>ppt_y</p:attrName>
                                        </p:attrNameLst>
                                      </p:cBhvr>
                                      <p:tavLst>
                                        <p:tav tm="0">
                                          <p:val>
                                            <p:strVal val="#ppt_y"/>
                                          </p:val>
                                        </p:tav>
                                        <p:tav tm="100000">
                                          <p:val>
                                            <p:strVal val="#ppt_y"/>
                                          </p:val>
                                        </p:tav>
                                      </p:tavLst>
                                    </p:anim>
                                  </p:childTnLst>
                                </p:cTn>
                              </p:par>
                              <p:par>
                                <p:cTn id="44" presetID="42" presetClass="entr" presetSubtype="0" fill="hold" grpId="0" nodeType="withEffect">
                                  <p:stCondLst>
                                    <p:cond delay="1520"/>
                                  </p:stCondLst>
                                  <p:childTnLst>
                                    <p:set>
                                      <p:cBhvr>
                                        <p:cTn id="45" dur="1" fill="hold">
                                          <p:stCondLst>
                                            <p:cond delay="0"/>
                                          </p:stCondLst>
                                        </p:cTn>
                                        <p:tgtEl>
                                          <p:spTgt spid="14"/>
                                        </p:tgtEl>
                                        <p:attrNameLst>
                                          <p:attrName>style.visibility</p:attrName>
                                        </p:attrNameLst>
                                      </p:cBhvr>
                                      <p:to>
                                        <p:strVal val="visible"/>
                                      </p:to>
                                    </p:set>
                                    <p:animEffect transition="in" filter="fade">
                                      <p:cBhvr>
                                        <p:cTn id="41" dur="650"/>
                                        <p:tgtEl>
                                          <p:spTgt spid="14"/>
                                        </p:tgtEl>
                                      </p:cBhvr>
                                    </p:animEffect>
                                    <p:anim calcmode="lin" valueType="num">
                                      <p:cBhvr additive="base">
                                        <p:cTn id="42" dur="650" fill="hold"/>
                                        <p:tgtEl>
                                          <p:spTgt spid="14"/>
                                        </p:tgtEl>
                                        <p:attrNameLst>
                                          <p:attrName>ppt_x</p:attrName>
                                        </p:attrNameLst>
                                      </p:cBhvr>
                                      <p:tavLst>
                                        <p:tav tm="0">
                                          <p:val>
                                            <p:strVal val="#ppt_x-.06"/>
                                          </p:val>
                                        </p:tav>
                                        <p:tav tm="100000">
                                          <p:val>
                                            <p:strVal val="#ppt_x"/>
                                          </p:val>
                                        </p:tav>
                                      </p:tavLst>
                                    </p:anim>
                                    <p:anim calcmode="lin" valueType="num">
                                      <p:cBhvr additive="base">
                                        <p:cTn id="43" dur="650" fill="hold"/>
                                        <p:tgtEl>
                                          <p:spTgt spid="14"/>
                                        </p:tgtEl>
                                        <p:attrNameLst>
                                          <p:attrName>ppt_y</p:attrName>
                                        </p:attrNameLst>
                                      </p:cBhvr>
                                      <p:tavLst>
                                        <p:tav tm="0">
                                          <p:val>
                                            <p:strVal val="#ppt_y"/>
                                          </p:val>
                                        </p:tav>
                                        <p:tav tm="100000">
                                          <p:val>
                                            <p:strVal val="#ppt_y"/>
                                          </p:val>
                                        </p:tav>
                                      </p:tavLst>
                                    </p:anim>
                                  </p:childTnLst>
                                </p:cTn>
                              </p:par>
                              <p:par>
                                <p:cTn id="49" presetID="42" presetClass="entr" presetSubtype="0" fill="hold" grpId="0" nodeType="withEffect">
                                  <p:stCondLst>
                                    <p:cond delay="1900"/>
                                  </p:stCondLst>
                                  <p:childTnLst>
                                    <p:set>
                                      <p:cBhvr>
                                        <p:cTn id="50" dur="1" fill="hold">
                                          <p:stCondLst>
                                            <p:cond delay="0"/>
                                          </p:stCondLst>
                                        </p:cTn>
                                        <p:tgtEl>
                                          <p:spTgt spid="15"/>
                                        </p:tgtEl>
                                        <p:attrNameLst>
                                          <p:attrName>style.visibility</p:attrName>
                                        </p:attrNameLst>
                                      </p:cBhvr>
                                      <p:to>
                                        <p:strVal val="visible"/>
                                      </p:to>
                                    </p:set>
                                    <p:animEffect transition="in" filter="fade">
                                      <p:cBhvr>
                                        <p:cTn id="46" dur="650"/>
                                        <p:tgtEl>
                                          <p:spTgt spid="15"/>
                                        </p:tgtEl>
                                      </p:cBhvr>
                                    </p:animEffect>
                                    <p:anim calcmode="lin" valueType="num">
                                      <p:cBhvr additive="base">
                                        <p:cTn id="47" dur="650" fill="hold"/>
                                        <p:tgtEl>
                                          <p:spTgt spid="15"/>
                                        </p:tgtEl>
                                        <p:attrNameLst>
                                          <p:attrName>ppt_x</p:attrName>
                                        </p:attrNameLst>
                                      </p:cBhvr>
                                      <p:tavLst>
                                        <p:tav tm="0">
                                          <p:val>
                                            <p:strVal val="#ppt_x-.06"/>
                                          </p:val>
                                        </p:tav>
                                        <p:tav tm="100000">
                                          <p:val>
                                            <p:strVal val="#ppt_x"/>
                                          </p:val>
                                        </p:tav>
                                      </p:tavLst>
                                    </p:anim>
                                    <p:anim calcmode="lin" valueType="num">
                                      <p:cBhvr additive="base">
                                        <p:cTn id="48" dur="650" fill="hold"/>
                                        <p:tgtEl>
                                          <p:spTgt spid="15"/>
                                        </p:tgtEl>
                                        <p:attrNameLst>
                                          <p:attrName>ppt_y</p:attrName>
                                        </p:attrNameLst>
                                      </p:cBhvr>
                                      <p:tavLst>
                                        <p:tav tm="0">
                                          <p:val>
                                            <p:strVal val="#ppt_y"/>
                                          </p:val>
                                        </p:tav>
                                        <p:tav tm="100000">
                                          <p:val>
                                            <p:strVal val="#ppt_y"/>
                                          </p:val>
                                        </p:tav>
                                      </p:tavLst>
                                    </p:anim>
                                  </p:childTnLst>
                                </p:cTn>
                              </p:par>
                              <p:par>
                                <p:cTn id="54" presetID="53" presetClass="entr" presetSubtype="16" fill="hold" grpId="0" nodeType="withEffect">
                                  <p:stCondLst>
                                    <p:cond delay="1900"/>
                                  </p:stCondLst>
                                  <p:childTnLst>
                                    <p:set>
                                      <p:cBhvr>
                                        <p:cTn id="55" dur="1" fill="hold">
                                          <p:stCondLst>
                                            <p:cond delay="0"/>
                                          </p:stCondLst>
                                        </p:cTn>
                                        <p:tgtEl>
                                          <p:spTgt spid="16"/>
                                        </p:tgtEl>
                                        <p:attrNameLst>
                                          <p:attrName>style.visibility</p:attrName>
                                        </p:attrNameLst>
                                      </p:cBhvr>
                                      <p:to>
                                        <p:strVal val="visible"/>
                                      </p:to>
                                    </p:set>
                                    <p:anim calcmode="lin" valueType="num">
                                      <p:cBhvr additive="base">
                                        <p:cTn id="51" dur="550" fill="hold"/>
                                        <p:tgtEl>
                                          <p:spTgt spid="16"/>
                                        </p:tgtEl>
                                        <p:attrNameLst>
                                          <p:attrName>ppt_w</p:attrName>
                                        </p:attrNameLst>
                                      </p:cBhvr>
                                      <p:tavLst>
                                        <p:tav tm="0">
                                          <p:val>
                                            <p:strVal val="0"/>
                                          </p:val>
                                        </p:tav>
                                        <p:tav tm="100000">
                                          <p:val>
                                            <p:strVal val="#ppt_w"/>
                                          </p:val>
                                        </p:tav>
                                      </p:tavLst>
                                    </p:anim>
                                    <p:anim calcmode="lin" valueType="num">
                                      <p:cBhvr additive="base">
                                        <p:cTn id="52" dur="550" fill="hold"/>
                                        <p:tgtEl>
                                          <p:spTgt spid="16"/>
                                        </p:tgtEl>
                                        <p:attrNameLst>
                                          <p:attrName>ppt_h</p:attrName>
                                        </p:attrNameLst>
                                      </p:cBhvr>
                                      <p:tavLst>
                                        <p:tav tm="0">
                                          <p:val>
                                            <p:strVal val="0"/>
                                          </p:val>
                                        </p:tav>
                                        <p:tav tm="100000">
                                          <p:val>
                                            <p:strVal val="#ppt_h"/>
                                          </p:val>
                                        </p:tav>
                                      </p:tavLst>
                                    </p:anim>
                                    <p:animEffect transition="in" filter="fade">
                                      <p:cBhvr>
                                        <p:cTn id="53" dur="550"/>
                                        <p:tgtEl>
                                          <p:spTgt spid="16"/>
                                        </p:tgtEl>
                                      </p:cBhvr>
                                    </p:animEffect>
                                  </p:childTnLst>
                                </p:cTn>
                              </p:par>
                              <p:par>
                                <p:cTn id="59" presetID="53" presetClass="entr" presetSubtype="16" fill="hold" grpId="0" nodeType="withEffect">
                                  <p:stCondLst>
                                    <p:cond delay="1900"/>
                                  </p:stCondLst>
                                  <p:childTnLst>
                                    <p:set>
                                      <p:cBhvr>
                                        <p:cTn id="60" dur="1" fill="hold">
                                          <p:stCondLst>
                                            <p:cond delay="0"/>
                                          </p:stCondLst>
                                        </p:cTn>
                                        <p:tgtEl>
                                          <p:spTgt spid="17"/>
                                        </p:tgtEl>
                                        <p:attrNameLst>
                                          <p:attrName>style.visibility</p:attrName>
                                        </p:attrNameLst>
                                      </p:cBhvr>
                                      <p:to>
                                        <p:strVal val="visible"/>
                                      </p:to>
                                    </p:set>
                                    <p:anim calcmode="lin" valueType="num">
                                      <p:cBhvr additive="base">
                                        <p:cTn id="56" dur="550" fill="hold"/>
                                        <p:tgtEl>
                                          <p:spTgt spid="17"/>
                                        </p:tgtEl>
                                        <p:attrNameLst>
                                          <p:attrName>ppt_w</p:attrName>
                                        </p:attrNameLst>
                                      </p:cBhvr>
                                      <p:tavLst>
                                        <p:tav tm="0">
                                          <p:val>
                                            <p:strVal val="0"/>
                                          </p:val>
                                        </p:tav>
                                        <p:tav tm="100000">
                                          <p:val>
                                            <p:strVal val="#ppt_w"/>
                                          </p:val>
                                        </p:tav>
                                      </p:tavLst>
                                    </p:anim>
                                    <p:anim calcmode="lin" valueType="num">
                                      <p:cBhvr additive="base">
                                        <p:cTn id="57" dur="550" fill="hold"/>
                                        <p:tgtEl>
                                          <p:spTgt spid="17"/>
                                        </p:tgtEl>
                                        <p:attrNameLst>
                                          <p:attrName>ppt_h</p:attrName>
                                        </p:attrNameLst>
                                      </p:cBhvr>
                                      <p:tavLst>
                                        <p:tav tm="0">
                                          <p:val>
                                            <p:strVal val="0"/>
                                          </p:val>
                                        </p:tav>
                                        <p:tav tm="100000">
                                          <p:val>
                                            <p:strVal val="#ppt_h"/>
                                          </p:val>
                                        </p:tav>
                                      </p:tavLst>
                                    </p:anim>
                                    <p:animEffect transition="in" filter="fade">
                                      <p:cBhvr>
                                        <p:cTn id="58" dur="550"/>
                                        <p:tgtEl>
                                          <p:spTgt spid="17"/>
                                        </p:tgtEl>
                                      </p:cBhvr>
                                    </p:animEffect>
                                  </p:childTnLst>
                                </p:cTn>
                              </p:par>
                              <p:par>
                                <p:cTn id="64" presetID="42" presetClass="entr" presetSubtype="0" fill="hold" grpId="0" nodeType="withEffect">
                                  <p:stCondLst>
                                    <p:cond delay="1900"/>
                                  </p:stCondLst>
                                  <p:childTnLst>
                                    <p:set>
                                      <p:cBhvr>
                                        <p:cTn id="65" dur="1" fill="hold">
                                          <p:stCondLst>
                                            <p:cond delay="0"/>
                                          </p:stCondLst>
                                        </p:cTn>
                                        <p:tgtEl>
                                          <p:spTgt spid="18"/>
                                        </p:tgtEl>
                                        <p:attrNameLst>
                                          <p:attrName>style.visibility</p:attrName>
                                        </p:attrNameLst>
                                      </p:cBhvr>
                                      <p:to>
                                        <p:strVal val="visible"/>
                                      </p:to>
                                    </p:set>
                                    <p:animEffect transition="in" filter="fade">
                                      <p:cBhvr>
                                        <p:cTn id="61" dur="650"/>
                                        <p:tgtEl>
                                          <p:spTgt spid="18"/>
                                        </p:tgtEl>
                                      </p:cBhvr>
                                    </p:animEffect>
                                    <p:anim calcmode="lin" valueType="num">
                                      <p:cBhvr additive="base">
                                        <p:cTn id="62" dur="650" fill="hold"/>
                                        <p:tgtEl>
                                          <p:spTgt spid="18"/>
                                        </p:tgtEl>
                                        <p:attrNameLst>
                                          <p:attrName>ppt_x</p:attrName>
                                        </p:attrNameLst>
                                      </p:cBhvr>
                                      <p:tavLst>
                                        <p:tav tm="0">
                                          <p:val>
                                            <p:strVal val="#ppt_x-.06"/>
                                          </p:val>
                                        </p:tav>
                                        <p:tav tm="100000">
                                          <p:val>
                                            <p:strVal val="#ppt_x"/>
                                          </p:val>
                                        </p:tav>
                                      </p:tavLst>
                                    </p:anim>
                                    <p:anim calcmode="lin" valueType="num">
                                      <p:cBhvr additive="base">
                                        <p:cTn id="63" dur="650" fill="hold"/>
                                        <p:tgtEl>
                                          <p:spTgt spid="18"/>
                                        </p:tgtEl>
                                        <p:attrNameLst>
                                          <p:attrName>ppt_y</p:attrName>
                                        </p:attrNameLst>
                                      </p:cBhvr>
                                      <p:tavLst>
                                        <p:tav tm="0">
                                          <p:val>
                                            <p:strVal val="#ppt_y"/>
                                          </p:val>
                                        </p:tav>
                                        <p:tav tm="100000">
                                          <p:val>
                                            <p:strVal val="#ppt_y"/>
                                          </p:val>
                                        </p:tav>
                                      </p:tavLst>
                                    </p:anim>
                                  </p:childTnLst>
                                </p:cTn>
                              </p:par>
                              <p:par>
                                <p:cTn id="69" presetID="42" presetClass="entr" presetSubtype="0" fill="hold" grpId="0" nodeType="withEffect">
                                  <p:stCondLst>
                                    <p:cond delay="1900"/>
                                  </p:stCondLst>
                                  <p:childTnLst>
                                    <p:set>
                                      <p:cBhvr>
                                        <p:cTn id="70" dur="1" fill="hold">
                                          <p:stCondLst>
                                            <p:cond delay="0"/>
                                          </p:stCondLst>
                                        </p:cTn>
                                        <p:tgtEl>
                                          <p:spTgt spid="19"/>
                                        </p:tgtEl>
                                        <p:attrNameLst>
                                          <p:attrName>style.visibility</p:attrName>
                                        </p:attrNameLst>
                                      </p:cBhvr>
                                      <p:to>
                                        <p:strVal val="visible"/>
                                      </p:to>
                                    </p:set>
                                    <p:animEffect transition="in" filter="fade">
                                      <p:cBhvr>
                                        <p:cTn id="66" dur="650"/>
                                        <p:tgtEl>
                                          <p:spTgt spid="19"/>
                                        </p:tgtEl>
                                      </p:cBhvr>
                                    </p:animEffect>
                                    <p:anim calcmode="lin" valueType="num">
                                      <p:cBhvr additive="base">
                                        <p:cTn id="67" dur="650" fill="hold"/>
                                        <p:tgtEl>
                                          <p:spTgt spid="19"/>
                                        </p:tgtEl>
                                        <p:attrNameLst>
                                          <p:attrName>ppt_x</p:attrName>
                                        </p:attrNameLst>
                                      </p:cBhvr>
                                      <p:tavLst>
                                        <p:tav tm="0">
                                          <p:val>
                                            <p:strVal val="#ppt_x-.06"/>
                                          </p:val>
                                        </p:tav>
                                        <p:tav tm="100000">
                                          <p:val>
                                            <p:strVal val="#ppt_x"/>
                                          </p:val>
                                        </p:tav>
                                      </p:tavLst>
                                    </p:anim>
                                    <p:anim calcmode="lin" valueType="num">
                                      <p:cBhvr additive="base">
                                        <p:cTn id="68" dur="650" fill="hold"/>
                                        <p:tgtEl>
                                          <p:spTgt spid="19"/>
                                        </p:tgtEl>
                                        <p:attrNameLst>
                                          <p:attrName>ppt_y</p:attrName>
                                        </p:attrNameLst>
                                      </p:cBhvr>
                                      <p:tavLst>
                                        <p:tav tm="0">
                                          <p:val>
                                            <p:strVal val="#ppt_y"/>
                                          </p:val>
                                        </p:tav>
                                        <p:tav tm="100000">
                                          <p:val>
                                            <p:strVal val="#ppt_y"/>
                                          </p:val>
                                        </p:tav>
                                      </p:tavLst>
                                    </p:anim>
                                  </p:childTnLst>
                                </p:cTn>
                              </p:par>
                              <p:par>
                                <p:cTn id="74" presetID="42" presetClass="entr" presetSubtype="0" fill="hold" grpId="0" nodeType="withEffect">
                                  <p:stCondLst>
                                    <p:cond delay="2280"/>
                                  </p:stCondLst>
                                  <p:childTnLst>
                                    <p:set>
                                      <p:cBhvr>
                                        <p:cTn id="75" dur="1" fill="hold">
                                          <p:stCondLst>
                                            <p:cond delay="0"/>
                                          </p:stCondLst>
                                        </p:cTn>
                                        <p:tgtEl>
                                          <p:spTgt spid="20"/>
                                        </p:tgtEl>
                                        <p:attrNameLst>
                                          <p:attrName>style.visibility</p:attrName>
                                        </p:attrNameLst>
                                      </p:cBhvr>
                                      <p:to>
                                        <p:strVal val="visible"/>
                                      </p:to>
                                    </p:set>
                                    <p:animEffect transition="in" filter="fade">
                                      <p:cBhvr>
                                        <p:cTn id="71" dur="650"/>
                                        <p:tgtEl>
                                          <p:spTgt spid="20"/>
                                        </p:tgtEl>
                                      </p:cBhvr>
                                    </p:animEffect>
                                    <p:anim calcmode="lin" valueType="num">
                                      <p:cBhvr additive="base">
                                        <p:cTn id="72" dur="650" fill="hold"/>
                                        <p:tgtEl>
                                          <p:spTgt spid="20"/>
                                        </p:tgtEl>
                                        <p:attrNameLst>
                                          <p:attrName>ppt_x</p:attrName>
                                        </p:attrNameLst>
                                      </p:cBhvr>
                                      <p:tavLst>
                                        <p:tav tm="0">
                                          <p:val>
                                            <p:strVal val="#ppt_x-.06"/>
                                          </p:val>
                                        </p:tav>
                                        <p:tav tm="100000">
                                          <p:val>
                                            <p:strVal val="#ppt_x"/>
                                          </p:val>
                                        </p:tav>
                                      </p:tavLst>
                                    </p:anim>
                                    <p:anim calcmode="lin" valueType="num">
                                      <p:cBhvr additive="base">
                                        <p:cTn id="73" dur="650" fill="hold"/>
                                        <p:tgtEl>
                                          <p:spTgt spid="20"/>
                                        </p:tgtEl>
                                        <p:attrNameLst>
                                          <p:attrName>ppt_y</p:attrName>
                                        </p:attrNameLst>
                                      </p:cBhvr>
                                      <p:tavLst>
                                        <p:tav tm="0">
                                          <p:val>
                                            <p:strVal val="#ppt_y"/>
                                          </p:val>
                                        </p:tav>
                                        <p:tav tm="100000">
                                          <p:val>
                                            <p:strVal val="#ppt_y"/>
                                          </p:val>
                                        </p:tav>
                                      </p:tavLst>
                                    </p:anim>
                                  </p:childTnLst>
                                </p:cTn>
                              </p:par>
                              <p:par>
                                <p:cTn id="79" presetID="53" presetClass="entr" presetSubtype="16" fill="hold" grpId="0" nodeType="withEffect">
                                  <p:stCondLst>
                                    <p:cond delay="2280"/>
                                  </p:stCondLst>
                                  <p:childTnLst>
                                    <p:set>
                                      <p:cBhvr>
                                        <p:cTn id="80" dur="1" fill="hold">
                                          <p:stCondLst>
                                            <p:cond delay="0"/>
                                          </p:stCondLst>
                                        </p:cTn>
                                        <p:tgtEl>
                                          <p:spTgt spid="21"/>
                                        </p:tgtEl>
                                        <p:attrNameLst>
                                          <p:attrName>style.visibility</p:attrName>
                                        </p:attrNameLst>
                                      </p:cBhvr>
                                      <p:to>
                                        <p:strVal val="visible"/>
                                      </p:to>
                                    </p:set>
                                    <p:anim calcmode="lin" valueType="num">
                                      <p:cBhvr additive="base">
                                        <p:cTn id="76" dur="550" fill="hold"/>
                                        <p:tgtEl>
                                          <p:spTgt spid="21"/>
                                        </p:tgtEl>
                                        <p:attrNameLst>
                                          <p:attrName>ppt_w</p:attrName>
                                        </p:attrNameLst>
                                      </p:cBhvr>
                                      <p:tavLst>
                                        <p:tav tm="0">
                                          <p:val>
                                            <p:strVal val="0"/>
                                          </p:val>
                                        </p:tav>
                                        <p:tav tm="100000">
                                          <p:val>
                                            <p:strVal val="#ppt_w"/>
                                          </p:val>
                                        </p:tav>
                                      </p:tavLst>
                                    </p:anim>
                                    <p:anim calcmode="lin" valueType="num">
                                      <p:cBhvr additive="base">
                                        <p:cTn id="77" dur="550" fill="hold"/>
                                        <p:tgtEl>
                                          <p:spTgt spid="21"/>
                                        </p:tgtEl>
                                        <p:attrNameLst>
                                          <p:attrName>ppt_h</p:attrName>
                                        </p:attrNameLst>
                                      </p:cBhvr>
                                      <p:tavLst>
                                        <p:tav tm="0">
                                          <p:val>
                                            <p:strVal val="0"/>
                                          </p:val>
                                        </p:tav>
                                        <p:tav tm="100000">
                                          <p:val>
                                            <p:strVal val="#ppt_h"/>
                                          </p:val>
                                        </p:tav>
                                      </p:tavLst>
                                    </p:anim>
                                    <p:animEffect transition="in" filter="fade">
                                      <p:cBhvr>
                                        <p:cTn id="78" dur="550"/>
                                        <p:tgtEl>
                                          <p:spTgt spid="21"/>
                                        </p:tgtEl>
                                      </p:cBhvr>
                                    </p:animEffect>
                                  </p:childTnLst>
                                </p:cTn>
                              </p:par>
                              <p:par>
                                <p:cTn id="84" presetID="53" presetClass="entr" presetSubtype="16" fill="hold" grpId="0" nodeType="withEffect">
                                  <p:stCondLst>
                                    <p:cond delay="2280"/>
                                  </p:stCondLst>
                                  <p:childTnLst>
                                    <p:set>
                                      <p:cBhvr>
                                        <p:cTn id="85" dur="1" fill="hold">
                                          <p:stCondLst>
                                            <p:cond delay="0"/>
                                          </p:stCondLst>
                                        </p:cTn>
                                        <p:tgtEl>
                                          <p:spTgt spid="22"/>
                                        </p:tgtEl>
                                        <p:attrNameLst>
                                          <p:attrName>style.visibility</p:attrName>
                                        </p:attrNameLst>
                                      </p:cBhvr>
                                      <p:to>
                                        <p:strVal val="visible"/>
                                      </p:to>
                                    </p:set>
                                    <p:anim calcmode="lin" valueType="num">
                                      <p:cBhvr additive="base">
                                        <p:cTn id="81" dur="550" fill="hold"/>
                                        <p:tgtEl>
                                          <p:spTgt spid="22"/>
                                        </p:tgtEl>
                                        <p:attrNameLst>
                                          <p:attrName>ppt_w</p:attrName>
                                        </p:attrNameLst>
                                      </p:cBhvr>
                                      <p:tavLst>
                                        <p:tav tm="0">
                                          <p:val>
                                            <p:strVal val="0"/>
                                          </p:val>
                                        </p:tav>
                                        <p:tav tm="100000">
                                          <p:val>
                                            <p:strVal val="#ppt_w"/>
                                          </p:val>
                                        </p:tav>
                                      </p:tavLst>
                                    </p:anim>
                                    <p:anim calcmode="lin" valueType="num">
                                      <p:cBhvr additive="base">
                                        <p:cTn id="82" dur="550" fill="hold"/>
                                        <p:tgtEl>
                                          <p:spTgt spid="22"/>
                                        </p:tgtEl>
                                        <p:attrNameLst>
                                          <p:attrName>ppt_h</p:attrName>
                                        </p:attrNameLst>
                                      </p:cBhvr>
                                      <p:tavLst>
                                        <p:tav tm="0">
                                          <p:val>
                                            <p:strVal val="0"/>
                                          </p:val>
                                        </p:tav>
                                        <p:tav tm="100000">
                                          <p:val>
                                            <p:strVal val="#ppt_h"/>
                                          </p:val>
                                        </p:tav>
                                      </p:tavLst>
                                    </p:anim>
                                    <p:animEffect transition="in" filter="fade">
                                      <p:cBhvr>
                                        <p:cTn id="83" dur="550"/>
                                        <p:tgtEl>
                                          <p:spTgt spid="22"/>
                                        </p:tgtEl>
                                      </p:cBhvr>
                                    </p:animEffect>
                                  </p:childTnLst>
                                </p:cTn>
                              </p:par>
                              <p:par>
                                <p:cTn id="89" presetID="42" presetClass="entr" presetSubtype="0" fill="hold" grpId="0" nodeType="withEffect">
                                  <p:stCondLst>
                                    <p:cond delay="2280"/>
                                  </p:stCondLst>
                                  <p:childTnLst>
                                    <p:set>
                                      <p:cBhvr>
                                        <p:cTn id="90" dur="1" fill="hold">
                                          <p:stCondLst>
                                            <p:cond delay="0"/>
                                          </p:stCondLst>
                                        </p:cTn>
                                        <p:tgtEl>
                                          <p:spTgt spid="23"/>
                                        </p:tgtEl>
                                        <p:attrNameLst>
                                          <p:attrName>style.visibility</p:attrName>
                                        </p:attrNameLst>
                                      </p:cBhvr>
                                      <p:to>
                                        <p:strVal val="visible"/>
                                      </p:to>
                                    </p:set>
                                    <p:animEffect transition="in" filter="fade">
                                      <p:cBhvr>
                                        <p:cTn id="86" dur="650"/>
                                        <p:tgtEl>
                                          <p:spTgt spid="23"/>
                                        </p:tgtEl>
                                      </p:cBhvr>
                                    </p:animEffect>
                                    <p:anim calcmode="lin" valueType="num">
                                      <p:cBhvr additive="base">
                                        <p:cTn id="87" dur="650" fill="hold"/>
                                        <p:tgtEl>
                                          <p:spTgt spid="23"/>
                                        </p:tgtEl>
                                        <p:attrNameLst>
                                          <p:attrName>ppt_x</p:attrName>
                                        </p:attrNameLst>
                                      </p:cBhvr>
                                      <p:tavLst>
                                        <p:tav tm="0">
                                          <p:val>
                                            <p:strVal val="#ppt_x-.06"/>
                                          </p:val>
                                        </p:tav>
                                        <p:tav tm="100000">
                                          <p:val>
                                            <p:strVal val="#ppt_x"/>
                                          </p:val>
                                        </p:tav>
                                      </p:tavLst>
                                    </p:anim>
                                    <p:anim calcmode="lin" valueType="num">
                                      <p:cBhvr additive="base">
                                        <p:cTn id="88" dur="650" fill="hold"/>
                                        <p:tgtEl>
                                          <p:spTgt spid="23"/>
                                        </p:tgtEl>
                                        <p:attrNameLst>
                                          <p:attrName>ppt_y</p:attrName>
                                        </p:attrNameLst>
                                      </p:cBhvr>
                                      <p:tavLst>
                                        <p:tav tm="0">
                                          <p:val>
                                            <p:strVal val="#ppt_y"/>
                                          </p:val>
                                        </p:tav>
                                        <p:tav tm="100000">
                                          <p:val>
                                            <p:strVal val="#ppt_y"/>
                                          </p:val>
                                        </p:tav>
                                      </p:tavLst>
                                    </p:anim>
                                  </p:childTnLst>
                                </p:cTn>
                              </p:par>
                              <p:par>
                                <p:cTn id="94" presetID="42" presetClass="entr" presetSubtype="0" fill="hold" grpId="0" nodeType="withEffect">
                                  <p:stCondLst>
                                    <p:cond delay="2280"/>
                                  </p:stCondLst>
                                  <p:childTnLst>
                                    <p:set>
                                      <p:cBhvr>
                                        <p:cTn id="95" dur="1" fill="hold">
                                          <p:stCondLst>
                                            <p:cond delay="0"/>
                                          </p:stCondLst>
                                        </p:cTn>
                                        <p:tgtEl>
                                          <p:spTgt spid="24"/>
                                        </p:tgtEl>
                                        <p:attrNameLst>
                                          <p:attrName>style.visibility</p:attrName>
                                        </p:attrNameLst>
                                      </p:cBhvr>
                                      <p:to>
                                        <p:strVal val="visible"/>
                                      </p:to>
                                    </p:set>
                                    <p:animEffect transition="in" filter="fade">
                                      <p:cBhvr>
                                        <p:cTn id="91" dur="650"/>
                                        <p:tgtEl>
                                          <p:spTgt spid="24"/>
                                        </p:tgtEl>
                                      </p:cBhvr>
                                    </p:animEffect>
                                    <p:anim calcmode="lin" valueType="num">
                                      <p:cBhvr additive="base">
                                        <p:cTn id="92" dur="650" fill="hold"/>
                                        <p:tgtEl>
                                          <p:spTgt spid="24"/>
                                        </p:tgtEl>
                                        <p:attrNameLst>
                                          <p:attrName>ppt_x</p:attrName>
                                        </p:attrNameLst>
                                      </p:cBhvr>
                                      <p:tavLst>
                                        <p:tav tm="0">
                                          <p:val>
                                            <p:strVal val="#ppt_x-.06"/>
                                          </p:val>
                                        </p:tav>
                                        <p:tav tm="100000">
                                          <p:val>
                                            <p:strVal val="#ppt_x"/>
                                          </p:val>
                                        </p:tav>
                                      </p:tavLst>
                                    </p:anim>
                                    <p:anim calcmode="lin" valueType="num">
                                      <p:cBhvr additive="base">
                                        <p:cTn id="93" dur="65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7" grpId="0" animBg="1"/>
      <p:bldP spid="8" grpId="0" animBg="1"/>
      <p:bldP spid="9" grpId="0" animBg="1"/>
      <p:bldP spid="13" grpId="0" animBg="1"/>
      <p:bldP spid="14" grpId="0" animBg="1"/>
      <p:bldP spid="18" grpId="0" animBg="1"/>
      <p:bldP spid="19" grpId="0" animBg="1"/>
      <p:bldP spid="23" grpId="0" animBg="1"/>
      <p:bldP spid="2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7406640" y="-1005840"/>
            <a:ext cx="2560320" cy="2560320"/>
          </a:xfrm>
          <a:prstGeom prst="rect">
            <a:avLst/>
          </a:prstGeom>
        </p:spPr>
      </p:pic>
      <p:sp>
        <p:nvSpPr>
          <p:cNvPr id="3" name="Text 0"/>
          <p:cNvSpPr txBox="1"/>
          <p:nvPr/>
        </p:nvSpPr>
        <p:spPr>
          <a:xfrm>
            <a:off x="457200" y="274320"/>
            <a:ext cx="6858000" cy="228600"/>
          </a:xfrm>
          <a:prstGeom prst="rect">
            <a:avLst/>
          </a:prstGeom>
          <a:noFill/>
          <a:ln/>
        </p:spPr>
        <p:txBody>
          <a:bodyPr wrap="square" lIns="0" tIns="0" rIns="0" bIns="0" rtlCol="0" anchor="t"/>
          <a:lstStyle/>
          <a:p>
            <a:pPr indent="0" marL="0">
              <a:buNone/>
            </a:pPr>
            <a:r>
              <a:rPr lang="en-US" sz="1050" b="1" spc="200" kern="0" dirty="0">
                <a:solidFill>
                  <a:srgbClr val="1E9E6A"/>
                </a:solidFill>
                <a:latin typeface="Calibri" pitchFamily="34" charset="0"/>
                <a:ea typeface="Calibri" pitchFamily="34" charset="-122"/>
                <a:cs typeface="Calibri" pitchFamily="34" charset="-120"/>
              </a:rPr>
              <a:t>II · 2.5 — AVANTAGES</a:t>
            </a:r>
            <a:endParaRPr lang="en-US" sz="1050" dirty="0"/>
          </a:p>
        </p:txBody>
      </p:sp>
      <p:sp>
        <p:nvSpPr>
          <p:cNvPr id="4" name="Text 1"/>
          <p:cNvSpPr txBox="1"/>
          <p:nvPr/>
        </p:nvSpPr>
        <p:spPr>
          <a:xfrm>
            <a:off x="457200" y="502920"/>
            <a:ext cx="7863840" cy="548640"/>
          </a:xfrm>
          <a:prstGeom prst="rect">
            <a:avLst/>
          </a:prstGeom>
          <a:noFill/>
          <a:ln/>
        </p:spPr>
        <p:txBody>
          <a:bodyPr wrap="square" lIns="0" tIns="0" rIns="0" bIns="0" rtlCol="0" anchor="ctr"/>
          <a:lstStyle/>
          <a:p>
            <a:pPr indent="0" marL="0">
              <a:buNone/>
            </a:pPr>
            <a:r>
              <a:rPr lang="en-US" sz="2600" b="1" dirty="0">
                <a:solidFill>
                  <a:srgbClr val="0B1F4B"/>
                </a:solidFill>
                <a:latin typeface="Cambria" pitchFamily="34" charset="0"/>
                <a:ea typeface="Cambria" pitchFamily="34" charset="-122"/>
                <a:cs typeface="Cambria" pitchFamily="34" charset="-120"/>
              </a:rPr>
              <a:t>Moins de démarches… ce que le Brexit a révélé</a:t>
            </a:r>
            <a:endParaRPr lang="en-US" sz="2600" dirty="0"/>
          </a:p>
        </p:txBody>
      </p:sp>
      <p:sp>
        <p:nvSpPr>
          <p:cNvPr id="5" name="Text 2"/>
          <p:cNvSpPr txBox="1"/>
          <p:nvPr/>
        </p:nvSpPr>
        <p:spPr>
          <a:xfrm>
            <a:off x="8321040" y="4773168"/>
            <a:ext cx="365760" cy="228600"/>
          </a:xfrm>
          <a:prstGeom prst="rect">
            <a:avLst/>
          </a:prstGeom>
          <a:noFill/>
          <a:ln/>
        </p:spPr>
        <p:txBody>
          <a:bodyPr wrap="square" lIns="0" tIns="0" rIns="0" bIns="0" rtlCol="0" anchor="t"/>
          <a:lstStyle/>
          <a:p>
            <a:pPr algn="r" indent="0" marL="0">
              <a:buNone/>
            </a:pPr>
            <a:r>
              <a:rPr lang="en-US" sz="1000" dirty="0">
                <a:solidFill>
                  <a:srgbClr val="5B6478"/>
                </a:solidFill>
                <a:latin typeface="Calibri" pitchFamily="34" charset="0"/>
                <a:ea typeface="Calibri" pitchFamily="34" charset="-122"/>
                <a:cs typeface="Calibri" pitchFamily="34" charset="-120"/>
              </a:rPr>
              <a:t>18</a:t>
            </a:r>
            <a:endParaRPr lang="en-US" sz="1000" dirty="0"/>
          </a:p>
        </p:txBody>
      </p:sp>
      <p:sp>
        <p:nvSpPr>
          <p:cNvPr id="6" name="A1-zoom-284"/>
          <p:cNvSpPr/>
          <p:nvPr/>
        </p:nvSpPr>
        <p:spPr>
          <a:xfrm>
            <a:off x="457200" y="1325880"/>
            <a:ext cx="594360" cy="594360"/>
          </a:xfrm>
          <a:prstGeom prst="ellipse">
            <a:avLst/>
          </a:prstGeom>
          <a:solidFill>
            <a:srgbClr val="E3F5EC"/>
          </a:solidFill>
          <a:ln w="12700">
            <a:solidFill>
              <a:srgbClr val="E3F5EC"/>
            </a:solidFill>
            <a:prstDash val="solid"/>
          </a:ln>
        </p:spPr>
      </p:sp>
      <p:pic>
        <p:nvPicPr>
          <p:cNvPr id="7" name="A1-zoom-285" descr="preencoded.png">    </p:cNvPr>
          <p:cNvPicPr>
            <a:picLocks noChangeAspect="1"/>
          </p:cNvPicPr>
          <p:nvPr/>
        </p:nvPicPr>
        <p:blipFill>
          <a:blip r:embed="rId3"/>
          <a:stretch>
            <a:fillRect/>
          </a:stretch>
        </p:blipFill>
        <p:spPr>
          <a:xfrm>
            <a:off x="617677" y="1486357"/>
            <a:ext cx="273406" cy="273406"/>
          </a:xfrm>
          <a:prstGeom prst="rect">
            <a:avLst/>
          </a:prstGeom>
        </p:spPr>
      </p:pic>
      <p:sp>
        <p:nvSpPr>
          <p:cNvPr id="8" name="A1-fadeleft-286"/>
          <p:cNvSpPr txBox="1"/>
          <p:nvPr/>
        </p:nvSpPr>
        <p:spPr>
          <a:xfrm>
            <a:off x="1234440" y="1307592"/>
            <a:ext cx="3017520" cy="292608"/>
          </a:xfrm>
          <a:prstGeom prst="rect">
            <a:avLst/>
          </a:prstGeom>
          <a:noFill/>
          <a:ln/>
        </p:spPr>
        <p:txBody>
          <a:bodyPr wrap="square" lIns="0" tIns="0" rIns="0" bIns="0" rtlCol="0" anchor="t"/>
          <a:lstStyle/>
          <a:p>
            <a:pPr indent="0" marL="0">
              <a:buNone/>
            </a:pPr>
            <a:r>
              <a:rPr lang="en-US" sz="1400" b="1" dirty="0">
                <a:solidFill>
                  <a:srgbClr val="0B1F4B"/>
                </a:solidFill>
                <a:latin typeface="Calibri" pitchFamily="34" charset="0"/>
                <a:ea typeface="Calibri" pitchFamily="34" charset="-122"/>
                <a:cs typeface="Calibri" pitchFamily="34" charset="-120"/>
              </a:rPr>
              <a:t>1er janvier 1993</a:t>
            </a:r>
            <a:endParaRPr lang="en-US" sz="1400" dirty="0"/>
          </a:p>
        </p:txBody>
      </p:sp>
      <p:sp>
        <p:nvSpPr>
          <p:cNvPr id="9" name="A1-fadeleft-287"/>
          <p:cNvSpPr txBox="1"/>
          <p:nvPr/>
        </p:nvSpPr>
        <p:spPr>
          <a:xfrm>
            <a:off x="1234440" y="1600200"/>
            <a:ext cx="3017520" cy="548640"/>
          </a:xfrm>
          <a:prstGeom prst="rect">
            <a:avLst/>
          </a:prstGeom>
          <a:noFill/>
          <a:ln/>
        </p:spPr>
        <p:txBody>
          <a:bodyPr wrap="square" lIns="0" tIns="0" rIns="0" bIns="0" rtlCol="0" anchor="t"/>
          <a:lstStyle/>
          <a:p>
            <a:pPr indent="0" marL="0">
              <a:buNone/>
            </a:pPr>
            <a:r>
              <a:rPr lang="en-US" sz="1150" dirty="0">
                <a:solidFill>
                  <a:srgbClr val="5B6478"/>
                </a:solidFill>
                <a:latin typeface="Calibri" pitchFamily="34" charset="0"/>
                <a:ea typeface="Calibri" pitchFamily="34" charset="-122"/>
                <a:cs typeface="Calibri" pitchFamily="34" charset="-120"/>
              </a:rPr>
              <a:t>Fin des contrôles douaniers et des formalités aux frontières intérieures</a:t>
            </a:r>
            <a:endParaRPr lang="en-US" sz="1150" dirty="0"/>
          </a:p>
        </p:txBody>
      </p:sp>
      <p:sp>
        <p:nvSpPr>
          <p:cNvPr id="10" name="A2-zoom-288"/>
          <p:cNvSpPr/>
          <p:nvPr/>
        </p:nvSpPr>
        <p:spPr>
          <a:xfrm>
            <a:off x="457200" y="2377440"/>
            <a:ext cx="594360" cy="594360"/>
          </a:xfrm>
          <a:prstGeom prst="ellipse">
            <a:avLst/>
          </a:prstGeom>
          <a:solidFill>
            <a:srgbClr val="E3F5EC"/>
          </a:solidFill>
          <a:ln w="12700">
            <a:solidFill>
              <a:srgbClr val="E3F5EC"/>
            </a:solidFill>
            <a:prstDash val="solid"/>
          </a:ln>
        </p:spPr>
      </p:sp>
      <p:pic>
        <p:nvPicPr>
          <p:cNvPr id="11" name="A2-zoom-289" descr="preencoded.png">    </p:cNvPr>
          <p:cNvPicPr>
            <a:picLocks noChangeAspect="1"/>
          </p:cNvPicPr>
          <p:nvPr/>
        </p:nvPicPr>
        <p:blipFill>
          <a:blip r:embed="rId4"/>
          <a:stretch>
            <a:fillRect/>
          </a:stretch>
        </p:blipFill>
        <p:spPr>
          <a:xfrm>
            <a:off x="617677" y="2537917"/>
            <a:ext cx="273406" cy="273406"/>
          </a:xfrm>
          <a:prstGeom prst="rect">
            <a:avLst/>
          </a:prstGeom>
        </p:spPr>
      </p:pic>
      <p:sp>
        <p:nvSpPr>
          <p:cNvPr id="12" name="A2-fadeleft-290"/>
          <p:cNvSpPr txBox="1"/>
          <p:nvPr/>
        </p:nvSpPr>
        <p:spPr>
          <a:xfrm>
            <a:off x="1234440" y="2359152"/>
            <a:ext cx="3017520" cy="292608"/>
          </a:xfrm>
          <a:prstGeom prst="rect">
            <a:avLst/>
          </a:prstGeom>
          <a:noFill/>
          <a:ln/>
        </p:spPr>
        <p:txBody>
          <a:bodyPr wrap="square" lIns="0" tIns="0" rIns="0" bIns="0" rtlCol="0" anchor="t"/>
          <a:lstStyle/>
          <a:p>
            <a:pPr indent="0" marL="0">
              <a:buNone/>
            </a:pPr>
            <a:r>
              <a:rPr lang="en-US" sz="1400" b="1" dirty="0">
                <a:solidFill>
                  <a:srgbClr val="0B1F4B"/>
                </a:solidFill>
                <a:latin typeface="Calibri" pitchFamily="34" charset="0"/>
                <a:ea typeface="Calibri" pitchFamily="34" charset="-122"/>
                <a:cs typeface="Calibri" pitchFamily="34" charset="-120"/>
              </a:rPr>
              <a:t>Directive 2005/36/CE</a:t>
            </a:r>
            <a:endParaRPr lang="en-US" sz="1400" dirty="0"/>
          </a:p>
        </p:txBody>
      </p:sp>
      <p:sp>
        <p:nvSpPr>
          <p:cNvPr id="13" name="A2-fadeleft-291"/>
          <p:cNvSpPr txBox="1"/>
          <p:nvPr/>
        </p:nvSpPr>
        <p:spPr>
          <a:xfrm>
            <a:off x="1234440" y="2651760"/>
            <a:ext cx="3017520" cy="548640"/>
          </a:xfrm>
          <a:prstGeom prst="rect">
            <a:avLst/>
          </a:prstGeom>
          <a:noFill/>
          <a:ln/>
        </p:spPr>
        <p:txBody>
          <a:bodyPr wrap="square" lIns="0" tIns="0" rIns="0" bIns="0" rtlCol="0" anchor="t"/>
          <a:lstStyle/>
          <a:p>
            <a:pPr indent="0" marL="0">
              <a:buNone/>
            </a:pPr>
            <a:r>
              <a:rPr lang="en-US" sz="1150" dirty="0">
                <a:solidFill>
                  <a:srgbClr val="5B6478"/>
                </a:solidFill>
                <a:latin typeface="Calibri" pitchFamily="34" charset="0"/>
                <a:ea typeface="Calibri" pitchFamily="34" charset="-122"/>
                <a:cs typeface="Calibri" pitchFamily="34" charset="-120"/>
              </a:rPr>
              <a:t>Diplômes reconnus : médecins, architectes, infirmiers…</a:t>
            </a:r>
            <a:endParaRPr lang="en-US" sz="1150" dirty="0"/>
          </a:p>
        </p:txBody>
      </p:sp>
      <p:sp>
        <p:nvSpPr>
          <p:cNvPr id="14" name="A3-zoom-292"/>
          <p:cNvSpPr/>
          <p:nvPr/>
        </p:nvSpPr>
        <p:spPr>
          <a:xfrm>
            <a:off x="457200" y="3429000"/>
            <a:ext cx="594360" cy="594360"/>
          </a:xfrm>
          <a:prstGeom prst="ellipse">
            <a:avLst/>
          </a:prstGeom>
          <a:solidFill>
            <a:srgbClr val="E3F5EC"/>
          </a:solidFill>
          <a:ln w="12700">
            <a:solidFill>
              <a:srgbClr val="E3F5EC"/>
            </a:solidFill>
            <a:prstDash val="solid"/>
          </a:ln>
        </p:spPr>
      </p:sp>
      <p:pic>
        <p:nvPicPr>
          <p:cNvPr id="15" name="A3-zoom-293" descr="preencoded.png">    </p:cNvPr>
          <p:cNvPicPr>
            <a:picLocks noChangeAspect="1"/>
          </p:cNvPicPr>
          <p:nvPr/>
        </p:nvPicPr>
        <p:blipFill>
          <a:blip r:embed="rId5"/>
          <a:stretch>
            <a:fillRect/>
          </a:stretch>
        </p:blipFill>
        <p:spPr>
          <a:xfrm>
            <a:off x="617677" y="3589477"/>
            <a:ext cx="273406" cy="273406"/>
          </a:xfrm>
          <a:prstGeom prst="rect">
            <a:avLst/>
          </a:prstGeom>
        </p:spPr>
      </p:pic>
      <p:sp>
        <p:nvSpPr>
          <p:cNvPr id="16" name="A3-fadeleft-294"/>
          <p:cNvSpPr txBox="1"/>
          <p:nvPr/>
        </p:nvSpPr>
        <p:spPr>
          <a:xfrm>
            <a:off x="1234440" y="3410712"/>
            <a:ext cx="3017520" cy="292608"/>
          </a:xfrm>
          <a:prstGeom prst="rect">
            <a:avLst/>
          </a:prstGeom>
          <a:noFill/>
          <a:ln/>
        </p:spPr>
        <p:txBody>
          <a:bodyPr wrap="square" lIns="0" tIns="0" rIns="0" bIns="0" rtlCol="0" anchor="t"/>
          <a:lstStyle/>
          <a:p>
            <a:pPr indent="0" marL="0">
              <a:buNone/>
            </a:pPr>
            <a:r>
              <a:rPr lang="en-US" sz="1400" b="1" dirty="0">
                <a:solidFill>
                  <a:srgbClr val="0B1F4B"/>
                </a:solidFill>
                <a:latin typeface="Calibri" pitchFamily="34" charset="0"/>
                <a:ea typeface="Calibri" pitchFamily="34" charset="-122"/>
                <a:cs typeface="Calibri" pitchFamily="34" charset="-120"/>
              </a:rPr>
              <a:t>« Passeport » financier</a:t>
            </a:r>
            <a:endParaRPr lang="en-US" sz="1400" dirty="0"/>
          </a:p>
        </p:txBody>
      </p:sp>
      <p:sp>
        <p:nvSpPr>
          <p:cNvPr id="17" name="A3-fadeleft-295"/>
          <p:cNvSpPr txBox="1"/>
          <p:nvPr/>
        </p:nvSpPr>
        <p:spPr>
          <a:xfrm>
            <a:off x="1234440" y="3703320"/>
            <a:ext cx="3017520" cy="548640"/>
          </a:xfrm>
          <a:prstGeom prst="rect">
            <a:avLst/>
          </a:prstGeom>
          <a:noFill/>
          <a:ln/>
        </p:spPr>
        <p:txBody>
          <a:bodyPr wrap="square" lIns="0" tIns="0" rIns="0" bIns="0" rtlCol="0" anchor="t"/>
          <a:lstStyle/>
          <a:p>
            <a:pPr indent="0" marL="0">
              <a:buNone/>
            </a:pPr>
            <a:r>
              <a:rPr lang="en-US" sz="1150" dirty="0">
                <a:solidFill>
                  <a:srgbClr val="5B6478"/>
                </a:solidFill>
                <a:latin typeface="Calibri" pitchFamily="34" charset="0"/>
                <a:ea typeface="Calibri" pitchFamily="34" charset="-122"/>
                <a:cs typeface="Calibri" pitchFamily="34" charset="-120"/>
              </a:rPr>
              <a:t>Une banque peut servir toute l'UE depuis un seul pays</a:t>
            </a:r>
            <a:endParaRPr lang="en-US" sz="1150" dirty="0"/>
          </a:p>
        </p:txBody>
      </p:sp>
      <p:sp>
        <p:nvSpPr>
          <p:cNvPr id="18" name="A4-fadeleft-296"/>
          <p:cNvSpPr/>
          <p:nvPr/>
        </p:nvSpPr>
        <p:spPr>
          <a:xfrm>
            <a:off x="4526280" y="1234440"/>
            <a:ext cx="4160520" cy="3429000"/>
          </a:xfrm>
          <a:prstGeom prst="roundRect">
            <a:avLst>
              <a:gd name="adj" fmla="val 3200"/>
            </a:avLst>
          </a:prstGeom>
          <a:solidFill>
            <a:srgbClr val="0B1F4B"/>
          </a:solidFill>
          <a:ln w="12700">
            <a:solidFill>
              <a:srgbClr val="0B1F4B"/>
            </a:solidFill>
            <a:prstDash val="solid"/>
          </a:ln>
          <a:effectLst>
            <a:outerShdw sx="100000" sy="100000" kx="0" ky="0" algn="bl" rotWithShape="0" blurRad="101600" dist="25400" dir="5400000">
              <a:srgbClr val="0B1F4B">
                <a:alpha val="12000"/>
              </a:srgbClr>
            </a:outerShdw>
          </a:effectLst>
        </p:spPr>
      </p:sp>
      <p:sp>
        <p:nvSpPr>
          <p:cNvPr id="19" name="A4-fade-297"/>
          <p:cNvSpPr txBox="1"/>
          <p:nvPr/>
        </p:nvSpPr>
        <p:spPr>
          <a:xfrm>
            <a:off x="4709160" y="1325880"/>
            <a:ext cx="3840480" cy="320040"/>
          </a:xfrm>
          <a:prstGeom prst="rect">
            <a:avLst/>
          </a:prstGeom>
          <a:noFill/>
          <a:ln/>
        </p:spPr>
        <p:txBody>
          <a:bodyPr wrap="square" lIns="0" tIns="0" rIns="0" bIns="0" rtlCol="0" anchor="t"/>
          <a:lstStyle/>
          <a:p>
            <a:pPr indent="0" marL="0">
              <a:buNone/>
            </a:pPr>
            <a:r>
              <a:rPr lang="en-US" sz="1400" b="1" dirty="0">
                <a:solidFill>
                  <a:srgbClr val="FFC21A"/>
                </a:solidFill>
                <a:latin typeface="Calibri" pitchFamily="34" charset="0"/>
                <a:ea typeface="Calibri" pitchFamily="34" charset="-122"/>
                <a:cs typeface="Calibri" pitchFamily="34" charset="-120"/>
              </a:rPr>
              <a:t>Brexit (2021) : le coût de la sortie</a:t>
            </a:r>
            <a:endParaRPr lang="en-US" sz="1400" dirty="0"/>
          </a:p>
        </p:txBody>
      </p:sp>
      <p:graphicFrame>
        <p:nvGraphicFramePr>
          <p:cNvPr id="20" name="A5-wipe-298" descr=""/>
          <p:cNvGraphicFramePr/>
          <p:nvPr/>
        </p:nvGraphicFramePr>
        <p:xfrm>
          <a:off x="4617720" y="1645920"/>
          <a:ext cx="3977640" cy="2377440"/>
        </p:xfrm>
        <a:graphic xmlns:a="http://schemas.openxmlformats.org/drawingml/2006/main">
          <a:graphicData uri="http://schemas.openxmlformats.org/drawingml/2006/chart">
            <c:chart xmlns:c="http://schemas.openxmlformats.org/drawingml/2006/chart" r:id="rId6"/>
          </a:graphicData>
        </a:graphic>
      </p:graphicFrame>
      <p:sp>
        <p:nvSpPr>
          <p:cNvPr id="21" name="A6-fade-299"/>
          <p:cNvSpPr txBox="1"/>
          <p:nvPr/>
        </p:nvSpPr>
        <p:spPr>
          <a:xfrm>
            <a:off x="4709160" y="4023360"/>
            <a:ext cx="3840480" cy="548640"/>
          </a:xfrm>
          <a:prstGeom prst="rect">
            <a:avLst/>
          </a:prstGeom>
          <a:noFill/>
          <a:ln/>
        </p:spPr>
        <p:txBody>
          <a:bodyPr wrap="square" lIns="0" tIns="0" rIns="0" bIns="0" rtlCol="0" anchor="t"/>
          <a:lstStyle/>
          <a:p>
            <a:pPr indent="0" marL="0">
              <a:buNone/>
            </a:pPr>
            <a:r>
              <a:rPr lang="en-US" sz="1050" i="1" dirty="0">
                <a:solidFill>
                  <a:srgbClr val="C9D5F0"/>
                </a:solidFill>
                <a:latin typeface="Calibri" pitchFamily="34" charset="0"/>
                <a:ea typeface="Calibri" pitchFamily="34" charset="-122"/>
                <a:cs typeface="Calibri" pitchFamily="34" charset="-120"/>
              </a:rPr>
              <a:t>Estimations : de −2 % à −10 % de PIB selon les études (DG Trésor). Toutes indiquent un coût.</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77" fill="hold">
                      <p:stCondLst>
                        <p:cond delay="indefinite"/>
                        <p:cond evt="onBegin" delay="0">
                          <p:tn val="2"/>
                        </p:cond>
                      </p:stCondLst>
                      <p:childTnLst>
                        <p:par>
                          <p:cTn id="78" fill="hold">
                            <p:stCondLst>
                              <p:cond delay="0"/>
                            </p:stCondLst>
                            <p:childTnLst>
                              <p:par>
                                <p:cTn id="6" presetID="53" presetClass="entr" presetSubtype="16" fill="hold" grpId="0" nodeType="withEffect">
                                  <p:stCondLst>
                                    <p:cond delay="380"/>
                                  </p:stCondLst>
                                  <p:childTnLst>
                                    <p:set>
                                      <p:cBhvr>
                                        <p:cTn id="7" dur="1" fill="hold">
                                          <p:stCondLst>
                                            <p:cond delay="0"/>
                                          </p:stCondLst>
                                        </p:cTn>
                                        <p:tgtEl>
                                          <p:spTgt spid="6"/>
                                        </p:tgtEl>
                                        <p:attrNameLst>
                                          <p:attrName>style.visibility</p:attrName>
                                        </p:attrNameLst>
                                      </p:cBhvr>
                                      <p:to>
                                        <p:strVal val="visible"/>
                                      </p:to>
                                    </p:set>
                                    <p:anim calcmode="lin" valueType="num">
                                      <p:cBhvr additive="base">
                                        <p:cTn id="3" dur="550" fill="hold"/>
                                        <p:tgtEl>
                                          <p:spTgt spid="6"/>
                                        </p:tgtEl>
                                        <p:attrNameLst>
                                          <p:attrName>ppt_w</p:attrName>
                                        </p:attrNameLst>
                                      </p:cBhvr>
                                      <p:tavLst>
                                        <p:tav tm="0">
                                          <p:val>
                                            <p:strVal val="0"/>
                                          </p:val>
                                        </p:tav>
                                        <p:tav tm="100000">
                                          <p:val>
                                            <p:strVal val="#ppt_w"/>
                                          </p:val>
                                        </p:tav>
                                      </p:tavLst>
                                    </p:anim>
                                    <p:anim calcmode="lin" valueType="num">
                                      <p:cBhvr additive="base">
                                        <p:cTn id="4" dur="550" fill="hold"/>
                                        <p:tgtEl>
                                          <p:spTgt spid="6"/>
                                        </p:tgtEl>
                                        <p:attrNameLst>
                                          <p:attrName>ppt_h</p:attrName>
                                        </p:attrNameLst>
                                      </p:cBhvr>
                                      <p:tavLst>
                                        <p:tav tm="0">
                                          <p:val>
                                            <p:strVal val="0"/>
                                          </p:val>
                                        </p:tav>
                                        <p:tav tm="100000">
                                          <p:val>
                                            <p:strVal val="#ppt_h"/>
                                          </p:val>
                                        </p:tav>
                                      </p:tavLst>
                                    </p:anim>
                                    <p:animEffect transition="in" filter="fade">
                                      <p:cBhvr>
                                        <p:cTn id="5" dur="550"/>
                                        <p:tgtEl>
                                          <p:spTgt spid="6"/>
                                        </p:tgtEl>
                                      </p:cBhvr>
                                    </p:animEffect>
                                  </p:childTnLst>
                                </p:cTn>
                              </p:par>
                              <p:par>
                                <p:cTn id="11" presetID="53" presetClass="entr" presetSubtype="16" fill="hold" grpId="0" nodeType="withEffect">
                                  <p:stCondLst>
                                    <p:cond delay="38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8" dur="550" fill="hold"/>
                                        <p:tgtEl>
                                          <p:spTgt spid="7"/>
                                        </p:tgtEl>
                                        <p:attrNameLst>
                                          <p:attrName>ppt_w</p:attrName>
                                        </p:attrNameLst>
                                      </p:cBhvr>
                                      <p:tavLst>
                                        <p:tav tm="0">
                                          <p:val>
                                            <p:strVal val="0"/>
                                          </p:val>
                                        </p:tav>
                                        <p:tav tm="100000">
                                          <p:val>
                                            <p:strVal val="#ppt_w"/>
                                          </p:val>
                                        </p:tav>
                                      </p:tavLst>
                                    </p:anim>
                                    <p:anim calcmode="lin" valueType="num">
                                      <p:cBhvr additive="base">
                                        <p:cTn id="9" dur="550" fill="hold"/>
                                        <p:tgtEl>
                                          <p:spTgt spid="7"/>
                                        </p:tgtEl>
                                        <p:attrNameLst>
                                          <p:attrName>ppt_h</p:attrName>
                                        </p:attrNameLst>
                                      </p:cBhvr>
                                      <p:tavLst>
                                        <p:tav tm="0">
                                          <p:val>
                                            <p:strVal val="0"/>
                                          </p:val>
                                        </p:tav>
                                        <p:tav tm="100000">
                                          <p:val>
                                            <p:strVal val="#ppt_h"/>
                                          </p:val>
                                        </p:tav>
                                      </p:tavLst>
                                    </p:anim>
                                    <p:animEffect transition="in" filter="fade">
                                      <p:cBhvr>
                                        <p:cTn id="10" dur="550"/>
                                        <p:tgtEl>
                                          <p:spTgt spid="7"/>
                                        </p:tgtEl>
                                      </p:cBhvr>
                                    </p:animEffect>
                                  </p:childTnLst>
                                </p:cTn>
                              </p:par>
                              <p:par>
                                <p:cTn id="16" presetID="42" presetClass="entr" presetSubtype="0" fill="hold" grpId="0" nodeType="withEffect">
                                  <p:stCondLst>
                                    <p:cond delay="380"/>
                                  </p:stCondLst>
                                  <p:childTnLst>
                                    <p:set>
                                      <p:cBhvr>
                                        <p:cTn id="17" dur="1" fill="hold">
                                          <p:stCondLst>
                                            <p:cond delay="0"/>
                                          </p:stCondLst>
                                        </p:cTn>
                                        <p:tgtEl>
                                          <p:spTgt spid="8"/>
                                        </p:tgtEl>
                                        <p:attrNameLst>
                                          <p:attrName>style.visibility</p:attrName>
                                        </p:attrNameLst>
                                      </p:cBhvr>
                                      <p:to>
                                        <p:strVal val="visible"/>
                                      </p:to>
                                    </p:set>
                                    <p:animEffect transition="in" filter="fade">
                                      <p:cBhvr>
                                        <p:cTn id="13" dur="650"/>
                                        <p:tgtEl>
                                          <p:spTgt spid="8"/>
                                        </p:tgtEl>
                                      </p:cBhvr>
                                    </p:animEffect>
                                    <p:anim calcmode="lin" valueType="num">
                                      <p:cBhvr additive="base">
                                        <p:cTn id="14" dur="650" fill="hold"/>
                                        <p:tgtEl>
                                          <p:spTgt spid="8"/>
                                        </p:tgtEl>
                                        <p:attrNameLst>
                                          <p:attrName>ppt_x</p:attrName>
                                        </p:attrNameLst>
                                      </p:cBhvr>
                                      <p:tavLst>
                                        <p:tav tm="0">
                                          <p:val>
                                            <p:strVal val="#ppt_x-.06"/>
                                          </p:val>
                                        </p:tav>
                                        <p:tav tm="100000">
                                          <p:val>
                                            <p:strVal val="#ppt_x"/>
                                          </p:val>
                                        </p:tav>
                                      </p:tavLst>
                                    </p:anim>
                                    <p:anim calcmode="lin" valueType="num">
                                      <p:cBhvr additive="base">
                                        <p:cTn id="15" dur="650" fill="hold"/>
                                        <p:tgtEl>
                                          <p:spTgt spid="8"/>
                                        </p:tgtEl>
                                        <p:attrNameLst>
                                          <p:attrName>ppt_y</p:attrName>
                                        </p:attrNameLst>
                                      </p:cBhvr>
                                      <p:tavLst>
                                        <p:tav tm="0">
                                          <p:val>
                                            <p:strVal val="#ppt_y"/>
                                          </p:val>
                                        </p:tav>
                                        <p:tav tm="100000">
                                          <p:val>
                                            <p:strVal val="#ppt_y"/>
                                          </p:val>
                                        </p:tav>
                                      </p:tavLst>
                                    </p:anim>
                                  </p:childTnLst>
                                </p:cTn>
                              </p:par>
                              <p:par>
                                <p:cTn id="21" presetID="42" presetClass="entr" presetSubtype="0" fill="hold" grpId="0" nodeType="withEffect">
                                  <p:stCondLst>
                                    <p:cond delay="380"/>
                                  </p:stCondLst>
                                  <p:childTnLst>
                                    <p:set>
                                      <p:cBhvr>
                                        <p:cTn id="22" dur="1" fill="hold">
                                          <p:stCondLst>
                                            <p:cond delay="0"/>
                                          </p:stCondLst>
                                        </p:cTn>
                                        <p:tgtEl>
                                          <p:spTgt spid="9"/>
                                        </p:tgtEl>
                                        <p:attrNameLst>
                                          <p:attrName>style.visibility</p:attrName>
                                        </p:attrNameLst>
                                      </p:cBhvr>
                                      <p:to>
                                        <p:strVal val="visible"/>
                                      </p:to>
                                    </p:set>
                                    <p:animEffect transition="in" filter="fade">
                                      <p:cBhvr>
                                        <p:cTn id="18" dur="650"/>
                                        <p:tgtEl>
                                          <p:spTgt spid="9"/>
                                        </p:tgtEl>
                                      </p:cBhvr>
                                    </p:animEffect>
                                    <p:anim calcmode="lin" valueType="num">
                                      <p:cBhvr additive="base">
                                        <p:cTn id="19" dur="650" fill="hold"/>
                                        <p:tgtEl>
                                          <p:spTgt spid="9"/>
                                        </p:tgtEl>
                                        <p:attrNameLst>
                                          <p:attrName>ppt_x</p:attrName>
                                        </p:attrNameLst>
                                      </p:cBhvr>
                                      <p:tavLst>
                                        <p:tav tm="0">
                                          <p:val>
                                            <p:strVal val="#ppt_x-.06"/>
                                          </p:val>
                                        </p:tav>
                                        <p:tav tm="100000">
                                          <p:val>
                                            <p:strVal val="#ppt_x"/>
                                          </p:val>
                                        </p:tav>
                                      </p:tavLst>
                                    </p:anim>
                                    <p:anim calcmode="lin" valueType="num">
                                      <p:cBhvr additive="base">
                                        <p:cTn id="20" dur="650" fill="hold"/>
                                        <p:tgtEl>
                                          <p:spTgt spid="9"/>
                                        </p:tgtEl>
                                        <p:attrNameLst>
                                          <p:attrName>ppt_y</p:attrName>
                                        </p:attrNameLst>
                                      </p:cBhvr>
                                      <p:tavLst>
                                        <p:tav tm="0">
                                          <p:val>
                                            <p:strVal val="#ppt_y"/>
                                          </p:val>
                                        </p:tav>
                                        <p:tav tm="100000">
                                          <p:val>
                                            <p:strVal val="#ppt_y"/>
                                          </p:val>
                                        </p:tav>
                                      </p:tavLst>
                                    </p:anim>
                                  </p:childTnLst>
                                </p:cTn>
                              </p:par>
                              <p:par>
                                <p:cTn id="26" presetID="53" presetClass="entr" presetSubtype="16" fill="hold" grpId="0" nodeType="withEffect">
                                  <p:stCondLst>
                                    <p:cond delay="76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3" dur="550" fill="hold"/>
                                        <p:tgtEl>
                                          <p:spTgt spid="10"/>
                                        </p:tgtEl>
                                        <p:attrNameLst>
                                          <p:attrName>ppt_w</p:attrName>
                                        </p:attrNameLst>
                                      </p:cBhvr>
                                      <p:tavLst>
                                        <p:tav tm="0">
                                          <p:val>
                                            <p:strVal val="0"/>
                                          </p:val>
                                        </p:tav>
                                        <p:tav tm="100000">
                                          <p:val>
                                            <p:strVal val="#ppt_w"/>
                                          </p:val>
                                        </p:tav>
                                      </p:tavLst>
                                    </p:anim>
                                    <p:anim calcmode="lin" valueType="num">
                                      <p:cBhvr additive="base">
                                        <p:cTn id="24" dur="550" fill="hold"/>
                                        <p:tgtEl>
                                          <p:spTgt spid="10"/>
                                        </p:tgtEl>
                                        <p:attrNameLst>
                                          <p:attrName>ppt_h</p:attrName>
                                        </p:attrNameLst>
                                      </p:cBhvr>
                                      <p:tavLst>
                                        <p:tav tm="0">
                                          <p:val>
                                            <p:strVal val="0"/>
                                          </p:val>
                                        </p:tav>
                                        <p:tav tm="100000">
                                          <p:val>
                                            <p:strVal val="#ppt_h"/>
                                          </p:val>
                                        </p:tav>
                                      </p:tavLst>
                                    </p:anim>
                                    <p:animEffect transition="in" filter="fade">
                                      <p:cBhvr>
                                        <p:cTn id="25" dur="550"/>
                                        <p:tgtEl>
                                          <p:spTgt spid="10"/>
                                        </p:tgtEl>
                                      </p:cBhvr>
                                    </p:animEffect>
                                  </p:childTnLst>
                                </p:cTn>
                              </p:par>
                              <p:par>
                                <p:cTn id="31" presetID="53" presetClass="entr" presetSubtype="16" fill="hold" grpId="0" nodeType="withEffect">
                                  <p:stCondLst>
                                    <p:cond delay="76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28" dur="550" fill="hold"/>
                                        <p:tgtEl>
                                          <p:spTgt spid="11"/>
                                        </p:tgtEl>
                                        <p:attrNameLst>
                                          <p:attrName>ppt_w</p:attrName>
                                        </p:attrNameLst>
                                      </p:cBhvr>
                                      <p:tavLst>
                                        <p:tav tm="0">
                                          <p:val>
                                            <p:strVal val="0"/>
                                          </p:val>
                                        </p:tav>
                                        <p:tav tm="100000">
                                          <p:val>
                                            <p:strVal val="#ppt_w"/>
                                          </p:val>
                                        </p:tav>
                                      </p:tavLst>
                                    </p:anim>
                                    <p:anim calcmode="lin" valueType="num">
                                      <p:cBhvr additive="base">
                                        <p:cTn id="29" dur="550" fill="hold"/>
                                        <p:tgtEl>
                                          <p:spTgt spid="11"/>
                                        </p:tgtEl>
                                        <p:attrNameLst>
                                          <p:attrName>ppt_h</p:attrName>
                                        </p:attrNameLst>
                                      </p:cBhvr>
                                      <p:tavLst>
                                        <p:tav tm="0">
                                          <p:val>
                                            <p:strVal val="0"/>
                                          </p:val>
                                        </p:tav>
                                        <p:tav tm="100000">
                                          <p:val>
                                            <p:strVal val="#ppt_h"/>
                                          </p:val>
                                        </p:tav>
                                      </p:tavLst>
                                    </p:anim>
                                    <p:animEffect transition="in" filter="fade">
                                      <p:cBhvr>
                                        <p:cTn id="30" dur="550"/>
                                        <p:tgtEl>
                                          <p:spTgt spid="11"/>
                                        </p:tgtEl>
                                      </p:cBhvr>
                                    </p:animEffect>
                                  </p:childTnLst>
                                </p:cTn>
                              </p:par>
                              <p:par>
                                <p:cTn id="36" presetID="42" presetClass="entr" presetSubtype="0" fill="hold" grpId="0" nodeType="withEffect">
                                  <p:stCondLst>
                                    <p:cond delay="760"/>
                                  </p:stCondLst>
                                  <p:childTnLst>
                                    <p:set>
                                      <p:cBhvr>
                                        <p:cTn id="37" dur="1" fill="hold">
                                          <p:stCondLst>
                                            <p:cond delay="0"/>
                                          </p:stCondLst>
                                        </p:cTn>
                                        <p:tgtEl>
                                          <p:spTgt spid="12"/>
                                        </p:tgtEl>
                                        <p:attrNameLst>
                                          <p:attrName>style.visibility</p:attrName>
                                        </p:attrNameLst>
                                      </p:cBhvr>
                                      <p:to>
                                        <p:strVal val="visible"/>
                                      </p:to>
                                    </p:set>
                                    <p:animEffect transition="in" filter="fade">
                                      <p:cBhvr>
                                        <p:cTn id="33" dur="650"/>
                                        <p:tgtEl>
                                          <p:spTgt spid="12"/>
                                        </p:tgtEl>
                                      </p:cBhvr>
                                    </p:animEffect>
                                    <p:anim calcmode="lin" valueType="num">
                                      <p:cBhvr additive="base">
                                        <p:cTn id="34" dur="650" fill="hold"/>
                                        <p:tgtEl>
                                          <p:spTgt spid="12"/>
                                        </p:tgtEl>
                                        <p:attrNameLst>
                                          <p:attrName>ppt_x</p:attrName>
                                        </p:attrNameLst>
                                      </p:cBhvr>
                                      <p:tavLst>
                                        <p:tav tm="0">
                                          <p:val>
                                            <p:strVal val="#ppt_x-.06"/>
                                          </p:val>
                                        </p:tav>
                                        <p:tav tm="100000">
                                          <p:val>
                                            <p:strVal val="#ppt_x"/>
                                          </p:val>
                                        </p:tav>
                                      </p:tavLst>
                                    </p:anim>
                                    <p:anim calcmode="lin" valueType="num">
                                      <p:cBhvr additive="base">
                                        <p:cTn id="35" dur="650" fill="hold"/>
                                        <p:tgtEl>
                                          <p:spTgt spid="12"/>
                                        </p:tgtEl>
                                        <p:attrNameLst>
                                          <p:attrName>ppt_y</p:attrName>
                                        </p:attrNameLst>
                                      </p:cBhvr>
                                      <p:tavLst>
                                        <p:tav tm="0">
                                          <p:val>
                                            <p:strVal val="#ppt_y"/>
                                          </p:val>
                                        </p:tav>
                                        <p:tav tm="100000">
                                          <p:val>
                                            <p:strVal val="#ppt_y"/>
                                          </p:val>
                                        </p:tav>
                                      </p:tavLst>
                                    </p:anim>
                                  </p:childTnLst>
                                </p:cTn>
                              </p:par>
                              <p:par>
                                <p:cTn id="41" presetID="42" presetClass="entr" presetSubtype="0" fill="hold" grpId="0" nodeType="withEffect">
                                  <p:stCondLst>
                                    <p:cond delay="760"/>
                                  </p:stCondLst>
                                  <p:childTnLst>
                                    <p:set>
                                      <p:cBhvr>
                                        <p:cTn id="42" dur="1" fill="hold">
                                          <p:stCondLst>
                                            <p:cond delay="0"/>
                                          </p:stCondLst>
                                        </p:cTn>
                                        <p:tgtEl>
                                          <p:spTgt spid="13"/>
                                        </p:tgtEl>
                                        <p:attrNameLst>
                                          <p:attrName>style.visibility</p:attrName>
                                        </p:attrNameLst>
                                      </p:cBhvr>
                                      <p:to>
                                        <p:strVal val="visible"/>
                                      </p:to>
                                    </p:set>
                                    <p:animEffect transition="in" filter="fade">
                                      <p:cBhvr>
                                        <p:cTn id="38" dur="650"/>
                                        <p:tgtEl>
                                          <p:spTgt spid="13"/>
                                        </p:tgtEl>
                                      </p:cBhvr>
                                    </p:animEffect>
                                    <p:anim calcmode="lin" valueType="num">
                                      <p:cBhvr additive="base">
                                        <p:cTn id="39" dur="650" fill="hold"/>
                                        <p:tgtEl>
                                          <p:spTgt spid="13"/>
                                        </p:tgtEl>
                                        <p:attrNameLst>
                                          <p:attrName>ppt_x</p:attrName>
                                        </p:attrNameLst>
                                      </p:cBhvr>
                                      <p:tavLst>
                                        <p:tav tm="0">
                                          <p:val>
                                            <p:strVal val="#ppt_x-.06"/>
                                          </p:val>
                                        </p:tav>
                                        <p:tav tm="100000">
                                          <p:val>
                                            <p:strVal val="#ppt_x"/>
                                          </p:val>
                                        </p:tav>
                                      </p:tavLst>
                                    </p:anim>
                                    <p:anim calcmode="lin" valueType="num">
                                      <p:cBhvr additive="base">
                                        <p:cTn id="40" dur="650" fill="hold"/>
                                        <p:tgtEl>
                                          <p:spTgt spid="13"/>
                                        </p:tgtEl>
                                        <p:attrNameLst>
                                          <p:attrName>ppt_y</p:attrName>
                                        </p:attrNameLst>
                                      </p:cBhvr>
                                      <p:tavLst>
                                        <p:tav tm="0">
                                          <p:val>
                                            <p:strVal val="#ppt_y"/>
                                          </p:val>
                                        </p:tav>
                                        <p:tav tm="100000">
                                          <p:val>
                                            <p:strVal val="#ppt_y"/>
                                          </p:val>
                                        </p:tav>
                                      </p:tavLst>
                                    </p:anim>
                                  </p:childTnLst>
                                </p:cTn>
                              </p:par>
                              <p:par>
                                <p:cTn id="46" presetID="53" presetClass="entr" presetSubtype="16" fill="hold" grpId="0" nodeType="withEffect">
                                  <p:stCondLst>
                                    <p:cond delay="1140"/>
                                  </p:stCondLst>
                                  <p:childTnLst>
                                    <p:set>
                                      <p:cBhvr>
                                        <p:cTn id="47" dur="1" fill="hold">
                                          <p:stCondLst>
                                            <p:cond delay="0"/>
                                          </p:stCondLst>
                                        </p:cTn>
                                        <p:tgtEl>
                                          <p:spTgt spid="14"/>
                                        </p:tgtEl>
                                        <p:attrNameLst>
                                          <p:attrName>style.visibility</p:attrName>
                                        </p:attrNameLst>
                                      </p:cBhvr>
                                      <p:to>
                                        <p:strVal val="visible"/>
                                      </p:to>
                                    </p:set>
                                    <p:anim calcmode="lin" valueType="num">
                                      <p:cBhvr additive="base">
                                        <p:cTn id="43" dur="550" fill="hold"/>
                                        <p:tgtEl>
                                          <p:spTgt spid="14"/>
                                        </p:tgtEl>
                                        <p:attrNameLst>
                                          <p:attrName>ppt_w</p:attrName>
                                        </p:attrNameLst>
                                      </p:cBhvr>
                                      <p:tavLst>
                                        <p:tav tm="0">
                                          <p:val>
                                            <p:strVal val="0"/>
                                          </p:val>
                                        </p:tav>
                                        <p:tav tm="100000">
                                          <p:val>
                                            <p:strVal val="#ppt_w"/>
                                          </p:val>
                                        </p:tav>
                                      </p:tavLst>
                                    </p:anim>
                                    <p:anim calcmode="lin" valueType="num">
                                      <p:cBhvr additive="base">
                                        <p:cTn id="44" dur="550" fill="hold"/>
                                        <p:tgtEl>
                                          <p:spTgt spid="14"/>
                                        </p:tgtEl>
                                        <p:attrNameLst>
                                          <p:attrName>ppt_h</p:attrName>
                                        </p:attrNameLst>
                                      </p:cBhvr>
                                      <p:tavLst>
                                        <p:tav tm="0">
                                          <p:val>
                                            <p:strVal val="0"/>
                                          </p:val>
                                        </p:tav>
                                        <p:tav tm="100000">
                                          <p:val>
                                            <p:strVal val="#ppt_h"/>
                                          </p:val>
                                        </p:tav>
                                      </p:tavLst>
                                    </p:anim>
                                    <p:animEffect transition="in" filter="fade">
                                      <p:cBhvr>
                                        <p:cTn id="45" dur="550"/>
                                        <p:tgtEl>
                                          <p:spTgt spid="14"/>
                                        </p:tgtEl>
                                      </p:cBhvr>
                                    </p:animEffect>
                                  </p:childTnLst>
                                </p:cTn>
                              </p:par>
                              <p:par>
                                <p:cTn id="51" presetID="53" presetClass="entr" presetSubtype="16" fill="hold" grpId="0" nodeType="withEffect">
                                  <p:stCondLst>
                                    <p:cond delay="1140"/>
                                  </p:stCondLst>
                                  <p:childTnLst>
                                    <p:set>
                                      <p:cBhvr>
                                        <p:cTn id="52" dur="1" fill="hold">
                                          <p:stCondLst>
                                            <p:cond delay="0"/>
                                          </p:stCondLst>
                                        </p:cTn>
                                        <p:tgtEl>
                                          <p:spTgt spid="15"/>
                                        </p:tgtEl>
                                        <p:attrNameLst>
                                          <p:attrName>style.visibility</p:attrName>
                                        </p:attrNameLst>
                                      </p:cBhvr>
                                      <p:to>
                                        <p:strVal val="visible"/>
                                      </p:to>
                                    </p:set>
                                    <p:anim calcmode="lin" valueType="num">
                                      <p:cBhvr additive="base">
                                        <p:cTn id="48" dur="550" fill="hold"/>
                                        <p:tgtEl>
                                          <p:spTgt spid="15"/>
                                        </p:tgtEl>
                                        <p:attrNameLst>
                                          <p:attrName>ppt_w</p:attrName>
                                        </p:attrNameLst>
                                      </p:cBhvr>
                                      <p:tavLst>
                                        <p:tav tm="0">
                                          <p:val>
                                            <p:strVal val="0"/>
                                          </p:val>
                                        </p:tav>
                                        <p:tav tm="100000">
                                          <p:val>
                                            <p:strVal val="#ppt_w"/>
                                          </p:val>
                                        </p:tav>
                                      </p:tavLst>
                                    </p:anim>
                                    <p:anim calcmode="lin" valueType="num">
                                      <p:cBhvr additive="base">
                                        <p:cTn id="49" dur="550" fill="hold"/>
                                        <p:tgtEl>
                                          <p:spTgt spid="15"/>
                                        </p:tgtEl>
                                        <p:attrNameLst>
                                          <p:attrName>ppt_h</p:attrName>
                                        </p:attrNameLst>
                                      </p:cBhvr>
                                      <p:tavLst>
                                        <p:tav tm="0">
                                          <p:val>
                                            <p:strVal val="0"/>
                                          </p:val>
                                        </p:tav>
                                        <p:tav tm="100000">
                                          <p:val>
                                            <p:strVal val="#ppt_h"/>
                                          </p:val>
                                        </p:tav>
                                      </p:tavLst>
                                    </p:anim>
                                    <p:animEffect transition="in" filter="fade">
                                      <p:cBhvr>
                                        <p:cTn id="50" dur="550"/>
                                        <p:tgtEl>
                                          <p:spTgt spid="15"/>
                                        </p:tgtEl>
                                      </p:cBhvr>
                                    </p:animEffect>
                                  </p:childTnLst>
                                </p:cTn>
                              </p:par>
                              <p:par>
                                <p:cTn id="56" presetID="42" presetClass="entr" presetSubtype="0" fill="hold" grpId="0" nodeType="withEffect">
                                  <p:stCondLst>
                                    <p:cond delay="1140"/>
                                  </p:stCondLst>
                                  <p:childTnLst>
                                    <p:set>
                                      <p:cBhvr>
                                        <p:cTn id="57" dur="1" fill="hold">
                                          <p:stCondLst>
                                            <p:cond delay="0"/>
                                          </p:stCondLst>
                                        </p:cTn>
                                        <p:tgtEl>
                                          <p:spTgt spid="16"/>
                                        </p:tgtEl>
                                        <p:attrNameLst>
                                          <p:attrName>style.visibility</p:attrName>
                                        </p:attrNameLst>
                                      </p:cBhvr>
                                      <p:to>
                                        <p:strVal val="visible"/>
                                      </p:to>
                                    </p:set>
                                    <p:animEffect transition="in" filter="fade">
                                      <p:cBhvr>
                                        <p:cTn id="53" dur="650"/>
                                        <p:tgtEl>
                                          <p:spTgt spid="16"/>
                                        </p:tgtEl>
                                      </p:cBhvr>
                                    </p:animEffect>
                                    <p:anim calcmode="lin" valueType="num">
                                      <p:cBhvr additive="base">
                                        <p:cTn id="54" dur="650" fill="hold"/>
                                        <p:tgtEl>
                                          <p:spTgt spid="16"/>
                                        </p:tgtEl>
                                        <p:attrNameLst>
                                          <p:attrName>ppt_x</p:attrName>
                                        </p:attrNameLst>
                                      </p:cBhvr>
                                      <p:tavLst>
                                        <p:tav tm="0">
                                          <p:val>
                                            <p:strVal val="#ppt_x-.06"/>
                                          </p:val>
                                        </p:tav>
                                        <p:tav tm="100000">
                                          <p:val>
                                            <p:strVal val="#ppt_x"/>
                                          </p:val>
                                        </p:tav>
                                      </p:tavLst>
                                    </p:anim>
                                    <p:anim calcmode="lin" valueType="num">
                                      <p:cBhvr additive="base">
                                        <p:cTn id="55" dur="650" fill="hold"/>
                                        <p:tgtEl>
                                          <p:spTgt spid="16"/>
                                        </p:tgtEl>
                                        <p:attrNameLst>
                                          <p:attrName>ppt_y</p:attrName>
                                        </p:attrNameLst>
                                      </p:cBhvr>
                                      <p:tavLst>
                                        <p:tav tm="0">
                                          <p:val>
                                            <p:strVal val="#ppt_y"/>
                                          </p:val>
                                        </p:tav>
                                        <p:tav tm="100000">
                                          <p:val>
                                            <p:strVal val="#ppt_y"/>
                                          </p:val>
                                        </p:tav>
                                      </p:tavLst>
                                    </p:anim>
                                  </p:childTnLst>
                                </p:cTn>
                              </p:par>
                              <p:par>
                                <p:cTn id="61" presetID="42" presetClass="entr" presetSubtype="0" fill="hold" grpId="0" nodeType="withEffect">
                                  <p:stCondLst>
                                    <p:cond delay="1140"/>
                                  </p:stCondLst>
                                  <p:childTnLst>
                                    <p:set>
                                      <p:cBhvr>
                                        <p:cTn id="62" dur="1" fill="hold">
                                          <p:stCondLst>
                                            <p:cond delay="0"/>
                                          </p:stCondLst>
                                        </p:cTn>
                                        <p:tgtEl>
                                          <p:spTgt spid="17"/>
                                        </p:tgtEl>
                                        <p:attrNameLst>
                                          <p:attrName>style.visibility</p:attrName>
                                        </p:attrNameLst>
                                      </p:cBhvr>
                                      <p:to>
                                        <p:strVal val="visible"/>
                                      </p:to>
                                    </p:set>
                                    <p:animEffect transition="in" filter="fade">
                                      <p:cBhvr>
                                        <p:cTn id="58" dur="650"/>
                                        <p:tgtEl>
                                          <p:spTgt spid="17"/>
                                        </p:tgtEl>
                                      </p:cBhvr>
                                    </p:animEffect>
                                    <p:anim calcmode="lin" valueType="num">
                                      <p:cBhvr additive="base">
                                        <p:cTn id="59" dur="650" fill="hold"/>
                                        <p:tgtEl>
                                          <p:spTgt spid="17"/>
                                        </p:tgtEl>
                                        <p:attrNameLst>
                                          <p:attrName>ppt_x</p:attrName>
                                        </p:attrNameLst>
                                      </p:cBhvr>
                                      <p:tavLst>
                                        <p:tav tm="0">
                                          <p:val>
                                            <p:strVal val="#ppt_x-.06"/>
                                          </p:val>
                                        </p:tav>
                                        <p:tav tm="100000">
                                          <p:val>
                                            <p:strVal val="#ppt_x"/>
                                          </p:val>
                                        </p:tav>
                                      </p:tavLst>
                                    </p:anim>
                                    <p:anim calcmode="lin" valueType="num">
                                      <p:cBhvr additive="base">
                                        <p:cTn id="60" dur="650" fill="hold"/>
                                        <p:tgtEl>
                                          <p:spTgt spid="17"/>
                                        </p:tgtEl>
                                        <p:attrNameLst>
                                          <p:attrName>ppt_y</p:attrName>
                                        </p:attrNameLst>
                                      </p:cBhvr>
                                      <p:tavLst>
                                        <p:tav tm="0">
                                          <p:val>
                                            <p:strVal val="#ppt_y"/>
                                          </p:val>
                                        </p:tav>
                                        <p:tav tm="100000">
                                          <p:val>
                                            <p:strVal val="#ppt_y"/>
                                          </p:val>
                                        </p:tav>
                                      </p:tavLst>
                                    </p:anim>
                                  </p:childTnLst>
                                </p:cTn>
                              </p:par>
                              <p:par>
                                <p:cTn id="66" presetID="42" presetClass="entr" presetSubtype="0" fill="hold" grpId="0" nodeType="withEffect">
                                  <p:stCondLst>
                                    <p:cond delay="1520"/>
                                  </p:stCondLst>
                                  <p:childTnLst>
                                    <p:set>
                                      <p:cBhvr>
                                        <p:cTn id="67" dur="1" fill="hold">
                                          <p:stCondLst>
                                            <p:cond delay="0"/>
                                          </p:stCondLst>
                                        </p:cTn>
                                        <p:tgtEl>
                                          <p:spTgt spid="18"/>
                                        </p:tgtEl>
                                        <p:attrNameLst>
                                          <p:attrName>style.visibility</p:attrName>
                                        </p:attrNameLst>
                                      </p:cBhvr>
                                      <p:to>
                                        <p:strVal val="visible"/>
                                      </p:to>
                                    </p:set>
                                    <p:animEffect transition="in" filter="fade">
                                      <p:cBhvr>
                                        <p:cTn id="63" dur="650"/>
                                        <p:tgtEl>
                                          <p:spTgt spid="18"/>
                                        </p:tgtEl>
                                      </p:cBhvr>
                                    </p:animEffect>
                                    <p:anim calcmode="lin" valueType="num">
                                      <p:cBhvr additive="base">
                                        <p:cTn id="64" dur="650" fill="hold"/>
                                        <p:tgtEl>
                                          <p:spTgt spid="18"/>
                                        </p:tgtEl>
                                        <p:attrNameLst>
                                          <p:attrName>ppt_x</p:attrName>
                                        </p:attrNameLst>
                                      </p:cBhvr>
                                      <p:tavLst>
                                        <p:tav tm="0">
                                          <p:val>
                                            <p:strVal val="#ppt_x-.06"/>
                                          </p:val>
                                        </p:tav>
                                        <p:tav tm="100000">
                                          <p:val>
                                            <p:strVal val="#ppt_x"/>
                                          </p:val>
                                        </p:tav>
                                      </p:tavLst>
                                    </p:anim>
                                    <p:anim calcmode="lin" valueType="num">
                                      <p:cBhvr additive="base">
                                        <p:cTn id="65" dur="650" fill="hold"/>
                                        <p:tgtEl>
                                          <p:spTgt spid="18"/>
                                        </p:tgtEl>
                                        <p:attrNameLst>
                                          <p:attrName>ppt_y</p:attrName>
                                        </p:attrNameLst>
                                      </p:cBhvr>
                                      <p:tavLst>
                                        <p:tav tm="0">
                                          <p:val>
                                            <p:strVal val="#ppt_y"/>
                                          </p:val>
                                        </p:tav>
                                        <p:tav tm="100000">
                                          <p:val>
                                            <p:strVal val="#ppt_y"/>
                                          </p:val>
                                        </p:tav>
                                      </p:tavLst>
                                    </p:anim>
                                  </p:childTnLst>
                                </p:cTn>
                              </p:par>
                              <p:par>
                                <p:cTn id="69" presetID="10" presetClass="entr" presetSubtype="0" fill="hold" grpId="0" nodeType="withEffect">
                                  <p:stCondLst>
                                    <p:cond delay="1520"/>
                                  </p:stCondLst>
                                  <p:childTnLst>
                                    <p:set>
                                      <p:cBhvr>
                                        <p:cTn id="70" dur="1" fill="hold">
                                          <p:stCondLst>
                                            <p:cond delay="0"/>
                                          </p:stCondLst>
                                        </p:cTn>
                                        <p:tgtEl>
                                          <p:spTgt spid="19"/>
                                        </p:tgtEl>
                                        <p:attrNameLst>
                                          <p:attrName>style.visibility</p:attrName>
                                        </p:attrNameLst>
                                      </p:cBhvr>
                                      <p:to>
                                        <p:strVal val="visible"/>
                                      </p:to>
                                    </p:set>
                                    <p:animEffect transition="in" filter="fade">
                                      <p:cBhvr>
                                        <p:cTn id="68" dur="600"/>
                                        <p:tgtEl>
                                          <p:spTgt spid="19"/>
                                        </p:tgtEl>
                                      </p:cBhvr>
                                    </p:animEffect>
                                  </p:childTnLst>
                                </p:cTn>
                              </p:par>
                              <p:par>
                                <p:cTn id="72" presetID="22" presetClass="entr" presetSubtype="8" fill="hold" grpId="0" nodeType="withEffect">
                                  <p:stCondLst>
                                    <p:cond delay="1900"/>
                                  </p:stCondLst>
                                  <p:childTnLst>
                                    <p:set>
                                      <p:cBhvr>
                                        <p:cTn id="73" dur="1" fill="hold">
                                          <p:stCondLst>
                                            <p:cond delay="0"/>
                                          </p:stCondLst>
                                        </p:cTn>
                                        <p:tgtEl>
                                          <p:spTgt spid="20"/>
                                        </p:tgtEl>
                                        <p:attrNameLst>
                                          <p:attrName>style.visibility</p:attrName>
                                        </p:attrNameLst>
                                      </p:cBhvr>
                                      <p:to>
                                        <p:strVal val="visible"/>
                                      </p:to>
                                    </p:set>
                                    <p:animEffect transition="in" filter="wipe(left)">
                                      <p:cBhvr>
                                        <p:cTn id="71" dur="800"/>
                                        <p:tgtEl>
                                          <p:spTgt spid="20"/>
                                        </p:tgtEl>
                                      </p:cBhvr>
                                    </p:animEffect>
                                  </p:childTnLst>
                                </p:cTn>
                              </p:par>
                              <p:par>
                                <p:cTn id="75" presetID="10" presetClass="entr" presetSubtype="0" fill="hold" grpId="0" nodeType="withEffect">
                                  <p:stCondLst>
                                    <p:cond delay="2280"/>
                                  </p:stCondLst>
                                  <p:childTnLst>
                                    <p:set>
                                      <p:cBhvr>
                                        <p:cTn id="76" dur="1" fill="hold">
                                          <p:stCondLst>
                                            <p:cond delay="0"/>
                                          </p:stCondLst>
                                        </p:cTn>
                                        <p:tgtEl>
                                          <p:spTgt spid="21"/>
                                        </p:tgtEl>
                                        <p:attrNameLst>
                                          <p:attrName>style.visibility</p:attrName>
                                        </p:attrNameLst>
                                      </p:cBhvr>
                                      <p:to>
                                        <p:strVal val="visible"/>
                                      </p:to>
                                    </p:set>
                                    <p:animEffect transition="in" filter="fade">
                                      <p:cBhvr>
                                        <p:cTn id="74" dur="6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2" grpId="0" animBg="1"/>
      <p:bldP spid="13" grpId="0" animBg="1"/>
      <p:bldP spid="16" grpId="0" animBg="1"/>
      <p:bldP spid="17" grpId="0" animBg="1"/>
      <p:bldP spid="19" grpId="0" animBg="1"/>
      <p:bldGraphic spid="20" grpId="0">
        <p:bldAsOne/>
      </p:bldGraphic>
      <p:bldP spid="2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A0-spin-300" descr="preencoded.png">    </p:cNvPr>
          <p:cNvPicPr>
            <a:picLocks noChangeAspect="1"/>
          </p:cNvPicPr>
          <p:nvPr/>
        </p:nvPicPr>
        <p:blipFill>
          <a:blip r:embed="rId2"/>
          <a:stretch>
            <a:fillRect/>
          </a:stretch>
        </p:blipFill>
        <p:spPr>
          <a:xfrm>
            <a:off x="5120640" y="548640"/>
            <a:ext cx="4023360" cy="4023360"/>
          </a:xfrm>
          <a:prstGeom prst="rect">
            <a:avLst/>
          </a:prstGeom>
        </p:spPr>
      </p:pic>
      <p:sp>
        <p:nvSpPr>
          <p:cNvPr id="3" name="A1-zoom-301"/>
          <p:cNvSpPr txBox="1"/>
          <p:nvPr/>
        </p:nvSpPr>
        <p:spPr>
          <a:xfrm>
            <a:off x="548640" y="685800"/>
            <a:ext cx="2743200" cy="1280160"/>
          </a:xfrm>
          <a:prstGeom prst="rect">
            <a:avLst/>
          </a:prstGeom>
          <a:noFill/>
          <a:ln/>
        </p:spPr>
        <p:txBody>
          <a:bodyPr wrap="square" lIns="0" tIns="0" rIns="0" bIns="0" rtlCol="0" anchor="t"/>
          <a:lstStyle/>
          <a:p>
            <a:pPr indent="0" marL="0">
              <a:buNone/>
            </a:pPr>
            <a:r>
              <a:rPr lang="en-US" sz="9600" b="1" dirty="0">
                <a:solidFill>
                  <a:srgbClr val="FF7A70"/>
                </a:solidFill>
                <a:latin typeface="Cambria" pitchFamily="34" charset="0"/>
                <a:ea typeface="Cambria" pitchFamily="34" charset="-122"/>
                <a:cs typeface="Cambria" pitchFamily="34" charset="-120"/>
              </a:rPr>
              <a:t>III</a:t>
            </a:r>
            <a:endParaRPr lang="en-US" sz="9600" dirty="0"/>
          </a:p>
        </p:txBody>
      </p:sp>
      <p:sp>
        <p:nvSpPr>
          <p:cNvPr id="4" name="A2-fadeup-302"/>
          <p:cNvSpPr txBox="1"/>
          <p:nvPr/>
        </p:nvSpPr>
        <p:spPr>
          <a:xfrm>
            <a:off x="548640" y="1965960"/>
            <a:ext cx="5852160" cy="1188720"/>
          </a:xfrm>
          <a:prstGeom prst="rect">
            <a:avLst/>
          </a:prstGeom>
          <a:noFill/>
          <a:ln/>
        </p:spPr>
        <p:txBody>
          <a:bodyPr wrap="square" lIns="0" tIns="0" rIns="0" bIns="0" rtlCol="0" anchor="b"/>
          <a:lstStyle/>
          <a:p>
            <a:pPr indent="0" marL="0">
              <a:buNone/>
            </a:pPr>
            <a:r>
              <a:rPr lang="en-US" sz="2800" b="1" dirty="0">
                <a:solidFill>
                  <a:srgbClr val="FFFFFF"/>
                </a:solidFill>
                <a:latin typeface="Cambria" pitchFamily="34" charset="0"/>
                <a:ea typeface="Cambria" pitchFamily="34" charset="-122"/>
                <a:cs typeface="Cambria" pitchFamily="34" charset="-120"/>
              </a:rPr>
              <a:t>Les inconvénients et les limites du marché unique</a:t>
            </a:r>
            <a:endParaRPr lang="en-US" sz="2800" dirty="0"/>
          </a:p>
        </p:txBody>
      </p:sp>
      <p:sp>
        <p:nvSpPr>
          <p:cNvPr id="5" name="A3-fadeleft-303"/>
          <p:cNvSpPr txBox="1"/>
          <p:nvPr/>
        </p:nvSpPr>
        <p:spPr>
          <a:xfrm>
            <a:off x="548640" y="3337560"/>
            <a:ext cx="5943600" cy="292608"/>
          </a:xfrm>
          <a:prstGeom prst="rect">
            <a:avLst/>
          </a:prstGeom>
          <a:noFill/>
          <a:ln/>
        </p:spPr>
        <p:txBody>
          <a:bodyPr wrap="square" lIns="0" tIns="0" rIns="0" bIns="0" rtlCol="0" anchor="t"/>
          <a:lstStyle/>
          <a:p>
            <a:pPr indent="0" marL="0">
              <a:buNone/>
            </a:pPr>
            <a:r>
              <a:rPr lang="en-US" sz="1400" b="1" dirty="0">
                <a:solidFill>
                  <a:srgbClr val="FF7A70"/>
                </a:solidFill>
                <a:latin typeface="Calibri" pitchFamily="34" charset="0"/>
                <a:ea typeface="Calibri" pitchFamily="34" charset="-122"/>
                <a:cs typeface="Calibri" pitchFamily="34" charset="-120"/>
              </a:rPr>
              <a:t>3.1  </a:t>
            </a:r>
            <a:pPr indent="0" marL="0">
              <a:buNone/>
            </a:pPr>
            <a:r>
              <a:rPr lang="en-US" sz="1400" dirty="0">
                <a:solidFill>
                  <a:srgbClr val="D5DDF0"/>
                </a:solidFill>
                <a:latin typeface="Calibri" pitchFamily="34" charset="0"/>
                <a:ea typeface="Calibri" pitchFamily="34" charset="-122"/>
                <a:cs typeface="Calibri" pitchFamily="34" charset="-120"/>
              </a:rPr>
              <a:t>Moins de pouvoir de décision</a:t>
            </a:r>
            <a:endParaRPr lang="en-US" sz="1400" dirty="0"/>
          </a:p>
        </p:txBody>
      </p:sp>
      <p:sp>
        <p:nvSpPr>
          <p:cNvPr id="6" name="A4-fadeleft-304"/>
          <p:cNvSpPr txBox="1"/>
          <p:nvPr/>
        </p:nvSpPr>
        <p:spPr>
          <a:xfrm>
            <a:off x="548640" y="3666744"/>
            <a:ext cx="5943600" cy="292608"/>
          </a:xfrm>
          <a:prstGeom prst="rect">
            <a:avLst/>
          </a:prstGeom>
          <a:noFill/>
          <a:ln/>
        </p:spPr>
        <p:txBody>
          <a:bodyPr wrap="square" lIns="0" tIns="0" rIns="0" bIns="0" rtlCol="0" anchor="t"/>
          <a:lstStyle/>
          <a:p>
            <a:pPr indent="0" marL="0">
              <a:buNone/>
            </a:pPr>
            <a:r>
              <a:rPr lang="en-US" sz="1400" b="1" dirty="0">
                <a:solidFill>
                  <a:srgbClr val="FF7A70"/>
                </a:solidFill>
                <a:latin typeface="Calibri" pitchFamily="34" charset="0"/>
                <a:ea typeface="Calibri" pitchFamily="34" charset="-122"/>
                <a:cs typeface="Calibri" pitchFamily="34" charset="-120"/>
              </a:rPr>
              <a:t>3.2  </a:t>
            </a:r>
            <a:pPr indent="0" marL="0">
              <a:buNone/>
            </a:pPr>
            <a:r>
              <a:rPr lang="en-US" sz="1400" dirty="0">
                <a:solidFill>
                  <a:srgbClr val="D5DDF0"/>
                </a:solidFill>
                <a:latin typeface="Calibri" pitchFamily="34" charset="0"/>
                <a:ea typeface="Calibri" pitchFamily="34" charset="-122"/>
                <a:cs typeface="Calibri" pitchFamily="34" charset="-120"/>
              </a:rPr>
              <a:t>Des gains inégalement répartis</a:t>
            </a:r>
            <a:endParaRPr lang="en-US" sz="1400" dirty="0"/>
          </a:p>
        </p:txBody>
      </p:sp>
      <p:sp>
        <p:nvSpPr>
          <p:cNvPr id="7" name="A5-fadeleft-305"/>
          <p:cNvSpPr txBox="1"/>
          <p:nvPr/>
        </p:nvSpPr>
        <p:spPr>
          <a:xfrm>
            <a:off x="548640" y="3995928"/>
            <a:ext cx="5943600" cy="292608"/>
          </a:xfrm>
          <a:prstGeom prst="rect">
            <a:avLst/>
          </a:prstGeom>
          <a:noFill/>
          <a:ln/>
        </p:spPr>
        <p:txBody>
          <a:bodyPr wrap="square" lIns="0" tIns="0" rIns="0" bIns="0" rtlCol="0" anchor="t"/>
          <a:lstStyle/>
          <a:p>
            <a:pPr indent="0" marL="0">
              <a:buNone/>
            </a:pPr>
            <a:r>
              <a:rPr lang="en-US" sz="1400" b="1" dirty="0">
                <a:solidFill>
                  <a:srgbClr val="FF7A70"/>
                </a:solidFill>
                <a:latin typeface="Calibri" pitchFamily="34" charset="0"/>
                <a:ea typeface="Calibri" pitchFamily="34" charset="-122"/>
                <a:cs typeface="Calibri" pitchFamily="34" charset="-120"/>
              </a:rPr>
              <a:t>3.3 · 3.4  </a:t>
            </a:r>
            <a:pPr indent="0" marL="0">
              <a:buNone/>
            </a:pPr>
            <a:r>
              <a:rPr lang="en-US" sz="1400" dirty="0">
                <a:solidFill>
                  <a:srgbClr val="D5DDF0"/>
                </a:solidFill>
                <a:latin typeface="Calibri" pitchFamily="34" charset="0"/>
                <a:ea typeface="Calibri" pitchFamily="34" charset="-122"/>
                <a:cs typeface="Calibri" pitchFamily="34" charset="-120"/>
              </a:rPr>
              <a:t>Un marché inachevé, des règles lourdes</a:t>
            </a:r>
            <a:endParaRPr lang="en-US" sz="1400" dirty="0"/>
          </a:p>
        </p:txBody>
      </p:sp>
      <p:sp>
        <p:nvSpPr>
          <p:cNvPr id="8" name="A6-fadeleft-306"/>
          <p:cNvSpPr txBox="1"/>
          <p:nvPr/>
        </p:nvSpPr>
        <p:spPr>
          <a:xfrm>
            <a:off x="548640" y="4325112"/>
            <a:ext cx="5943600" cy="292608"/>
          </a:xfrm>
          <a:prstGeom prst="rect">
            <a:avLst/>
          </a:prstGeom>
          <a:noFill/>
          <a:ln/>
        </p:spPr>
        <p:txBody>
          <a:bodyPr wrap="square" lIns="0" tIns="0" rIns="0" bIns="0" rtlCol="0" anchor="t"/>
          <a:lstStyle/>
          <a:p>
            <a:pPr indent="0" marL="0">
              <a:buNone/>
            </a:pPr>
            <a:r>
              <a:rPr lang="en-US" sz="1400" b="1" dirty="0">
                <a:solidFill>
                  <a:srgbClr val="FF7A70"/>
                </a:solidFill>
                <a:latin typeface="Calibri" pitchFamily="34" charset="0"/>
                <a:ea typeface="Calibri" pitchFamily="34" charset="-122"/>
                <a:cs typeface="Calibri" pitchFamily="34" charset="-120"/>
              </a:rPr>
              <a:t>3.5  </a:t>
            </a:r>
            <a:pPr indent="0" marL="0">
              <a:buNone/>
            </a:pPr>
            <a:r>
              <a:rPr lang="en-US" sz="1400" dirty="0">
                <a:solidFill>
                  <a:srgbClr val="D5DDF0"/>
                </a:solidFill>
                <a:latin typeface="Calibri" pitchFamily="34" charset="0"/>
                <a:ea typeface="Calibri" pitchFamily="34" charset="-122"/>
                <a:cs typeface="Calibri" pitchFamily="34" charset="-120"/>
              </a:rPr>
              <a:t>Des tensions sociales et politiques</a:t>
            </a:r>
            <a:endParaRPr lang="en-US" sz="1400" dirty="0"/>
          </a:p>
        </p:txBody>
      </p:sp>
    </p:spTree>
  </p:cSld>
  <p:clrMapOvr>
    <a:masterClrMapping/>
  </p:clrMapOvr>
  <mc:AlternateContent xmlns:mc="http://schemas.openxmlformats.org/markup-compatibility/2006">
    <mc:Choice xmlns:p14="http://schemas.microsoft.com/office/powerpoint/2010/main" Requires="p14">
      <p:transition spd="slow" p14:dur="2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9" fill="hold">
                      <p:stCondLst>
                        <p:cond delay="indefinite"/>
                        <p:cond evt="onBegin" delay="0">
                          <p:tn val="2"/>
                        </p:cond>
                      </p:stCondLst>
                      <p:childTnLst>
                        <p:par>
                          <p:cTn id="40" fill="hold">
                            <p:stCondLst>
                              <p:cond delay="0"/>
                            </p:stCondLst>
                            <p:childTnLst>
                              <p:par>
                                <p:cTn id="7" presetID="3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anim calcmode="lin" valueType="num">
                                      <p:cBhvr additive="base">
                                        <p:cTn id="3" dur="1600" fill="hold"/>
                                        <p:tgtEl>
                                          <p:spTgt spid="2"/>
                                        </p:tgtEl>
                                        <p:attrNameLst>
                                          <p:attrName>ppt_w</p:attrName>
                                        </p:attrNameLst>
                                      </p:cBhvr>
                                      <p:tavLst>
                                        <p:tav tm="0">
                                          <p:val>
                                            <p:strVal val="#ppt_w*0.4"/>
                                          </p:val>
                                        </p:tav>
                                        <p:tav tm="100000">
                                          <p:val>
                                            <p:strVal val="#ppt_w"/>
                                          </p:val>
                                        </p:tav>
                                      </p:tavLst>
                                    </p:anim>
                                    <p:anim calcmode="lin" valueType="num">
                                      <p:cBhvr additive="base">
                                        <p:cTn id="4" dur="1600" fill="hold"/>
                                        <p:tgtEl>
                                          <p:spTgt spid="2"/>
                                        </p:tgtEl>
                                        <p:attrNameLst>
                                          <p:attrName>ppt_h</p:attrName>
                                        </p:attrNameLst>
                                      </p:cBhvr>
                                      <p:tavLst>
                                        <p:tav tm="0">
                                          <p:val>
                                            <p:strVal val="#ppt_h*0.4"/>
                                          </p:val>
                                        </p:tav>
                                        <p:tav tm="100000">
                                          <p:val>
                                            <p:strVal val="#ppt_h"/>
                                          </p:val>
                                        </p:tav>
                                      </p:tavLst>
                                    </p:anim>
                                    <p:anim calcmode="lin" valueType="num">
                                      <p:cBhvr additive="base">
                                        <p:cTn id="5" dur="1600" fill="hold"/>
                                        <p:tgtEl>
                                          <p:spTgt spid="2"/>
                                        </p:tgtEl>
                                        <p:attrNameLst>
                                          <p:attrName>style.rotation</p:attrName>
                                        </p:attrNameLst>
                                      </p:cBhvr>
                                      <p:tavLst>
                                        <p:tav tm="0">
                                          <p:val>
                                            <p:strVal val="-120"/>
                                          </p:val>
                                        </p:tav>
                                        <p:tav tm="100000">
                                          <p:val>
                                            <p:strVal val="0"/>
                                          </p:val>
                                        </p:tav>
                                      </p:tavLst>
                                    </p:anim>
                                    <p:animEffect transition="in" filter="fade">
                                      <p:cBhvr>
                                        <p:cTn id="6" dur="1600"/>
                                        <p:tgtEl>
                                          <p:spTgt spid="2"/>
                                        </p:tgtEl>
                                      </p:cBhvr>
                                    </p:animEffect>
                                  </p:childTnLst>
                                </p:cTn>
                              </p:par>
                              <p:par>
                                <p:cTn id="12" presetID="53" presetClass="entr" presetSubtype="16" fill="hold" grpId="0" nodeType="withEffect">
                                  <p:stCondLst>
                                    <p:cond delay="380"/>
                                  </p:stCondLst>
                                  <p:childTnLst>
                                    <p:set>
                                      <p:cBhvr>
                                        <p:cTn id="13" dur="1" fill="hold">
                                          <p:stCondLst>
                                            <p:cond delay="0"/>
                                          </p:stCondLst>
                                        </p:cTn>
                                        <p:tgtEl>
                                          <p:spTgt spid="3"/>
                                        </p:tgtEl>
                                        <p:attrNameLst>
                                          <p:attrName>style.visibility</p:attrName>
                                        </p:attrNameLst>
                                      </p:cBhvr>
                                      <p:to>
                                        <p:strVal val="visible"/>
                                      </p:to>
                                    </p:set>
                                    <p:anim calcmode="lin" valueType="num">
                                      <p:cBhvr additive="base">
                                        <p:cTn id="9" dur="550" fill="hold"/>
                                        <p:tgtEl>
                                          <p:spTgt spid="3"/>
                                        </p:tgtEl>
                                        <p:attrNameLst>
                                          <p:attrName>ppt_w</p:attrName>
                                        </p:attrNameLst>
                                      </p:cBhvr>
                                      <p:tavLst>
                                        <p:tav tm="0">
                                          <p:val>
                                            <p:strVal val="0"/>
                                          </p:val>
                                        </p:tav>
                                        <p:tav tm="100000">
                                          <p:val>
                                            <p:strVal val="#ppt_w"/>
                                          </p:val>
                                        </p:tav>
                                      </p:tavLst>
                                    </p:anim>
                                    <p:anim calcmode="lin" valueType="num">
                                      <p:cBhvr additive="base">
                                        <p:cTn id="10" dur="550" fill="hold"/>
                                        <p:tgtEl>
                                          <p:spTgt spid="3"/>
                                        </p:tgtEl>
                                        <p:attrNameLst>
                                          <p:attrName>ppt_h</p:attrName>
                                        </p:attrNameLst>
                                      </p:cBhvr>
                                      <p:tavLst>
                                        <p:tav tm="0">
                                          <p:val>
                                            <p:strVal val="0"/>
                                          </p:val>
                                        </p:tav>
                                        <p:tav tm="100000">
                                          <p:val>
                                            <p:strVal val="#ppt_h"/>
                                          </p:val>
                                        </p:tav>
                                      </p:tavLst>
                                    </p:anim>
                                    <p:animEffect transition="in" filter="fade">
                                      <p:cBhvr>
                                        <p:cTn id="11" dur="550"/>
                                        <p:tgtEl>
                                          <p:spTgt spid="3"/>
                                        </p:tgtEl>
                                      </p:cBhvr>
                                    </p:animEffect>
                                  </p:childTnLst>
                                </p:cTn>
                              </p:par>
                              <p:par>
                                <p:cTn id="17" presetID="42" presetClass="entr" presetSubtype="0" fill="hold" grpId="0" nodeType="withEffect">
                                  <p:stCondLst>
                                    <p:cond delay="760"/>
                                  </p:stCondLst>
                                  <p:childTnLst>
                                    <p:set>
                                      <p:cBhvr>
                                        <p:cTn id="18" dur="1" fill="hold">
                                          <p:stCondLst>
                                            <p:cond delay="0"/>
                                          </p:stCondLst>
                                        </p:cTn>
                                        <p:tgtEl>
                                          <p:spTgt spid="4"/>
                                        </p:tgtEl>
                                        <p:attrNameLst>
                                          <p:attrName>style.visibility</p:attrName>
                                        </p:attrNameLst>
                                      </p:cBhvr>
                                      <p:to>
                                        <p:strVal val="visible"/>
                                      </p:to>
                                    </p:set>
                                    <p:animEffect transition="in" filter="fade">
                                      <p:cBhvr>
                                        <p:cTn id="14" dur="700"/>
                                        <p:tgtEl>
                                          <p:spTgt spid="4"/>
                                        </p:tgtEl>
                                      </p:cBhvr>
                                    </p:animEffect>
                                    <p:anim calcmode="lin" valueType="num">
                                      <p:cBhvr additive="base">
                                        <p:cTn id="15" dur="700" fill="hold"/>
                                        <p:tgtEl>
                                          <p:spTgt spid="4"/>
                                        </p:tgtEl>
                                        <p:attrNameLst>
                                          <p:attrName>ppt_x</p:attrName>
                                        </p:attrNameLst>
                                      </p:cBhvr>
                                      <p:tavLst>
                                        <p:tav tm="0">
                                          <p:val>
                                            <p:strVal val="#ppt_x"/>
                                          </p:val>
                                        </p:tav>
                                        <p:tav tm="100000">
                                          <p:val>
                                            <p:strVal val="#ppt_x"/>
                                          </p:val>
                                        </p:tav>
                                      </p:tavLst>
                                    </p:anim>
                                    <p:anim calcmode="lin" valueType="num">
                                      <p:cBhvr additive="base">
                                        <p:cTn id="16" dur="700" fill="hold"/>
                                        <p:tgtEl>
                                          <p:spTgt spid="4"/>
                                        </p:tgtEl>
                                        <p:attrNameLst>
                                          <p:attrName>ppt_y</p:attrName>
                                        </p:attrNameLst>
                                      </p:cBhvr>
                                      <p:tavLst>
                                        <p:tav tm="0">
                                          <p:val>
                                            <p:strVal val="#ppt_y+.08"/>
                                          </p:val>
                                        </p:tav>
                                        <p:tav tm="100000">
                                          <p:val>
                                            <p:strVal val="#ppt_y"/>
                                          </p:val>
                                        </p:tav>
                                      </p:tavLst>
                                    </p:anim>
                                  </p:childTnLst>
                                </p:cTn>
                              </p:par>
                              <p:par>
                                <p:cTn id="22" presetID="42" presetClass="entr" presetSubtype="0" fill="hold" grpId="0" nodeType="withEffect">
                                  <p:stCondLst>
                                    <p:cond delay="1140"/>
                                  </p:stCondLst>
                                  <p:childTnLst>
                                    <p:set>
                                      <p:cBhvr>
                                        <p:cTn id="23" dur="1" fill="hold">
                                          <p:stCondLst>
                                            <p:cond delay="0"/>
                                          </p:stCondLst>
                                        </p:cTn>
                                        <p:tgtEl>
                                          <p:spTgt spid="5"/>
                                        </p:tgtEl>
                                        <p:attrNameLst>
                                          <p:attrName>style.visibility</p:attrName>
                                        </p:attrNameLst>
                                      </p:cBhvr>
                                      <p:to>
                                        <p:strVal val="visible"/>
                                      </p:to>
                                    </p:set>
                                    <p:animEffect transition="in" filter="fade">
                                      <p:cBhvr>
                                        <p:cTn id="19" dur="650"/>
                                        <p:tgtEl>
                                          <p:spTgt spid="5"/>
                                        </p:tgtEl>
                                      </p:cBhvr>
                                    </p:animEffect>
                                    <p:anim calcmode="lin" valueType="num">
                                      <p:cBhvr additive="base">
                                        <p:cTn id="20" dur="650" fill="hold"/>
                                        <p:tgtEl>
                                          <p:spTgt spid="5"/>
                                        </p:tgtEl>
                                        <p:attrNameLst>
                                          <p:attrName>ppt_x</p:attrName>
                                        </p:attrNameLst>
                                      </p:cBhvr>
                                      <p:tavLst>
                                        <p:tav tm="0">
                                          <p:val>
                                            <p:strVal val="#ppt_x-.06"/>
                                          </p:val>
                                        </p:tav>
                                        <p:tav tm="100000">
                                          <p:val>
                                            <p:strVal val="#ppt_x"/>
                                          </p:val>
                                        </p:tav>
                                      </p:tavLst>
                                    </p:anim>
                                    <p:anim calcmode="lin" valueType="num">
                                      <p:cBhvr additive="base">
                                        <p:cTn id="21" dur="650" fill="hold"/>
                                        <p:tgtEl>
                                          <p:spTgt spid="5"/>
                                        </p:tgtEl>
                                        <p:attrNameLst>
                                          <p:attrName>ppt_y</p:attrName>
                                        </p:attrNameLst>
                                      </p:cBhvr>
                                      <p:tavLst>
                                        <p:tav tm="0">
                                          <p:val>
                                            <p:strVal val="#ppt_y"/>
                                          </p:val>
                                        </p:tav>
                                        <p:tav tm="100000">
                                          <p:val>
                                            <p:strVal val="#ppt_y"/>
                                          </p:val>
                                        </p:tav>
                                      </p:tavLst>
                                    </p:anim>
                                  </p:childTnLst>
                                </p:cTn>
                              </p:par>
                              <p:par>
                                <p:cTn id="27" presetID="42" presetClass="entr" presetSubtype="0" fill="hold" grpId="0" nodeType="withEffect">
                                  <p:stCondLst>
                                    <p:cond delay="1520"/>
                                  </p:stCondLst>
                                  <p:childTnLst>
                                    <p:set>
                                      <p:cBhvr>
                                        <p:cTn id="28" dur="1" fill="hold">
                                          <p:stCondLst>
                                            <p:cond delay="0"/>
                                          </p:stCondLst>
                                        </p:cTn>
                                        <p:tgtEl>
                                          <p:spTgt spid="6"/>
                                        </p:tgtEl>
                                        <p:attrNameLst>
                                          <p:attrName>style.visibility</p:attrName>
                                        </p:attrNameLst>
                                      </p:cBhvr>
                                      <p:to>
                                        <p:strVal val="visible"/>
                                      </p:to>
                                    </p:set>
                                    <p:animEffect transition="in" filter="fade">
                                      <p:cBhvr>
                                        <p:cTn id="24" dur="650"/>
                                        <p:tgtEl>
                                          <p:spTgt spid="6"/>
                                        </p:tgtEl>
                                      </p:cBhvr>
                                    </p:animEffect>
                                    <p:anim calcmode="lin" valueType="num">
                                      <p:cBhvr additive="base">
                                        <p:cTn id="25" dur="650" fill="hold"/>
                                        <p:tgtEl>
                                          <p:spTgt spid="6"/>
                                        </p:tgtEl>
                                        <p:attrNameLst>
                                          <p:attrName>ppt_x</p:attrName>
                                        </p:attrNameLst>
                                      </p:cBhvr>
                                      <p:tavLst>
                                        <p:tav tm="0">
                                          <p:val>
                                            <p:strVal val="#ppt_x-.06"/>
                                          </p:val>
                                        </p:tav>
                                        <p:tav tm="100000">
                                          <p:val>
                                            <p:strVal val="#ppt_x"/>
                                          </p:val>
                                        </p:tav>
                                      </p:tavLst>
                                    </p:anim>
                                    <p:anim calcmode="lin" valueType="num">
                                      <p:cBhvr additive="base">
                                        <p:cTn id="26" dur="650" fill="hold"/>
                                        <p:tgtEl>
                                          <p:spTgt spid="6"/>
                                        </p:tgtEl>
                                        <p:attrNameLst>
                                          <p:attrName>ppt_y</p:attrName>
                                        </p:attrNameLst>
                                      </p:cBhvr>
                                      <p:tavLst>
                                        <p:tav tm="0">
                                          <p:val>
                                            <p:strVal val="#ppt_y"/>
                                          </p:val>
                                        </p:tav>
                                        <p:tav tm="100000">
                                          <p:val>
                                            <p:strVal val="#ppt_y"/>
                                          </p:val>
                                        </p:tav>
                                      </p:tavLst>
                                    </p:anim>
                                  </p:childTnLst>
                                </p:cTn>
                              </p:par>
                              <p:par>
                                <p:cTn id="32" presetID="42" presetClass="entr" presetSubtype="0" fill="hold" grpId="0" nodeType="withEffect">
                                  <p:stCondLst>
                                    <p:cond delay="1900"/>
                                  </p:stCondLst>
                                  <p:childTnLst>
                                    <p:set>
                                      <p:cBhvr>
                                        <p:cTn id="33" dur="1" fill="hold">
                                          <p:stCondLst>
                                            <p:cond delay="0"/>
                                          </p:stCondLst>
                                        </p:cTn>
                                        <p:tgtEl>
                                          <p:spTgt spid="7"/>
                                        </p:tgtEl>
                                        <p:attrNameLst>
                                          <p:attrName>style.visibility</p:attrName>
                                        </p:attrNameLst>
                                      </p:cBhvr>
                                      <p:to>
                                        <p:strVal val="visible"/>
                                      </p:to>
                                    </p:set>
                                    <p:animEffect transition="in" filter="fade">
                                      <p:cBhvr>
                                        <p:cTn id="29" dur="650"/>
                                        <p:tgtEl>
                                          <p:spTgt spid="7"/>
                                        </p:tgtEl>
                                      </p:cBhvr>
                                    </p:animEffect>
                                    <p:anim calcmode="lin" valueType="num">
                                      <p:cBhvr additive="base">
                                        <p:cTn id="30" dur="650" fill="hold"/>
                                        <p:tgtEl>
                                          <p:spTgt spid="7"/>
                                        </p:tgtEl>
                                        <p:attrNameLst>
                                          <p:attrName>ppt_x</p:attrName>
                                        </p:attrNameLst>
                                      </p:cBhvr>
                                      <p:tavLst>
                                        <p:tav tm="0">
                                          <p:val>
                                            <p:strVal val="#ppt_x-.06"/>
                                          </p:val>
                                        </p:tav>
                                        <p:tav tm="100000">
                                          <p:val>
                                            <p:strVal val="#ppt_x"/>
                                          </p:val>
                                        </p:tav>
                                      </p:tavLst>
                                    </p:anim>
                                    <p:anim calcmode="lin" valueType="num">
                                      <p:cBhvr additive="base">
                                        <p:cTn id="31" dur="650" fill="hold"/>
                                        <p:tgtEl>
                                          <p:spTgt spid="7"/>
                                        </p:tgtEl>
                                        <p:attrNameLst>
                                          <p:attrName>ppt_y</p:attrName>
                                        </p:attrNameLst>
                                      </p:cBhvr>
                                      <p:tavLst>
                                        <p:tav tm="0">
                                          <p:val>
                                            <p:strVal val="#ppt_y"/>
                                          </p:val>
                                        </p:tav>
                                        <p:tav tm="100000">
                                          <p:val>
                                            <p:strVal val="#ppt_y"/>
                                          </p:val>
                                        </p:tav>
                                      </p:tavLst>
                                    </p:anim>
                                  </p:childTnLst>
                                </p:cTn>
                              </p:par>
                              <p:par>
                                <p:cTn id="37" presetID="42" presetClass="entr" presetSubtype="0" fill="hold" grpId="0" nodeType="withEffect">
                                  <p:stCondLst>
                                    <p:cond delay="2280"/>
                                  </p:stCondLst>
                                  <p:childTnLst>
                                    <p:set>
                                      <p:cBhvr>
                                        <p:cTn id="38" dur="1" fill="hold">
                                          <p:stCondLst>
                                            <p:cond delay="0"/>
                                          </p:stCondLst>
                                        </p:cTn>
                                        <p:tgtEl>
                                          <p:spTgt spid="8"/>
                                        </p:tgtEl>
                                        <p:attrNameLst>
                                          <p:attrName>style.visibility</p:attrName>
                                        </p:attrNameLst>
                                      </p:cBhvr>
                                      <p:to>
                                        <p:strVal val="visible"/>
                                      </p:to>
                                    </p:set>
                                    <p:animEffect transition="in" filter="fade">
                                      <p:cBhvr>
                                        <p:cTn id="34" dur="650"/>
                                        <p:tgtEl>
                                          <p:spTgt spid="8"/>
                                        </p:tgtEl>
                                      </p:cBhvr>
                                    </p:animEffect>
                                    <p:anim calcmode="lin" valueType="num">
                                      <p:cBhvr additive="base">
                                        <p:cTn id="35" dur="650" fill="hold"/>
                                        <p:tgtEl>
                                          <p:spTgt spid="8"/>
                                        </p:tgtEl>
                                        <p:attrNameLst>
                                          <p:attrName>ppt_x</p:attrName>
                                        </p:attrNameLst>
                                      </p:cBhvr>
                                      <p:tavLst>
                                        <p:tav tm="0">
                                          <p:val>
                                            <p:strVal val="#ppt_x-.06"/>
                                          </p:val>
                                        </p:tav>
                                        <p:tav tm="100000">
                                          <p:val>
                                            <p:strVal val="#ppt_x"/>
                                          </p:val>
                                        </p:tav>
                                      </p:tavLst>
                                    </p:anim>
                                    <p:anim calcmode="lin" valueType="num">
                                      <p:cBhvr additive="base">
                                        <p:cTn id="36" dur="65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7406640" y="-1005840"/>
            <a:ext cx="2560320" cy="2560320"/>
          </a:xfrm>
          <a:prstGeom prst="rect">
            <a:avLst/>
          </a:prstGeom>
        </p:spPr>
      </p:pic>
      <p:sp>
        <p:nvSpPr>
          <p:cNvPr id="3" name="Text 0"/>
          <p:cNvSpPr txBox="1"/>
          <p:nvPr/>
        </p:nvSpPr>
        <p:spPr>
          <a:xfrm>
            <a:off x="457200" y="274320"/>
            <a:ext cx="6858000" cy="228600"/>
          </a:xfrm>
          <a:prstGeom prst="rect">
            <a:avLst/>
          </a:prstGeom>
          <a:noFill/>
          <a:ln/>
        </p:spPr>
        <p:txBody>
          <a:bodyPr wrap="square" lIns="0" tIns="0" rIns="0" bIns="0" rtlCol="0" anchor="t"/>
          <a:lstStyle/>
          <a:p>
            <a:pPr indent="0" marL="0">
              <a:buNone/>
            </a:pPr>
            <a:r>
              <a:rPr lang="en-US" sz="1050" b="1" spc="200" kern="0" dirty="0">
                <a:solidFill>
                  <a:srgbClr val="D9473F"/>
                </a:solidFill>
                <a:latin typeface="Calibri" pitchFamily="34" charset="0"/>
                <a:ea typeface="Calibri" pitchFamily="34" charset="-122"/>
                <a:cs typeface="Calibri" pitchFamily="34" charset="-120"/>
              </a:rPr>
              <a:t>III · 3.1 — INCONVÉNIENTS</a:t>
            </a:r>
            <a:endParaRPr lang="en-US" sz="1050" dirty="0"/>
          </a:p>
        </p:txBody>
      </p:sp>
      <p:sp>
        <p:nvSpPr>
          <p:cNvPr id="4" name="Text 1"/>
          <p:cNvSpPr txBox="1"/>
          <p:nvPr/>
        </p:nvSpPr>
        <p:spPr>
          <a:xfrm>
            <a:off x="457200" y="502920"/>
            <a:ext cx="7863840" cy="548640"/>
          </a:xfrm>
          <a:prstGeom prst="rect">
            <a:avLst/>
          </a:prstGeom>
          <a:noFill/>
          <a:ln/>
        </p:spPr>
        <p:txBody>
          <a:bodyPr wrap="square" lIns="0" tIns="0" rIns="0" bIns="0" rtlCol="0" anchor="ctr"/>
          <a:lstStyle/>
          <a:p>
            <a:pPr indent="0" marL="0">
              <a:buNone/>
            </a:pPr>
            <a:r>
              <a:rPr lang="en-US" sz="2600" b="1" dirty="0">
                <a:solidFill>
                  <a:srgbClr val="0B1F4B"/>
                </a:solidFill>
                <a:latin typeface="Cambria" pitchFamily="34" charset="0"/>
                <a:ea typeface="Cambria" pitchFamily="34" charset="-122"/>
                <a:cs typeface="Cambria" pitchFamily="34" charset="-120"/>
              </a:rPr>
              <a:t>Chaque pays garde moins de pouvoir de décision</a:t>
            </a:r>
            <a:endParaRPr lang="en-US" sz="2600" dirty="0"/>
          </a:p>
        </p:txBody>
      </p:sp>
      <p:sp>
        <p:nvSpPr>
          <p:cNvPr id="5" name="Text 2"/>
          <p:cNvSpPr txBox="1"/>
          <p:nvPr/>
        </p:nvSpPr>
        <p:spPr>
          <a:xfrm>
            <a:off x="8321040" y="4773168"/>
            <a:ext cx="365760" cy="228600"/>
          </a:xfrm>
          <a:prstGeom prst="rect">
            <a:avLst/>
          </a:prstGeom>
          <a:noFill/>
          <a:ln/>
        </p:spPr>
        <p:txBody>
          <a:bodyPr wrap="square" lIns="0" tIns="0" rIns="0" bIns="0" rtlCol="0" anchor="t"/>
          <a:lstStyle/>
          <a:p>
            <a:pPr algn="r" indent="0" marL="0">
              <a:buNone/>
            </a:pPr>
            <a:r>
              <a:rPr lang="en-US" sz="1000" dirty="0">
                <a:solidFill>
                  <a:srgbClr val="5B6478"/>
                </a:solidFill>
                <a:latin typeface="Calibri" pitchFamily="34" charset="0"/>
                <a:ea typeface="Calibri" pitchFamily="34" charset="-122"/>
                <a:cs typeface="Calibri" pitchFamily="34" charset="-120"/>
              </a:rPr>
              <a:t>20</a:t>
            </a:r>
            <a:endParaRPr lang="en-US" sz="1000" dirty="0"/>
          </a:p>
        </p:txBody>
      </p:sp>
      <p:sp>
        <p:nvSpPr>
          <p:cNvPr id="6" name="A1-fadeup-307"/>
          <p:cNvSpPr/>
          <p:nvPr/>
        </p:nvSpPr>
        <p:spPr>
          <a:xfrm>
            <a:off x="457200" y="1280160"/>
            <a:ext cx="3931920" cy="1554480"/>
          </a:xfrm>
          <a:prstGeom prst="roundRect">
            <a:avLst>
              <a:gd name="adj" fmla="val 7059"/>
            </a:avLst>
          </a:prstGeom>
          <a:solidFill>
            <a:srgbClr val="FFFFFF"/>
          </a:solidFill>
          <a:ln w="12700">
            <a:solidFill>
              <a:srgbClr val="FFFFFF"/>
            </a:solidFill>
            <a:prstDash val="solid"/>
          </a:ln>
          <a:effectLst>
            <a:outerShdw sx="100000" sy="100000" kx="0" ky="0" algn="bl" rotWithShape="0" blurRad="101600" dist="25400" dir="5400000">
              <a:srgbClr val="0B1F4B">
                <a:alpha val="12000"/>
              </a:srgbClr>
            </a:outerShdw>
          </a:effectLst>
        </p:spPr>
      </p:sp>
      <p:sp>
        <p:nvSpPr>
          <p:cNvPr id="7" name="A1-zoom-308"/>
          <p:cNvSpPr/>
          <p:nvPr/>
        </p:nvSpPr>
        <p:spPr>
          <a:xfrm>
            <a:off x="640080" y="1463040"/>
            <a:ext cx="594360" cy="594360"/>
          </a:xfrm>
          <a:prstGeom prst="ellipse">
            <a:avLst/>
          </a:prstGeom>
          <a:solidFill>
            <a:srgbClr val="FBE7E5"/>
          </a:solidFill>
          <a:ln w="12700">
            <a:solidFill>
              <a:srgbClr val="FBE7E5"/>
            </a:solidFill>
            <a:prstDash val="solid"/>
          </a:ln>
        </p:spPr>
      </p:sp>
      <p:pic>
        <p:nvPicPr>
          <p:cNvPr id="8" name="A1-zoom-309" descr="preencoded.png">    </p:cNvPr>
          <p:cNvPicPr>
            <a:picLocks noChangeAspect="1"/>
          </p:cNvPicPr>
          <p:nvPr/>
        </p:nvPicPr>
        <p:blipFill>
          <a:blip r:embed="rId3"/>
          <a:stretch>
            <a:fillRect/>
          </a:stretch>
        </p:blipFill>
        <p:spPr>
          <a:xfrm>
            <a:off x="800557" y="1623517"/>
            <a:ext cx="273406" cy="273406"/>
          </a:xfrm>
          <a:prstGeom prst="rect">
            <a:avLst/>
          </a:prstGeom>
        </p:spPr>
      </p:pic>
      <p:sp>
        <p:nvSpPr>
          <p:cNvPr id="9" name="A1-fadeup-310"/>
          <p:cNvSpPr txBox="1"/>
          <p:nvPr/>
        </p:nvSpPr>
        <p:spPr>
          <a:xfrm>
            <a:off x="1371600" y="1463040"/>
            <a:ext cx="2926080" cy="320040"/>
          </a:xfrm>
          <a:prstGeom prst="rect">
            <a:avLst/>
          </a:prstGeom>
          <a:noFill/>
          <a:ln/>
        </p:spPr>
        <p:txBody>
          <a:bodyPr wrap="square" lIns="0" tIns="0" rIns="0" bIns="0" rtlCol="0" anchor="t"/>
          <a:lstStyle/>
          <a:p>
            <a:pPr indent="0" marL="0">
              <a:buNone/>
            </a:pPr>
            <a:r>
              <a:rPr lang="en-US" sz="1500" b="1" dirty="0">
                <a:solidFill>
                  <a:srgbClr val="0B1F4B"/>
                </a:solidFill>
                <a:latin typeface="Calibri" pitchFamily="34" charset="0"/>
                <a:ea typeface="Calibri" pitchFamily="34" charset="-122"/>
                <a:cs typeface="Calibri" pitchFamily="34" charset="-120"/>
              </a:rPr>
              <a:t>Aides d'État encadrées</a:t>
            </a:r>
            <a:endParaRPr lang="en-US" sz="1500" dirty="0"/>
          </a:p>
        </p:txBody>
      </p:sp>
      <p:sp>
        <p:nvSpPr>
          <p:cNvPr id="10" name="A1-fadeup-311"/>
          <p:cNvSpPr txBox="1"/>
          <p:nvPr/>
        </p:nvSpPr>
        <p:spPr>
          <a:xfrm>
            <a:off x="1371600" y="1783080"/>
            <a:ext cx="2926080" cy="914400"/>
          </a:xfrm>
          <a:prstGeom prst="rect">
            <a:avLst/>
          </a:prstGeom>
          <a:noFill/>
          <a:ln/>
        </p:spPr>
        <p:txBody>
          <a:bodyPr wrap="square" lIns="0" tIns="0" rIns="0" bIns="0" rtlCol="0" anchor="t"/>
          <a:lstStyle/>
          <a:p>
            <a:pPr indent="0" marL="0">
              <a:buNone/>
            </a:pPr>
            <a:r>
              <a:rPr lang="en-US" sz="1150" dirty="0">
                <a:solidFill>
                  <a:srgbClr val="5B6478"/>
                </a:solidFill>
                <a:latin typeface="Calibri" pitchFamily="34" charset="0"/>
                <a:ea typeface="Calibri" pitchFamily="34" charset="-122"/>
                <a:cs typeface="Calibri" pitchFamily="34" charset="-120"/>
              </a:rPr>
              <a:t>Art. 107 TFUE : interdiction de principe, sous contrôle de la Commission → politique industrielle limitée</a:t>
            </a:r>
            <a:endParaRPr lang="en-US" sz="1150" dirty="0"/>
          </a:p>
        </p:txBody>
      </p:sp>
      <p:sp>
        <p:nvSpPr>
          <p:cNvPr id="11" name="A2-fadeup-312"/>
          <p:cNvSpPr/>
          <p:nvPr/>
        </p:nvSpPr>
        <p:spPr>
          <a:xfrm>
            <a:off x="457200" y="3063240"/>
            <a:ext cx="3931920" cy="1600200"/>
          </a:xfrm>
          <a:prstGeom prst="roundRect">
            <a:avLst>
              <a:gd name="adj" fmla="val 6857"/>
            </a:avLst>
          </a:prstGeom>
          <a:solidFill>
            <a:srgbClr val="FFFFFF"/>
          </a:solidFill>
          <a:ln w="12700">
            <a:solidFill>
              <a:srgbClr val="FFFFFF"/>
            </a:solidFill>
            <a:prstDash val="solid"/>
          </a:ln>
          <a:effectLst>
            <a:outerShdw sx="100000" sy="100000" kx="0" ky="0" algn="bl" rotWithShape="0" blurRad="101600" dist="25400" dir="5400000">
              <a:srgbClr val="0B1F4B">
                <a:alpha val="12000"/>
              </a:srgbClr>
            </a:outerShdw>
          </a:effectLst>
        </p:spPr>
      </p:sp>
      <p:sp>
        <p:nvSpPr>
          <p:cNvPr id="12" name="A2-zoom-313"/>
          <p:cNvSpPr/>
          <p:nvPr/>
        </p:nvSpPr>
        <p:spPr>
          <a:xfrm>
            <a:off x="640080" y="3246120"/>
            <a:ext cx="594360" cy="594360"/>
          </a:xfrm>
          <a:prstGeom prst="ellipse">
            <a:avLst/>
          </a:prstGeom>
          <a:solidFill>
            <a:srgbClr val="FBE7E5"/>
          </a:solidFill>
          <a:ln w="12700">
            <a:solidFill>
              <a:srgbClr val="FBE7E5"/>
            </a:solidFill>
            <a:prstDash val="solid"/>
          </a:ln>
        </p:spPr>
      </p:sp>
      <p:pic>
        <p:nvPicPr>
          <p:cNvPr id="13" name="A2-zoom-314" descr="preencoded.png">    </p:cNvPr>
          <p:cNvPicPr>
            <a:picLocks noChangeAspect="1"/>
          </p:cNvPicPr>
          <p:nvPr/>
        </p:nvPicPr>
        <p:blipFill>
          <a:blip r:embed="rId4"/>
          <a:stretch>
            <a:fillRect/>
          </a:stretch>
        </p:blipFill>
        <p:spPr>
          <a:xfrm>
            <a:off x="800557" y="3406597"/>
            <a:ext cx="273406" cy="273406"/>
          </a:xfrm>
          <a:prstGeom prst="rect">
            <a:avLst/>
          </a:prstGeom>
        </p:spPr>
      </p:pic>
      <p:sp>
        <p:nvSpPr>
          <p:cNvPr id="14" name="A2-fadeup-315"/>
          <p:cNvSpPr txBox="1"/>
          <p:nvPr/>
        </p:nvSpPr>
        <p:spPr>
          <a:xfrm>
            <a:off x="1371600" y="3246120"/>
            <a:ext cx="2926080" cy="320040"/>
          </a:xfrm>
          <a:prstGeom prst="rect">
            <a:avLst/>
          </a:prstGeom>
          <a:noFill/>
          <a:ln/>
        </p:spPr>
        <p:txBody>
          <a:bodyPr wrap="square" lIns="0" tIns="0" rIns="0" bIns="0" rtlCol="0" anchor="t"/>
          <a:lstStyle/>
          <a:p>
            <a:pPr indent="0" marL="0">
              <a:buNone/>
            </a:pPr>
            <a:r>
              <a:rPr lang="en-US" sz="1500" b="1" dirty="0">
                <a:solidFill>
                  <a:srgbClr val="0B1F4B"/>
                </a:solidFill>
                <a:latin typeface="Calibri" pitchFamily="34" charset="0"/>
                <a:ea typeface="Calibri" pitchFamily="34" charset="-122"/>
                <a:cs typeface="Calibri" pitchFamily="34" charset="-120"/>
              </a:rPr>
              <a:t>Siemens + Alstom : fusion interdite</a:t>
            </a:r>
            <a:endParaRPr lang="en-US" sz="1500" dirty="0"/>
          </a:p>
        </p:txBody>
      </p:sp>
      <p:sp>
        <p:nvSpPr>
          <p:cNvPr id="15" name="A2-fadeup-316"/>
          <p:cNvSpPr txBox="1"/>
          <p:nvPr/>
        </p:nvSpPr>
        <p:spPr>
          <a:xfrm>
            <a:off x="1371600" y="3566160"/>
            <a:ext cx="2926080" cy="914400"/>
          </a:xfrm>
          <a:prstGeom prst="rect">
            <a:avLst/>
          </a:prstGeom>
          <a:noFill/>
          <a:ln/>
        </p:spPr>
        <p:txBody>
          <a:bodyPr wrap="square" lIns="0" tIns="0" rIns="0" bIns="0" rtlCol="0" anchor="t"/>
          <a:lstStyle/>
          <a:p>
            <a:pPr indent="0" marL="0">
              <a:buNone/>
            </a:pPr>
            <a:r>
              <a:rPr lang="en-US" sz="1150" dirty="0">
                <a:solidFill>
                  <a:srgbClr val="5B6478"/>
                </a:solidFill>
                <a:latin typeface="Calibri" pitchFamily="34" charset="0"/>
                <a:ea typeface="Calibri" pitchFamily="34" charset="-122"/>
                <a:cs typeface="Calibri" pitchFamily="34" charset="-120"/>
              </a:rPr>
              <a:t>Février 2019 : la Commission bloque le projet contre l'avis de Paris et de Berlin</a:t>
            </a:r>
            <a:endParaRPr lang="en-US" sz="1150" dirty="0"/>
          </a:p>
        </p:txBody>
      </p:sp>
      <p:sp>
        <p:nvSpPr>
          <p:cNvPr id="16" name="A3-fade-317"/>
          <p:cNvSpPr txBox="1"/>
          <p:nvPr/>
        </p:nvSpPr>
        <p:spPr>
          <a:xfrm>
            <a:off x="4754880" y="1234440"/>
            <a:ext cx="3931920" cy="320040"/>
          </a:xfrm>
          <a:prstGeom prst="rect">
            <a:avLst/>
          </a:prstGeom>
          <a:noFill/>
          <a:ln/>
        </p:spPr>
        <p:txBody>
          <a:bodyPr wrap="square" lIns="0" tIns="0" rIns="0" bIns="0" rtlCol="0" anchor="t"/>
          <a:lstStyle/>
          <a:p>
            <a:pPr indent="0" marL="0">
              <a:buNone/>
            </a:pPr>
            <a:r>
              <a:rPr lang="en-US" sz="1600" b="1" dirty="0">
                <a:solidFill>
                  <a:srgbClr val="0B1F4B"/>
                </a:solidFill>
                <a:latin typeface="Cambria" pitchFamily="34" charset="0"/>
                <a:ea typeface="Cambria" pitchFamily="34" charset="-122"/>
                <a:cs typeface="Cambria" pitchFamily="34" charset="-120"/>
              </a:rPr>
              <a:t>La concurrence fiscale</a:t>
            </a:r>
            <a:endParaRPr lang="en-US" sz="1600" dirty="0"/>
          </a:p>
        </p:txBody>
      </p:sp>
      <p:graphicFrame>
        <p:nvGraphicFramePr>
          <p:cNvPr id="17" name="A4-wipe-318" descr=""/>
          <p:cNvGraphicFramePr/>
          <p:nvPr/>
        </p:nvGraphicFramePr>
        <p:xfrm>
          <a:off x="4663440" y="1554480"/>
          <a:ext cx="4023360" cy="2103120"/>
        </p:xfrm>
        <a:graphic xmlns:a="http://schemas.openxmlformats.org/drawingml/2006/main">
          <a:graphicData uri="http://schemas.openxmlformats.org/drawingml/2006/chart">
            <c:chart xmlns:c="http://schemas.openxmlformats.org/drawingml/2006/chart" r:id="rId5"/>
          </a:graphicData>
        </a:graphic>
      </p:graphicFrame>
      <p:sp>
        <p:nvSpPr>
          <p:cNvPr id="18" name="A5-fadeup-319"/>
          <p:cNvSpPr/>
          <p:nvPr/>
        </p:nvSpPr>
        <p:spPr>
          <a:xfrm>
            <a:off x="4754880" y="3794760"/>
            <a:ext cx="3931920" cy="868680"/>
          </a:xfrm>
          <a:prstGeom prst="roundRect">
            <a:avLst>
              <a:gd name="adj" fmla="val 12632"/>
            </a:avLst>
          </a:prstGeom>
          <a:solidFill>
            <a:srgbClr val="FBE7E5"/>
          </a:solidFill>
          <a:ln w="12700">
            <a:solidFill>
              <a:srgbClr val="FBE7E5"/>
            </a:solidFill>
            <a:prstDash val="solid"/>
          </a:ln>
          <a:effectLst>
            <a:outerShdw sx="100000" sy="100000" kx="0" ky="0" algn="bl" rotWithShape="0" blurRad="101600" dist="25400" dir="5400000">
              <a:srgbClr val="0B1F4B">
                <a:alpha val="12000"/>
              </a:srgbClr>
            </a:outerShdw>
          </a:effectLst>
        </p:spPr>
      </p:sp>
      <p:sp>
        <p:nvSpPr>
          <p:cNvPr id="19" name="A5-fadeup-320"/>
          <p:cNvSpPr txBox="1"/>
          <p:nvPr/>
        </p:nvSpPr>
        <p:spPr>
          <a:xfrm>
            <a:off x="4892040" y="3794760"/>
            <a:ext cx="3703320" cy="868680"/>
          </a:xfrm>
          <a:prstGeom prst="rect">
            <a:avLst/>
          </a:prstGeom>
          <a:noFill/>
          <a:ln/>
        </p:spPr>
        <p:txBody>
          <a:bodyPr wrap="square" lIns="0" tIns="0" rIns="0" bIns="0" rtlCol="0" anchor="ctr"/>
          <a:lstStyle/>
          <a:p>
            <a:pPr indent="0" marL="0">
              <a:buNone/>
            </a:pPr>
            <a:r>
              <a:rPr lang="en-US" sz="1100" b="1" dirty="0">
                <a:solidFill>
                  <a:srgbClr val="D9473F"/>
                </a:solidFill>
                <a:latin typeface="Calibri" pitchFamily="34" charset="0"/>
                <a:ea typeface="Calibri" pitchFamily="34" charset="-122"/>
                <a:cs typeface="Calibri" pitchFamily="34" charset="-120"/>
              </a:rPr>
              <a:t>Apple : 13 Md€ </a:t>
            </a:r>
            <a:pPr indent="0" marL="0">
              <a:buNone/>
            </a:pPr>
            <a:r>
              <a:rPr lang="en-US" sz="1100" dirty="0">
                <a:solidFill>
                  <a:srgbClr val="1B2333"/>
                </a:solidFill>
                <a:latin typeface="Calibri" pitchFamily="34" charset="0"/>
                <a:ea typeface="Calibri" pitchFamily="34" charset="-122"/>
                <a:cs typeface="Calibri" pitchFamily="34" charset="-120"/>
              </a:rPr>
              <a:t>d'avantages fiscaux irlandais jugés illégaux, décision confirmée par la Cour de justice le 10 sept. 2024</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69" fill="hold">
                      <p:stCondLst>
                        <p:cond delay="indefinite"/>
                        <p:cond evt="onBegin" delay="0">
                          <p:tn val="2"/>
                        </p:cond>
                      </p:stCondLst>
                      <p:childTnLst>
                        <p:par>
                          <p:cTn id="70" fill="hold">
                            <p:stCondLst>
                              <p:cond delay="0"/>
                            </p:stCondLst>
                            <p:childTnLst>
                              <p:par>
                                <p:cTn id="6" presetID="42" presetClass="entr" presetSubtype="0" fill="hold" grpId="0" nodeType="withEffect">
                                  <p:stCondLst>
                                    <p:cond delay="380"/>
                                  </p:stCondLst>
                                  <p:childTnLst>
                                    <p:set>
                                      <p:cBhvr>
                                        <p:cTn id="7" dur="1" fill="hold">
                                          <p:stCondLst>
                                            <p:cond delay="0"/>
                                          </p:stCondLst>
                                        </p:cTn>
                                        <p:tgtEl>
                                          <p:spTgt spid="6"/>
                                        </p:tgtEl>
                                        <p:attrNameLst>
                                          <p:attrName>style.visibility</p:attrName>
                                        </p:attrNameLst>
                                      </p:cBhvr>
                                      <p:to>
                                        <p:strVal val="visible"/>
                                      </p:to>
                                    </p:set>
                                    <p:animEffect transition="in" filter="fade">
                                      <p:cBhvr>
                                        <p:cTn id="3" dur="700"/>
                                        <p:tgtEl>
                                          <p:spTgt spid="6"/>
                                        </p:tgtEl>
                                      </p:cBhvr>
                                    </p:animEffect>
                                    <p:anim calcmode="lin" valueType="num">
                                      <p:cBhvr additive="base">
                                        <p:cTn id="4" dur="700" fill="hold"/>
                                        <p:tgtEl>
                                          <p:spTgt spid="6"/>
                                        </p:tgtEl>
                                        <p:attrNameLst>
                                          <p:attrName>ppt_x</p:attrName>
                                        </p:attrNameLst>
                                      </p:cBhvr>
                                      <p:tavLst>
                                        <p:tav tm="0">
                                          <p:val>
                                            <p:strVal val="#ppt_x"/>
                                          </p:val>
                                        </p:tav>
                                        <p:tav tm="100000">
                                          <p:val>
                                            <p:strVal val="#ppt_x"/>
                                          </p:val>
                                        </p:tav>
                                      </p:tavLst>
                                    </p:anim>
                                    <p:anim calcmode="lin" valueType="num">
                                      <p:cBhvr additive="base">
                                        <p:cTn id="5" dur="700" fill="hold"/>
                                        <p:tgtEl>
                                          <p:spTgt spid="6"/>
                                        </p:tgtEl>
                                        <p:attrNameLst>
                                          <p:attrName>ppt_y</p:attrName>
                                        </p:attrNameLst>
                                      </p:cBhvr>
                                      <p:tavLst>
                                        <p:tav tm="0">
                                          <p:val>
                                            <p:strVal val="#ppt_y+.08"/>
                                          </p:val>
                                        </p:tav>
                                        <p:tav tm="100000">
                                          <p:val>
                                            <p:strVal val="#ppt_y"/>
                                          </p:val>
                                        </p:tav>
                                      </p:tavLst>
                                    </p:anim>
                                  </p:childTnLst>
                                </p:cTn>
                              </p:par>
                              <p:par>
                                <p:cTn id="11" presetID="53" presetClass="entr" presetSubtype="16" fill="hold" grpId="0" nodeType="withEffect">
                                  <p:stCondLst>
                                    <p:cond delay="38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8" dur="550" fill="hold"/>
                                        <p:tgtEl>
                                          <p:spTgt spid="7"/>
                                        </p:tgtEl>
                                        <p:attrNameLst>
                                          <p:attrName>ppt_w</p:attrName>
                                        </p:attrNameLst>
                                      </p:cBhvr>
                                      <p:tavLst>
                                        <p:tav tm="0">
                                          <p:val>
                                            <p:strVal val="0"/>
                                          </p:val>
                                        </p:tav>
                                        <p:tav tm="100000">
                                          <p:val>
                                            <p:strVal val="#ppt_w"/>
                                          </p:val>
                                        </p:tav>
                                      </p:tavLst>
                                    </p:anim>
                                    <p:anim calcmode="lin" valueType="num">
                                      <p:cBhvr additive="base">
                                        <p:cTn id="9" dur="550" fill="hold"/>
                                        <p:tgtEl>
                                          <p:spTgt spid="7"/>
                                        </p:tgtEl>
                                        <p:attrNameLst>
                                          <p:attrName>ppt_h</p:attrName>
                                        </p:attrNameLst>
                                      </p:cBhvr>
                                      <p:tavLst>
                                        <p:tav tm="0">
                                          <p:val>
                                            <p:strVal val="0"/>
                                          </p:val>
                                        </p:tav>
                                        <p:tav tm="100000">
                                          <p:val>
                                            <p:strVal val="#ppt_h"/>
                                          </p:val>
                                        </p:tav>
                                      </p:tavLst>
                                    </p:anim>
                                    <p:animEffect transition="in" filter="fade">
                                      <p:cBhvr>
                                        <p:cTn id="10" dur="550"/>
                                        <p:tgtEl>
                                          <p:spTgt spid="7"/>
                                        </p:tgtEl>
                                      </p:cBhvr>
                                    </p:animEffect>
                                  </p:childTnLst>
                                </p:cTn>
                              </p:par>
                              <p:par>
                                <p:cTn id="16" presetID="53" presetClass="entr" presetSubtype="16" fill="hold" grpId="0" nodeType="withEffect">
                                  <p:stCondLst>
                                    <p:cond delay="380"/>
                                  </p:stCondLst>
                                  <p:childTnLst>
                                    <p:set>
                                      <p:cBhvr>
                                        <p:cTn id="17" dur="1" fill="hold">
                                          <p:stCondLst>
                                            <p:cond delay="0"/>
                                          </p:stCondLst>
                                        </p:cTn>
                                        <p:tgtEl>
                                          <p:spTgt spid="8"/>
                                        </p:tgtEl>
                                        <p:attrNameLst>
                                          <p:attrName>style.visibility</p:attrName>
                                        </p:attrNameLst>
                                      </p:cBhvr>
                                      <p:to>
                                        <p:strVal val="visible"/>
                                      </p:to>
                                    </p:set>
                                    <p:anim calcmode="lin" valueType="num">
                                      <p:cBhvr additive="base">
                                        <p:cTn id="13" dur="550" fill="hold"/>
                                        <p:tgtEl>
                                          <p:spTgt spid="8"/>
                                        </p:tgtEl>
                                        <p:attrNameLst>
                                          <p:attrName>ppt_w</p:attrName>
                                        </p:attrNameLst>
                                      </p:cBhvr>
                                      <p:tavLst>
                                        <p:tav tm="0">
                                          <p:val>
                                            <p:strVal val="0"/>
                                          </p:val>
                                        </p:tav>
                                        <p:tav tm="100000">
                                          <p:val>
                                            <p:strVal val="#ppt_w"/>
                                          </p:val>
                                        </p:tav>
                                      </p:tavLst>
                                    </p:anim>
                                    <p:anim calcmode="lin" valueType="num">
                                      <p:cBhvr additive="base">
                                        <p:cTn id="14" dur="550" fill="hold"/>
                                        <p:tgtEl>
                                          <p:spTgt spid="8"/>
                                        </p:tgtEl>
                                        <p:attrNameLst>
                                          <p:attrName>ppt_h</p:attrName>
                                        </p:attrNameLst>
                                      </p:cBhvr>
                                      <p:tavLst>
                                        <p:tav tm="0">
                                          <p:val>
                                            <p:strVal val="0"/>
                                          </p:val>
                                        </p:tav>
                                        <p:tav tm="100000">
                                          <p:val>
                                            <p:strVal val="#ppt_h"/>
                                          </p:val>
                                        </p:tav>
                                      </p:tavLst>
                                    </p:anim>
                                    <p:animEffect transition="in" filter="fade">
                                      <p:cBhvr>
                                        <p:cTn id="15" dur="550"/>
                                        <p:tgtEl>
                                          <p:spTgt spid="8"/>
                                        </p:tgtEl>
                                      </p:cBhvr>
                                    </p:animEffect>
                                  </p:childTnLst>
                                </p:cTn>
                              </p:par>
                              <p:par>
                                <p:cTn id="21" presetID="42" presetClass="entr" presetSubtype="0" fill="hold" grpId="0" nodeType="withEffect">
                                  <p:stCondLst>
                                    <p:cond delay="380"/>
                                  </p:stCondLst>
                                  <p:childTnLst>
                                    <p:set>
                                      <p:cBhvr>
                                        <p:cTn id="22" dur="1" fill="hold">
                                          <p:stCondLst>
                                            <p:cond delay="0"/>
                                          </p:stCondLst>
                                        </p:cTn>
                                        <p:tgtEl>
                                          <p:spTgt spid="9"/>
                                        </p:tgtEl>
                                        <p:attrNameLst>
                                          <p:attrName>style.visibility</p:attrName>
                                        </p:attrNameLst>
                                      </p:cBhvr>
                                      <p:to>
                                        <p:strVal val="visible"/>
                                      </p:to>
                                    </p:set>
                                    <p:animEffect transition="in" filter="fade">
                                      <p:cBhvr>
                                        <p:cTn id="18" dur="700"/>
                                        <p:tgtEl>
                                          <p:spTgt spid="9"/>
                                        </p:tgtEl>
                                      </p:cBhvr>
                                    </p:animEffect>
                                    <p:anim calcmode="lin" valueType="num">
                                      <p:cBhvr additive="base">
                                        <p:cTn id="19" dur="700" fill="hold"/>
                                        <p:tgtEl>
                                          <p:spTgt spid="9"/>
                                        </p:tgtEl>
                                        <p:attrNameLst>
                                          <p:attrName>ppt_x</p:attrName>
                                        </p:attrNameLst>
                                      </p:cBhvr>
                                      <p:tavLst>
                                        <p:tav tm="0">
                                          <p:val>
                                            <p:strVal val="#ppt_x"/>
                                          </p:val>
                                        </p:tav>
                                        <p:tav tm="100000">
                                          <p:val>
                                            <p:strVal val="#ppt_x"/>
                                          </p:val>
                                        </p:tav>
                                      </p:tavLst>
                                    </p:anim>
                                    <p:anim calcmode="lin" valueType="num">
                                      <p:cBhvr additive="base">
                                        <p:cTn id="20" dur="700" fill="hold"/>
                                        <p:tgtEl>
                                          <p:spTgt spid="9"/>
                                        </p:tgtEl>
                                        <p:attrNameLst>
                                          <p:attrName>ppt_y</p:attrName>
                                        </p:attrNameLst>
                                      </p:cBhvr>
                                      <p:tavLst>
                                        <p:tav tm="0">
                                          <p:val>
                                            <p:strVal val="#ppt_y+.08"/>
                                          </p:val>
                                        </p:tav>
                                        <p:tav tm="100000">
                                          <p:val>
                                            <p:strVal val="#ppt_y"/>
                                          </p:val>
                                        </p:tav>
                                      </p:tavLst>
                                    </p:anim>
                                  </p:childTnLst>
                                </p:cTn>
                              </p:par>
                              <p:par>
                                <p:cTn id="26" presetID="42" presetClass="entr" presetSubtype="0" fill="hold" grpId="0" nodeType="withEffect">
                                  <p:stCondLst>
                                    <p:cond delay="380"/>
                                  </p:stCondLst>
                                  <p:childTnLst>
                                    <p:set>
                                      <p:cBhvr>
                                        <p:cTn id="27" dur="1" fill="hold">
                                          <p:stCondLst>
                                            <p:cond delay="0"/>
                                          </p:stCondLst>
                                        </p:cTn>
                                        <p:tgtEl>
                                          <p:spTgt spid="10"/>
                                        </p:tgtEl>
                                        <p:attrNameLst>
                                          <p:attrName>style.visibility</p:attrName>
                                        </p:attrNameLst>
                                      </p:cBhvr>
                                      <p:to>
                                        <p:strVal val="visible"/>
                                      </p:to>
                                    </p:set>
                                    <p:animEffect transition="in" filter="fade">
                                      <p:cBhvr>
                                        <p:cTn id="23" dur="700"/>
                                        <p:tgtEl>
                                          <p:spTgt spid="10"/>
                                        </p:tgtEl>
                                      </p:cBhvr>
                                    </p:animEffect>
                                    <p:anim calcmode="lin" valueType="num">
                                      <p:cBhvr additive="base">
                                        <p:cTn id="24" dur="700" fill="hold"/>
                                        <p:tgtEl>
                                          <p:spTgt spid="10"/>
                                        </p:tgtEl>
                                        <p:attrNameLst>
                                          <p:attrName>ppt_x</p:attrName>
                                        </p:attrNameLst>
                                      </p:cBhvr>
                                      <p:tavLst>
                                        <p:tav tm="0">
                                          <p:val>
                                            <p:strVal val="#ppt_x"/>
                                          </p:val>
                                        </p:tav>
                                        <p:tav tm="100000">
                                          <p:val>
                                            <p:strVal val="#ppt_x"/>
                                          </p:val>
                                        </p:tav>
                                      </p:tavLst>
                                    </p:anim>
                                    <p:anim calcmode="lin" valueType="num">
                                      <p:cBhvr additive="base">
                                        <p:cTn id="25" dur="700" fill="hold"/>
                                        <p:tgtEl>
                                          <p:spTgt spid="10"/>
                                        </p:tgtEl>
                                        <p:attrNameLst>
                                          <p:attrName>ppt_y</p:attrName>
                                        </p:attrNameLst>
                                      </p:cBhvr>
                                      <p:tavLst>
                                        <p:tav tm="0">
                                          <p:val>
                                            <p:strVal val="#ppt_y+.08"/>
                                          </p:val>
                                        </p:tav>
                                        <p:tav tm="100000">
                                          <p:val>
                                            <p:strVal val="#ppt_y"/>
                                          </p:val>
                                        </p:tav>
                                      </p:tavLst>
                                    </p:anim>
                                  </p:childTnLst>
                                </p:cTn>
                              </p:par>
                              <p:par>
                                <p:cTn id="31" presetID="42" presetClass="entr" presetSubtype="0" fill="hold" grpId="0" nodeType="withEffect">
                                  <p:stCondLst>
                                    <p:cond delay="760"/>
                                  </p:stCondLst>
                                  <p:childTnLst>
                                    <p:set>
                                      <p:cBhvr>
                                        <p:cTn id="32" dur="1" fill="hold">
                                          <p:stCondLst>
                                            <p:cond delay="0"/>
                                          </p:stCondLst>
                                        </p:cTn>
                                        <p:tgtEl>
                                          <p:spTgt spid="11"/>
                                        </p:tgtEl>
                                        <p:attrNameLst>
                                          <p:attrName>style.visibility</p:attrName>
                                        </p:attrNameLst>
                                      </p:cBhvr>
                                      <p:to>
                                        <p:strVal val="visible"/>
                                      </p:to>
                                    </p:set>
                                    <p:animEffect transition="in" filter="fade">
                                      <p:cBhvr>
                                        <p:cTn id="28" dur="700"/>
                                        <p:tgtEl>
                                          <p:spTgt spid="11"/>
                                        </p:tgtEl>
                                      </p:cBhvr>
                                    </p:animEffect>
                                    <p:anim calcmode="lin" valueType="num">
                                      <p:cBhvr additive="base">
                                        <p:cTn id="29" dur="700" fill="hold"/>
                                        <p:tgtEl>
                                          <p:spTgt spid="11"/>
                                        </p:tgtEl>
                                        <p:attrNameLst>
                                          <p:attrName>ppt_x</p:attrName>
                                        </p:attrNameLst>
                                      </p:cBhvr>
                                      <p:tavLst>
                                        <p:tav tm="0">
                                          <p:val>
                                            <p:strVal val="#ppt_x"/>
                                          </p:val>
                                        </p:tav>
                                        <p:tav tm="100000">
                                          <p:val>
                                            <p:strVal val="#ppt_x"/>
                                          </p:val>
                                        </p:tav>
                                      </p:tavLst>
                                    </p:anim>
                                    <p:anim calcmode="lin" valueType="num">
                                      <p:cBhvr additive="base">
                                        <p:cTn id="30" dur="700" fill="hold"/>
                                        <p:tgtEl>
                                          <p:spTgt spid="11"/>
                                        </p:tgtEl>
                                        <p:attrNameLst>
                                          <p:attrName>ppt_y</p:attrName>
                                        </p:attrNameLst>
                                      </p:cBhvr>
                                      <p:tavLst>
                                        <p:tav tm="0">
                                          <p:val>
                                            <p:strVal val="#ppt_y+.08"/>
                                          </p:val>
                                        </p:tav>
                                        <p:tav tm="100000">
                                          <p:val>
                                            <p:strVal val="#ppt_y"/>
                                          </p:val>
                                        </p:tav>
                                      </p:tavLst>
                                    </p:anim>
                                  </p:childTnLst>
                                </p:cTn>
                              </p:par>
                              <p:par>
                                <p:cTn id="36" presetID="53" presetClass="entr" presetSubtype="16" fill="hold" grpId="0" nodeType="withEffect">
                                  <p:stCondLst>
                                    <p:cond delay="760"/>
                                  </p:stCondLst>
                                  <p:childTnLst>
                                    <p:set>
                                      <p:cBhvr>
                                        <p:cTn id="37" dur="1" fill="hold">
                                          <p:stCondLst>
                                            <p:cond delay="0"/>
                                          </p:stCondLst>
                                        </p:cTn>
                                        <p:tgtEl>
                                          <p:spTgt spid="12"/>
                                        </p:tgtEl>
                                        <p:attrNameLst>
                                          <p:attrName>style.visibility</p:attrName>
                                        </p:attrNameLst>
                                      </p:cBhvr>
                                      <p:to>
                                        <p:strVal val="visible"/>
                                      </p:to>
                                    </p:set>
                                    <p:anim calcmode="lin" valueType="num">
                                      <p:cBhvr additive="base">
                                        <p:cTn id="33" dur="550" fill="hold"/>
                                        <p:tgtEl>
                                          <p:spTgt spid="12"/>
                                        </p:tgtEl>
                                        <p:attrNameLst>
                                          <p:attrName>ppt_w</p:attrName>
                                        </p:attrNameLst>
                                      </p:cBhvr>
                                      <p:tavLst>
                                        <p:tav tm="0">
                                          <p:val>
                                            <p:strVal val="0"/>
                                          </p:val>
                                        </p:tav>
                                        <p:tav tm="100000">
                                          <p:val>
                                            <p:strVal val="#ppt_w"/>
                                          </p:val>
                                        </p:tav>
                                      </p:tavLst>
                                    </p:anim>
                                    <p:anim calcmode="lin" valueType="num">
                                      <p:cBhvr additive="base">
                                        <p:cTn id="34" dur="550" fill="hold"/>
                                        <p:tgtEl>
                                          <p:spTgt spid="12"/>
                                        </p:tgtEl>
                                        <p:attrNameLst>
                                          <p:attrName>ppt_h</p:attrName>
                                        </p:attrNameLst>
                                      </p:cBhvr>
                                      <p:tavLst>
                                        <p:tav tm="0">
                                          <p:val>
                                            <p:strVal val="0"/>
                                          </p:val>
                                        </p:tav>
                                        <p:tav tm="100000">
                                          <p:val>
                                            <p:strVal val="#ppt_h"/>
                                          </p:val>
                                        </p:tav>
                                      </p:tavLst>
                                    </p:anim>
                                    <p:animEffect transition="in" filter="fade">
                                      <p:cBhvr>
                                        <p:cTn id="35" dur="550"/>
                                        <p:tgtEl>
                                          <p:spTgt spid="12"/>
                                        </p:tgtEl>
                                      </p:cBhvr>
                                    </p:animEffect>
                                  </p:childTnLst>
                                </p:cTn>
                              </p:par>
                              <p:par>
                                <p:cTn id="41" presetID="53" presetClass="entr" presetSubtype="16" fill="hold" grpId="0" nodeType="withEffect">
                                  <p:stCondLst>
                                    <p:cond delay="76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38" dur="550" fill="hold"/>
                                        <p:tgtEl>
                                          <p:spTgt spid="13"/>
                                        </p:tgtEl>
                                        <p:attrNameLst>
                                          <p:attrName>ppt_w</p:attrName>
                                        </p:attrNameLst>
                                      </p:cBhvr>
                                      <p:tavLst>
                                        <p:tav tm="0">
                                          <p:val>
                                            <p:strVal val="0"/>
                                          </p:val>
                                        </p:tav>
                                        <p:tav tm="100000">
                                          <p:val>
                                            <p:strVal val="#ppt_w"/>
                                          </p:val>
                                        </p:tav>
                                      </p:tavLst>
                                    </p:anim>
                                    <p:anim calcmode="lin" valueType="num">
                                      <p:cBhvr additive="base">
                                        <p:cTn id="39" dur="550" fill="hold"/>
                                        <p:tgtEl>
                                          <p:spTgt spid="13"/>
                                        </p:tgtEl>
                                        <p:attrNameLst>
                                          <p:attrName>ppt_h</p:attrName>
                                        </p:attrNameLst>
                                      </p:cBhvr>
                                      <p:tavLst>
                                        <p:tav tm="0">
                                          <p:val>
                                            <p:strVal val="0"/>
                                          </p:val>
                                        </p:tav>
                                        <p:tav tm="100000">
                                          <p:val>
                                            <p:strVal val="#ppt_h"/>
                                          </p:val>
                                        </p:tav>
                                      </p:tavLst>
                                    </p:anim>
                                    <p:animEffect transition="in" filter="fade">
                                      <p:cBhvr>
                                        <p:cTn id="40" dur="550"/>
                                        <p:tgtEl>
                                          <p:spTgt spid="13"/>
                                        </p:tgtEl>
                                      </p:cBhvr>
                                    </p:animEffect>
                                  </p:childTnLst>
                                </p:cTn>
                              </p:par>
                              <p:par>
                                <p:cTn id="46" presetID="42" presetClass="entr" presetSubtype="0" fill="hold" grpId="0" nodeType="withEffect">
                                  <p:stCondLst>
                                    <p:cond delay="760"/>
                                  </p:stCondLst>
                                  <p:childTnLst>
                                    <p:set>
                                      <p:cBhvr>
                                        <p:cTn id="47" dur="1" fill="hold">
                                          <p:stCondLst>
                                            <p:cond delay="0"/>
                                          </p:stCondLst>
                                        </p:cTn>
                                        <p:tgtEl>
                                          <p:spTgt spid="14"/>
                                        </p:tgtEl>
                                        <p:attrNameLst>
                                          <p:attrName>style.visibility</p:attrName>
                                        </p:attrNameLst>
                                      </p:cBhvr>
                                      <p:to>
                                        <p:strVal val="visible"/>
                                      </p:to>
                                    </p:set>
                                    <p:animEffect transition="in" filter="fade">
                                      <p:cBhvr>
                                        <p:cTn id="43" dur="700"/>
                                        <p:tgtEl>
                                          <p:spTgt spid="14"/>
                                        </p:tgtEl>
                                      </p:cBhvr>
                                    </p:animEffect>
                                    <p:anim calcmode="lin" valueType="num">
                                      <p:cBhvr additive="base">
                                        <p:cTn id="44" dur="700" fill="hold"/>
                                        <p:tgtEl>
                                          <p:spTgt spid="14"/>
                                        </p:tgtEl>
                                        <p:attrNameLst>
                                          <p:attrName>ppt_x</p:attrName>
                                        </p:attrNameLst>
                                      </p:cBhvr>
                                      <p:tavLst>
                                        <p:tav tm="0">
                                          <p:val>
                                            <p:strVal val="#ppt_x"/>
                                          </p:val>
                                        </p:tav>
                                        <p:tav tm="100000">
                                          <p:val>
                                            <p:strVal val="#ppt_x"/>
                                          </p:val>
                                        </p:tav>
                                      </p:tavLst>
                                    </p:anim>
                                    <p:anim calcmode="lin" valueType="num">
                                      <p:cBhvr additive="base">
                                        <p:cTn id="45" dur="700" fill="hold"/>
                                        <p:tgtEl>
                                          <p:spTgt spid="14"/>
                                        </p:tgtEl>
                                        <p:attrNameLst>
                                          <p:attrName>ppt_y</p:attrName>
                                        </p:attrNameLst>
                                      </p:cBhvr>
                                      <p:tavLst>
                                        <p:tav tm="0">
                                          <p:val>
                                            <p:strVal val="#ppt_y+.08"/>
                                          </p:val>
                                        </p:tav>
                                        <p:tav tm="100000">
                                          <p:val>
                                            <p:strVal val="#ppt_y"/>
                                          </p:val>
                                        </p:tav>
                                      </p:tavLst>
                                    </p:anim>
                                  </p:childTnLst>
                                </p:cTn>
                              </p:par>
                              <p:par>
                                <p:cTn id="51" presetID="42" presetClass="entr" presetSubtype="0" fill="hold" grpId="0" nodeType="withEffect">
                                  <p:stCondLst>
                                    <p:cond delay="760"/>
                                  </p:stCondLst>
                                  <p:childTnLst>
                                    <p:set>
                                      <p:cBhvr>
                                        <p:cTn id="52" dur="1" fill="hold">
                                          <p:stCondLst>
                                            <p:cond delay="0"/>
                                          </p:stCondLst>
                                        </p:cTn>
                                        <p:tgtEl>
                                          <p:spTgt spid="15"/>
                                        </p:tgtEl>
                                        <p:attrNameLst>
                                          <p:attrName>style.visibility</p:attrName>
                                        </p:attrNameLst>
                                      </p:cBhvr>
                                      <p:to>
                                        <p:strVal val="visible"/>
                                      </p:to>
                                    </p:set>
                                    <p:animEffect transition="in" filter="fade">
                                      <p:cBhvr>
                                        <p:cTn id="48" dur="700"/>
                                        <p:tgtEl>
                                          <p:spTgt spid="15"/>
                                        </p:tgtEl>
                                      </p:cBhvr>
                                    </p:animEffect>
                                    <p:anim calcmode="lin" valueType="num">
                                      <p:cBhvr additive="base">
                                        <p:cTn id="49" dur="700" fill="hold"/>
                                        <p:tgtEl>
                                          <p:spTgt spid="15"/>
                                        </p:tgtEl>
                                        <p:attrNameLst>
                                          <p:attrName>ppt_x</p:attrName>
                                        </p:attrNameLst>
                                      </p:cBhvr>
                                      <p:tavLst>
                                        <p:tav tm="0">
                                          <p:val>
                                            <p:strVal val="#ppt_x"/>
                                          </p:val>
                                        </p:tav>
                                        <p:tav tm="100000">
                                          <p:val>
                                            <p:strVal val="#ppt_x"/>
                                          </p:val>
                                        </p:tav>
                                      </p:tavLst>
                                    </p:anim>
                                    <p:anim calcmode="lin" valueType="num">
                                      <p:cBhvr additive="base">
                                        <p:cTn id="50" dur="700" fill="hold"/>
                                        <p:tgtEl>
                                          <p:spTgt spid="15"/>
                                        </p:tgtEl>
                                        <p:attrNameLst>
                                          <p:attrName>ppt_y</p:attrName>
                                        </p:attrNameLst>
                                      </p:cBhvr>
                                      <p:tavLst>
                                        <p:tav tm="0">
                                          <p:val>
                                            <p:strVal val="#ppt_y+.08"/>
                                          </p:val>
                                        </p:tav>
                                        <p:tav tm="100000">
                                          <p:val>
                                            <p:strVal val="#ppt_y"/>
                                          </p:val>
                                        </p:tav>
                                      </p:tavLst>
                                    </p:anim>
                                  </p:childTnLst>
                                </p:cTn>
                              </p:par>
                              <p:par>
                                <p:cTn id="54" presetID="10" presetClass="entr" presetSubtype="0" fill="hold" grpId="0" nodeType="withEffect">
                                  <p:stCondLst>
                                    <p:cond delay="1140"/>
                                  </p:stCondLst>
                                  <p:childTnLst>
                                    <p:set>
                                      <p:cBhvr>
                                        <p:cTn id="55" dur="1" fill="hold">
                                          <p:stCondLst>
                                            <p:cond delay="0"/>
                                          </p:stCondLst>
                                        </p:cTn>
                                        <p:tgtEl>
                                          <p:spTgt spid="16"/>
                                        </p:tgtEl>
                                        <p:attrNameLst>
                                          <p:attrName>style.visibility</p:attrName>
                                        </p:attrNameLst>
                                      </p:cBhvr>
                                      <p:to>
                                        <p:strVal val="visible"/>
                                      </p:to>
                                    </p:set>
                                    <p:animEffect transition="in" filter="fade">
                                      <p:cBhvr>
                                        <p:cTn id="53" dur="600"/>
                                        <p:tgtEl>
                                          <p:spTgt spid="16"/>
                                        </p:tgtEl>
                                      </p:cBhvr>
                                    </p:animEffect>
                                  </p:childTnLst>
                                </p:cTn>
                              </p:par>
                              <p:par>
                                <p:cTn id="57" presetID="22" presetClass="entr" presetSubtype="8" fill="hold" grpId="0" nodeType="withEffect">
                                  <p:stCondLst>
                                    <p:cond delay="1520"/>
                                  </p:stCondLst>
                                  <p:childTnLst>
                                    <p:set>
                                      <p:cBhvr>
                                        <p:cTn id="58" dur="1" fill="hold">
                                          <p:stCondLst>
                                            <p:cond delay="0"/>
                                          </p:stCondLst>
                                        </p:cTn>
                                        <p:tgtEl>
                                          <p:spTgt spid="17"/>
                                        </p:tgtEl>
                                        <p:attrNameLst>
                                          <p:attrName>style.visibility</p:attrName>
                                        </p:attrNameLst>
                                      </p:cBhvr>
                                      <p:to>
                                        <p:strVal val="visible"/>
                                      </p:to>
                                    </p:set>
                                    <p:animEffect transition="in" filter="wipe(left)">
                                      <p:cBhvr>
                                        <p:cTn id="56" dur="800"/>
                                        <p:tgtEl>
                                          <p:spTgt spid="17"/>
                                        </p:tgtEl>
                                      </p:cBhvr>
                                    </p:animEffect>
                                  </p:childTnLst>
                                </p:cTn>
                              </p:par>
                              <p:par>
                                <p:cTn id="62" presetID="42" presetClass="entr" presetSubtype="0" fill="hold" grpId="0" nodeType="withEffect">
                                  <p:stCondLst>
                                    <p:cond delay="1900"/>
                                  </p:stCondLst>
                                  <p:childTnLst>
                                    <p:set>
                                      <p:cBhvr>
                                        <p:cTn id="63" dur="1" fill="hold">
                                          <p:stCondLst>
                                            <p:cond delay="0"/>
                                          </p:stCondLst>
                                        </p:cTn>
                                        <p:tgtEl>
                                          <p:spTgt spid="18"/>
                                        </p:tgtEl>
                                        <p:attrNameLst>
                                          <p:attrName>style.visibility</p:attrName>
                                        </p:attrNameLst>
                                      </p:cBhvr>
                                      <p:to>
                                        <p:strVal val="visible"/>
                                      </p:to>
                                    </p:set>
                                    <p:animEffect transition="in" filter="fade">
                                      <p:cBhvr>
                                        <p:cTn id="59" dur="700"/>
                                        <p:tgtEl>
                                          <p:spTgt spid="18"/>
                                        </p:tgtEl>
                                      </p:cBhvr>
                                    </p:animEffect>
                                    <p:anim calcmode="lin" valueType="num">
                                      <p:cBhvr additive="base">
                                        <p:cTn id="60" dur="700" fill="hold"/>
                                        <p:tgtEl>
                                          <p:spTgt spid="18"/>
                                        </p:tgtEl>
                                        <p:attrNameLst>
                                          <p:attrName>ppt_x</p:attrName>
                                        </p:attrNameLst>
                                      </p:cBhvr>
                                      <p:tavLst>
                                        <p:tav tm="0">
                                          <p:val>
                                            <p:strVal val="#ppt_x"/>
                                          </p:val>
                                        </p:tav>
                                        <p:tav tm="100000">
                                          <p:val>
                                            <p:strVal val="#ppt_x"/>
                                          </p:val>
                                        </p:tav>
                                      </p:tavLst>
                                    </p:anim>
                                    <p:anim calcmode="lin" valueType="num">
                                      <p:cBhvr additive="base">
                                        <p:cTn id="61" dur="700" fill="hold"/>
                                        <p:tgtEl>
                                          <p:spTgt spid="18"/>
                                        </p:tgtEl>
                                        <p:attrNameLst>
                                          <p:attrName>ppt_y</p:attrName>
                                        </p:attrNameLst>
                                      </p:cBhvr>
                                      <p:tavLst>
                                        <p:tav tm="0">
                                          <p:val>
                                            <p:strVal val="#ppt_y+.08"/>
                                          </p:val>
                                        </p:tav>
                                        <p:tav tm="100000">
                                          <p:val>
                                            <p:strVal val="#ppt_y"/>
                                          </p:val>
                                        </p:tav>
                                      </p:tavLst>
                                    </p:anim>
                                  </p:childTnLst>
                                </p:cTn>
                              </p:par>
                              <p:par>
                                <p:cTn id="67" presetID="42" presetClass="entr" presetSubtype="0" fill="hold" grpId="0" nodeType="withEffect">
                                  <p:stCondLst>
                                    <p:cond delay="1900"/>
                                  </p:stCondLst>
                                  <p:childTnLst>
                                    <p:set>
                                      <p:cBhvr>
                                        <p:cTn id="68" dur="1" fill="hold">
                                          <p:stCondLst>
                                            <p:cond delay="0"/>
                                          </p:stCondLst>
                                        </p:cTn>
                                        <p:tgtEl>
                                          <p:spTgt spid="19"/>
                                        </p:tgtEl>
                                        <p:attrNameLst>
                                          <p:attrName>style.visibility</p:attrName>
                                        </p:attrNameLst>
                                      </p:cBhvr>
                                      <p:to>
                                        <p:strVal val="visible"/>
                                      </p:to>
                                    </p:set>
                                    <p:animEffect transition="in" filter="fade">
                                      <p:cBhvr>
                                        <p:cTn id="64" dur="700"/>
                                        <p:tgtEl>
                                          <p:spTgt spid="19"/>
                                        </p:tgtEl>
                                      </p:cBhvr>
                                    </p:animEffect>
                                    <p:anim calcmode="lin" valueType="num">
                                      <p:cBhvr additive="base">
                                        <p:cTn id="65" dur="700" fill="hold"/>
                                        <p:tgtEl>
                                          <p:spTgt spid="19"/>
                                        </p:tgtEl>
                                        <p:attrNameLst>
                                          <p:attrName>ppt_x</p:attrName>
                                        </p:attrNameLst>
                                      </p:cBhvr>
                                      <p:tavLst>
                                        <p:tav tm="0">
                                          <p:val>
                                            <p:strVal val="#ppt_x"/>
                                          </p:val>
                                        </p:tav>
                                        <p:tav tm="100000">
                                          <p:val>
                                            <p:strVal val="#ppt_x"/>
                                          </p:val>
                                        </p:tav>
                                      </p:tavLst>
                                    </p:anim>
                                    <p:anim calcmode="lin" valueType="num">
                                      <p:cBhvr additive="base">
                                        <p:cTn id="66" dur="700" fill="hold"/>
                                        <p:tgtEl>
                                          <p:spTgt spid="19"/>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4" grpId="0" animBg="1"/>
      <p:bldP spid="15" grpId="0" animBg="1"/>
      <p:bldP spid="16" grpId="0" animBg="1"/>
      <p:bldGraphic spid="17" grpId="0">
        <p:bldAsOne/>
      </p:bldGraphic>
      <p:bldP spid="1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7406640" y="-1005840"/>
            <a:ext cx="2560320" cy="2560320"/>
          </a:xfrm>
          <a:prstGeom prst="rect">
            <a:avLst/>
          </a:prstGeom>
        </p:spPr>
      </p:pic>
      <p:sp>
        <p:nvSpPr>
          <p:cNvPr id="3" name="Text 0"/>
          <p:cNvSpPr txBox="1"/>
          <p:nvPr/>
        </p:nvSpPr>
        <p:spPr>
          <a:xfrm>
            <a:off x="457200" y="274320"/>
            <a:ext cx="6858000" cy="228600"/>
          </a:xfrm>
          <a:prstGeom prst="rect">
            <a:avLst/>
          </a:prstGeom>
          <a:noFill/>
          <a:ln/>
        </p:spPr>
        <p:txBody>
          <a:bodyPr wrap="square" lIns="0" tIns="0" rIns="0" bIns="0" rtlCol="0" anchor="t"/>
          <a:lstStyle/>
          <a:p>
            <a:pPr indent="0" marL="0">
              <a:buNone/>
            </a:pPr>
            <a:r>
              <a:rPr lang="en-US" sz="1050" b="1" spc="200" kern="0" dirty="0">
                <a:solidFill>
                  <a:srgbClr val="D9473F"/>
                </a:solidFill>
                <a:latin typeface="Calibri" pitchFamily="34" charset="0"/>
                <a:ea typeface="Calibri" pitchFamily="34" charset="-122"/>
                <a:cs typeface="Calibri" pitchFamily="34" charset="-120"/>
              </a:rPr>
              <a:t>III · 3.2 — INCONVÉNIENTS</a:t>
            </a:r>
            <a:endParaRPr lang="en-US" sz="1050" dirty="0"/>
          </a:p>
        </p:txBody>
      </p:sp>
      <p:sp>
        <p:nvSpPr>
          <p:cNvPr id="4" name="Text 1"/>
          <p:cNvSpPr txBox="1"/>
          <p:nvPr/>
        </p:nvSpPr>
        <p:spPr>
          <a:xfrm>
            <a:off x="457200" y="502920"/>
            <a:ext cx="7863840" cy="548640"/>
          </a:xfrm>
          <a:prstGeom prst="rect">
            <a:avLst/>
          </a:prstGeom>
          <a:noFill/>
          <a:ln/>
        </p:spPr>
        <p:txBody>
          <a:bodyPr wrap="square" lIns="0" tIns="0" rIns="0" bIns="0" rtlCol="0" anchor="ctr"/>
          <a:lstStyle/>
          <a:p>
            <a:pPr indent="0" marL="0">
              <a:buNone/>
            </a:pPr>
            <a:r>
              <a:rPr lang="en-US" sz="2600" b="1" dirty="0">
                <a:solidFill>
                  <a:srgbClr val="0B1F4B"/>
                </a:solidFill>
                <a:latin typeface="Cambria" pitchFamily="34" charset="0"/>
                <a:ea typeface="Cambria" pitchFamily="34" charset="-122"/>
                <a:cs typeface="Cambria" pitchFamily="34" charset="-120"/>
              </a:rPr>
              <a:t>Tout le monde n'y gagne pas de la même façon</a:t>
            </a:r>
            <a:endParaRPr lang="en-US" sz="2600" dirty="0"/>
          </a:p>
        </p:txBody>
      </p:sp>
      <p:sp>
        <p:nvSpPr>
          <p:cNvPr id="5" name="Text 2"/>
          <p:cNvSpPr txBox="1"/>
          <p:nvPr/>
        </p:nvSpPr>
        <p:spPr>
          <a:xfrm>
            <a:off x="8321040" y="4773168"/>
            <a:ext cx="365760" cy="228600"/>
          </a:xfrm>
          <a:prstGeom prst="rect">
            <a:avLst/>
          </a:prstGeom>
          <a:noFill/>
          <a:ln/>
        </p:spPr>
        <p:txBody>
          <a:bodyPr wrap="square" lIns="0" tIns="0" rIns="0" bIns="0" rtlCol="0" anchor="t"/>
          <a:lstStyle/>
          <a:p>
            <a:pPr algn="r" indent="0" marL="0">
              <a:buNone/>
            </a:pPr>
            <a:r>
              <a:rPr lang="en-US" sz="1000" dirty="0">
                <a:solidFill>
                  <a:srgbClr val="5B6478"/>
                </a:solidFill>
                <a:latin typeface="Calibri" pitchFamily="34" charset="0"/>
                <a:ea typeface="Calibri" pitchFamily="34" charset="-122"/>
                <a:cs typeface="Calibri" pitchFamily="34" charset="-120"/>
              </a:rPr>
              <a:t>21</a:t>
            </a:r>
            <a:endParaRPr lang="en-US" sz="1000" dirty="0"/>
          </a:p>
        </p:txBody>
      </p:sp>
      <p:sp>
        <p:nvSpPr>
          <p:cNvPr id="6" name="A1-fade-321"/>
          <p:cNvSpPr txBox="1"/>
          <p:nvPr/>
        </p:nvSpPr>
        <p:spPr>
          <a:xfrm>
            <a:off x="457200" y="1234440"/>
            <a:ext cx="4572000" cy="274320"/>
          </a:xfrm>
          <a:prstGeom prst="rect">
            <a:avLst/>
          </a:prstGeom>
          <a:noFill/>
          <a:ln/>
        </p:spPr>
        <p:txBody>
          <a:bodyPr wrap="square" lIns="0" tIns="0" rIns="0" bIns="0" rtlCol="0" anchor="t"/>
          <a:lstStyle/>
          <a:p>
            <a:pPr indent="0" marL="0">
              <a:buNone/>
            </a:pPr>
            <a:r>
              <a:rPr lang="en-US" sz="1200" b="1" dirty="0">
                <a:solidFill>
                  <a:srgbClr val="5B6478"/>
                </a:solidFill>
                <a:latin typeface="Calibri" pitchFamily="34" charset="0"/>
                <a:ea typeface="Calibri" pitchFamily="34" charset="-122"/>
                <a:cs typeface="Calibri" pitchFamily="34" charset="-120"/>
              </a:rPr>
              <a:t>Valeur ajoutée manufacturière 1995-2022 (DG Trésor)</a:t>
            </a:r>
            <a:endParaRPr lang="en-US" sz="1200" dirty="0"/>
          </a:p>
        </p:txBody>
      </p:sp>
      <p:sp>
        <p:nvSpPr>
          <p:cNvPr id="7" name="A2-fadeup-322"/>
          <p:cNvSpPr/>
          <p:nvPr/>
        </p:nvSpPr>
        <p:spPr>
          <a:xfrm>
            <a:off x="457200" y="1600200"/>
            <a:ext cx="2377440" cy="2103120"/>
          </a:xfrm>
          <a:prstGeom prst="roundRect">
            <a:avLst>
              <a:gd name="adj" fmla="val 5217"/>
            </a:avLst>
          </a:prstGeom>
          <a:solidFill>
            <a:srgbClr val="E3F5EC"/>
          </a:solidFill>
          <a:ln w="12700">
            <a:solidFill>
              <a:srgbClr val="E3F5EC"/>
            </a:solidFill>
            <a:prstDash val="solid"/>
          </a:ln>
          <a:effectLst>
            <a:outerShdw sx="100000" sy="100000" kx="0" ky="0" algn="bl" rotWithShape="0" blurRad="101600" dist="25400" dir="5400000">
              <a:srgbClr val="0B1F4B">
                <a:alpha val="12000"/>
              </a:srgbClr>
            </a:outerShdw>
          </a:effectLst>
        </p:spPr>
      </p:sp>
      <p:sp>
        <p:nvSpPr>
          <p:cNvPr id="8" name="A2-fadeup-323"/>
          <p:cNvSpPr txBox="1"/>
          <p:nvPr/>
        </p:nvSpPr>
        <p:spPr>
          <a:xfrm>
            <a:off x="594360" y="1691640"/>
            <a:ext cx="2194560" cy="274320"/>
          </a:xfrm>
          <a:prstGeom prst="rect">
            <a:avLst/>
          </a:prstGeom>
          <a:noFill/>
          <a:ln/>
        </p:spPr>
        <p:txBody>
          <a:bodyPr wrap="square" lIns="0" tIns="0" rIns="0" bIns="0" rtlCol="0" anchor="t"/>
          <a:lstStyle/>
          <a:p>
            <a:pPr indent="0" marL="0">
              <a:buNone/>
            </a:pPr>
            <a:r>
              <a:rPr lang="en-US" sz="1300" b="1" dirty="0">
                <a:solidFill>
                  <a:srgbClr val="1E9E6A"/>
                </a:solidFill>
                <a:latin typeface="Calibri" pitchFamily="34" charset="0"/>
                <a:ea typeface="Calibri" pitchFamily="34" charset="-122"/>
                <a:cs typeface="Calibri" pitchFamily="34" charset="-120"/>
              </a:rPr>
              <a:t>▲  « Cœur industriel »</a:t>
            </a:r>
            <a:endParaRPr lang="en-US" sz="1300" dirty="0"/>
          </a:p>
        </p:txBody>
      </p:sp>
      <p:sp>
        <p:nvSpPr>
          <p:cNvPr id="9" name="A2-fadeup-324"/>
          <p:cNvSpPr txBox="1"/>
          <p:nvPr/>
        </p:nvSpPr>
        <p:spPr>
          <a:xfrm>
            <a:off x="685800" y="2011680"/>
            <a:ext cx="2011680" cy="1645920"/>
          </a:xfrm>
          <a:prstGeom prst="rect">
            <a:avLst/>
          </a:prstGeom>
          <a:noFill/>
          <a:ln/>
        </p:spPr>
        <p:txBody>
          <a:bodyPr wrap="square" lIns="0" tIns="0" rIns="0" bIns="0" rtlCol="0" anchor="t"/>
          <a:lstStyle/>
          <a:p>
            <a:pPr indent="0" marL="0">
              <a:buNone/>
            </a:pPr>
            <a:r>
              <a:rPr lang="en-US" sz="1250" dirty="0">
                <a:solidFill>
                  <a:srgbClr val="1B2333"/>
                </a:solidFill>
                <a:latin typeface="Calibri" pitchFamily="34" charset="0"/>
                <a:ea typeface="Calibri" pitchFamily="34" charset="-122"/>
                <a:cs typeface="Calibri" pitchFamily="34" charset="-120"/>
              </a:rPr>
              <a:t>Allemagne</a:t>
            </a:r>
            <a:endParaRPr lang="en-US" sz="1250" dirty="0"/>
          </a:p>
          <a:p>
            <a:pPr indent="0" marL="0">
              <a:buNone/>
            </a:pPr>
            <a:r>
              <a:rPr lang="en-US" sz="1250" dirty="0">
                <a:solidFill>
                  <a:srgbClr val="1B2333"/>
                </a:solidFill>
                <a:latin typeface="Calibri" pitchFamily="34" charset="0"/>
                <a:ea typeface="Calibri" pitchFamily="34" charset="-122"/>
                <a:cs typeface="Calibri" pitchFamily="34" charset="-120"/>
              </a:rPr>
              <a:t>Autriche</a:t>
            </a:r>
            <a:endParaRPr lang="en-US" sz="1250" dirty="0"/>
          </a:p>
          <a:p>
            <a:pPr indent="0" marL="0">
              <a:buNone/>
            </a:pPr>
            <a:r>
              <a:rPr lang="en-US" sz="1250" dirty="0">
                <a:solidFill>
                  <a:srgbClr val="1B2333"/>
                </a:solidFill>
                <a:latin typeface="Calibri" pitchFamily="34" charset="0"/>
                <a:ea typeface="Calibri" pitchFamily="34" charset="-122"/>
                <a:cs typeface="Calibri" pitchFamily="34" charset="-120"/>
              </a:rPr>
              <a:t>Hongrie</a:t>
            </a:r>
            <a:endParaRPr lang="en-US" sz="1250" dirty="0"/>
          </a:p>
          <a:p>
            <a:pPr indent="0" marL="0">
              <a:buNone/>
            </a:pPr>
            <a:r>
              <a:rPr lang="en-US" sz="1250" dirty="0">
                <a:solidFill>
                  <a:srgbClr val="1B2333"/>
                </a:solidFill>
                <a:latin typeface="Calibri" pitchFamily="34" charset="0"/>
                <a:ea typeface="Calibri" pitchFamily="34" charset="-122"/>
                <a:cs typeface="Calibri" pitchFamily="34" charset="-120"/>
              </a:rPr>
              <a:t>Pologne</a:t>
            </a:r>
            <a:endParaRPr lang="en-US" sz="1250" dirty="0"/>
          </a:p>
          <a:p>
            <a:pPr indent="0" marL="0">
              <a:buNone/>
            </a:pPr>
            <a:r>
              <a:rPr lang="en-US" sz="1250" dirty="0">
                <a:solidFill>
                  <a:srgbClr val="1B2333"/>
                </a:solidFill>
                <a:latin typeface="Calibri" pitchFamily="34" charset="0"/>
                <a:ea typeface="Calibri" pitchFamily="34" charset="-122"/>
                <a:cs typeface="Calibri" pitchFamily="34" charset="-120"/>
              </a:rPr>
              <a:t>Slovaquie</a:t>
            </a:r>
            <a:endParaRPr lang="en-US" sz="1250" dirty="0"/>
          </a:p>
          <a:p>
            <a:pPr indent="0" marL="0">
              <a:buNone/>
            </a:pPr>
            <a:r>
              <a:rPr lang="en-US" sz="1250" dirty="0">
                <a:solidFill>
                  <a:srgbClr val="1B2333"/>
                </a:solidFill>
                <a:latin typeface="Calibri" pitchFamily="34" charset="0"/>
                <a:ea typeface="Calibri" pitchFamily="34" charset="-122"/>
                <a:cs typeface="Calibri" pitchFamily="34" charset="-120"/>
              </a:rPr>
              <a:t>Tchéquie</a:t>
            </a:r>
            <a:endParaRPr lang="en-US" sz="1250" dirty="0"/>
          </a:p>
        </p:txBody>
      </p:sp>
      <p:sp>
        <p:nvSpPr>
          <p:cNvPr id="10" name="A3-fadeup-325"/>
          <p:cNvSpPr/>
          <p:nvPr/>
        </p:nvSpPr>
        <p:spPr>
          <a:xfrm>
            <a:off x="3017520" y="1600200"/>
            <a:ext cx="2286000" cy="2103120"/>
          </a:xfrm>
          <a:prstGeom prst="roundRect">
            <a:avLst>
              <a:gd name="adj" fmla="val 5217"/>
            </a:avLst>
          </a:prstGeom>
          <a:solidFill>
            <a:srgbClr val="FBE7E5"/>
          </a:solidFill>
          <a:ln w="12700">
            <a:solidFill>
              <a:srgbClr val="FBE7E5"/>
            </a:solidFill>
            <a:prstDash val="solid"/>
          </a:ln>
          <a:effectLst>
            <a:outerShdw sx="100000" sy="100000" kx="0" ky="0" algn="bl" rotWithShape="0" blurRad="101600" dist="25400" dir="5400000">
              <a:srgbClr val="0B1F4B">
                <a:alpha val="12000"/>
              </a:srgbClr>
            </a:outerShdw>
          </a:effectLst>
        </p:spPr>
      </p:sp>
      <p:sp>
        <p:nvSpPr>
          <p:cNvPr id="11" name="A3-fadeup-326"/>
          <p:cNvSpPr txBox="1"/>
          <p:nvPr/>
        </p:nvSpPr>
        <p:spPr>
          <a:xfrm>
            <a:off x="3154680" y="1691640"/>
            <a:ext cx="2103120" cy="274320"/>
          </a:xfrm>
          <a:prstGeom prst="rect">
            <a:avLst/>
          </a:prstGeom>
          <a:noFill/>
          <a:ln/>
        </p:spPr>
        <p:txBody>
          <a:bodyPr wrap="square" lIns="0" tIns="0" rIns="0" bIns="0" rtlCol="0" anchor="t"/>
          <a:lstStyle/>
          <a:p>
            <a:pPr indent="0" marL="0">
              <a:buNone/>
            </a:pPr>
            <a:r>
              <a:rPr lang="en-US" sz="1300" b="1" dirty="0">
                <a:solidFill>
                  <a:srgbClr val="D9473F"/>
                </a:solidFill>
                <a:latin typeface="Calibri" pitchFamily="34" charset="0"/>
                <a:ea typeface="Calibri" pitchFamily="34" charset="-122"/>
                <a:cs typeface="Calibri" pitchFamily="34" charset="-120"/>
              </a:rPr>
              <a:t>▼  Poids en baisse</a:t>
            </a:r>
            <a:endParaRPr lang="en-US" sz="1300" dirty="0"/>
          </a:p>
        </p:txBody>
      </p:sp>
      <p:sp>
        <p:nvSpPr>
          <p:cNvPr id="12" name="A3-fadeup-327"/>
          <p:cNvSpPr txBox="1"/>
          <p:nvPr/>
        </p:nvSpPr>
        <p:spPr>
          <a:xfrm>
            <a:off x="3246120" y="2011680"/>
            <a:ext cx="1920240" cy="1097280"/>
          </a:xfrm>
          <a:prstGeom prst="rect">
            <a:avLst/>
          </a:prstGeom>
          <a:noFill/>
          <a:ln/>
        </p:spPr>
        <p:txBody>
          <a:bodyPr wrap="square" lIns="0" tIns="0" rIns="0" bIns="0" rtlCol="0" anchor="t"/>
          <a:lstStyle/>
          <a:p>
            <a:pPr indent="0" marL="0">
              <a:buNone/>
            </a:pPr>
            <a:r>
              <a:rPr lang="en-US" sz="1250" dirty="0">
                <a:solidFill>
                  <a:srgbClr val="1B2333"/>
                </a:solidFill>
                <a:latin typeface="Calibri" pitchFamily="34" charset="0"/>
                <a:ea typeface="Calibri" pitchFamily="34" charset="-122"/>
                <a:cs typeface="Calibri" pitchFamily="34" charset="-120"/>
              </a:rPr>
              <a:t>France</a:t>
            </a:r>
            <a:endParaRPr lang="en-US" sz="1250" dirty="0"/>
          </a:p>
          <a:p>
            <a:pPr indent="0" marL="0">
              <a:buNone/>
            </a:pPr>
            <a:r>
              <a:rPr lang="en-US" sz="1250" dirty="0">
                <a:solidFill>
                  <a:srgbClr val="1B2333"/>
                </a:solidFill>
                <a:latin typeface="Calibri" pitchFamily="34" charset="0"/>
                <a:ea typeface="Calibri" pitchFamily="34" charset="-122"/>
                <a:cs typeface="Calibri" pitchFamily="34" charset="-120"/>
              </a:rPr>
              <a:t>Espagne</a:t>
            </a:r>
            <a:endParaRPr lang="en-US" sz="1250" dirty="0"/>
          </a:p>
          <a:p>
            <a:pPr indent="0" marL="0">
              <a:buNone/>
            </a:pPr>
            <a:r>
              <a:rPr lang="en-US" sz="1250" dirty="0">
                <a:solidFill>
                  <a:srgbClr val="1B2333"/>
                </a:solidFill>
                <a:latin typeface="Calibri" pitchFamily="34" charset="0"/>
                <a:ea typeface="Calibri" pitchFamily="34" charset="-122"/>
                <a:cs typeface="Calibri" pitchFamily="34" charset="-120"/>
              </a:rPr>
              <a:t>Italie (surtout)</a:t>
            </a:r>
            <a:endParaRPr lang="en-US" sz="1250" dirty="0"/>
          </a:p>
        </p:txBody>
      </p:sp>
      <p:sp>
        <p:nvSpPr>
          <p:cNvPr id="13" name="A4-fade-328"/>
          <p:cNvSpPr txBox="1"/>
          <p:nvPr/>
        </p:nvSpPr>
        <p:spPr>
          <a:xfrm>
            <a:off x="457200" y="3840480"/>
            <a:ext cx="4846320" cy="777240"/>
          </a:xfrm>
          <a:prstGeom prst="rect">
            <a:avLst/>
          </a:prstGeom>
          <a:noFill/>
          <a:ln/>
        </p:spPr>
        <p:txBody>
          <a:bodyPr wrap="square" lIns="0" tIns="0" rIns="0" bIns="0" rtlCol="0" anchor="t"/>
          <a:lstStyle/>
          <a:p>
            <a:pPr indent="0" marL="0">
              <a:buNone/>
            </a:pPr>
            <a:r>
              <a:rPr lang="en-US" sz="1100" i="1" dirty="0">
                <a:solidFill>
                  <a:srgbClr val="5B6478"/>
                </a:solidFill>
                <a:latin typeface="Calibri" pitchFamily="34" charset="0"/>
                <a:ea typeface="Calibri" pitchFamily="34" charset="-122"/>
                <a:cs typeface="Calibri" pitchFamily="34" charset="-120"/>
              </a:rPr>
              <a:t>Pas attribuable au seul marché unique (mondialisation, facteurs nationaux), mais l'intégration a pu jouer un rôle.</a:t>
            </a:r>
            <a:endParaRPr lang="en-US" sz="1100" dirty="0"/>
          </a:p>
        </p:txBody>
      </p:sp>
      <p:sp>
        <p:nvSpPr>
          <p:cNvPr id="14" name="A5-fadeleft-329"/>
          <p:cNvSpPr/>
          <p:nvPr/>
        </p:nvSpPr>
        <p:spPr>
          <a:xfrm>
            <a:off x="5577840" y="1234440"/>
            <a:ext cx="3108960" cy="1600200"/>
          </a:xfrm>
          <a:prstGeom prst="roundRect">
            <a:avLst>
              <a:gd name="adj" fmla="val 6857"/>
            </a:avLst>
          </a:prstGeom>
          <a:solidFill>
            <a:srgbClr val="0B1F4B"/>
          </a:solidFill>
          <a:ln w="12700">
            <a:solidFill>
              <a:srgbClr val="0B1F4B"/>
            </a:solidFill>
            <a:prstDash val="solid"/>
          </a:ln>
          <a:effectLst>
            <a:outerShdw sx="100000" sy="100000" kx="0" ky="0" algn="bl" rotWithShape="0" blurRad="101600" dist="25400" dir="5400000">
              <a:srgbClr val="0B1F4B">
                <a:alpha val="12000"/>
              </a:srgbClr>
            </a:outerShdw>
          </a:effectLst>
        </p:spPr>
      </p:sp>
      <p:sp>
        <p:nvSpPr>
          <p:cNvPr id="15" name="A5-zoom-330"/>
          <p:cNvSpPr/>
          <p:nvPr/>
        </p:nvSpPr>
        <p:spPr>
          <a:xfrm>
            <a:off x="5760720" y="1371600"/>
            <a:ext cx="502920" cy="502920"/>
          </a:xfrm>
          <a:prstGeom prst="ellipse">
            <a:avLst/>
          </a:prstGeom>
          <a:solidFill>
            <a:srgbClr val="D9473F"/>
          </a:solidFill>
          <a:ln w="12700">
            <a:solidFill>
              <a:srgbClr val="D9473F"/>
            </a:solidFill>
            <a:prstDash val="solid"/>
          </a:ln>
        </p:spPr>
      </p:sp>
      <p:pic>
        <p:nvPicPr>
          <p:cNvPr id="16" name="A5-zoom-331" descr="preencoded.png">    </p:cNvPr>
          <p:cNvPicPr>
            <a:picLocks noChangeAspect="1"/>
          </p:cNvPicPr>
          <p:nvPr/>
        </p:nvPicPr>
        <p:blipFill>
          <a:blip r:embed="rId3"/>
          <a:stretch>
            <a:fillRect/>
          </a:stretch>
        </p:blipFill>
        <p:spPr>
          <a:xfrm>
            <a:off x="5896508" y="1507388"/>
            <a:ext cx="231343" cy="231343"/>
          </a:xfrm>
          <a:prstGeom prst="rect">
            <a:avLst/>
          </a:prstGeom>
        </p:spPr>
      </p:pic>
      <p:sp>
        <p:nvSpPr>
          <p:cNvPr id="17" name="A5-fade-332"/>
          <p:cNvSpPr txBox="1"/>
          <p:nvPr/>
        </p:nvSpPr>
        <p:spPr>
          <a:xfrm>
            <a:off x="6400800" y="1417320"/>
            <a:ext cx="2194560" cy="36576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Fuite des cerveaux</a:t>
            </a:r>
            <a:endParaRPr lang="en-US" sz="1500" dirty="0"/>
          </a:p>
        </p:txBody>
      </p:sp>
      <p:sp>
        <p:nvSpPr>
          <p:cNvPr id="18" name="A5-fade-333"/>
          <p:cNvSpPr txBox="1"/>
          <p:nvPr/>
        </p:nvSpPr>
        <p:spPr>
          <a:xfrm>
            <a:off x="5760720" y="1965960"/>
            <a:ext cx="2788920" cy="777240"/>
          </a:xfrm>
          <a:prstGeom prst="rect">
            <a:avLst/>
          </a:prstGeom>
          <a:noFill/>
          <a:ln/>
        </p:spPr>
        <p:txBody>
          <a:bodyPr wrap="square" lIns="0" tIns="0" rIns="0" bIns="0" rtlCol="0" anchor="t"/>
          <a:lstStyle/>
          <a:p>
            <a:pPr indent="0" marL="0">
              <a:buNone/>
            </a:pPr>
            <a:r>
              <a:rPr lang="en-US" sz="1100" dirty="0">
                <a:solidFill>
                  <a:srgbClr val="D5DDF0"/>
                </a:solidFill>
                <a:latin typeface="Calibri" pitchFamily="34" charset="0"/>
                <a:ea typeface="Calibri" pitchFamily="34" charset="-122"/>
                <a:cs typeface="Calibri" pitchFamily="34" charset="-120"/>
              </a:rPr>
              <a:t>Roumanie, Bulgarie, Lituanie, Lettonie : forte émigration de jeunes diplômés</a:t>
            </a:r>
            <a:endParaRPr lang="en-US" sz="1100" dirty="0"/>
          </a:p>
        </p:txBody>
      </p:sp>
      <p:sp>
        <p:nvSpPr>
          <p:cNvPr id="19" name="A6-fadeleft-334"/>
          <p:cNvSpPr/>
          <p:nvPr/>
        </p:nvSpPr>
        <p:spPr>
          <a:xfrm>
            <a:off x="5577840" y="3017520"/>
            <a:ext cx="3108960" cy="1645920"/>
          </a:xfrm>
          <a:prstGeom prst="roundRect">
            <a:avLst>
              <a:gd name="adj" fmla="val 6667"/>
            </a:avLst>
          </a:prstGeom>
          <a:solidFill>
            <a:srgbClr val="FFFFFF"/>
          </a:solidFill>
          <a:ln w="12700">
            <a:solidFill>
              <a:srgbClr val="FFFFFF"/>
            </a:solidFill>
            <a:prstDash val="solid"/>
          </a:ln>
          <a:effectLst>
            <a:outerShdw sx="100000" sy="100000" kx="0" ky="0" algn="bl" rotWithShape="0" blurRad="101600" dist="25400" dir="5400000">
              <a:srgbClr val="0B1F4B">
                <a:alpha val="12000"/>
              </a:srgbClr>
            </a:outerShdw>
          </a:effectLst>
        </p:spPr>
      </p:sp>
      <p:sp>
        <p:nvSpPr>
          <p:cNvPr id="20" name="A6-fade-335"/>
          <p:cNvSpPr txBox="1"/>
          <p:nvPr/>
        </p:nvSpPr>
        <p:spPr>
          <a:xfrm>
            <a:off x="5760720" y="3108960"/>
            <a:ext cx="2834640" cy="274320"/>
          </a:xfrm>
          <a:prstGeom prst="rect">
            <a:avLst/>
          </a:prstGeom>
          <a:noFill/>
          <a:ln/>
        </p:spPr>
        <p:txBody>
          <a:bodyPr wrap="square" lIns="0" tIns="0" rIns="0" bIns="0" rtlCol="0" anchor="t"/>
          <a:lstStyle/>
          <a:p>
            <a:pPr indent="0" marL="0">
              <a:buNone/>
            </a:pPr>
            <a:r>
              <a:rPr lang="en-US" sz="1150" b="1" dirty="0">
                <a:solidFill>
                  <a:srgbClr val="0B1F4B"/>
                </a:solidFill>
                <a:latin typeface="Calibri" pitchFamily="34" charset="0"/>
                <a:ea typeface="Calibri" pitchFamily="34" charset="-122"/>
                <a:cs typeface="Calibri" pitchFamily="34" charset="-120"/>
              </a:rPr>
              <a:t>Politique de cohésion 2021-2027</a:t>
            </a:r>
            <a:endParaRPr lang="en-US" sz="1150" dirty="0"/>
          </a:p>
        </p:txBody>
      </p:sp>
      <p:sp>
        <p:nvSpPr>
          <p:cNvPr id="21" name="A6-zoom-336"/>
          <p:cNvSpPr txBox="1"/>
          <p:nvPr/>
        </p:nvSpPr>
        <p:spPr>
          <a:xfrm>
            <a:off x="5760720" y="3401568"/>
            <a:ext cx="2834640" cy="502920"/>
          </a:xfrm>
          <a:prstGeom prst="rect">
            <a:avLst/>
          </a:prstGeom>
          <a:noFill/>
          <a:ln/>
        </p:spPr>
        <p:txBody>
          <a:bodyPr wrap="square" lIns="0" tIns="0" rIns="0" bIns="0" rtlCol="0" anchor="t"/>
          <a:lstStyle/>
          <a:p>
            <a:pPr indent="0" marL="0">
              <a:buNone/>
            </a:pPr>
            <a:r>
              <a:rPr lang="en-US" sz="2800" b="1" dirty="0">
                <a:solidFill>
                  <a:srgbClr val="D9473F"/>
                </a:solidFill>
                <a:latin typeface="Cambria" pitchFamily="34" charset="0"/>
                <a:ea typeface="Cambria" pitchFamily="34" charset="-122"/>
                <a:cs typeface="Cambria" pitchFamily="34" charset="-120"/>
              </a:rPr>
              <a:t>330 Md€</a:t>
            </a:r>
            <a:endParaRPr lang="en-US" sz="2800" dirty="0"/>
          </a:p>
        </p:txBody>
      </p:sp>
      <p:sp>
        <p:nvSpPr>
          <p:cNvPr id="22" name="A7-fade-337"/>
          <p:cNvSpPr txBox="1"/>
          <p:nvPr/>
        </p:nvSpPr>
        <p:spPr>
          <a:xfrm>
            <a:off x="5760720" y="3931920"/>
            <a:ext cx="2834640" cy="640080"/>
          </a:xfrm>
          <a:prstGeom prst="rect">
            <a:avLst/>
          </a:prstGeom>
          <a:noFill/>
          <a:ln/>
        </p:spPr>
        <p:txBody>
          <a:bodyPr wrap="square" lIns="0" tIns="0" rIns="0" bIns="0" rtlCol="0" anchor="t"/>
          <a:lstStyle/>
          <a:p>
            <a:pPr indent="0" marL="0">
              <a:buNone/>
            </a:pPr>
            <a:r>
              <a:rPr lang="en-US" sz="1050" dirty="0">
                <a:solidFill>
                  <a:srgbClr val="5B6478"/>
                </a:solidFill>
                <a:latin typeface="Calibri" pitchFamily="34" charset="0"/>
                <a:ea typeface="Calibri" pitchFamily="34" charset="-122"/>
                <a:cs typeface="Calibri" pitchFamily="34" charset="-120"/>
              </a:rPr>
              <a:t>dont ≈ 200 Md€ pour le FEDER… et pourtant les écarts régionaux persistent</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76" fill="hold">
                      <p:stCondLst>
                        <p:cond delay="indefinite"/>
                        <p:cond evt="onBegin" delay="0">
                          <p:tn val="2"/>
                        </p:cond>
                      </p:stCondLst>
                      <p:childTnLst>
                        <p:par>
                          <p:cTn id="77" fill="hold">
                            <p:stCondLst>
                              <p:cond delay="0"/>
                            </p:stCondLst>
                            <p:childTnLst>
                              <p:par>
                                <p:cTn id="4" presetID="10" presetClass="entr" presetSubtype="0" fill="hold" grpId="0" nodeType="withEffect">
                                  <p:stCondLst>
                                    <p:cond delay="380"/>
                                  </p:stCondLst>
                                  <p:childTnLst>
                                    <p:set>
                                      <p:cBhvr>
                                        <p:cTn id="5" dur="1" fill="hold">
                                          <p:stCondLst>
                                            <p:cond delay="0"/>
                                          </p:stCondLst>
                                        </p:cTn>
                                        <p:tgtEl>
                                          <p:spTgt spid="6"/>
                                        </p:tgtEl>
                                        <p:attrNameLst>
                                          <p:attrName>style.visibility</p:attrName>
                                        </p:attrNameLst>
                                      </p:cBhvr>
                                      <p:to>
                                        <p:strVal val="visible"/>
                                      </p:to>
                                    </p:set>
                                    <p:animEffect transition="in" filter="fade">
                                      <p:cBhvr>
                                        <p:cTn id="3" dur="600"/>
                                        <p:tgtEl>
                                          <p:spTgt spid="6"/>
                                        </p:tgtEl>
                                      </p:cBhvr>
                                    </p:animEffect>
                                  </p:childTnLst>
                                </p:cTn>
                              </p:par>
                              <p:par>
                                <p:cTn id="9" presetID="42" presetClass="entr" presetSubtype="0" fill="hold" grpId="0" nodeType="withEffect">
                                  <p:stCondLst>
                                    <p:cond delay="760"/>
                                  </p:stCondLst>
                                  <p:childTnLst>
                                    <p:set>
                                      <p:cBhvr>
                                        <p:cTn id="10" dur="1" fill="hold">
                                          <p:stCondLst>
                                            <p:cond delay="0"/>
                                          </p:stCondLst>
                                        </p:cTn>
                                        <p:tgtEl>
                                          <p:spTgt spid="7"/>
                                        </p:tgtEl>
                                        <p:attrNameLst>
                                          <p:attrName>style.visibility</p:attrName>
                                        </p:attrNameLst>
                                      </p:cBhvr>
                                      <p:to>
                                        <p:strVal val="visible"/>
                                      </p:to>
                                    </p:set>
                                    <p:animEffect transition="in" filter="fade">
                                      <p:cBhvr>
                                        <p:cTn id="6" dur="700"/>
                                        <p:tgtEl>
                                          <p:spTgt spid="7"/>
                                        </p:tgtEl>
                                      </p:cBhvr>
                                    </p:animEffect>
                                    <p:anim calcmode="lin" valueType="num">
                                      <p:cBhvr additive="base">
                                        <p:cTn id="7" dur="700" fill="hold"/>
                                        <p:tgtEl>
                                          <p:spTgt spid="7"/>
                                        </p:tgtEl>
                                        <p:attrNameLst>
                                          <p:attrName>ppt_x</p:attrName>
                                        </p:attrNameLst>
                                      </p:cBhvr>
                                      <p:tavLst>
                                        <p:tav tm="0">
                                          <p:val>
                                            <p:strVal val="#ppt_x"/>
                                          </p:val>
                                        </p:tav>
                                        <p:tav tm="100000">
                                          <p:val>
                                            <p:strVal val="#ppt_x"/>
                                          </p:val>
                                        </p:tav>
                                      </p:tavLst>
                                    </p:anim>
                                    <p:anim calcmode="lin" valueType="num">
                                      <p:cBhvr additive="base">
                                        <p:cTn id="8" dur="700" fill="hold"/>
                                        <p:tgtEl>
                                          <p:spTgt spid="7"/>
                                        </p:tgtEl>
                                        <p:attrNameLst>
                                          <p:attrName>ppt_y</p:attrName>
                                        </p:attrNameLst>
                                      </p:cBhvr>
                                      <p:tavLst>
                                        <p:tav tm="0">
                                          <p:val>
                                            <p:strVal val="#ppt_y+.08"/>
                                          </p:val>
                                        </p:tav>
                                        <p:tav tm="100000">
                                          <p:val>
                                            <p:strVal val="#ppt_y"/>
                                          </p:val>
                                        </p:tav>
                                      </p:tavLst>
                                    </p:anim>
                                  </p:childTnLst>
                                </p:cTn>
                              </p:par>
                              <p:par>
                                <p:cTn id="14" presetID="42" presetClass="entr" presetSubtype="0" fill="hold" grpId="0" nodeType="withEffect">
                                  <p:stCondLst>
                                    <p:cond delay="760"/>
                                  </p:stCondLst>
                                  <p:childTnLst>
                                    <p:set>
                                      <p:cBhvr>
                                        <p:cTn id="15" dur="1" fill="hold">
                                          <p:stCondLst>
                                            <p:cond delay="0"/>
                                          </p:stCondLst>
                                        </p:cTn>
                                        <p:tgtEl>
                                          <p:spTgt spid="8"/>
                                        </p:tgtEl>
                                        <p:attrNameLst>
                                          <p:attrName>style.visibility</p:attrName>
                                        </p:attrNameLst>
                                      </p:cBhvr>
                                      <p:to>
                                        <p:strVal val="visible"/>
                                      </p:to>
                                    </p:set>
                                    <p:animEffect transition="in" filter="fade">
                                      <p:cBhvr>
                                        <p:cTn id="11" dur="700"/>
                                        <p:tgtEl>
                                          <p:spTgt spid="8"/>
                                        </p:tgtEl>
                                      </p:cBhvr>
                                    </p:animEffect>
                                    <p:anim calcmode="lin" valueType="num">
                                      <p:cBhvr additive="base">
                                        <p:cTn id="12" dur="700" fill="hold"/>
                                        <p:tgtEl>
                                          <p:spTgt spid="8"/>
                                        </p:tgtEl>
                                        <p:attrNameLst>
                                          <p:attrName>ppt_x</p:attrName>
                                        </p:attrNameLst>
                                      </p:cBhvr>
                                      <p:tavLst>
                                        <p:tav tm="0">
                                          <p:val>
                                            <p:strVal val="#ppt_x"/>
                                          </p:val>
                                        </p:tav>
                                        <p:tav tm="100000">
                                          <p:val>
                                            <p:strVal val="#ppt_x"/>
                                          </p:val>
                                        </p:tav>
                                      </p:tavLst>
                                    </p:anim>
                                    <p:anim calcmode="lin" valueType="num">
                                      <p:cBhvr additive="base">
                                        <p:cTn id="13" dur="700" fill="hold"/>
                                        <p:tgtEl>
                                          <p:spTgt spid="8"/>
                                        </p:tgtEl>
                                        <p:attrNameLst>
                                          <p:attrName>ppt_y</p:attrName>
                                        </p:attrNameLst>
                                      </p:cBhvr>
                                      <p:tavLst>
                                        <p:tav tm="0">
                                          <p:val>
                                            <p:strVal val="#ppt_y+.08"/>
                                          </p:val>
                                        </p:tav>
                                        <p:tav tm="100000">
                                          <p:val>
                                            <p:strVal val="#ppt_y"/>
                                          </p:val>
                                        </p:tav>
                                      </p:tavLst>
                                    </p:anim>
                                  </p:childTnLst>
                                </p:cTn>
                              </p:par>
                              <p:par>
                                <p:cTn id="19" presetID="42" presetClass="entr" presetSubtype="0" fill="hold" grpId="0" nodeType="withEffect">
                                  <p:stCondLst>
                                    <p:cond delay="760"/>
                                  </p:stCondLst>
                                  <p:childTnLst>
                                    <p:set>
                                      <p:cBhvr>
                                        <p:cTn id="20" dur="1" fill="hold">
                                          <p:stCondLst>
                                            <p:cond delay="0"/>
                                          </p:stCondLst>
                                        </p:cTn>
                                        <p:tgtEl>
                                          <p:spTgt spid="9"/>
                                        </p:tgtEl>
                                        <p:attrNameLst>
                                          <p:attrName>style.visibility</p:attrName>
                                        </p:attrNameLst>
                                      </p:cBhvr>
                                      <p:to>
                                        <p:strVal val="visible"/>
                                      </p:to>
                                    </p:set>
                                    <p:animEffect transition="in" filter="fade">
                                      <p:cBhvr>
                                        <p:cTn id="16" dur="700"/>
                                        <p:tgtEl>
                                          <p:spTgt spid="9"/>
                                        </p:tgtEl>
                                      </p:cBhvr>
                                    </p:animEffect>
                                    <p:anim calcmode="lin" valueType="num">
                                      <p:cBhvr additive="base">
                                        <p:cTn id="17" dur="700" fill="hold"/>
                                        <p:tgtEl>
                                          <p:spTgt spid="9"/>
                                        </p:tgtEl>
                                        <p:attrNameLst>
                                          <p:attrName>ppt_x</p:attrName>
                                        </p:attrNameLst>
                                      </p:cBhvr>
                                      <p:tavLst>
                                        <p:tav tm="0">
                                          <p:val>
                                            <p:strVal val="#ppt_x"/>
                                          </p:val>
                                        </p:tav>
                                        <p:tav tm="100000">
                                          <p:val>
                                            <p:strVal val="#ppt_x"/>
                                          </p:val>
                                        </p:tav>
                                      </p:tavLst>
                                    </p:anim>
                                    <p:anim calcmode="lin" valueType="num">
                                      <p:cBhvr additive="base">
                                        <p:cTn id="18" dur="700" fill="hold"/>
                                        <p:tgtEl>
                                          <p:spTgt spid="9"/>
                                        </p:tgtEl>
                                        <p:attrNameLst>
                                          <p:attrName>ppt_y</p:attrName>
                                        </p:attrNameLst>
                                      </p:cBhvr>
                                      <p:tavLst>
                                        <p:tav tm="0">
                                          <p:val>
                                            <p:strVal val="#ppt_y+.08"/>
                                          </p:val>
                                        </p:tav>
                                        <p:tav tm="100000">
                                          <p:val>
                                            <p:strVal val="#ppt_y"/>
                                          </p:val>
                                        </p:tav>
                                      </p:tavLst>
                                    </p:anim>
                                  </p:childTnLst>
                                </p:cTn>
                              </p:par>
                              <p:par>
                                <p:cTn id="24" presetID="42" presetClass="entr" presetSubtype="0" fill="hold" grpId="0" nodeType="withEffect">
                                  <p:stCondLst>
                                    <p:cond delay="1140"/>
                                  </p:stCondLst>
                                  <p:childTnLst>
                                    <p:set>
                                      <p:cBhvr>
                                        <p:cTn id="25" dur="1" fill="hold">
                                          <p:stCondLst>
                                            <p:cond delay="0"/>
                                          </p:stCondLst>
                                        </p:cTn>
                                        <p:tgtEl>
                                          <p:spTgt spid="10"/>
                                        </p:tgtEl>
                                        <p:attrNameLst>
                                          <p:attrName>style.visibility</p:attrName>
                                        </p:attrNameLst>
                                      </p:cBhvr>
                                      <p:to>
                                        <p:strVal val="visible"/>
                                      </p:to>
                                    </p:set>
                                    <p:animEffect transition="in" filter="fade">
                                      <p:cBhvr>
                                        <p:cTn id="21" dur="700"/>
                                        <p:tgtEl>
                                          <p:spTgt spid="10"/>
                                        </p:tgtEl>
                                      </p:cBhvr>
                                    </p:animEffect>
                                    <p:anim calcmode="lin" valueType="num">
                                      <p:cBhvr additive="base">
                                        <p:cTn id="22" dur="700" fill="hold"/>
                                        <p:tgtEl>
                                          <p:spTgt spid="10"/>
                                        </p:tgtEl>
                                        <p:attrNameLst>
                                          <p:attrName>ppt_x</p:attrName>
                                        </p:attrNameLst>
                                      </p:cBhvr>
                                      <p:tavLst>
                                        <p:tav tm="0">
                                          <p:val>
                                            <p:strVal val="#ppt_x"/>
                                          </p:val>
                                        </p:tav>
                                        <p:tav tm="100000">
                                          <p:val>
                                            <p:strVal val="#ppt_x"/>
                                          </p:val>
                                        </p:tav>
                                      </p:tavLst>
                                    </p:anim>
                                    <p:anim calcmode="lin" valueType="num">
                                      <p:cBhvr additive="base">
                                        <p:cTn id="23" dur="700" fill="hold"/>
                                        <p:tgtEl>
                                          <p:spTgt spid="10"/>
                                        </p:tgtEl>
                                        <p:attrNameLst>
                                          <p:attrName>ppt_y</p:attrName>
                                        </p:attrNameLst>
                                      </p:cBhvr>
                                      <p:tavLst>
                                        <p:tav tm="0">
                                          <p:val>
                                            <p:strVal val="#ppt_y+.08"/>
                                          </p:val>
                                        </p:tav>
                                        <p:tav tm="100000">
                                          <p:val>
                                            <p:strVal val="#ppt_y"/>
                                          </p:val>
                                        </p:tav>
                                      </p:tavLst>
                                    </p:anim>
                                  </p:childTnLst>
                                </p:cTn>
                              </p:par>
                              <p:par>
                                <p:cTn id="29" presetID="42" presetClass="entr" presetSubtype="0" fill="hold" grpId="0" nodeType="withEffect">
                                  <p:stCondLst>
                                    <p:cond delay="1140"/>
                                  </p:stCondLst>
                                  <p:childTnLst>
                                    <p:set>
                                      <p:cBhvr>
                                        <p:cTn id="30" dur="1" fill="hold">
                                          <p:stCondLst>
                                            <p:cond delay="0"/>
                                          </p:stCondLst>
                                        </p:cTn>
                                        <p:tgtEl>
                                          <p:spTgt spid="11"/>
                                        </p:tgtEl>
                                        <p:attrNameLst>
                                          <p:attrName>style.visibility</p:attrName>
                                        </p:attrNameLst>
                                      </p:cBhvr>
                                      <p:to>
                                        <p:strVal val="visible"/>
                                      </p:to>
                                    </p:set>
                                    <p:animEffect transition="in" filter="fade">
                                      <p:cBhvr>
                                        <p:cTn id="26" dur="700"/>
                                        <p:tgtEl>
                                          <p:spTgt spid="11"/>
                                        </p:tgtEl>
                                      </p:cBhvr>
                                    </p:animEffect>
                                    <p:anim calcmode="lin" valueType="num">
                                      <p:cBhvr additive="base">
                                        <p:cTn id="27" dur="700" fill="hold"/>
                                        <p:tgtEl>
                                          <p:spTgt spid="11"/>
                                        </p:tgtEl>
                                        <p:attrNameLst>
                                          <p:attrName>ppt_x</p:attrName>
                                        </p:attrNameLst>
                                      </p:cBhvr>
                                      <p:tavLst>
                                        <p:tav tm="0">
                                          <p:val>
                                            <p:strVal val="#ppt_x"/>
                                          </p:val>
                                        </p:tav>
                                        <p:tav tm="100000">
                                          <p:val>
                                            <p:strVal val="#ppt_x"/>
                                          </p:val>
                                        </p:tav>
                                      </p:tavLst>
                                    </p:anim>
                                    <p:anim calcmode="lin" valueType="num">
                                      <p:cBhvr additive="base">
                                        <p:cTn id="28" dur="700" fill="hold"/>
                                        <p:tgtEl>
                                          <p:spTgt spid="11"/>
                                        </p:tgtEl>
                                        <p:attrNameLst>
                                          <p:attrName>ppt_y</p:attrName>
                                        </p:attrNameLst>
                                      </p:cBhvr>
                                      <p:tavLst>
                                        <p:tav tm="0">
                                          <p:val>
                                            <p:strVal val="#ppt_y+.08"/>
                                          </p:val>
                                        </p:tav>
                                        <p:tav tm="100000">
                                          <p:val>
                                            <p:strVal val="#ppt_y"/>
                                          </p:val>
                                        </p:tav>
                                      </p:tavLst>
                                    </p:anim>
                                  </p:childTnLst>
                                </p:cTn>
                              </p:par>
                              <p:par>
                                <p:cTn id="34" presetID="42" presetClass="entr" presetSubtype="0" fill="hold" grpId="0" nodeType="withEffect">
                                  <p:stCondLst>
                                    <p:cond delay="1140"/>
                                  </p:stCondLst>
                                  <p:childTnLst>
                                    <p:set>
                                      <p:cBhvr>
                                        <p:cTn id="35" dur="1" fill="hold">
                                          <p:stCondLst>
                                            <p:cond delay="0"/>
                                          </p:stCondLst>
                                        </p:cTn>
                                        <p:tgtEl>
                                          <p:spTgt spid="12"/>
                                        </p:tgtEl>
                                        <p:attrNameLst>
                                          <p:attrName>style.visibility</p:attrName>
                                        </p:attrNameLst>
                                      </p:cBhvr>
                                      <p:to>
                                        <p:strVal val="visible"/>
                                      </p:to>
                                    </p:set>
                                    <p:animEffect transition="in" filter="fade">
                                      <p:cBhvr>
                                        <p:cTn id="31" dur="700"/>
                                        <p:tgtEl>
                                          <p:spTgt spid="12"/>
                                        </p:tgtEl>
                                      </p:cBhvr>
                                    </p:animEffect>
                                    <p:anim calcmode="lin" valueType="num">
                                      <p:cBhvr additive="base">
                                        <p:cTn id="32" dur="700" fill="hold"/>
                                        <p:tgtEl>
                                          <p:spTgt spid="12"/>
                                        </p:tgtEl>
                                        <p:attrNameLst>
                                          <p:attrName>ppt_x</p:attrName>
                                        </p:attrNameLst>
                                      </p:cBhvr>
                                      <p:tavLst>
                                        <p:tav tm="0">
                                          <p:val>
                                            <p:strVal val="#ppt_x"/>
                                          </p:val>
                                        </p:tav>
                                        <p:tav tm="100000">
                                          <p:val>
                                            <p:strVal val="#ppt_x"/>
                                          </p:val>
                                        </p:tav>
                                      </p:tavLst>
                                    </p:anim>
                                    <p:anim calcmode="lin" valueType="num">
                                      <p:cBhvr additive="base">
                                        <p:cTn id="33" dur="700" fill="hold"/>
                                        <p:tgtEl>
                                          <p:spTgt spid="12"/>
                                        </p:tgtEl>
                                        <p:attrNameLst>
                                          <p:attrName>ppt_y</p:attrName>
                                        </p:attrNameLst>
                                      </p:cBhvr>
                                      <p:tavLst>
                                        <p:tav tm="0">
                                          <p:val>
                                            <p:strVal val="#ppt_y+.08"/>
                                          </p:val>
                                        </p:tav>
                                        <p:tav tm="100000">
                                          <p:val>
                                            <p:strVal val="#ppt_y"/>
                                          </p:val>
                                        </p:tav>
                                      </p:tavLst>
                                    </p:anim>
                                  </p:childTnLst>
                                </p:cTn>
                              </p:par>
                              <p:par>
                                <p:cTn id="37" presetID="10" presetClass="entr" presetSubtype="0" fill="hold" grpId="0" nodeType="withEffect">
                                  <p:stCondLst>
                                    <p:cond delay="1520"/>
                                  </p:stCondLst>
                                  <p:childTnLst>
                                    <p:set>
                                      <p:cBhvr>
                                        <p:cTn id="38"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par>
                                <p:cTn id="42" presetID="42" presetClass="entr" presetSubtype="0" fill="hold" grpId="0" nodeType="withEffect">
                                  <p:stCondLst>
                                    <p:cond delay="1900"/>
                                  </p:stCondLst>
                                  <p:childTnLst>
                                    <p:set>
                                      <p:cBhvr>
                                        <p:cTn id="43" dur="1" fill="hold">
                                          <p:stCondLst>
                                            <p:cond delay="0"/>
                                          </p:stCondLst>
                                        </p:cTn>
                                        <p:tgtEl>
                                          <p:spTgt spid="14"/>
                                        </p:tgtEl>
                                        <p:attrNameLst>
                                          <p:attrName>style.visibility</p:attrName>
                                        </p:attrNameLst>
                                      </p:cBhvr>
                                      <p:to>
                                        <p:strVal val="visible"/>
                                      </p:to>
                                    </p:set>
                                    <p:animEffect transition="in" filter="fade">
                                      <p:cBhvr>
                                        <p:cTn id="39" dur="650"/>
                                        <p:tgtEl>
                                          <p:spTgt spid="14"/>
                                        </p:tgtEl>
                                      </p:cBhvr>
                                    </p:animEffect>
                                    <p:anim calcmode="lin" valueType="num">
                                      <p:cBhvr additive="base">
                                        <p:cTn id="40" dur="650" fill="hold"/>
                                        <p:tgtEl>
                                          <p:spTgt spid="14"/>
                                        </p:tgtEl>
                                        <p:attrNameLst>
                                          <p:attrName>ppt_x</p:attrName>
                                        </p:attrNameLst>
                                      </p:cBhvr>
                                      <p:tavLst>
                                        <p:tav tm="0">
                                          <p:val>
                                            <p:strVal val="#ppt_x-.06"/>
                                          </p:val>
                                        </p:tav>
                                        <p:tav tm="100000">
                                          <p:val>
                                            <p:strVal val="#ppt_x"/>
                                          </p:val>
                                        </p:tav>
                                      </p:tavLst>
                                    </p:anim>
                                    <p:anim calcmode="lin" valueType="num">
                                      <p:cBhvr additive="base">
                                        <p:cTn id="41" dur="650" fill="hold"/>
                                        <p:tgtEl>
                                          <p:spTgt spid="14"/>
                                        </p:tgtEl>
                                        <p:attrNameLst>
                                          <p:attrName>ppt_y</p:attrName>
                                        </p:attrNameLst>
                                      </p:cBhvr>
                                      <p:tavLst>
                                        <p:tav tm="0">
                                          <p:val>
                                            <p:strVal val="#ppt_y"/>
                                          </p:val>
                                        </p:tav>
                                        <p:tav tm="100000">
                                          <p:val>
                                            <p:strVal val="#ppt_y"/>
                                          </p:val>
                                        </p:tav>
                                      </p:tavLst>
                                    </p:anim>
                                  </p:childTnLst>
                                </p:cTn>
                              </p:par>
                              <p:par>
                                <p:cTn id="47" presetID="53" presetClass="entr" presetSubtype="16" fill="hold" grpId="0" nodeType="withEffect">
                                  <p:stCondLst>
                                    <p:cond delay="190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4" dur="550" fill="hold"/>
                                        <p:tgtEl>
                                          <p:spTgt spid="15"/>
                                        </p:tgtEl>
                                        <p:attrNameLst>
                                          <p:attrName>ppt_w</p:attrName>
                                        </p:attrNameLst>
                                      </p:cBhvr>
                                      <p:tavLst>
                                        <p:tav tm="0">
                                          <p:val>
                                            <p:strVal val="0"/>
                                          </p:val>
                                        </p:tav>
                                        <p:tav tm="100000">
                                          <p:val>
                                            <p:strVal val="#ppt_w"/>
                                          </p:val>
                                        </p:tav>
                                      </p:tavLst>
                                    </p:anim>
                                    <p:anim calcmode="lin" valueType="num">
                                      <p:cBhvr additive="base">
                                        <p:cTn id="45" dur="550" fill="hold"/>
                                        <p:tgtEl>
                                          <p:spTgt spid="15"/>
                                        </p:tgtEl>
                                        <p:attrNameLst>
                                          <p:attrName>ppt_h</p:attrName>
                                        </p:attrNameLst>
                                      </p:cBhvr>
                                      <p:tavLst>
                                        <p:tav tm="0">
                                          <p:val>
                                            <p:strVal val="0"/>
                                          </p:val>
                                        </p:tav>
                                        <p:tav tm="100000">
                                          <p:val>
                                            <p:strVal val="#ppt_h"/>
                                          </p:val>
                                        </p:tav>
                                      </p:tavLst>
                                    </p:anim>
                                    <p:animEffect transition="in" filter="fade">
                                      <p:cBhvr>
                                        <p:cTn id="46" dur="550"/>
                                        <p:tgtEl>
                                          <p:spTgt spid="15"/>
                                        </p:tgtEl>
                                      </p:cBhvr>
                                    </p:animEffect>
                                  </p:childTnLst>
                                </p:cTn>
                              </p:par>
                              <p:par>
                                <p:cTn id="52" presetID="53" presetClass="entr" presetSubtype="16" fill="hold" grpId="0" nodeType="withEffect">
                                  <p:stCondLst>
                                    <p:cond delay="1900"/>
                                  </p:stCondLst>
                                  <p:childTnLst>
                                    <p:set>
                                      <p:cBhvr>
                                        <p:cTn id="53" dur="1" fill="hold">
                                          <p:stCondLst>
                                            <p:cond delay="0"/>
                                          </p:stCondLst>
                                        </p:cTn>
                                        <p:tgtEl>
                                          <p:spTgt spid="16"/>
                                        </p:tgtEl>
                                        <p:attrNameLst>
                                          <p:attrName>style.visibility</p:attrName>
                                        </p:attrNameLst>
                                      </p:cBhvr>
                                      <p:to>
                                        <p:strVal val="visible"/>
                                      </p:to>
                                    </p:set>
                                    <p:anim calcmode="lin" valueType="num">
                                      <p:cBhvr additive="base">
                                        <p:cTn id="49" dur="550" fill="hold"/>
                                        <p:tgtEl>
                                          <p:spTgt spid="16"/>
                                        </p:tgtEl>
                                        <p:attrNameLst>
                                          <p:attrName>ppt_w</p:attrName>
                                        </p:attrNameLst>
                                      </p:cBhvr>
                                      <p:tavLst>
                                        <p:tav tm="0">
                                          <p:val>
                                            <p:strVal val="0"/>
                                          </p:val>
                                        </p:tav>
                                        <p:tav tm="100000">
                                          <p:val>
                                            <p:strVal val="#ppt_w"/>
                                          </p:val>
                                        </p:tav>
                                      </p:tavLst>
                                    </p:anim>
                                    <p:anim calcmode="lin" valueType="num">
                                      <p:cBhvr additive="base">
                                        <p:cTn id="50" dur="550" fill="hold"/>
                                        <p:tgtEl>
                                          <p:spTgt spid="16"/>
                                        </p:tgtEl>
                                        <p:attrNameLst>
                                          <p:attrName>ppt_h</p:attrName>
                                        </p:attrNameLst>
                                      </p:cBhvr>
                                      <p:tavLst>
                                        <p:tav tm="0">
                                          <p:val>
                                            <p:strVal val="0"/>
                                          </p:val>
                                        </p:tav>
                                        <p:tav tm="100000">
                                          <p:val>
                                            <p:strVal val="#ppt_h"/>
                                          </p:val>
                                        </p:tav>
                                      </p:tavLst>
                                    </p:anim>
                                    <p:animEffect transition="in" filter="fade">
                                      <p:cBhvr>
                                        <p:cTn id="51" dur="550"/>
                                        <p:tgtEl>
                                          <p:spTgt spid="16"/>
                                        </p:tgtEl>
                                      </p:cBhvr>
                                    </p:animEffect>
                                  </p:childTnLst>
                                </p:cTn>
                              </p:par>
                              <p:par>
                                <p:cTn id="55" presetID="10" presetClass="entr" presetSubtype="0" fill="hold" grpId="0" nodeType="withEffect">
                                  <p:stCondLst>
                                    <p:cond delay="1900"/>
                                  </p:stCondLst>
                                  <p:childTnLst>
                                    <p:set>
                                      <p:cBhvr>
                                        <p:cTn id="56" dur="1" fill="hold">
                                          <p:stCondLst>
                                            <p:cond delay="0"/>
                                          </p:stCondLst>
                                        </p:cTn>
                                        <p:tgtEl>
                                          <p:spTgt spid="17"/>
                                        </p:tgtEl>
                                        <p:attrNameLst>
                                          <p:attrName>style.visibility</p:attrName>
                                        </p:attrNameLst>
                                      </p:cBhvr>
                                      <p:to>
                                        <p:strVal val="visible"/>
                                      </p:to>
                                    </p:set>
                                    <p:animEffect transition="in" filter="fade">
                                      <p:cBhvr>
                                        <p:cTn id="54" dur="600"/>
                                        <p:tgtEl>
                                          <p:spTgt spid="17"/>
                                        </p:tgtEl>
                                      </p:cBhvr>
                                    </p:animEffect>
                                  </p:childTnLst>
                                </p:cTn>
                              </p:par>
                              <p:par>
                                <p:cTn id="58" presetID="10" presetClass="entr" presetSubtype="0" fill="hold" grpId="0" nodeType="withEffect">
                                  <p:stCondLst>
                                    <p:cond delay="1900"/>
                                  </p:stCondLst>
                                  <p:childTnLst>
                                    <p:set>
                                      <p:cBhvr>
                                        <p:cTn id="59" dur="1" fill="hold">
                                          <p:stCondLst>
                                            <p:cond delay="0"/>
                                          </p:stCondLst>
                                        </p:cTn>
                                        <p:tgtEl>
                                          <p:spTgt spid="18"/>
                                        </p:tgtEl>
                                        <p:attrNameLst>
                                          <p:attrName>style.visibility</p:attrName>
                                        </p:attrNameLst>
                                      </p:cBhvr>
                                      <p:to>
                                        <p:strVal val="visible"/>
                                      </p:to>
                                    </p:set>
                                    <p:animEffect transition="in" filter="fade">
                                      <p:cBhvr>
                                        <p:cTn id="57" dur="600"/>
                                        <p:tgtEl>
                                          <p:spTgt spid="18"/>
                                        </p:tgtEl>
                                      </p:cBhvr>
                                    </p:animEffect>
                                  </p:childTnLst>
                                </p:cTn>
                              </p:par>
                              <p:par>
                                <p:cTn id="63" presetID="42" presetClass="entr" presetSubtype="0" fill="hold" grpId="0" nodeType="withEffect">
                                  <p:stCondLst>
                                    <p:cond delay="2280"/>
                                  </p:stCondLst>
                                  <p:childTnLst>
                                    <p:set>
                                      <p:cBhvr>
                                        <p:cTn id="64" dur="1" fill="hold">
                                          <p:stCondLst>
                                            <p:cond delay="0"/>
                                          </p:stCondLst>
                                        </p:cTn>
                                        <p:tgtEl>
                                          <p:spTgt spid="19"/>
                                        </p:tgtEl>
                                        <p:attrNameLst>
                                          <p:attrName>style.visibility</p:attrName>
                                        </p:attrNameLst>
                                      </p:cBhvr>
                                      <p:to>
                                        <p:strVal val="visible"/>
                                      </p:to>
                                    </p:set>
                                    <p:animEffect transition="in" filter="fade">
                                      <p:cBhvr>
                                        <p:cTn id="60" dur="650"/>
                                        <p:tgtEl>
                                          <p:spTgt spid="19"/>
                                        </p:tgtEl>
                                      </p:cBhvr>
                                    </p:animEffect>
                                    <p:anim calcmode="lin" valueType="num">
                                      <p:cBhvr additive="base">
                                        <p:cTn id="61" dur="650" fill="hold"/>
                                        <p:tgtEl>
                                          <p:spTgt spid="19"/>
                                        </p:tgtEl>
                                        <p:attrNameLst>
                                          <p:attrName>ppt_x</p:attrName>
                                        </p:attrNameLst>
                                      </p:cBhvr>
                                      <p:tavLst>
                                        <p:tav tm="0">
                                          <p:val>
                                            <p:strVal val="#ppt_x-.06"/>
                                          </p:val>
                                        </p:tav>
                                        <p:tav tm="100000">
                                          <p:val>
                                            <p:strVal val="#ppt_x"/>
                                          </p:val>
                                        </p:tav>
                                      </p:tavLst>
                                    </p:anim>
                                    <p:anim calcmode="lin" valueType="num">
                                      <p:cBhvr additive="base">
                                        <p:cTn id="62" dur="650" fill="hold"/>
                                        <p:tgtEl>
                                          <p:spTgt spid="19"/>
                                        </p:tgtEl>
                                        <p:attrNameLst>
                                          <p:attrName>ppt_y</p:attrName>
                                        </p:attrNameLst>
                                      </p:cBhvr>
                                      <p:tavLst>
                                        <p:tav tm="0">
                                          <p:val>
                                            <p:strVal val="#ppt_y"/>
                                          </p:val>
                                        </p:tav>
                                        <p:tav tm="100000">
                                          <p:val>
                                            <p:strVal val="#ppt_y"/>
                                          </p:val>
                                        </p:tav>
                                      </p:tavLst>
                                    </p:anim>
                                  </p:childTnLst>
                                </p:cTn>
                              </p:par>
                              <p:par>
                                <p:cTn id="66" presetID="10" presetClass="entr" presetSubtype="0" fill="hold" grpId="0" nodeType="withEffect">
                                  <p:stCondLst>
                                    <p:cond delay="2280"/>
                                  </p:stCondLst>
                                  <p:childTnLst>
                                    <p:set>
                                      <p:cBhvr>
                                        <p:cTn id="67" dur="1" fill="hold">
                                          <p:stCondLst>
                                            <p:cond delay="0"/>
                                          </p:stCondLst>
                                        </p:cTn>
                                        <p:tgtEl>
                                          <p:spTgt spid="20"/>
                                        </p:tgtEl>
                                        <p:attrNameLst>
                                          <p:attrName>style.visibility</p:attrName>
                                        </p:attrNameLst>
                                      </p:cBhvr>
                                      <p:to>
                                        <p:strVal val="visible"/>
                                      </p:to>
                                    </p:set>
                                    <p:animEffect transition="in" filter="fade">
                                      <p:cBhvr>
                                        <p:cTn id="65" dur="600"/>
                                        <p:tgtEl>
                                          <p:spTgt spid="20"/>
                                        </p:tgtEl>
                                      </p:cBhvr>
                                    </p:animEffect>
                                  </p:childTnLst>
                                </p:cTn>
                              </p:par>
                              <p:par>
                                <p:cTn id="71" presetID="53" presetClass="entr" presetSubtype="16" fill="hold" grpId="0" nodeType="withEffect">
                                  <p:stCondLst>
                                    <p:cond delay="2280"/>
                                  </p:stCondLst>
                                  <p:childTnLst>
                                    <p:set>
                                      <p:cBhvr>
                                        <p:cTn id="72" dur="1" fill="hold">
                                          <p:stCondLst>
                                            <p:cond delay="0"/>
                                          </p:stCondLst>
                                        </p:cTn>
                                        <p:tgtEl>
                                          <p:spTgt spid="21"/>
                                        </p:tgtEl>
                                        <p:attrNameLst>
                                          <p:attrName>style.visibility</p:attrName>
                                        </p:attrNameLst>
                                      </p:cBhvr>
                                      <p:to>
                                        <p:strVal val="visible"/>
                                      </p:to>
                                    </p:set>
                                    <p:anim calcmode="lin" valueType="num">
                                      <p:cBhvr additive="base">
                                        <p:cTn id="68" dur="550" fill="hold"/>
                                        <p:tgtEl>
                                          <p:spTgt spid="21"/>
                                        </p:tgtEl>
                                        <p:attrNameLst>
                                          <p:attrName>ppt_w</p:attrName>
                                        </p:attrNameLst>
                                      </p:cBhvr>
                                      <p:tavLst>
                                        <p:tav tm="0">
                                          <p:val>
                                            <p:strVal val="0"/>
                                          </p:val>
                                        </p:tav>
                                        <p:tav tm="100000">
                                          <p:val>
                                            <p:strVal val="#ppt_w"/>
                                          </p:val>
                                        </p:tav>
                                      </p:tavLst>
                                    </p:anim>
                                    <p:anim calcmode="lin" valueType="num">
                                      <p:cBhvr additive="base">
                                        <p:cTn id="69" dur="550" fill="hold"/>
                                        <p:tgtEl>
                                          <p:spTgt spid="21"/>
                                        </p:tgtEl>
                                        <p:attrNameLst>
                                          <p:attrName>ppt_h</p:attrName>
                                        </p:attrNameLst>
                                      </p:cBhvr>
                                      <p:tavLst>
                                        <p:tav tm="0">
                                          <p:val>
                                            <p:strVal val="0"/>
                                          </p:val>
                                        </p:tav>
                                        <p:tav tm="100000">
                                          <p:val>
                                            <p:strVal val="#ppt_h"/>
                                          </p:val>
                                        </p:tav>
                                      </p:tavLst>
                                    </p:anim>
                                    <p:animEffect transition="in" filter="fade">
                                      <p:cBhvr>
                                        <p:cTn id="70" dur="550"/>
                                        <p:tgtEl>
                                          <p:spTgt spid="21"/>
                                        </p:tgtEl>
                                      </p:cBhvr>
                                    </p:animEffect>
                                  </p:childTnLst>
                                </p:cTn>
                              </p:par>
                              <p:par>
                                <p:cTn id="74" presetID="10" presetClass="entr" presetSubtype="0" fill="hold" grpId="0" nodeType="withEffect">
                                  <p:stCondLst>
                                    <p:cond delay="2660"/>
                                  </p:stCondLst>
                                  <p:childTnLst>
                                    <p:set>
                                      <p:cBhvr>
                                        <p:cTn id="75" dur="1" fill="hold">
                                          <p:stCondLst>
                                            <p:cond delay="0"/>
                                          </p:stCondLst>
                                        </p:cTn>
                                        <p:tgtEl>
                                          <p:spTgt spid="22"/>
                                        </p:tgtEl>
                                        <p:attrNameLst>
                                          <p:attrName>style.visibility</p:attrName>
                                        </p:attrNameLst>
                                      </p:cBhvr>
                                      <p:to>
                                        <p:strVal val="visible"/>
                                      </p:to>
                                    </p:set>
                                    <p:animEffect transition="in" filter="fade">
                                      <p:cBhvr>
                                        <p:cTn id="73" dur="6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1" grpId="0" animBg="1"/>
      <p:bldP spid="12" grpId="0" animBg="1"/>
      <p:bldP spid="13" grpId="0" animBg="1"/>
      <p:bldP spid="17" grpId="0" animBg="1"/>
      <p:bldP spid="18" grpId="0" animBg="1"/>
      <p:bldP spid="20" grpId="0" animBg="1"/>
      <p:bldP spid="21" grpId="0" animBg="1"/>
      <p:bldP spid="2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7406640" y="-1005840"/>
            <a:ext cx="2560320" cy="2560320"/>
          </a:xfrm>
          <a:prstGeom prst="rect">
            <a:avLst/>
          </a:prstGeom>
        </p:spPr>
      </p:pic>
      <p:sp>
        <p:nvSpPr>
          <p:cNvPr id="3" name="Text 0"/>
          <p:cNvSpPr txBox="1"/>
          <p:nvPr/>
        </p:nvSpPr>
        <p:spPr>
          <a:xfrm>
            <a:off x="457200" y="274320"/>
            <a:ext cx="6858000" cy="228600"/>
          </a:xfrm>
          <a:prstGeom prst="rect">
            <a:avLst/>
          </a:prstGeom>
          <a:noFill/>
          <a:ln/>
        </p:spPr>
        <p:txBody>
          <a:bodyPr wrap="square" lIns="0" tIns="0" rIns="0" bIns="0" rtlCol="0" anchor="t"/>
          <a:lstStyle/>
          <a:p>
            <a:pPr indent="0" marL="0">
              <a:buNone/>
            </a:pPr>
            <a:r>
              <a:rPr lang="en-US" sz="1050" b="1" spc="200" kern="0" dirty="0">
                <a:solidFill>
                  <a:srgbClr val="D9473F"/>
                </a:solidFill>
                <a:latin typeface="Calibri" pitchFamily="34" charset="0"/>
                <a:ea typeface="Calibri" pitchFamily="34" charset="-122"/>
                <a:cs typeface="Calibri" pitchFamily="34" charset="-120"/>
              </a:rPr>
              <a:t>III · 3.3 — LIMITES</a:t>
            </a:r>
            <a:endParaRPr lang="en-US" sz="1050" dirty="0"/>
          </a:p>
        </p:txBody>
      </p:sp>
      <p:sp>
        <p:nvSpPr>
          <p:cNvPr id="4" name="Text 1"/>
          <p:cNvSpPr txBox="1"/>
          <p:nvPr/>
        </p:nvSpPr>
        <p:spPr>
          <a:xfrm>
            <a:off x="457200" y="502920"/>
            <a:ext cx="7863840" cy="548640"/>
          </a:xfrm>
          <a:prstGeom prst="rect">
            <a:avLst/>
          </a:prstGeom>
          <a:noFill/>
          <a:ln/>
        </p:spPr>
        <p:txBody>
          <a:bodyPr wrap="square" lIns="0" tIns="0" rIns="0" bIns="0" rtlCol="0" anchor="ctr"/>
          <a:lstStyle/>
          <a:p>
            <a:pPr indent="0" marL="0">
              <a:buNone/>
            </a:pPr>
            <a:r>
              <a:rPr lang="en-US" sz="2600" b="1" dirty="0">
                <a:solidFill>
                  <a:srgbClr val="0B1F4B"/>
                </a:solidFill>
                <a:latin typeface="Cambria" pitchFamily="34" charset="0"/>
                <a:ea typeface="Cambria" pitchFamily="34" charset="-122"/>
                <a:cs typeface="Cambria" pitchFamily="34" charset="-120"/>
              </a:rPr>
              <a:t>Le marché unique n'est pas encore terminé</a:t>
            </a:r>
            <a:endParaRPr lang="en-US" sz="2600" dirty="0"/>
          </a:p>
        </p:txBody>
      </p:sp>
      <p:sp>
        <p:nvSpPr>
          <p:cNvPr id="5" name="Text 2"/>
          <p:cNvSpPr txBox="1"/>
          <p:nvPr/>
        </p:nvSpPr>
        <p:spPr>
          <a:xfrm>
            <a:off x="8321040" y="4773168"/>
            <a:ext cx="365760" cy="228600"/>
          </a:xfrm>
          <a:prstGeom prst="rect">
            <a:avLst/>
          </a:prstGeom>
          <a:noFill/>
          <a:ln/>
        </p:spPr>
        <p:txBody>
          <a:bodyPr wrap="square" lIns="0" tIns="0" rIns="0" bIns="0" rtlCol="0" anchor="t"/>
          <a:lstStyle/>
          <a:p>
            <a:pPr algn="r" indent="0" marL="0">
              <a:buNone/>
            </a:pPr>
            <a:r>
              <a:rPr lang="en-US" sz="1000" dirty="0">
                <a:solidFill>
                  <a:srgbClr val="5B6478"/>
                </a:solidFill>
                <a:latin typeface="Calibri" pitchFamily="34" charset="0"/>
                <a:ea typeface="Calibri" pitchFamily="34" charset="-122"/>
                <a:cs typeface="Calibri" pitchFamily="34" charset="-120"/>
              </a:rPr>
              <a:t>22</a:t>
            </a:r>
            <a:endParaRPr lang="en-US" sz="1000" dirty="0"/>
          </a:p>
        </p:txBody>
      </p:sp>
      <p:graphicFrame>
        <p:nvGraphicFramePr>
          <p:cNvPr id="6" name="A1-wipe-338" descr=""/>
          <p:cNvGraphicFramePr/>
          <p:nvPr/>
        </p:nvGraphicFramePr>
        <p:xfrm>
          <a:off x="365760" y="1188720"/>
          <a:ext cx="4480560" cy="2514600"/>
        </p:xfrm>
        <a:graphic xmlns:a="http://schemas.openxmlformats.org/drawingml/2006/main">
          <a:graphicData uri="http://schemas.openxmlformats.org/drawingml/2006/chart">
            <c:chart xmlns:c="http://schemas.openxmlformats.org/drawingml/2006/chart" r:id="rId3"/>
          </a:graphicData>
        </a:graphic>
      </p:graphicFrame>
      <p:sp>
        <p:nvSpPr>
          <p:cNvPr id="7" name="A2-fadeup-339"/>
          <p:cNvSpPr/>
          <p:nvPr/>
        </p:nvSpPr>
        <p:spPr>
          <a:xfrm>
            <a:off x="457200" y="3840480"/>
            <a:ext cx="4297680" cy="822960"/>
          </a:xfrm>
          <a:prstGeom prst="roundRect">
            <a:avLst>
              <a:gd name="adj" fmla="val 13333"/>
            </a:avLst>
          </a:prstGeom>
          <a:solidFill>
            <a:srgbClr val="FBE7E5"/>
          </a:solidFill>
          <a:ln w="12700">
            <a:solidFill>
              <a:srgbClr val="FBE7E5"/>
            </a:solidFill>
            <a:prstDash val="solid"/>
          </a:ln>
          <a:effectLst>
            <a:outerShdw sx="100000" sy="100000" kx="0" ky="0" algn="bl" rotWithShape="0" blurRad="101600" dist="25400" dir="5400000">
              <a:srgbClr val="0B1F4B">
                <a:alpha val="12000"/>
              </a:srgbClr>
            </a:outerShdw>
          </a:effectLst>
        </p:spPr>
      </p:sp>
      <p:sp>
        <p:nvSpPr>
          <p:cNvPr id="8" name="A2-fadeup-340"/>
          <p:cNvSpPr txBox="1"/>
          <p:nvPr/>
        </p:nvSpPr>
        <p:spPr>
          <a:xfrm>
            <a:off x="594360" y="3840480"/>
            <a:ext cx="4069080" cy="822960"/>
          </a:xfrm>
          <a:prstGeom prst="rect">
            <a:avLst/>
          </a:prstGeom>
          <a:noFill/>
          <a:ln/>
        </p:spPr>
        <p:txBody>
          <a:bodyPr wrap="square" lIns="0" tIns="0" rIns="0" bIns="0" rtlCol="0" anchor="ctr"/>
          <a:lstStyle/>
          <a:p>
            <a:pPr indent="0" marL="0">
              <a:buNone/>
            </a:pPr>
            <a:r>
              <a:rPr lang="en-US" sz="1100" b="1" dirty="0">
                <a:solidFill>
                  <a:srgbClr val="D9473F"/>
                </a:solidFill>
                <a:latin typeface="Calibri" pitchFamily="34" charset="0"/>
                <a:ea typeface="Calibri" pitchFamily="34" charset="-122"/>
                <a:cs typeface="Calibri" pitchFamily="34" charset="-120"/>
              </a:rPr>
              <a:t>FMI : </a:t>
            </a:r>
            <a:pPr indent="0" marL="0">
              <a:buNone/>
            </a:pPr>
            <a:r>
              <a:rPr lang="en-US" sz="1100" dirty="0">
                <a:solidFill>
                  <a:srgbClr val="1B2333"/>
                </a:solidFill>
                <a:latin typeface="Calibri" pitchFamily="34" charset="0"/>
                <a:ea typeface="Calibri" pitchFamily="34" charset="-122"/>
                <a:cs typeface="Calibri" pitchFamily="34" charset="-120"/>
              </a:rPr>
              <a:t>les obstacles internes = un droit de douane de </a:t>
            </a:r>
            <a:pPr indent="0" marL="0">
              <a:buNone/>
            </a:pPr>
            <a:r>
              <a:rPr lang="en-US" sz="1100" b="1" dirty="0">
                <a:solidFill>
                  <a:srgbClr val="1B2333"/>
                </a:solidFill>
                <a:latin typeface="Calibri" pitchFamily="34" charset="0"/>
                <a:ea typeface="Calibri" pitchFamily="34" charset="-122"/>
                <a:cs typeface="Calibri" pitchFamily="34" charset="-120"/>
              </a:rPr>
              <a:t>44 %</a:t>
            </a:r>
            <a:pPr indent="0" marL="0">
              <a:buNone/>
            </a:pPr>
            <a:r>
              <a:rPr lang="en-US" sz="1100" dirty="0">
                <a:solidFill>
                  <a:srgbClr val="1B2333"/>
                </a:solidFill>
                <a:latin typeface="Calibri" pitchFamily="34" charset="0"/>
                <a:ea typeface="Calibri" pitchFamily="34" charset="-122"/>
                <a:cs typeface="Calibri" pitchFamily="34" charset="-120"/>
              </a:rPr>
              <a:t> sur les biens et </a:t>
            </a:r>
            <a:pPr indent="0" marL="0">
              <a:buNone/>
            </a:pPr>
            <a:r>
              <a:rPr lang="en-US" sz="1100" b="1" dirty="0">
                <a:solidFill>
                  <a:srgbClr val="1B2333"/>
                </a:solidFill>
                <a:latin typeface="Calibri" pitchFamily="34" charset="0"/>
                <a:ea typeface="Calibri" pitchFamily="34" charset="-122"/>
                <a:cs typeface="Calibri" pitchFamily="34" charset="-120"/>
              </a:rPr>
              <a:t>110 %</a:t>
            </a:r>
            <a:pPr indent="0" marL="0">
              <a:buNone/>
            </a:pPr>
            <a:r>
              <a:rPr lang="en-US" sz="1100" dirty="0">
                <a:solidFill>
                  <a:srgbClr val="1B2333"/>
                </a:solidFill>
                <a:latin typeface="Calibri" pitchFamily="34" charset="0"/>
                <a:ea typeface="Calibri" pitchFamily="34" charset="-122"/>
                <a:cs typeface="Calibri" pitchFamily="34" charset="-120"/>
              </a:rPr>
              <a:t> sur les services (estimation contestée)</a:t>
            </a:r>
            <a:endParaRPr lang="en-US" sz="1100" dirty="0"/>
          </a:p>
        </p:txBody>
      </p:sp>
      <p:sp>
        <p:nvSpPr>
          <p:cNvPr id="9" name="A3-fadeleft-341"/>
          <p:cNvSpPr/>
          <p:nvPr/>
        </p:nvSpPr>
        <p:spPr>
          <a:xfrm>
            <a:off x="5074920" y="1234440"/>
            <a:ext cx="3611880" cy="1005840"/>
          </a:xfrm>
          <a:prstGeom prst="roundRect">
            <a:avLst>
              <a:gd name="adj" fmla="val 10909"/>
            </a:avLst>
          </a:prstGeom>
          <a:solidFill>
            <a:srgbClr val="FFFFFF"/>
          </a:solidFill>
          <a:ln w="12700">
            <a:solidFill>
              <a:srgbClr val="FFFFFF"/>
            </a:solidFill>
            <a:prstDash val="solid"/>
          </a:ln>
          <a:effectLst>
            <a:outerShdw sx="100000" sy="100000" kx="0" ky="0" algn="bl" rotWithShape="0" blurRad="101600" dist="25400" dir="5400000">
              <a:srgbClr val="0B1F4B">
                <a:alpha val="12000"/>
              </a:srgbClr>
            </a:outerShdw>
          </a:effectLst>
        </p:spPr>
      </p:sp>
      <p:sp>
        <p:nvSpPr>
          <p:cNvPr id="10" name="A3-fadeleft-342"/>
          <p:cNvSpPr txBox="1"/>
          <p:nvPr/>
        </p:nvSpPr>
        <p:spPr>
          <a:xfrm>
            <a:off x="5257800" y="1307592"/>
            <a:ext cx="3291840" cy="868680"/>
          </a:xfrm>
          <a:prstGeom prst="rect">
            <a:avLst/>
          </a:prstGeom>
          <a:noFill/>
          <a:ln/>
        </p:spPr>
        <p:txBody>
          <a:bodyPr wrap="square" lIns="0" tIns="0" rIns="0" bIns="0" rtlCol="0" anchor="t"/>
          <a:lstStyle/>
          <a:p>
            <a:pPr indent="0" marL="0">
              <a:buNone/>
            </a:pPr>
            <a:r>
              <a:rPr lang="en-US" sz="1300" b="1" dirty="0">
                <a:solidFill>
                  <a:srgbClr val="0B1F4B"/>
                </a:solidFill>
                <a:latin typeface="Calibri" pitchFamily="34" charset="0"/>
                <a:ea typeface="Calibri" pitchFamily="34" charset="-122"/>
                <a:cs typeface="Calibri" pitchFamily="34" charset="-120"/>
              </a:rPr>
              <a:t>Rapport Draghi (sept. 2024)
</a:t>
            </a:r>
            <a:pPr indent="0" marL="0">
              <a:buNone/>
            </a:pPr>
            <a:r>
              <a:rPr lang="en-US" sz="1150" dirty="0">
                <a:solidFill>
                  <a:srgbClr val="5B6478"/>
                </a:solidFill>
                <a:latin typeface="Calibri" pitchFamily="34" charset="0"/>
                <a:ea typeface="Calibri" pitchFamily="34" charset="-122"/>
                <a:cs typeface="Calibri" pitchFamily="34" charset="-120"/>
              </a:rPr>
              <a:t>Finance, énergie, défense fragmentées : 750-800 Md€ d'investissements nécessaires par an</a:t>
            </a:r>
            <a:endParaRPr lang="en-US" sz="1150" dirty="0"/>
          </a:p>
        </p:txBody>
      </p:sp>
      <p:sp>
        <p:nvSpPr>
          <p:cNvPr id="11" name="A4-fadeleft-343"/>
          <p:cNvSpPr/>
          <p:nvPr/>
        </p:nvSpPr>
        <p:spPr>
          <a:xfrm>
            <a:off x="5074920" y="2377440"/>
            <a:ext cx="3611880" cy="868680"/>
          </a:xfrm>
          <a:prstGeom prst="roundRect">
            <a:avLst>
              <a:gd name="adj" fmla="val 12632"/>
            </a:avLst>
          </a:prstGeom>
          <a:solidFill>
            <a:srgbClr val="FFFFFF"/>
          </a:solidFill>
          <a:ln w="12700">
            <a:solidFill>
              <a:srgbClr val="FFFFFF"/>
            </a:solidFill>
            <a:prstDash val="solid"/>
          </a:ln>
          <a:effectLst>
            <a:outerShdw sx="100000" sy="100000" kx="0" ky="0" algn="bl" rotWithShape="0" blurRad="101600" dist="25400" dir="5400000">
              <a:srgbClr val="0B1F4B">
                <a:alpha val="12000"/>
              </a:srgbClr>
            </a:outerShdw>
          </a:effectLst>
        </p:spPr>
      </p:sp>
      <p:sp>
        <p:nvSpPr>
          <p:cNvPr id="12" name="A4-fadeleft-344"/>
          <p:cNvSpPr txBox="1"/>
          <p:nvPr/>
        </p:nvSpPr>
        <p:spPr>
          <a:xfrm>
            <a:off x="5257800" y="2450592"/>
            <a:ext cx="3291840" cy="731520"/>
          </a:xfrm>
          <a:prstGeom prst="rect">
            <a:avLst/>
          </a:prstGeom>
          <a:noFill/>
          <a:ln/>
        </p:spPr>
        <p:txBody>
          <a:bodyPr wrap="square" lIns="0" tIns="0" rIns="0" bIns="0" rtlCol="0" anchor="t"/>
          <a:lstStyle/>
          <a:p>
            <a:pPr indent="0" marL="0">
              <a:buNone/>
            </a:pPr>
            <a:r>
              <a:rPr lang="en-US" sz="1300" b="1" dirty="0">
                <a:solidFill>
                  <a:srgbClr val="0B1F4B"/>
                </a:solidFill>
                <a:latin typeface="Calibri" pitchFamily="34" charset="0"/>
                <a:ea typeface="Calibri" pitchFamily="34" charset="-122"/>
                <a:cs typeface="Calibri" pitchFamily="34" charset="-120"/>
              </a:rPr>
              <a:t>Rapport Letta (avril 2024)
</a:t>
            </a:r>
            <a:pPr indent="0" marL="0">
              <a:buNone/>
            </a:pPr>
            <a:r>
              <a:rPr lang="en-US" sz="1150" dirty="0">
                <a:solidFill>
                  <a:srgbClr val="5B6478"/>
                </a:solidFill>
                <a:latin typeface="Calibri" pitchFamily="34" charset="0"/>
                <a:ea typeface="Calibri" pitchFamily="34" charset="-122"/>
                <a:cs typeface="Calibri" pitchFamily="34" charset="-120"/>
              </a:rPr>
              <a:t>Une « 5e liberté » : recherche, innovation, connaissances</a:t>
            </a:r>
            <a:endParaRPr lang="en-US" sz="1150" dirty="0"/>
          </a:p>
        </p:txBody>
      </p:sp>
      <p:sp>
        <p:nvSpPr>
          <p:cNvPr id="13" name="A5-fadeleft-345"/>
          <p:cNvSpPr txBox="1"/>
          <p:nvPr/>
        </p:nvSpPr>
        <p:spPr>
          <a:xfrm>
            <a:off x="5074920" y="3383280"/>
            <a:ext cx="3611880" cy="548640"/>
          </a:xfrm>
          <a:prstGeom prst="rect">
            <a:avLst/>
          </a:prstGeom>
          <a:noFill/>
          <a:ln/>
        </p:spPr>
        <p:txBody>
          <a:bodyPr wrap="square" lIns="0" tIns="0" rIns="0" bIns="0" rtlCol="0" anchor="ctr"/>
          <a:lstStyle/>
          <a:p>
            <a:pPr indent="0" marL="0">
              <a:buNone/>
            </a:pPr>
            <a:r>
              <a:rPr lang="en-US" sz="2000" b="1" dirty="0">
                <a:solidFill>
                  <a:srgbClr val="D9473F"/>
                </a:solidFill>
                <a:latin typeface="Cambria" pitchFamily="34" charset="0"/>
                <a:ea typeface="Cambria" pitchFamily="34" charset="-122"/>
                <a:cs typeface="Cambria" pitchFamily="34" charset="-120"/>
              </a:rPr>
              <a:t>60 % </a:t>
            </a:r>
            <a:pPr indent="0" marL="0">
              <a:buNone/>
            </a:pPr>
            <a:r>
              <a:rPr lang="en-US" sz="1150" dirty="0">
                <a:solidFill>
                  <a:srgbClr val="1B2333"/>
                </a:solidFill>
                <a:latin typeface="Calibri" pitchFamily="34" charset="0"/>
                <a:ea typeface="Calibri" pitchFamily="34" charset="-122"/>
                <a:cs typeface="Calibri" pitchFamily="34" charset="-120"/>
              </a:rPr>
              <a:t>des barrières aux services sont les mêmes qu'il y a 20 ans (BCE)</a:t>
            </a:r>
            <a:endParaRPr lang="en-US" sz="1150" dirty="0"/>
          </a:p>
        </p:txBody>
      </p:sp>
      <p:sp>
        <p:nvSpPr>
          <p:cNvPr id="14" name="A6-zoom-346"/>
          <p:cNvSpPr txBox="1"/>
          <p:nvPr/>
        </p:nvSpPr>
        <p:spPr>
          <a:xfrm>
            <a:off x="5074920" y="4023360"/>
            <a:ext cx="3611880" cy="594360"/>
          </a:xfrm>
          <a:prstGeom prst="rect">
            <a:avLst/>
          </a:prstGeom>
          <a:noFill/>
          <a:ln/>
        </p:spPr>
        <p:txBody>
          <a:bodyPr wrap="square" lIns="0" tIns="0" rIns="0" bIns="0" rtlCol="0" anchor="ctr"/>
          <a:lstStyle/>
          <a:p>
            <a:pPr indent="0" marL="0">
              <a:buNone/>
            </a:pPr>
            <a:r>
              <a:rPr lang="en-US" sz="2000" b="1" dirty="0">
                <a:solidFill>
                  <a:srgbClr val="D9473F"/>
                </a:solidFill>
                <a:latin typeface="Cambria" pitchFamily="34" charset="0"/>
                <a:ea typeface="Cambria" pitchFamily="34" charset="-122"/>
                <a:cs typeface="Cambria" pitchFamily="34" charset="-120"/>
              </a:rPr>
              <a:t>2 213 Md€ </a:t>
            </a:r>
            <a:pPr indent="0" marL="0">
              <a:buNone/>
            </a:pPr>
            <a:r>
              <a:rPr lang="en-US" sz="1150" dirty="0">
                <a:solidFill>
                  <a:srgbClr val="1B2333"/>
                </a:solidFill>
                <a:latin typeface="Calibri" pitchFamily="34" charset="0"/>
                <a:ea typeface="Calibri" pitchFamily="34" charset="-122"/>
                <a:cs typeface="Calibri" pitchFamily="34" charset="-120"/>
              </a:rPr>
              <a:t>de gains non captés (2019-2029, EPRS)</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46" fill="hold">
                      <p:stCondLst>
                        <p:cond delay="indefinite"/>
                        <p:cond evt="onBegin" delay="0">
                          <p:tn val="2"/>
                        </p:cond>
                      </p:stCondLst>
                      <p:childTnLst>
                        <p:par>
                          <p:cTn id="47" fill="hold">
                            <p:stCondLst>
                              <p:cond delay="0"/>
                            </p:stCondLst>
                            <p:childTnLst>
                              <p:par>
                                <p:cTn id="4" presetID="22" presetClass="entr" presetSubtype="8" fill="hold" grpId="0" nodeType="withEffect">
                                  <p:stCondLst>
                                    <p:cond delay="380"/>
                                  </p:stCondLst>
                                  <p:childTnLst>
                                    <p:set>
                                      <p:cBhvr>
                                        <p:cTn id="5" dur="1" fill="hold">
                                          <p:stCondLst>
                                            <p:cond delay="0"/>
                                          </p:stCondLst>
                                        </p:cTn>
                                        <p:tgtEl>
                                          <p:spTgt spid="6"/>
                                        </p:tgtEl>
                                        <p:attrNameLst>
                                          <p:attrName>style.visibility</p:attrName>
                                        </p:attrNameLst>
                                      </p:cBhvr>
                                      <p:to>
                                        <p:strVal val="visible"/>
                                      </p:to>
                                    </p:set>
                                    <p:animEffect transition="in" filter="wipe(left)">
                                      <p:cBhvr>
                                        <p:cTn id="3" dur="800"/>
                                        <p:tgtEl>
                                          <p:spTgt spid="6"/>
                                        </p:tgtEl>
                                      </p:cBhvr>
                                    </p:animEffect>
                                  </p:childTnLst>
                                </p:cTn>
                              </p:par>
                              <p:par>
                                <p:cTn id="9" presetID="42" presetClass="entr" presetSubtype="0" fill="hold" grpId="0" nodeType="withEffect">
                                  <p:stCondLst>
                                    <p:cond delay="760"/>
                                  </p:stCondLst>
                                  <p:childTnLst>
                                    <p:set>
                                      <p:cBhvr>
                                        <p:cTn id="10" dur="1" fill="hold">
                                          <p:stCondLst>
                                            <p:cond delay="0"/>
                                          </p:stCondLst>
                                        </p:cTn>
                                        <p:tgtEl>
                                          <p:spTgt spid="7"/>
                                        </p:tgtEl>
                                        <p:attrNameLst>
                                          <p:attrName>style.visibility</p:attrName>
                                        </p:attrNameLst>
                                      </p:cBhvr>
                                      <p:to>
                                        <p:strVal val="visible"/>
                                      </p:to>
                                    </p:set>
                                    <p:animEffect transition="in" filter="fade">
                                      <p:cBhvr>
                                        <p:cTn id="6" dur="700"/>
                                        <p:tgtEl>
                                          <p:spTgt spid="7"/>
                                        </p:tgtEl>
                                      </p:cBhvr>
                                    </p:animEffect>
                                    <p:anim calcmode="lin" valueType="num">
                                      <p:cBhvr additive="base">
                                        <p:cTn id="7" dur="700" fill="hold"/>
                                        <p:tgtEl>
                                          <p:spTgt spid="7"/>
                                        </p:tgtEl>
                                        <p:attrNameLst>
                                          <p:attrName>ppt_x</p:attrName>
                                        </p:attrNameLst>
                                      </p:cBhvr>
                                      <p:tavLst>
                                        <p:tav tm="0">
                                          <p:val>
                                            <p:strVal val="#ppt_x"/>
                                          </p:val>
                                        </p:tav>
                                        <p:tav tm="100000">
                                          <p:val>
                                            <p:strVal val="#ppt_x"/>
                                          </p:val>
                                        </p:tav>
                                      </p:tavLst>
                                    </p:anim>
                                    <p:anim calcmode="lin" valueType="num">
                                      <p:cBhvr additive="base">
                                        <p:cTn id="8" dur="700" fill="hold"/>
                                        <p:tgtEl>
                                          <p:spTgt spid="7"/>
                                        </p:tgtEl>
                                        <p:attrNameLst>
                                          <p:attrName>ppt_y</p:attrName>
                                        </p:attrNameLst>
                                      </p:cBhvr>
                                      <p:tavLst>
                                        <p:tav tm="0">
                                          <p:val>
                                            <p:strVal val="#ppt_y+.08"/>
                                          </p:val>
                                        </p:tav>
                                        <p:tav tm="100000">
                                          <p:val>
                                            <p:strVal val="#ppt_y"/>
                                          </p:val>
                                        </p:tav>
                                      </p:tavLst>
                                    </p:anim>
                                  </p:childTnLst>
                                </p:cTn>
                              </p:par>
                              <p:par>
                                <p:cTn id="14" presetID="42" presetClass="entr" presetSubtype="0" fill="hold" grpId="0" nodeType="withEffect">
                                  <p:stCondLst>
                                    <p:cond delay="760"/>
                                  </p:stCondLst>
                                  <p:childTnLst>
                                    <p:set>
                                      <p:cBhvr>
                                        <p:cTn id="15" dur="1" fill="hold">
                                          <p:stCondLst>
                                            <p:cond delay="0"/>
                                          </p:stCondLst>
                                        </p:cTn>
                                        <p:tgtEl>
                                          <p:spTgt spid="8"/>
                                        </p:tgtEl>
                                        <p:attrNameLst>
                                          <p:attrName>style.visibility</p:attrName>
                                        </p:attrNameLst>
                                      </p:cBhvr>
                                      <p:to>
                                        <p:strVal val="visible"/>
                                      </p:to>
                                    </p:set>
                                    <p:animEffect transition="in" filter="fade">
                                      <p:cBhvr>
                                        <p:cTn id="11" dur="700"/>
                                        <p:tgtEl>
                                          <p:spTgt spid="8"/>
                                        </p:tgtEl>
                                      </p:cBhvr>
                                    </p:animEffect>
                                    <p:anim calcmode="lin" valueType="num">
                                      <p:cBhvr additive="base">
                                        <p:cTn id="12" dur="700" fill="hold"/>
                                        <p:tgtEl>
                                          <p:spTgt spid="8"/>
                                        </p:tgtEl>
                                        <p:attrNameLst>
                                          <p:attrName>ppt_x</p:attrName>
                                        </p:attrNameLst>
                                      </p:cBhvr>
                                      <p:tavLst>
                                        <p:tav tm="0">
                                          <p:val>
                                            <p:strVal val="#ppt_x"/>
                                          </p:val>
                                        </p:tav>
                                        <p:tav tm="100000">
                                          <p:val>
                                            <p:strVal val="#ppt_x"/>
                                          </p:val>
                                        </p:tav>
                                      </p:tavLst>
                                    </p:anim>
                                    <p:anim calcmode="lin" valueType="num">
                                      <p:cBhvr additive="base">
                                        <p:cTn id="13" dur="700" fill="hold"/>
                                        <p:tgtEl>
                                          <p:spTgt spid="8"/>
                                        </p:tgtEl>
                                        <p:attrNameLst>
                                          <p:attrName>ppt_y</p:attrName>
                                        </p:attrNameLst>
                                      </p:cBhvr>
                                      <p:tavLst>
                                        <p:tav tm="0">
                                          <p:val>
                                            <p:strVal val="#ppt_y+.08"/>
                                          </p:val>
                                        </p:tav>
                                        <p:tav tm="100000">
                                          <p:val>
                                            <p:strVal val="#ppt_y"/>
                                          </p:val>
                                        </p:tav>
                                      </p:tavLst>
                                    </p:anim>
                                  </p:childTnLst>
                                </p:cTn>
                              </p:par>
                              <p:par>
                                <p:cTn id="19" presetID="42" presetClass="entr" presetSubtype="0" fill="hold" grpId="0" nodeType="withEffect">
                                  <p:stCondLst>
                                    <p:cond delay="1140"/>
                                  </p:stCondLst>
                                  <p:childTnLst>
                                    <p:set>
                                      <p:cBhvr>
                                        <p:cTn id="20" dur="1" fill="hold">
                                          <p:stCondLst>
                                            <p:cond delay="0"/>
                                          </p:stCondLst>
                                        </p:cTn>
                                        <p:tgtEl>
                                          <p:spTgt spid="9"/>
                                        </p:tgtEl>
                                        <p:attrNameLst>
                                          <p:attrName>style.visibility</p:attrName>
                                        </p:attrNameLst>
                                      </p:cBhvr>
                                      <p:to>
                                        <p:strVal val="visible"/>
                                      </p:to>
                                    </p:set>
                                    <p:animEffect transition="in" filter="fade">
                                      <p:cBhvr>
                                        <p:cTn id="16" dur="650"/>
                                        <p:tgtEl>
                                          <p:spTgt spid="9"/>
                                        </p:tgtEl>
                                      </p:cBhvr>
                                    </p:animEffect>
                                    <p:anim calcmode="lin" valueType="num">
                                      <p:cBhvr additive="base">
                                        <p:cTn id="17" dur="650" fill="hold"/>
                                        <p:tgtEl>
                                          <p:spTgt spid="9"/>
                                        </p:tgtEl>
                                        <p:attrNameLst>
                                          <p:attrName>ppt_x</p:attrName>
                                        </p:attrNameLst>
                                      </p:cBhvr>
                                      <p:tavLst>
                                        <p:tav tm="0">
                                          <p:val>
                                            <p:strVal val="#ppt_x-.06"/>
                                          </p:val>
                                        </p:tav>
                                        <p:tav tm="100000">
                                          <p:val>
                                            <p:strVal val="#ppt_x"/>
                                          </p:val>
                                        </p:tav>
                                      </p:tavLst>
                                    </p:anim>
                                    <p:anim calcmode="lin" valueType="num">
                                      <p:cBhvr additive="base">
                                        <p:cTn id="18" dur="650" fill="hold"/>
                                        <p:tgtEl>
                                          <p:spTgt spid="9"/>
                                        </p:tgtEl>
                                        <p:attrNameLst>
                                          <p:attrName>ppt_y</p:attrName>
                                        </p:attrNameLst>
                                      </p:cBhvr>
                                      <p:tavLst>
                                        <p:tav tm="0">
                                          <p:val>
                                            <p:strVal val="#ppt_y"/>
                                          </p:val>
                                        </p:tav>
                                        <p:tav tm="100000">
                                          <p:val>
                                            <p:strVal val="#ppt_y"/>
                                          </p:val>
                                        </p:tav>
                                      </p:tavLst>
                                    </p:anim>
                                  </p:childTnLst>
                                </p:cTn>
                              </p:par>
                              <p:par>
                                <p:cTn id="24" presetID="42" presetClass="entr" presetSubtype="0" fill="hold" grpId="0" nodeType="withEffect">
                                  <p:stCondLst>
                                    <p:cond delay="1140"/>
                                  </p:stCondLst>
                                  <p:childTnLst>
                                    <p:set>
                                      <p:cBhvr>
                                        <p:cTn id="25" dur="1" fill="hold">
                                          <p:stCondLst>
                                            <p:cond delay="0"/>
                                          </p:stCondLst>
                                        </p:cTn>
                                        <p:tgtEl>
                                          <p:spTgt spid="10"/>
                                        </p:tgtEl>
                                        <p:attrNameLst>
                                          <p:attrName>style.visibility</p:attrName>
                                        </p:attrNameLst>
                                      </p:cBhvr>
                                      <p:to>
                                        <p:strVal val="visible"/>
                                      </p:to>
                                    </p:set>
                                    <p:animEffect transition="in" filter="fade">
                                      <p:cBhvr>
                                        <p:cTn id="21" dur="650"/>
                                        <p:tgtEl>
                                          <p:spTgt spid="10"/>
                                        </p:tgtEl>
                                      </p:cBhvr>
                                    </p:animEffect>
                                    <p:anim calcmode="lin" valueType="num">
                                      <p:cBhvr additive="base">
                                        <p:cTn id="22" dur="650" fill="hold"/>
                                        <p:tgtEl>
                                          <p:spTgt spid="10"/>
                                        </p:tgtEl>
                                        <p:attrNameLst>
                                          <p:attrName>ppt_x</p:attrName>
                                        </p:attrNameLst>
                                      </p:cBhvr>
                                      <p:tavLst>
                                        <p:tav tm="0">
                                          <p:val>
                                            <p:strVal val="#ppt_x-.06"/>
                                          </p:val>
                                        </p:tav>
                                        <p:tav tm="100000">
                                          <p:val>
                                            <p:strVal val="#ppt_x"/>
                                          </p:val>
                                        </p:tav>
                                      </p:tavLst>
                                    </p:anim>
                                    <p:anim calcmode="lin" valueType="num">
                                      <p:cBhvr additive="base">
                                        <p:cTn id="23" dur="650" fill="hold"/>
                                        <p:tgtEl>
                                          <p:spTgt spid="10"/>
                                        </p:tgtEl>
                                        <p:attrNameLst>
                                          <p:attrName>ppt_y</p:attrName>
                                        </p:attrNameLst>
                                      </p:cBhvr>
                                      <p:tavLst>
                                        <p:tav tm="0">
                                          <p:val>
                                            <p:strVal val="#ppt_y"/>
                                          </p:val>
                                        </p:tav>
                                        <p:tav tm="100000">
                                          <p:val>
                                            <p:strVal val="#ppt_y"/>
                                          </p:val>
                                        </p:tav>
                                      </p:tavLst>
                                    </p:anim>
                                  </p:childTnLst>
                                </p:cTn>
                              </p:par>
                              <p:par>
                                <p:cTn id="29" presetID="42" presetClass="entr" presetSubtype="0" fill="hold" grpId="0" nodeType="withEffect">
                                  <p:stCondLst>
                                    <p:cond delay="1520"/>
                                  </p:stCondLst>
                                  <p:childTnLst>
                                    <p:set>
                                      <p:cBhvr>
                                        <p:cTn id="30" dur="1" fill="hold">
                                          <p:stCondLst>
                                            <p:cond delay="0"/>
                                          </p:stCondLst>
                                        </p:cTn>
                                        <p:tgtEl>
                                          <p:spTgt spid="11"/>
                                        </p:tgtEl>
                                        <p:attrNameLst>
                                          <p:attrName>style.visibility</p:attrName>
                                        </p:attrNameLst>
                                      </p:cBhvr>
                                      <p:to>
                                        <p:strVal val="visible"/>
                                      </p:to>
                                    </p:set>
                                    <p:animEffect transition="in" filter="fade">
                                      <p:cBhvr>
                                        <p:cTn id="26" dur="650"/>
                                        <p:tgtEl>
                                          <p:spTgt spid="11"/>
                                        </p:tgtEl>
                                      </p:cBhvr>
                                    </p:animEffect>
                                    <p:anim calcmode="lin" valueType="num">
                                      <p:cBhvr additive="base">
                                        <p:cTn id="27" dur="650" fill="hold"/>
                                        <p:tgtEl>
                                          <p:spTgt spid="11"/>
                                        </p:tgtEl>
                                        <p:attrNameLst>
                                          <p:attrName>ppt_x</p:attrName>
                                        </p:attrNameLst>
                                      </p:cBhvr>
                                      <p:tavLst>
                                        <p:tav tm="0">
                                          <p:val>
                                            <p:strVal val="#ppt_x-.06"/>
                                          </p:val>
                                        </p:tav>
                                        <p:tav tm="100000">
                                          <p:val>
                                            <p:strVal val="#ppt_x"/>
                                          </p:val>
                                        </p:tav>
                                      </p:tavLst>
                                    </p:anim>
                                    <p:anim calcmode="lin" valueType="num">
                                      <p:cBhvr additive="base">
                                        <p:cTn id="28" dur="650" fill="hold"/>
                                        <p:tgtEl>
                                          <p:spTgt spid="11"/>
                                        </p:tgtEl>
                                        <p:attrNameLst>
                                          <p:attrName>ppt_y</p:attrName>
                                        </p:attrNameLst>
                                      </p:cBhvr>
                                      <p:tavLst>
                                        <p:tav tm="0">
                                          <p:val>
                                            <p:strVal val="#ppt_y"/>
                                          </p:val>
                                        </p:tav>
                                        <p:tav tm="100000">
                                          <p:val>
                                            <p:strVal val="#ppt_y"/>
                                          </p:val>
                                        </p:tav>
                                      </p:tavLst>
                                    </p:anim>
                                  </p:childTnLst>
                                </p:cTn>
                              </p:par>
                              <p:par>
                                <p:cTn id="34" presetID="42" presetClass="entr" presetSubtype="0" fill="hold" grpId="0" nodeType="withEffect">
                                  <p:stCondLst>
                                    <p:cond delay="1520"/>
                                  </p:stCondLst>
                                  <p:childTnLst>
                                    <p:set>
                                      <p:cBhvr>
                                        <p:cTn id="35" dur="1" fill="hold">
                                          <p:stCondLst>
                                            <p:cond delay="0"/>
                                          </p:stCondLst>
                                        </p:cTn>
                                        <p:tgtEl>
                                          <p:spTgt spid="12"/>
                                        </p:tgtEl>
                                        <p:attrNameLst>
                                          <p:attrName>style.visibility</p:attrName>
                                        </p:attrNameLst>
                                      </p:cBhvr>
                                      <p:to>
                                        <p:strVal val="visible"/>
                                      </p:to>
                                    </p:set>
                                    <p:animEffect transition="in" filter="fade">
                                      <p:cBhvr>
                                        <p:cTn id="31" dur="650"/>
                                        <p:tgtEl>
                                          <p:spTgt spid="12"/>
                                        </p:tgtEl>
                                      </p:cBhvr>
                                    </p:animEffect>
                                    <p:anim calcmode="lin" valueType="num">
                                      <p:cBhvr additive="base">
                                        <p:cTn id="32" dur="650" fill="hold"/>
                                        <p:tgtEl>
                                          <p:spTgt spid="12"/>
                                        </p:tgtEl>
                                        <p:attrNameLst>
                                          <p:attrName>ppt_x</p:attrName>
                                        </p:attrNameLst>
                                      </p:cBhvr>
                                      <p:tavLst>
                                        <p:tav tm="0">
                                          <p:val>
                                            <p:strVal val="#ppt_x-.06"/>
                                          </p:val>
                                        </p:tav>
                                        <p:tav tm="100000">
                                          <p:val>
                                            <p:strVal val="#ppt_x"/>
                                          </p:val>
                                        </p:tav>
                                      </p:tavLst>
                                    </p:anim>
                                    <p:anim calcmode="lin" valueType="num">
                                      <p:cBhvr additive="base">
                                        <p:cTn id="33" dur="650" fill="hold"/>
                                        <p:tgtEl>
                                          <p:spTgt spid="12"/>
                                        </p:tgtEl>
                                        <p:attrNameLst>
                                          <p:attrName>ppt_y</p:attrName>
                                        </p:attrNameLst>
                                      </p:cBhvr>
                                      <p:tavLst>
                                        <p:tav tm="0">
                                          <p:val>
                                            <p:strVal val="#ppt_y"/>
                                          </p:val>
                                        </p:tav>
                                        <p:tav tm="100000">
                                          <p:val>
                                            <p:strVal val="#ppt_y"/>
                                          </p:val>
                                        </p:tav>
                                      </p:tavLst>
                                    </p:anim>
                                  </p:childTnLst>
                                </p:cTn>
                              </p:par>
                              <p:par>
                                <p:cTn id="39" presetID="42" presetClass="entr" presetSubtype="0" fill="hold" grpId="0" nodeType="withEffect">
                                  <p:stCondLst>
                                    <p:cond delay="1900"/>
                                  </p:stCondLst>
                                  <p:childTnLst>
                                    <p:set>
                                      <p:cBhvr>
                                        <p:cTn id="40" dur="1" fill="hold">
                                          <p:stCondLst>
                                            <p:cond delay="0"/>
                                          </p:stCondLst>
                                        </p:cTn>
                                        <p:tgtEl>
                                          <p:spTgt spid="13"/>
                                        </p:tgtEl>
                                        <p:attrNameLst>
                                          <p:attrName>style.visibility</p:attrName>
                                        </p:attrNameLst>
                                      </p:cBhvr>
                                      <p:to>
                                        <p:strVal val="visible"/>
                                      </p:to>
                                    </p:set>
                                    <p:animEffect transition="in" filter="fade">
                                      <p:cBhvr>
                                        <p:cTn id="36" dur="650"/>
                                        <p:tgtEl>
                                          <p:spTgt spid="13"/>
                                        </p:tgtEl>
                                      </p:cBhvr>
                                    </p:animEffect>
                                    <p:anim calcmode="lin" valueType="num">
                                      <p:cBhvr additive="base">
                                        <p:cTn id="37" dur="650" fill="hold"/>
                                        <p:tgtEl>
                                          <p:spTgt spid="13"/>
                                        </p:tgtEl>
                                        <p:attrNameLst>
                                          <p:attrName>ppt_x</p:attrName>
                                        </p:attrNameLst>
                                      </p:cBhvr>
                                      <p:tavLst>
                                        <p:tav tm="0">
                                          <p:val>
                                            <p:strVal val="#ppt_x-.06"/>
                                          </p:val>
                                        </p:tav>
                                        <p:tav tm="100000">
                                          <p:val>
                                            <p:strVal val="#ppt_x"/>
                                          </p:val>
                                        </p:tav>
                                      </p:tavLst>
                                    </p:anim>
                                    <p:anim calcmode="lin" valueType="num">
                                      <p:cBhvr additive="base">
                                        <p:cTn id="38" dur="650" fill="hold"/>
                                        <p:tgtEl>
                                          <p:spTgt spid="13"/>
                                        </p:tgtEl>
                                        <p:attrNameLst>
                                          <p:attrName>ppt_y</p:attrName>
                                        </p:attrNameLst>
                                      </p:cBhvr>
                                      <p:tavLst>
                                        <p:tav tm="0">
                                          <p:val>
                                            <p:strVal val="#ppt_y"/>
                                          </p:val>
                                        </p:tav>
                                        <p:tav tm="100000">
                                          <p:val>
                                            <p:strVal val="#ppt_y"/>
                                          </p:val>
                                        </p:tav>
                                      </p:tavLst>
                                    </p:anim>
                                  </p:childTnLst>
                                </p:cTn>
                              </p:par>
                              <p:par>
                                <p:cTn id="44" presetID="53" presetClass="entr" presetSubtype="16" fill="hold" grpId="0" nodeType="withEffect">
                                  <p:stCondLst>
                                    <p:cond delay="2280"/>
                                  </p:stCondLst>
                                  <p:childTnLst>
                                    <p:set>
                                      <p:cBhvr>
                                        <p:cTn id="45" dur="1" fill="hold">
                                          <p:stCondLst>
                                            <p:cond delay="0"/>
                                          </p:stCondLst>
                                        </p:cTn>
                                        <p:tgtEl>
                                          <p:spTgt spid="14"/>
                                        </p:tgtEl>
                                        <p:attrNameLst>
                                          <p:attrName>style.visibility</p:attrName>
                                        </p:attrNameLst>
                                      </p:cBhvr>
                                      <p:to>
                                        <p:strVal val="visible"/>
                                      </p:to>
                                    </p:set>
                                    <p:anim calcmode="lin" valueType="num">
                                      <p:cBhvr additive="base">
                                        <p:cTn id="41" dur="550" fill="hold"/>
                                        <p:tgtEl>
                                          <p:spTgt spid="14"/>
                                        </p:tgtEl>
                                        <p:attrNameLst>
                                          <p:attrName>ppt_w</p:attrName>
                                        </p:attrNameLst>
                                      </p:cBhvr>
                                      <p:tavLst>
                                        <p:tav tm="0">
                                          <p:val>
                                            <p:strVal val="0"/>
                                          </p:val>
                                        </p:tav>
                                        <p:tav tm="100000">
                                          <p:val>
                                            <p:strVal val="#ppt_w"/>
                                          </p:val>
                                        </p:tav>
                                      </p:tavLst>
                                    </p:anim>
                                    <p:anim calcmode="lin" valueType="num">
                                      <p:cBhvr additive="base">
                                        <p:cTn id="42" dur="550" fill="hold"/>
                                        <p:tgtEl>
                                          <p:spTgt spid="14"/>
                                        </p:tgtEl>
                                        <p:attrNameLst>
                                          <p:attrName>ppt_h</p:attrName>
                                        </p:attrNameLst>
                                      </p:cBhvr>
                                      <p:tavLst>
                                        <p:tav tm="0">
                                          <p:val>
                                            <p:strVal val="0"/>
                                          </p:val>
                                        </p:tav>
                                        <p:tav tm="100000">
                                          <p:val>
                                            <p:strVal val="#ppt_h"/>
                                          </p:val>
                                        </p:tav>
                                      </p:tavLst>
                                    </p:anim>
                                    <p:animEffect transition="in" filter="fade">
                                      <p:cBhvr>
                                        <p:cTn id="43" dur="5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P spid="8" grpId="0" animBg="1"/>
      <p:bldP spid="10" grpId="0" animBg="1"/>
      <p:bldP spid="12" grpId="0" animBg="1"/>
      <p:bldP spid="13" grpId="0" animBg="1"/>
      <p:bldP spid="1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7406640" y="-1005840"/>
            <a:ext cx="2560320" cy="2560320"/>
          </a:xfrm>
          <a:prstGeom prst="rect">
            <a:avLst/>
          </a:prstGeom>
        </p:spPr>
      </p:pic>
      <p:sp>
        <p:nvSpPr>
          <p:cNvPr id="3" name="Text 0"/>
          <p:cNvSpPr txBox="1"/>
          <p:nvPr/>
        </p:nvSpPr>
        <p:spPr>
          <a:xfrm>
            <a:off x="457200" y="274320"/>
            <a:ext cx="6858000" cy="228600"/>
          </a:xfrm>
          <a:prstGeom prst="rect">
            <a:avLst/>
          </a:prstGeom>
          <a:noFill/>
          <a:ln/>
        </p:spPr>
        <p:txBody>
          <a:bodyPr wrap="square" lIns="0" tIns="0" rIns="0" bIns="0" rtlCol="0" anchor="t"/>
          <a:lstStyle/>
          <a:p>
            <a:pPr indent="0" marL="0">
              <a:buNone/>
            </a:pPr>
            <a:r>
              <a:rPr lang="en-US" sz="1050" b="1" spc="200" kern="0" dirty="0">
                <a:solidFill>
                  <a:srgbClr val="D9473F"/>
                </a:solidFill>
                <a:latin typeface="Calibri" pitchFamily="34" charset="0"/>
                <a:ea typeface="Calibri" pitchFamily="34" charset="-122"/>
                <a:cs typeface="Calibri" pitchFamily="34" charset="-120"/>
              </a:rPr>
              <a:t>III · 3.4 — LIMITES</a:t>
            </a:r>
            <a:endParaRPr lang="en-US" sz="1050" dirty="0"/>
          </a:p>
        </p:txBody>
      </p:sp>
      <p:sp>
        <p:nvSpPr>
          <p:cNvPr id="4" name="Text 1"/>
          <p:cNvSpPr txBox="1"/>
          <p:nvPr/>
        </p:nvSpPr>
        <p:spPr>
          <a:xfrm>
            <a:off x="457200" y="502920"/>
            <a:ext cx="7863840" cy="548640"/>
          </a:xfrm>
          <a:prstGeom prst="rect">
            <a:avLst/>
          </a:prstGeom>
          <a:noFill/>
          <a:ln/>
        </p:spPr>
        <p:txBody>
          <a:bodyPr wrap="square" lIns="0" tIns="0" rIns="0" bIns="0" rtlCol="0" anchor="ctr"/>
          <a:lstStyle/>
          <a:p>
            <a:pPr indent="0" marL="0">
              <a:buNone/>
            </a:pPr>
            <a:r>
              <a:rPr lang="en-US" sz="2600" b="1" dirty="0">
                <a:solidFill>
                  <a:srgbClr val="0B1F4B"/>
                </a:solidFill>
                <a:latin typeface="Cambria" pitchFamily="34" charset="0"/>
                <a:ea typeface="Cambria" pitchFamily="34" charset="-122"/>
                <a:cs typeface="Cambria" pitchFamily="34" charset="-120"/>
              </a:rPr>
              <a:t>Trop de règles communes, selon certains</a:t>
            </a:r>
            <a:endParaRPr lang="en-US" sz="2600" dirty="0"/>
          </a:p>
        </p:txBody>
      </p:sp>
      <p:sp>
        <p:nvSpPr>
          <p:cNvPr id="5" name="Text 2"/>
          <p:cNvSpPr txBox="1"/>
          <p:nvPr/>
        </p:nvSpPr>
        <p:spPr>
          <a:xfrm>
            <a:off x="8321040" y="4773168"/>
            <a:ext cx="365760" cy="228600"/>
          </a:xfrm>
          <a:prstGeom prst="rect">
            <a:avLst/>
          </a:prstGeom>
          <a:noFill/>
          <a:ln/>
        </p:spPr>
        <p:txBody>
          <a:bodyPr wrap="square" lIns="0" tIns="0" rIns="0" bIns="0" rtlCol="0" anchor="t"/>
          <a:lstStyle/>
          <a:p>
            <a:pPr algn="r" indent="0" marL="0">
              <a:buNone/>
            </a:pPr>
            <a:r>
              <a:rPr lang="en-US" sz="1000" dirty="0">
                <a:solidFill>
                  <a:srgbClr val="5B6478"/>
                </a:solidFill>
                <a:latin typeface="Calibri" pitchFamily="34" charset="0"/>
                <a:ea typeface="Calibri" pitchFamily="34" charset="-122"/>
                <a:cs typeface="Calibri" pitchFamily="34" charset="-120"/>
              </a:rPr>
              <a:t>23</a:t>
            </a:r>
            <a:endParaRPr lang="en-US" sz="1000" dirty="0"/>
          </a:p>
        </p:txBody>
      </p:sp>
      <p:sp>
        <p:nvSpPr>
          <p:cNvPr id="6" name="A1-zoom-347"/>
          <p:cNvSpPr/>
          <p:nvPr/>
        </p:nvSpPr>
        <p:spPr>
          <a:xfrm>
            <a:off x="457200" y="1325880"/>
            <a:ext cx="594360" cy="594360"/>
          </a:xfrm>
          <a:prstGeom prst="ellipse">
            <a:avLst/>
          </a:prstGeom>
          <a:solidFill>
            <a:srgbClr val="FBE7E5"/>
          </a:solidFill>
          <a:ln w="12700">
            <a:solidFill>
              <a:srgbClr val="FBE7E5"/>
            </a:solidFill>
            <a:prstDash val="solid"/>
          </a:ln>
        </p:spPr>
      </p:sp>
      <p:pic>
        <p:nvPicPr>
          <p:cNvPr id="7" name="A1-zoom-348" descr="preencoded.png">    </p:cNvPr>
          <p:cNvPicPr>
            <a:picLocks noChangeAspect="1"/>
          </p:cNvPicPr>
          <p:nvPr/>
        </p:nvPicPr>
        <p:blipFill>
          <a:blip r:embed="rId3"/>
          <a:stretch>
            <a:fillRect/>
          </a:stretch>
        </p:blipFill>
        <p:spPr>
          <a:xfrm>
            <a:off x="617677" y="1486357"/>
            <a:ext cx="273406" cy="273406"/>
          </a:xfrm>
          <a:prstGeom prst="rect">
            <a:avLst/>
          </a:prstGeom>
        </p:spPr>
      </p:pic>
      <p:sp>
        <p:nvSpPr>
          <p:cNvPr id="8" name="A1-fadeleft-349"/>
          <p:cNvSpPr txBox="1"/>
          <p:nvPr/>
        </p:nvSpPr>
        <p:spPr>
          <a:xfrm>
            <a:off x="1234440" y="1307592"/>
            <a:ext cx="3291840" cy="292608"/>
          </a:xfrm>
          <a:prstGeom prst="rect">
            <a:avLst/>
          </a:prstGeom>
          <a:noFill/>
          <a:ln/>
        </p:spPr>
        <p:txBody>
          <a:bodyPr wrap="square" lIns="0" tIns="0" rIns="0" bIns="0" rtlCol="0" anchor="t"/>
          <a:lstStyle/>
          <a:p>
            <a:pPr indent="0" marL="0">
              <a:buNone/>
            </a:pPr>
            <a:r>
              <a:rPr lang="en-US" sz="1400" b="1" dirty="0">
                <a:solidFill>
                  <a:srgbClr val="0B1F4B"/>
                </a:solidFill>
                <a:latin typeface="Calibri" pitchFamily="34" charset="0"/>
                <a:ea typeface="Calibri" pitchFamily="34" charset="-122"/>
                <a:cs typeface="Calibri" pitchFamily="34" charset="-120"/>
              </a:rPr>
              <a:t>Un corpus de règles dense</a:t>
            </a:r>
            <a:endParaRPr lang="en-US" sz="1400" dirty="0"/>
          </a:p>
        </p:txBody>
      </p:sp>
      <p:sp>
        <p:nvSpPr>
          <p:cNvPr id="9" name="A1-fadeleft-350"/>
          <p:cNvSpPr txBox="1"/>
          <p:nvPr/>
        </p:nvSpPr>
        <p:spPr>
          <a:xfrm>
            <a:off x="1234440" y="1600200"/>
            <a:ext cx="3291840" cy="685800"/>
          </a:xfrm>
          <a:prstGeom prst="rect">
            <a:avLst/>
          </a:prstGeom>
          <a:noFill/>
          <a:ln/>
        </p:spPr>
        <p:txBody>
          <a:bodyPr wrap="square" lIns="0" tIns="0" rIns="0" bIns="0" rtlCol="0" anchor="t"/>
          <a:lstStyle/>
          <a:p>
            <a:pPr indent="0" marL="0">
              <a:buNone/>
            </a:pPr>
            <a:r>
              <a:rPr lang="en-US" sz="1150" dirty="0">
                <a:solidFill>
                  <a:srgbClr val="5B6478"/>
                </a:solidFill>
                <a:latin typeface="Calibri" pitchFamily="34" charset="0"/>
                <a:ea typeface="Calibri" pitchFamily="34" charset="-122"/>
                <a:cs typeface="Calibri" pitchFamily="34" charset="-120"/>
              </a:rPr>
              <a:t>Coûteux à appliquer, surtout pour les PME sans service juridique</a:t>
            </a:r>
            <a:endParaRPr lang="en-US" sz="1150" dirty="0"/>
          </a:p>
        </p:txBody>
      </p:sp>
      <p:sp>
        <p:nvSpPr>
          <p:cNvPr id="10" name="A2-zoom-351"/>
          <p:cNvSpPr/>
          <p:nvPr/>
        </p:nvSpPr>
        <p:spPr>
          <a:xfrm>
            <a:off x="457200" y="2468880"/>
            <a:ext cx="594360" cy="594360"/>
          </a:xfrm>
          <a:prstGeom prst="ellipse">
            <a:avLst/>
          </a:prstGeom>
          <a:solidFill>
            <a:srgbClr val="FBE7E5"/>
          </a:solidFill>
          <a:ln w="12700">
            <a:solidFill>
              <a:srgbClr val="FBE7E5"/>
            </a:solidFill>
            <a:prstDash val="solid"/>
          </a:ln>
        </p:spPr>
      </p:sp>
      <p:pic>
        <p:nvPicPr>
          <p:cNvPr id="11" name="A2-zoom-352" descr="preencoded.png">    </p:cNvPr>
          <p:cNvPicPr>
            <a:picLocks noChangeAspect="1"/>
          </p:cNvPicPr>
          <p:nvPr/>
        </p:nvPicPr>
        <p:blipFill>
          <a:blip r:embed="rId4"/>
          <a:stretch>
            <a:fillRect/>
          </a:stretch>
        </p:blipFill>
        <p:spPr>
          <a:xfrm>
            <a:off x="617677" y="2629357"/>
            <a:ext cx="273406" cy="273406"/>
          </a:xfrm>
          <a:prstGeom prst="rect">
            <a:avLst/>
          </a:prstGeom>
        </p:spPr>
      </p:pic>
      <p:sp>
        <p:nvSpPr>
          <p:cNvPr id="12" name="A2-fadeleft-353"/>
          <p:cNvSpPr txBox="1"/>
          <p:nvPr/>
        </p:nvSpPr>
        <p:spPr>
          <a:xfrm>
            <a:off x="1234440" y="2450592"/>
            <a:ext cx="3291840" cy="292608"/>
          </a:xfrm>
          <a:prstGeom prst="rect">
            <a:avLst/>
          </a:prstGeom>
          <a:noFill/>
          <a:ln/>
        </p:spPr>
        <p:txBody>
          <a:bodyPr wrap="square" lIns="0" tIns="0" rIns="0" bIns="0" rtlCol="0" anchor="t"/>
          <a:lstStyle/>
          <a:p>
            <a:pPr indent="0" marL="0">
              <a:buNone/>
            </a:pPr>
            <a:r>
              <a:rPr lang="en-US" sz="1400" b="1" dirty="0">
                <a:solidFill>
                  <a:srgbClr val="0B1F4B"/>
                </a:solidFill>
                <a:latin typeface="Calibri" pitchFamily="34" charset="0"/>
                <a:ea typeface="Calibri" pitchFamily="34" charset="-122"/>
                <a:cs typeface="Calibri" pitchFamily="34" charset="-120"/>
              </a:rPr>
              <a:t>La « surtransposition »</a:t>
            </a:r>
            <a:endParaRPr lang="en-US" sz="1400" dirty="0"/>
          </a:p>
        </p:txBody>
      </p:sp>
      <p:sp>
        <p:nvSpPr>
          <p:cNvPr id="13" name="A2-fadeleft-354"/>
          <p:cNvSpPr txBox="1"/>
          <p:nvPr/>
        </p:nvSpPr>
        <p:spPr>
          <a:xfrm>
            <a:off x="1234440" y="2743200"/>
            <a:ext cx="3291840" cy="685800"/>
          </a:xfrm>
          <a:prstGeom prst="rect">
            <a:avLst/>
          </a:prstGeom>
          <a:noFill/>
          <a:ln/>
        </p:spPr>
        <p:txBody>
          <a:bodyPr wrap="square" lIns="0" tIns="0" rIns="0" bIns="0" rtlCol="0" anchor="t"/>
          <a:lstStyle/>
          <a:p>
            <a:pPr indent="0" marL="0">
              <a:buNone/>
            </a:pPr>
            <a:r>
              <a:rPr lang="en-US" sz="1150" dirty="0">
                <a:solidFill>
                  <a:srgbClr val="5B6478"/>
                </a:solidFill>
                <a:latin typeface="Calibri" pitchFamily="34" charset="0"/>
                <a:ea typeface="Calibri" pitchFamily="34" charset="-122"/>
                <a:cs typeface="Calibri" pitchFamily="34" charset="-120"/>
              </a:rPr>
              <a:t>Certains États ajoutent des exigences nationales aux directives → le marché se fragmente à nouveau</a:t>
            </a:r>
            <a:endParaRPr lang="en-US" sz="1150" dirty="0"/>
          </a:p>
        </p:txBody>
      </p:sp>
      <p:sp>
        <p:nvSpPr>
          <p:cNvPr id="14" name="A3-fadeup-355"/>
          <p:cNvSpPr/>
          <p:nvPr/>
        </p:nvSpPr>
        <p:spPr>
          <a:xfrm>
            <a:off x="457200" y="3611880"/>
            <a:ext cx="4069080" cy="1051560"/>
          </a:xfrm>
          <a:prstGeom prst="roundRect">
            <a:avLst>
              <a:gd name="adj" fmla="val 10435"/>
            </a:avLst>
          </a:prstGeom>
          <a:solidFill>
            <a:srgbClr val="0B1F4B"/>
          </a:solidFill>
          <a:ln w="12700">
            <a:solidFill>
              <a:srgbClr val="0B1F4B"/>
            </a:solidFill>
            <a:prstDash val="solid"/>
          </a:ln>
          <a:effectLst>
            <a:outerShdw sx="100000" sy="100000" kx="0" ky="0" algn="bl" rotWithShape="0" blurRad="101600" dist="25400" dir="5400000">
              <a:srgbClr val="0B1F4B">
                <a:alpha val="12000"/>
              </a:srgbClr>
            </a:outerShdw>
          </a:effectLst>
        </p:spPr>
      </p:sp>
      <p:sp>
        <p:nvSpPr>
          <p:cNvPr id="15" name="A3-fade-356"/>
          <p:cNvSpPr txBox="1"/>
          <p:nvPr/>
        </p:nvSpPr>
        <p:spPr>
          <a:xfrm>
            <a:off x="594360" y="3657600"/>
            <a:ext cx="3840480" cy="274320"/>
          </a:xfrm>
          <a:prstGeom prst="rect">
            <a:avLst/>
          </a:prstGeom>
          <a:noFill/>
          <a:ln/>
        </p:spPr>
        <p:txBody>
          <a:bodyPr wrap="square" lIns="0" tIns="0" rIns="0" bIns="0" rtlCol="0" anchor="t"/>
          <a:lstStyle/>
          <a:p>
            <a:pPr indent="0" marL="0">
              <a:buNone/>
            </a:pPr>
            <a:r>
              <a:rPr lang="en-US" sz="1100" b="1" dirty="0">
                <a:solidFill>
                  <a:srgbClr val="FFC21A"/>
                </a:solidFill>
                <a:latin typeface="Calibri" pitchFamily="34" charset="0"/>
                <a:ea typeface="Calibri" pitchFamily="34" charset="-122"/>
                <a:cs typeface="Calibri" pitchFamily="34" charset="-120"/>
              </a:rPr>
              <a:t>Objectif de simplification de la Commission (2025)</a:t>
            </a:r>
            <a:endParaRPr lang="en-US" sz="1100" dirty="0"/>
          </a:p>
        </p:txBody>
      </p:sp>
      <p:sp>
        <p:nvSpPr>
          <p:cNvPr id="16" name="A3-zoom-357"/>
          <p:cNvSpPr txBox="1"/>
          <p:nvPr/>
        </p:nvSpPr>
        <p:spPr>
          <a:xfrm>
            <a:off x="594360" y="3977640"/>
            <a:ext cx="3840480" cy="59436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−25 % </a:t>
            </a:r>
            <a:pPr indent="0" marL="0">
              <a:buNone/>
            </a:pPr>
            <a:r>
              <a:rPr lang="en-US" sz="1200" dirty="0">
                <a:solidFill>
                  <a:srgbClr val="C9D5F0"/>
                </a:solidFill>
                <a:latin typeface="Calibri" pitchFamily="34" charset="0"/>
                <a:ea typeface="Calibri" pitchFamily="34" charset="-122"/>
                <a:cs typeface="Calibri" pitchFamily="34" charset="-120"/>
              </a:rPr>
              <a:t>entreprises   </a:t>
            </a:r>
            <a:pPr indent="0" marL="0">
              <a:buNone/>
            </a:pPr>
            <a:r>
              <a:rPr lang="en-US" sz="2400" b="1" dirty="0">
                <a:solidFill>
                  <a:srgbClr val="FFFFFF"/>
                </a:solidFill>
                <a:latin typeface="Cambria" pitchFamily="34" charset="0"/>
                <a:ea typeface="Cambria" pitchFamily="34" charset="-122"/>
                <a:cs typeface="Cambria" pitchFamily="34" charset="-120"/>
              </a:rPr>
              <a:t>−35 % </a:t>
            </a:r>
            <a:pPr indent="0" marL="0">
              <a:buNone/>
            </a:pPr>
            <a:r>
              <a:rPr lang="en-US" sz="1200" dirty="0">
                <a:solidFill>
                  <a:srgbClr val="C9D5F0"/>
                </a:solidFill>
                <a:latin typeface="Calibri" pitchFamily="34" charset="0"/>
                <a:ea typeface="Calibri" pitchFamily="34" charset="-122"/>
                <a:cs typeface="Calibri" pitchFamily="34" charset="-120"/>
              </a:rPr>
              <a:t>PME</a:t>
            </a:r>
            <a:endParaRPr lang="en-US" sz="1200" dirty="0"/>
          </a:p>
        </p:txBody>
      </p:sp>
      <p:sp>
        <p:nvSpPr>
          <p:cNvPr id="17" name="A4-fade-358"/>
          <p:cNvSpPr txBox="1"/>
          <p:nvPr/>
        </p:nvSpPr>
        <p:spPr>
          <a:xfrm>
            <a:off x="4846320" y="1234440"/>
            <a:ext cx="3840480" cy="320040"/>
          </a:xfrm>
          <a:prstGeom prst="rect">
            <a:avLst/>
          </a:prstGeom>
          <a:noFill/>
          <a:ln/>
        </p:spPr>
        <p:txBody>
          <a:bodyPr wrap="square" lIns="0" tIns="0" rIns="0" bIns="0" rtlCol="0" anchor="t"/>
          <a:lstStyle/>
          <a:p>
            <a:pPr indent="0" marL="0">
              <a:buNone/>
            </a:pPr>
            <a:r>
              <a:rPr lang="en-US" sz="1400" b="1" dirty="0">
                <a:solidFill>
                  <a:srgbClr val="0B1F4B"/>
                </a:solidFill>
                <a:latin typeface="Calibri" pitchFamily="34" charset="0"/>
                <a:ea typeface="Calibri" pitchFamily="34" charset="-122"/>
                <a:cs typeface="Calibri" pitchFamily="34" charset="-120"/>
              </a:rPr>
              <a:t>La TVA : symbole de l'inachèvement fiscal</a:t>
            </a:r>
            <a:endParaRPr lang="en-US" sz="1400" dirty="0"/>
          </a:p>
        </p:txBody>
      </p:sp>
      <p:graphicFrame>
        <p:nvGraphicFramePr>
          <p:cNvPr id="18" name="A5-rise-359" descr=""/>
          <p:cNvGraphicFramePr/>
          <p:nvPr/>
        </p:nvGraphicFramePr>
        <p:xfrm>
          <a:off x="4754880" y="1554480"/>
          <a:ext cx="3931920" cy="2011680"/>
        </p:xfrm>
        <a:graphic xmlns:a="http://schemas.openxmlformats.org/drawingml/2006/main">
          <a:graphicData uri="http://schemas.openxmlformats.org/drawingml/2006/chart">
            <c:chart xmlns:c="http://schemas.openxmlformats.org/drawingml/2006/chart" r:id="rId5"/>
          </a:graphicData>
        </a:graphic>
      </p:graphicFrame>
      <p:sp>
        <p:nvSpPr>
          <p:cNvPr id="19" name="A6-fade-360"/>
          <p:cNvSpPr txBox="1"/>
          <p:nvPr/>
        </p:nvSpPr>
        <p:spPr>
          <a:xfrm>
            <a:off x="4846320" y="3703320"/>
            <a:ext cx="3840480" cy="868680"/>
          </a:xfrm>
          <a:prstGeom prst="rect">
            <a:avLst/>
          </a:prstGeom>
          <a:noFill/>
          <a:ln/>
        </p:spPr>
        <p:txBody>
          <a:bodyPr wrap="square" lIns="0" tIns="0" rIns="0" bIns="0" rtlCol="0" anchor="t"/>
          <a:lstStyle/>
          <a:p>
            <a:pPr indent="0" marL="0">
              <a:buNone/>
            </a:pPr>
            <a:r>
              <a:rPr lang="en-US" sz="1150" i="1" dirty="0">
                <a:solidFill>
                  <a:srgbClr val="5B6478"/>
                </a:solidFill>
                <a:latin typeface="Calibri" pitchFamily="34" charset="0"/>
                <a:ea typeface="Calibri" pitchFamily="34" charset="-122"/>
                <a:cs typeface="Calibri" pitchFamily="34" charset="-120"/>
              </a:rPr>
              <a:t>Depuis 1993, un régime « transitoire » : vendre dans plusieurs pays = autant de règles déclaratives à maîtriser.</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65" fill="hold">
                      <p:stCondLst>
                        <p:cond delay="indefinite"/>
                        <p:cond evt="onBegin" delay="0">
                          <p:tn val="2"/>
                        </p:cond>
                      </p:stCondLst>
                      <p:childTnLst>
                        <p:par>
                          <p:cTn id="66" fill="hold">
                            <p:stCondLst>
                              <p:cond delay="0"/>
                            </p:stCondLst>
                            <p:childTnLst>
                              <p:par>
                                <p:cTn id="6" presetID="53" presetClass="entr" presetSubtype="16" fill="hold" grpId="0" nodeType="withEffect">
                                  <p:stCondLst>
                                    <p:cond delay="380"/>
                                  </p:stCondLst>
                                  <p:childTnLst>
                                    <p:set>
                                      <p:cBhvr>
                                        <p:cTn id="7" dur="1" fill="hold">
                                          <p:stCondLst>
                                            <p:cond delay="0"/>
                                          </p:stCondLst>
                                        </p:cTn>
                                        <p:tgtEl>
                                          <p:spTgt spid="6"/>
                                        </p:tgtEl>
                                        <p:attrNameLst>
                                          <p:attrName>style.visibility</p:attrName>
                                        </p:attrNameLst>
                                      </p:cBhvr>
                                      <p:to>
                                        <p:strVal val="visible"/>
                                      </p:to>
                                    </p:set>
                                    <p:anim calcmode="lin" valueType="num">
                                      <p:cBhvr additive="base">
                                        <p:cTn id="3" dur="550" fill="hold"/>
                                        <p:tgtEl>
                                          <p:spTgt spid="6"/>
                                        </p:tgtEl>
                                        <p:attrNameLst>
                                          <p:attrName>ppt_w</p:attrName>
                                        </p:attrNameLst>
                                      </p:cBhvr>
                                      <p:tavLst>
                                        <p:tav tm="0">
                                          <p:val>
                                            <p:strVal val="0"/>
                                          </p:val>
                                        </p:tav>
                                        <p:tav tm="100000">
                                          <p:val>
                                            <p:strVal val="#ppt_w"/>
                                          </p:val>
                                        </p:tav>
                                      </p:tavLst>
                                    </p:anim>
                                    <p:anim calcmode="lin" valueType="num">
                                      <p:cBhvr additive="base">
                                        <p:cTn id="4" dur="550" fill="hold"/>
                                        <p:tgtEl>
                                          <p:spTgt spid="6"/>
                                        </p:tgtEl>
                                        <p:attrNameLst>
                                          <p:attrName>ppt_h</p:attrName>
                                        </p:attrNameLst>
                                      </p:cBhvr>
                                      <p:tavLst>
                                        <p:tav tm="0">
                                          <p:val>
                                            <p:strVal val="0"/>
                                          </p:val>
                                        </p:tav>
                                        <p:tav tm="100000">
                                          <p:val>
                                            <p:strVal val="#ppt_h"/>
                                          </p:val>
                                        </p:tav>
                                      </p:tavLst>
                                    </p:anim>
                                    <p:animEffect transition="in" filter="fade">
                                      <p:cBhvr>
                                        <p:cTn id="5" dur="550"/>
                                        <p:tgtEl>
                                          <p:spTgt spid="6"/>
                                        </p:tgtEl>
                                      </p:cBhvr>
                                    </p:animEffect>
                                  </p:childTnLst>
                                </p:cTn>
                              </p:par>
                              <p:par>
                                <p:cTn id="11" presetID="53" presetClass="entr" presetSubtype="16" fill="hold" grpId="0" nodeType="withEffect">
                                  <p:stCondLst>
                                    <p:cond delay="38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8" dur="550" fill="hold"/>
                                        <p:tgtEl>
                                          <p:spTgt spid="7"/>
                                        </p:tgtEl>
                                        <p:attrNameLst>
                                          <p:attrName>ppt_w</p:attrName>
                                        </p:attrNameLst>
                                      </p:cBhvr>
                                      <p:tavLst>
                                        <p:tav tm="0">
                                          <p:val>
                                            <p:strVal val="0"/>
                                          </p:val>
                                        </p:tav>
                                        <p:tav tm="100000">
                                          <p:val>
                                            <p:strVal val="#ppt_w"/>
                                          </p:val>
                                        </p:tav>
                                      </p:tavLst>
                                    </p:anim>
                                    <p:anim calcmode="lin" valueType="num">
                                      <p:cBhvr additive="base">
                                        <p:cTn id="9" dur="550" fill="hold"/>
                                        <p:tgtEl>
                                          <p:spTgt spid="7"/>
                                        </p:tgtEl>
                                        <p:attrNameLst>
                                          <p:attrName>ppt_h</p:attrName>
                                        </p:attrNameLst>
                                      </p:cBhvr>
                                      <p:tavLst>
                                        <p:tav tm="0">
                                          <p:val>
                                            <p:strVal val="0"/>
                                          </p:val>
                                        </p:tav>
                                        <p:tav tm="100000">
                                          <p:val>
                                            <p:strVal val="#ppt_h"/>
                                          </p:val>
                                        </p:tav>
                                      </p:tavLst>
                                    </p:anim>
                                    <p:animEffect transition="in" filter="fade">
                                      <p:cBhvr>
                                        <p:cTn id="10" dur="550"/>
                                        <p:tgtEl>
                                          <p:spTgt spid="7"/>
                                        </p:tgtEl>
                                      </p:cBhvr>
                                    </p:animEffect>
                                  </p:childTnLst>
                                </p:cTn>
                              </p:par>
                              <p:par>
                                <p:cTn id="16" presetID="42" presetClass="entr" presetSubtype="0" fill="hold" grpId="0" nodeType="withEffect">
                                  <p:stCondLst>
                                    <p:cond delay="380"/>
                                  </p:stCondLst>
                                  <p:childTnLst>
                                    <p:set>
                                      <p:cBhvr>
                                        <p:cTn id="17" dur="1" fill="hold">
                                          <p:stCondLst>
                                            <p:cond delay="0"/>
                                          </p:stCondLst>
                                        </p:cTn>
                                        <p:tgtEl>
                                          <p:spTgt spid="8"/>
                                        </p:tgtEl>
                                        <p:attrNameLst>
                                          <p:attrName>style.visibility</p:attrName>
                                        </p:attrNameLst>
                                      </p:cBhvr>
                                      <p:to>
                                        <p:strVal val="visible"/>
                                      </p:to>
                                    </p:set>
                                    <p:animEffect transition="in" filter="fade">
                                      <p:cBhvr>
                                        <p:cTn id="13" dur="650"/>
                                        <p:tgtEl>
                                          <p:spTgt spid="8"/>
                                        </p:tgtEl>
                                      </p:cBhvr>
                                    </p:animEffect>
                                    <p:anim calcmode="lin" valueType="num">
                                      <p:cBhvr additive="base">
                                        <p:cTn id="14" dur="650" fill="hold"/>
                                        <p:tgtEl>
                                          <p:spTgt spid="8"/>
                                        </p:tgtEl>
                                        <p:attrNameLst>
                                          <p:attrName>ppt_x</p:attrName>
                                        </p:attrNameLst>
                                      </p:cBhvr>
                                      <p:tavLst>
                                        <p:tav tm="0">
                                          <p:val>
                                            <p:strVal val="#ppt_x-.06"/>
                                          </p:val>
                                        </p:tav>
                                        <p:tav tm="100000">
                                          <p:val>
                                            <p:strVal val="#ppt_x"/>
                                          </p:val>
                                        </p:tav>
                                      </p:tavLst>
                                    </p:anim>
                                    <p:anim calcmode="lin" valueType="num">
                                      <p:cBhvr additive="base">
                                        <p:cTn id="15" dur="650" fill="hold"/>
                                        <p:tgtEl>
                                          <p:spTgt spid="8"/>
                                        </p:tgtEl>
                                        <p:attrNameLst>
                                          <p:attrName>ppt_y</p:attrName>
                                        </p:attrNameLst>
                                      </p:cBhvr>
                                      <p:tavLst>
                                        <p:tav tm="0">
                                          <p:val>
                                            <p:strVal val="#ppt_y"/>
                                          </p:val>
                                        </p:tav>
                                        <p:tav tm="100000">
                                          <p:val>
                                            <p:strVal val="#ppt_y"/>
                                          </p:val>
                                        </p:tav>
                                      </p:tavLst>
                                    </p:anim>
                                  </p:childTnLst>
                                </p:cTn>
                              </p:par>
                              <p:par>
                                <p:cTn id="21" presetID="42" presetClass="entr" presetSubtype="0" fill="hold" grpId="0" nodeType="withEffect">
                                  <p:stCondLst>
                                    <p:cond delay="380"/>
                                  </p:stCondLst>
                                  <p:childTnLst>
                                    <p:set>
                                      <p:cBhvr>
                                        <p:cTn id="22" dur="1" fill="hold">
                                          <p:stCondLst>
                                            <p:cond delay="0"/>
                                          </p:stCondLst>
                                        </p:cTn>
                                        <p:tgtEl>
                                          <p:spTgt spid="9"/>
                                        </p:tgtEl>
                                        <p:attrNameLst>
                                          <p:attrName>style.visibility</p:attrName>
                                        </p:attrNameLst>
                                      </p:cBhvr>
                                      <p:to>
                                        <p:strVal val="visible"/>
                                      </p:to>
                                    </p:set>
                                    <p:animEffect transition="in" filter="fade">
                                      <p:cBhvr>
                                        <p:cTn id="18" dur="650"/>
                                        <p:tgtEl>
                                          <p:spTgt spid="9"/>
                                        </p:tgtEl>
                                      </p:cBhvr>
                                    </p:animEffect>
                                    <p:anim calcmode="lin" valueType="num">
                                      <p:cBhvr additive="base">
                                        <p:cTn id="19" dur="650" fill="hold"/>
                                        <p:tgtEl>
                                          <p:spTgt spid="9"/>
                                        </p:tgtEl>
                                        <p:attrNameLst>
                                          <p:attrName>ppt_x</p:attrName>
                                        </p:attrNameLst>
                                      </p:cBhvr>
                                      <p:tavLst>
                                        <p:tav tm="0">
                                          <p:val>
                                            <p:strVal val="#ppt_x-.06"/>
                                          </p:val>
                                        </p:tav>
                                        <p:tav tm="100000">
                                          <p:val>
                                            <p:strVal val="#ppt_x"/>
                                          </p:val>
                                        </p:tav>
                                      </p:tavLst>
                                    </p:anim>
                                    <p:anim calcmode="lin" valueType="num">
                                      <p:cBhvr additive="base">
                                        <p:cTn id="20" dur="650" fill="hold"/>
                                        <p:tgtEl>
                                          <p:spTgt spid="9"/>
                                        </p:tgtEl>
                                        <p:attrNameLst>
                                          <p:attrName>ppt_y</p:attrName>
                                        </p:attrNameLst>
                                      </p:cBhvr>
                                      <p:tavLst>
                                        <p:tav tm="0">
                                          <p:val>
                                            <p:strVal val="#ppt_y"/>
                                          </p:val>
                                        </p:tav>
                                        <p:tav tm="100000">
                                          <p:val>
                                            <p:strVal val="#ppt_y"/>
                                          </p:val>
                                        </p:tav>
                                      </p:tavLst>
                                    </p:anim>
                                  </p:childTnLst>
                                </p:cTn>
                              </p:par>
                              <p:par>
                                <p:cTn id="26" presetID="53" presetClass="entr" presetSubtype="16" fill="hold" grpId="0" nodeType="withEffect">
                                  <p:stCondLst>
                                    <p:cond delay="76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3" dur="550" fill="hold"/>
                                        <p:tgtEl>
                                          <p:spTgt spid="10"/>
                                        </p:tgtEl>
                                        <p:attrNameLst>
                                          <p:attrName>ppt_w</p:attrName>
                                        </p:attrNameLst>
                                      </p:cBhvr>
                                      <p:tavLst>
                                        <p:tav tm="0">
                                          <p:val>
                                            <p:strVal val="0"/>
                                          </p:val>
                                        </p:tav>
                                        <p:tav tm="100000">
                                          <p:val>
                                            <p:strVal val="#ppt_w"/>
                                          </p:val>
                                        </p:tav>
                                      </p:tavLst>
                                    </p:anim>
                                    <p:anim calcmode="lin" valueType="num">
                                      <p:cBhvr additive="base">
                                        <p:cTn id="24" dur="550" fill="hold"/>
                                        <p:tgtEl>
                                          <p:spTgt spid="10"/>
                                        </p:tgtEl>
                                        <p:attrNameLst>
                                          <p:attrName>ppt_h</p:attrName>
                                        </p:attrNameLst>
                                      </p:cBhvr>
                                      <p:tavLst>
                                        <p:tav tm="0">
                                          <p:val>
                                            <p:strVal val="0"/>
                                          </p:val>
                                        </p:tav>
                                        <p:tav tm="100000">
                                          <p:val>
                                            <p:strVal val="#ppt_h"/>
                                          </p:val>
                                        </p:tav>
                                      </p:tavLst>
                                    </p:anim>
                                    <p:animEffect transition="in" filter="fade">
                                      <p:cBhvr>
                                        <p:cTn id="25" dur="550"/>
                                        <p:tgtEl>
                                          <p:spTgt spid="10"/>
                                        </p:tgtEl>
                                      </p:cBhvr>
                                    </p:animEffect>
                                  </p:childTnLst>
                                </p:cTn>
                              </p:par>
                              <p:par>
                                <p:cTn id="31" presetID="53" presetClass="entr" presetSubtype="16" fill="hold" grpId="0" nodeType="withEffect">
                                  <p:stCondLst>
                                    <p:cond delay="76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28" dur="550" fill="hold"/>
                                        <p:tgtEl>
                                          <p:spTgt spid="11"/>
                                        </p:tgtEl>
                                        <p:attrNameLst>
                                          <p:attrName>ppt_w</p:attrName>
                                        </p:attrNameLst>
                                      </p:cBhvr>
                                      <p:tavLst>
                                        <p:tav tm="0">
                                          <p:val>
                                            <p:strVal val="0"/>
                                          </p:val>
                                        </p:tav>
                                        <p:tav tm="100000">
                                          <p:val>
                                            <p:strVal val="#ppt_w"/>
                                          </p:val>
                                        </p:tav>
                                      </p:tavLst>
                                    </p:anim>
                                    <p:anim calcmode="lin" valueType="num">
                                      <p:cBhvr additive="base">
                                        <p:cTn id="29" dur="550" fill="hold"/>
                                        <p:tgtEl>
                                          <p:spTgt spid="11"/>
                                        </p:tgtEl>
                                        <p:attrNameLst>
                                          <p:attrName>ppt_h</p:attrName>
                                        </p:attrNameLst>
                                      </p:cBhvr>
                                      <p:tavLst>
                                        <p:tav tm="0">
                                          <p:val>
                                            <p:strVal val="0"/>
                                          </p:val>
                                        </p:tav>
                                        <p:tav tm="100000">
                                          <p:val>
                                            <p:strVal val="#ppt_h"/>
                                          </p:val>
                                        </p:tav>
                                      </p:tavLst>
                                    </p:anim>
                                    <p:animEffect transition="in" filter="fade">
                                      <p:cBhvr>
                                        <p:cTn id="30" dur="550"/>
                                        <p:tgtEl>
                                          <p:spTgt spid="11"/>
                                        </p:tgtEl>
                                      </p:cBhvr>
                                    </p:animEffect>
                                  </p:childTnLst>
                                </p:cTn>
                              </p:par>
                              <p:par>
                                <p:cTn id="36" presetID="42" presetClass="entr" presetSubtype="0" fill="hold" grpId="0" nodeType="withEffect">
                                  <p:stCondLst>
                                    <p:cond delay="760"/>
                                  </p:stCondLst>
                                  <p:childTnLst>
                                    <p:set>
                                      <p:cBhvr>
                                        <p:cTn id="37" dur="1" fill="hold">
                                          <p:stCondLst>
                                            <p:cond delay="0"/>
                                          </p:stCondLst>
                                        </p:cTn>
                                        <p:tgtEl>
                                          <p:spTgt spid="12"/>
                                        </p:tgtEl>
                                        <p:attrNameLst>
                                          <p:attrName>style.visibility</p:attrName>
                                        </p:attrNameLst>
                                      </p:cBhvr>
                                      <p:to>
                                        <p:strVal val="visible"/>
                                      </p:to>
                                    </p:set>
                                    <p:animEffect transition="in" filter="fade">
                                      <p:cBhvr>
                                        <p:cTn id="33" dur="650"/>
                                        <p:tgtEl>
                                          <p:spTgt spid="12"/>
                                        </p:tgtEl>
                                      </p:cBhvr>
                                    </p:animEffect>
                                    <p:anim calcmode="lin" valueType="num">
                                      <p:cBhvr additive="base">
                                        <p:cTn id="34" dur="650" fill="hold"/>
                                        <p:tgtEl>
                                          <p:spTgt spid="12"/>
                                        </p:tgtEl>
                                        <p:attrNameLst>
                                          <p:attrName>ppt_x</p:attrName>
                                        </p:attrNameLst>
                                      </p:cBhvr>
                                      <p:tavLst>
                                        <p:tav tm="0">
                                          <p:val>
                                            <p:strVal val="#ppt_x-.06"/>
                                          </p:val>
                                        </p:tav>
                                        <p:tav tm="100000">
                                          <p:val>
                                            <p:strVal val="#ppt_x"/>
                                          </p:val>
                                        </p:tav>
                                      </p:tavLst>
                                    </p:anim>
                                    <p:anim calcmode="lin" valueType="num">
                                      <p:cBhvr additive="base">
                                        <p:cTn id="35" dur="650" fill="hold"/>
                                        <p:tgtEl>
                                          <p:spTgt spid="12"/>
                                        </p:tgtEl>
                                        <p:attrNameLst>
                                          <p:attrName>ppt_y</p:attrName>
                                        </p:attrNameLst>
                                      </p:cBhvr>
                                      <p:tavLst>
                                        <p:tav tm="0">
                                          <p:val>
                                            <p:strVal val="#ppt_y"/>
                                          </p:val>
                                        </p:tav>
                                        <p:tav tm="100000">
                                          <p:val>
                                            <p:strVal val="#ppt_y"/>
                                          </p:val>
                                        </p:tav>
                                      </p:tavLst>
                                    </p:anim>
                                  </p:childTnLst>
                                </p:cTn>
                              </p:par>
                              <p:par>
                                <p:cTn id="41" presetID="42" presetClass="entr" presetSubtype="0" fill="hold" grpId="0" nodeType="withEffect">
                                  <p:stCondLst>
                                    <p:cond delay="760"/>
                                  </p:stCondLst>
                                  <p:childTnLst>
                                    <p:set>
                                      <p:cBhvr>
                                        <p:cTn id="42" dur="1" fill="hold">
                                          <p:stCondLst>
                                            <p:cond delay="0"/>
                                          </p:stCondLst>
                                        </p:cTn>
                                        <p:tgtEl>
                                          <p:spTgt spid="13"/>
                                        </p:tgtEl>
                                        <p:attrNameLst>
                                          <p:attrName>style.visibility</p:attrName>
                                        </p:attrNameLst>
                                      </p:cBhvr>
                                      <p:to>
                                        <p:strVal val="visible"/>
                                      </p:to>
                                    </p:set>
                                    <p:animEffect transition="in" filter="fade">
                                      <p:cBhvr>
                                        <p:cTn id="38" dur="650"/>
                                        <p:tgtEl>
                                          <p:spTgt spid="13"/>
                                        </p:tgtEl>
                                      </p:cBhvr>
                                    </p:animEffect>
                                    <p:anim calcmode="lin" valueType="num">
                                      <p:cBhvr additive="base">
                                        <p:cTn id="39" dur="650" fill="hold"/>
                                        <p:tgtEl>
                                          <p:spTgt spid="13"/>
                                        </p:tgtEl>
                                        <p:attrNameLst>
                                          <p:attrName>ppt_x</p:attrName>
                                        </p:attrNameLst>
                                      </p:cBhvr>
                                      <p:tavLst>
                                        <p:tav tm="0">
                                          <p:val>
                                            <p:strVal val="#ppt_x-.06"/>
                                          </p:val>
                                        </p:tav>
                                        <p:tav tm="100000">
                                          <p:val>
                                            <p:strVal val="#ppt_x"/>
                                          </p:val>
                                        </p:tav>
                                      </p:tavLst>
                                    </p:anim>
                                    <p:anim calcmode="lin" valueType="num">
                                      <p:cBhvr additive="base">
                                        <p:cTn id="40" dur="650" fill="hold"/>
                                        <p:tgtEl>
                                          <p:spTgt spid="13"/>
                                        </p:tgtEl>
                                        <p:attrNameLst>
                                          <p:attrName>ppt_y</p:attrName>
                                        </p:attrNameLst>
                                      </p:cBhvr>
                                      <p:tavLst>
                                        <p:tav tm="0">
                                          <p:val>
                                            <p:strVal val="#ppt_y"/>
                                          </p:val>
                                        </p:tav>
                                        <p:tav tm="100000">
                                          <p:val>
                                            <p:strVal val="#ppt_y"/>
                                          </p:val>
                                        </p:tav>
                                      </p:tavLst>
                                    </p:anim>
                                  </p:childTnLst>
                                </p:cTn>
                              </p:par>
                              <p:par>
                                <p:cTn id="46" presetID="42" presetClass="entr" presetSubtype="0" fill="hold" grpId="0" nodeType="withEffect">
                                  <p:stCondLst>
                                    <p:cond delay="1140"/>
                                  </p:stCondLst>
                                  <p:childTnLst>
                                    <p:set>
                                      <p:cBhvr>
                                        <p:cTn id="47" dur="1" fill="hold">
                                          <p:stCondLst>
                                            <p:cond delay="0"/>
                                          </p:stCondLst>
                                        </p:cTn>
                                        <p:tgtEl>
                                          <p:spTgt spid="14"/>
                                        </p:tgtEl>
                                        <p:attrNameLst>
                                          <p:attrName>style.visibility</p:attrName>
                                        </p:attrNameLst>
                                      </p:cBhvr>
                                      <p:to>
                                        <p:strVal val="visible"/>
                                      </p:to>
                                    </p:set>
                                    <p:animEffect transition="in" filter="fade">
                                      <p:cBhvr>
                                        <p:cTn id="43" dur="700"/>
                                        <p:tgtEl>
                                          <p:spTgt spid="14"/>
                                        </p:tgtEl>
                                      </p:cBhvr>
                                    </p:animEffect>
                                    <p:anim calcmode="lin" valueType="num">
                                      <p:cBhvr additive="base">
                                        <p:cTn id="44" dur="700" fill="hold"/>
                                        <p:tgtEl>
                                          <p:spTgt spid="14"/>
                                        </p:tgtEl>
                                        <p:attrNameLst>
                                          <p:attrName>ppt_x</p:attrName>
                                        </p:attrNameLst>
                                      </p:cBhvr>
                                      <p:tavLst>
                                        <p:tav tm="0">
                                          <p:val>
                                            <p:strVal val="#ppt_x"/>
                                          </p:val>
                                        </p:tav>
                                        <p:tav tm="100000">
                                          <p:val>
                                            <p:strVal val="#ppt_x"/>
                                          </p:val>
                                        </p:tav>
                                      </p:tavLst>
                                    </p:anim>
                                    <p:anim calcmode="lin" valueType="num">
                                      <p:cBhvr additive="base">
                                        <p:cTn id="45" dur="700" fill="hold"/>
                                        <p:tgtEl>
                                          <p:spTgt spid="14"/>
                                        </p:tgtEl>
                                        <p:attrNameLst>
                                          <p:attrName>ppt_y</p:attrName>
                                        </p:attrNameLst>
                                      </p:cBhvr>
                                      <p:tavLst>
                                        <p:tav tm="0">
                                          <p:val>
                                            <p:strVal val="#ppt_y+.08"/>
                                          </p:val>
                                        </p:tav>
                                        <p:tav tm="100000">
                                          <p:val>
                                            <p:strVal val="#ppt_y"/>
                                          </p:val>
                                        </p:tav>
                                      </p:tavLst>
                                    </p:anim>
                                  </p:childTnLst>
                                </p:cTn>
                              </p:par>
                              <p:par>
                                <p:cTn id="49" presetID="10" presetClass="entr" presetSubtype="0" fill="hold" grpId="0" nodeType="withEffect">
                                  <p:stCondLst>
                                    <p:cond delay="1140"/>
                                  </p:stCondLst>
                                  <p:childTnLst>
                                    <p:set>
                                      <p:cBhvr>
                                        <p:cTn id="50" dur="1" fill="hold">
                                          <p:stCondLst>
                                            <p:cond delay="0"/>
                                          </p:stCondLst>
                                        </p:cTn>
                                        <p:tgtEl>
                                          <p:spTgt spid="15"/>
                                        </p:tgtEl>
                                        <p:attrNameLst>
                                          <p:attrName>style.visibility</p:attrName>
                                        </p:attrNameLst>
                                      </p:cBhvr>
                                      <p:to>
                                        <p:strVal val="visible"/>
                                      </p:to>
                                    </p:set>
                                    <p:animEffect transition="in" filter="fade">
                                      <p:cBhvr>
                                        <p:cTn id="48" dur="600"/>
                                        <p:tgtEl>
                                          <p:spTgt spid="15"/>
                                        </p:tgtEl>
                                      </p:cBhvr>
                                    </p:animEffect>
                                  </p:childTnLst>
                                </p:cTn>
                              </p:par>
                              <p:par>
                                <p:cTn id="54" presetID="53" presetClass="entr" presetSubtype="16" fill="hold" grpId="0" nodeType="withEffect">
                                  <p:stCondLst>
                                    <p:cond delay="1140"/>
                                  </p:stCondLst>
                                  <p:childTnLst>
                                    <p:set>
                                      <p:cBhvr>
                                        <p:cTn id="55" dur="1" fill="hold">
                                          <p:stCondLst>
                                            <p:cond delay="0"/>
                                          </p:stCondLst>
                                        </p:cTn>
                                        <p:tgtEl>
                                          <p:spTgt spid="16"/>
                                        </p:tgtEl>
                                        <p:attrNameLst>
                                          <p:attrName>style.visibility</p:attrName>
                                        </p:attrNameLst>
                                      </p:cBhvr>
                                      <p:to>
                                        <p:strVal val="visible"/>
                                      </p:to>
                                    </p:set>
                                    <p:anim calcmode="lin" valueType="num">
                                      <p:cBhvr additive="base">
                                        <p:cTn id="51" dur="550" fill="hold"/>
                                        <p:tgtEl>
                                          <p:spTgt spid="16"/>
                                        </p:tgtEl>
                                        <p:attrNameLst>
                                          <p:attrName>ppt_w</p:attrName>
                                        </p:attrNameLst>
                                      </p:cBhvr>
                                      <p:tavLst>
                                        <p:tav tm="0">
                                          <p:val>
                                            <p:strVal val="0"/>
                                          </p:val>
                                        </p:tav>
                                        <p:tav tm="100000">
                                          <p:val>
                                            <p:strVal val="#ppt_w"/>
                                          </p:val>
                                        </p:tav>
                                      </p:tavLst>
                                    </p:anim>
                                    <p:anim calcmode="lin" valueType="num">
                                      <p:cBhvr additive="base">
                                        <p:cTn id="52" dur="550" fill="hold"/>
                                        <p:tgtEl>
                                          <p:spTgt spid="16"/>
                                        </p:tgtEl>
                                        <p:attrNameLst>
                                          <p:attrName>ppt_h</p:attrName>
                                        </p:attrNameLst>
                                      </p:cBhvr>
                                      <p:tavLst>
                                        <p:tav tm="0">
                                          <p:val>
                                            <p:strVal val="0"/>
                                          </p:val>
                                        </p:tav>
                                        <p:tav tm="100000">
                                          <p:val>
                                            <p:strVal val="#ppt_h"/>
                                          </p:val>
                                        </p:tav>
                                      </p:tavLst>
                                    </p:anim>
                                    <p:animEffect transition="in" filter="fade">
                                      <p:cBhvr>
                                        <p:cTn id="53" dur="550"/>
                                        <p:tgtEl>
                                          <p:spTgt spid="16"/>
                                        </p:tgtEl>
                                      </p:cBhvr>
                                    </p:animEffect>
                                  </p:childTnLst>
                                </p:cTn>
                              </p:par>
                              <p:par>
                                <p:cTn id="57" presetID="10" presetClass="entr" presetSubtype="0" fill="hold" grpId="0" nodeType="withEffect">
                                  <p:stCondLst>
                                    <p:cond delay="1520"/>
                                  </p:stCondLst>
                                  <p:childTnLst>
                                    <p:set>
                                      <p:cBhvr>
                                        <p:cTn id="58" dur="1" fill="hold">
                                          <p:stCondLst>
                                            <p:cond delay="0"/>
                                          </p:stCondLst>
                                        </p:cTn>
                                        <p:tgtEl>
                                          <p:spTgt spid="17"/>
                                        </p:tgtEl>
                                        <p:attrNameLst>
                                          <p:attrName>style.visibility</p:attrName>
                                        </p:attrNameLst>
                                      </p:cBhvr>
                                      <p:to>
                                        <p:strVal val="visible"/>
                                      </p:to>
                                    </p:set>
                                    <p:animEffect transition="in" filter="fade">
                                      <p:cBhvr>
                                        <p:cTn id="56" dur="600"/>
                                        <p:tgtEl>
                                          <p:spTgt spid="17"/>
                                        </p:tgtEl>
                                      </p:cBhvr>
                                    </p:animEffect>
                                  </p:childTnLst>
                                </p:cTn>
                              </p:par>
                              <p:par>
                                <p:cTn id="60" presetID="22" presetClass="entr" presetSubtype="4" fill="hold" grpId="0" nodeType="withEffect">
                                  <p:stCondLst>
                                    <p:cond delay="1900"/>
                                  </p:stCondLst>
                                  <p:childTnLst>
                                    <p:set>
                                      <p:cBhvr>
                                        <p:cTn id="61" dur="1" fill="hold">
                                          <p:stCondLst>
                                            <p:cond delay="0"/>
                                          </p:stCondLst>
                                        </p:cTn>
                                        <p:tgtEl>
                                          <p:spTgt spid="18"/>
                                        </p:tgtEl>
                                        <p:attrNameLst>
                                          <p:attrName>style.visibility</p:attrName>
                                        </p:attrNameLst>
                                      </p:cBhvr>
                                      <p:to>
                                        <p:strVal val="visible"/>
                                      </p:to>
                                    </p:set>
                                    <p:animEffect transition="in" filter="wipe(down)">
                                      <p:cBhvr>
                                        <p:cTn id="59" dur="900"/>
                                        <p:tgtEl>
                                          <p:spTgt spid="18"/>
                                        </p:tgtEl>
                                      </p:cBhvr>
                                    </p:animEffect>
                                  </p:childTnLst>
                                </p:cTn>
                              </p:par>
                              <p:par>
                                <p:cTn id="63" presetID="10" presetClass="entr" presetSubtype="0" fill="hold" grpId="0" nodeType="withEffect">
                                  <p:stCondLst>
                                    <p:cond delay="2280"/>
                                  </p:stCondLst>
                                  <p:childTnLst>
                                    <p:set>
                                      <p:cBhvr>
                                        <p:cTn id="64" dur="1" fill="hold">
                                          <p:stCondLst>
                                            <p:cond delay="0"/>
                                          </p:stCondLst>
                                        </p:cTn>
                                        <p:tgtEl>
                                          <p:spTgt spid="19"/>
                                        </p:tgtEl>
                                        <p:attrNameLst>
                                          <p:attrName>style.visibility</p:attrName>
                                        </p:attrNameLst>
                                      </p:cBhvr>
                                      <p:to>
                                        <p:strVal val="visible"/>
                                      </p:to>
                                    </p:set>
                                    <p:animEffect transition="in" filter="fade">
                                      <p:cBhvr>
                                        <p:cTn id="62" dur="6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2" grpId="0" animBg="1"/>
      <p:bldP spid="13" grpId="0" animBg="1"/>
      <p:bldP spid="15" grpId="0" animBg="1"/>
      <p:bldP spid="16" grpId="0" animBg="1"/>
      <p:bldP spid="17" grpId="0" animBg="1"/>
      <p:bldGraphic spid="18" grpId="0">
        <p:bldAsOne/>
      </p:bldGraphic>
      <p:bldP spid="1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7406640" y="-1005840"/>
            <a:ext cx="2560320" cy="2560320"/>
          </a:xfrm>
          <a:prstGeom prst="rect">
            <a:avLst/>
          </a:prstGeom>
        </p:spPr>
      </p:pic>
      <p:sp>
        <p:nvSpPr>
          <p:cNvPr id="3" name="Text 0"/>
          <p:cNvSpPr txBox="1"/>
          <p:nvPr/>
        </p:nvSpPr>
        <p:spPr>
          <a:xfrm>
            <a:off x="457200" y="274320"/>
            <a:ext cx="6858000" cy="228600"/>
          </a:xfrm>
          <a:prstGeom prst="rect">
            <a:avLst/>
          </a:prstGeom>
          <a:noFill/>
          <a:ln/>
        </p:spPr>
        <p:txBody>
          <a:bodyPr wrap="square" lIns="0" tIns="0" rIns="0" bIns="0" rtlCol="0" anchor="t"/>
          <a:lstStyle/>
          <a:p>
            <a:pPr indent="0" marL="0">
              <a:buNone/>
            </a:pPr>
            <a:r>
              <a:rPr lang="en-US" sz="1050" b="1" spc="200" kern="0" dirty="0">
                <a:solidFill>
                  <a:srgbClr val="D9473F"/>
                </a:solidFill>
                <a:latin typeface="Calibri" pitchFamily="34" charset="0"/>
                <a:ea typeface="Calibri" pitchFamily="34" charset="-122"/>
                <a:cs typeface="Calibri" pitchFamily="34" charset="-120"/>
              </a:rPr>
              <a:t>III · 3.5 — LIMITES</a:t>
            </a:r>
            <a:endParaRPr lang="en-US" sz="1050" dirty="0"/>
          </a:p>
        </p:txBody>
      </p:sp>
      <p:sp>
        <p:nvSpPr>
          <p:cNvPr id="4" name="Text 1"/>
          <p:cNvSpPr txBox="1"/>
          <p:nvPr/>
        </p:nvSpPr>
        <p:spPr>
          <a:xfrm>
            <a:off x="457200" y="502920"/>
            <a:ext cx="7863840" cy="548640"/>
          </a:xfrm>
          <a:prstGeom prst="rect">
            <a:avLst/>
          </a:prstGeom>
          <a:noFill/>
          <a:ln/>
        </p:spPr>
        <p:txBody>
          <a:bodyPr wrap="square" lIns="0" tIns="0" rIns="0" bIns="0" rtlCol="0" anchor="ctr"/>
          <a:lstStyle/>
          <a:p>
            <a:pPr indent="0" marL="0">
              <a:buNone/>
            </a:pPr>
            <a:r>
              <a:rPr lang="en-US" sz="2600" b="1" dirty="0">
                <a:solidFill>
                  <a:srgbClr val="0B1F4B"/>
                </a:solidFill>
                <a:latin typeface="Cambria" pitchFamily="34" charset="0"/>
                <a:ea typeface="Cambria" pitchFamily="34" charset="-122"/>
                <a:cs typeface="Cambria" pitchFamily="34" charset="-120"/>
              </a:rPr>
              <a:t>Des tensions sociales et politiques</a:t>
            </a:r>
            <a:endParaRPr lang="en-US" sz="2600" dirty="0"/>
          </a:p>
        </p:txBody>
      </p:sp>
      <p:sp>
        <p:nvSpPr>
          <p:cNvPr id="5" name="Text 2"/>
          <p:cNvSpPr txBox="1"/>
          <p:nvPr/>
        </p:nvSpPr>
        <p:spPr>
          <a:xfrm>
            <a:off x="8321040" y="4773168"/>
            <a:ext cx="365760" cy="228600"/>
          </a:xfrm>
          <a:prstGeom prst="rect">
            <a:avLst/>
          </a:prstGeom>
          <a:noFill/>
          <a:ln/>
        </p:spPr>
        <p:txBody>
          <a:bodyPr wrap="square" lIns="0" tIns="0" rIns="0" bIns="0" rtlCol="0" anchor="t"/>
          <a:lstStyle/>
          <a:p>
            <a:pPr algn="r" indent="0" marL="0">
              <a:buNone/>
            </a:pPr>
            <a:r>
              <a:rPr lang="en-US" sz="1000" dirty="0">
                <a:solidFill>
                  <a:srgbClr val="5B6478"/>
                </a:solidFill>
                <a:latin typeface="Calibri" pitchFamily="34" charset="0"/>
                <a:ea typeface="Calibri" pitchFamily="34" charset="-122"/>
                <a:cs typeface="Calibri" pitchFamily="34" charset="-120"/>
              </a:rPr>
              <a:t>24</a:t>
            </a:r>
            <a:endParaRPr lang="en-US" sz="1000" dirty="0"/>
          </a:p>
        </p:txBody>
      </p:sp>
      <p:sp>
        <p:nvSpPr>
          <p:cNvPr id="6" name="A1-wipedown-361"/>
          <p:cNvSpPr/>
          <p:nvPr/>
        </p:nvSpPr>
        <p:spPr>
          <a:xfrm>
            <a:off x="758952" y="1417320"/>
            <a:ext cx="0" cy="3154680"/>
          </a:xfrm>
          <a:prstGeom prst="line">
            <a:avLst/>
          </a:prstGeom>
          <a:noFill/>
          <a:ln w="31750">
            <a:solidFill>
              <a:srgbClr val="D9473F"/>
            </a:solidFill>
            <a:prstDash val="solid"/>
          </a:ln>
        </p:spPr>
      </p:sp>
      <p:sp>
        <p:nvSpPr>
          <p:cNvPr id="7" name="A2-zoom-362"/>
          <p:cNvSpPr/>
          <p:nvPr/>
        </p:nvSpPr>
        <p:spPr>
          <a:xfrm>
            <a:off x="640080" y="1353312"/>
            <a:ext cx="237744" cy="237744"/>
          </a:xfrm>
          <a:prstGeom prst="ellipse">
            <a:avLst/>
          </a:prstGeom>
          <a:solidFill>
            <a:srgbClr val="FFFFFF"/>
          </a:solidFill>
          <a:ln w="31750">
            <a:solidFill>
              <a:srgbClr val="D9473F"/>
            </a:solidFill>
            <a:prstDash val="solid"/>
          </a:ln>
        </p:spPr>
      </p:sp>
      <p:sp>
        <p:nvSpPr>
          <p:cNvPr id="8" name="A2-fadeleft-363"/>
          <p:cNvSpPr txBox="1"/>
          <p:nvPr/>
        </p:nvSpPr>
        <p:spPr>
          <a:xfrm>
            <a:off x="1051560" y="1280160"/>
            <a:ext cx="685800" cy="384048"/>
          </a:xfrm>
          <a:prstGeom prst="rect">
            <a:avLst/>
          </a:prstGeom>
          <a:noFill/>
          <a:ln/>
        </p:spPr>
        <p:txBody>
          <a:bodyPr wrap="square" lIns="0" tIns="0" rIns="0" bIns="0" rtlCol="0" anchor="ctr"/>
          <a:lstStyle/>
          <a:p>
            <a:pPr indent="0" marL="0">
              <a:buNone/>
            </a:pPr>
            <a:r>
              <a:rPr lang="en-US" sz="1700" b="1" dirty="0">
                <a:solidFill>
                  <a:srgbClr val="D9473F"/>
                </a:solidFill>
                <a:latin typeface="Cambria" pitchFamily="34" charset="0"/>
                <a:ea typeface="Cambria" pitchFamily="34" charset="-122"/>
                <a:cs typeface="Cambria" pitchFamily="34" charset="-120"/>
              </a:rPr>
              <a:t>1996</a:t>
            </a:r>
            <a:endParaRPr lang="en-US" sz="1700" dirty="0"/>
          </a:p>
        </p:txBody>
      </p:sp>
      <p:sp>
        <p:nvSpPr>
          <p:cNvPr id="9" name="A2-fadeleft-364"/>
          <p:cNvSpPr txBox="1"/>
          <p:nvPr/>
        </p:nvSpPr>
        <p:spPr>
          <a:xfrm>
            <a:off x="1783080" y="1280160"/>
            <a:ext cx="3108960" cy="384048"/>
          </a:xfrm>
          <a:prstGeom prst="rect">
            <a:avLst/>
          </a:prstGeom>
          <a:noFill/>
          <a:ln/>
        </p:spPr>
        <p:txBody>
          <a:bodyPr wrap="square" lIns="0" tIns="0" rIns="0" bIns="0" rtlCol="0" anchor="ctr"/>
          <a:lstStyle/>
          <a:p>
            <a:pPr indent="0" marL="0">
              <a:buNone/>
            </a:pPr>
            <a:r>
              <a:rPr lang="en-US" sz="1150" dirty="0">
                <a:solidFill>
                  <a:srgbClr val="1B2333"/>
                </a:solidFill>
                <a:latin typeface="Calibri" pitchFamily="34" charset="0"/>
                <a:ea typeface="Calibri" pitchFamily="34" charset="-122"/>
                <a:cs typeface="Calibri" pitchFamily="34" charset="-120"/>
              </a:rPr>
              <a:t>Encadrement du détachement de travailleurs</a:t>
            </a:r>
            <a:endParaRPr lang="en-US" sz="1150" dirty="0"/>
          </a:p>
        </p:txBody>
      </p:sp>
      <p:sp>
        <p:nvSpPr>
          <p:cNvPr id="10" name="A3-zoom-365"/>
          <p:cNvSpPr/>
          <p:nvPr/>
        </p:nvSpPr>
        <p:spPr>
          <a:xfrm>
            <a:off x="640080" y="2011680"/>
            <a:ext cx="237744" cy="237744"/>
          </a:xfrm>
          <a:prstGeom prst="ellipse">
            <a:avLst/>
          </a:prstGeom>
          <a:solidFill>
            <a:srgbClr val="FFFFFF"/>
          </a:solidFill>
          <a:ln w="31750">
            <a:solidFill>
              <a:srgbClr val="D9473F"/>
            </a:solidFill>
            <a:prstDash val="solid"/>
          </a:ln>
        </p:spPr>
      </p:sp>
      <p:sp>
        <p:nvSpPr>
          <p:cNvPr id="11" name="A3-fadeleft-366"/>
          <p:cNvSpPr txBox="1"/>
          <p:nvPr/>
        </p:nvSpPr>
        <p:spPr>
          <a:xfrm>
            <a:off x="1051560" y="1938528"/>
            <a:ext cx="685800" cy="384048"/>
          </a:xfrm>
          <a:prstGeom prst="rect">
            <a:avLst/>
          </a:prstGeom>
          <a:noFill/>
          <a:ln/>
        </p:spPr>
        <p:txBody>
          <a:bodyPr wrap="square" lIns="0" tIns="0" rIns="0" bIns="0" rtlCol="0" anchor="ctr"/>
          <a:lstStyle/>
          <a:p>
            <a:pPr indent="0" marL="0">
              <a:buNone/>
            </a:pPr>
            <a:r>
              <a:rPr lang="en-US" sz="1700" b="1" dirty="0">
                <a:solidFill>
                  <a:srgbClr val="D9473F"/>
                </a:solidFill>
                <a:latin typeface="Cambria" pitchFamily="34" charset="0"/>
                <a:ea typeface="Cambria" pitchFamily="34" charset="-122"/>
                <a:cs typeface="Cambria" pitchFamily="34" charset="-120"/>
              </a:rPr>
              <a:t>2004</a:t>
            </a:r>
            <a:endParaRPr lang="en-US" sz="1700" dirty="0"/>
          </a:p>
        </p:txBody>
      </p:sp>
      <p:sp>
        <p:nvSpPr>
          <p:cNvPr id="12" name="A3-fadeleft-367"/>
          <p:cNvSpPr txBox="1"/>
          <p:nvPr/>
        </p:nvSpPr>
        <p:spPr>
          <a:xfrm>
            <a:off x="1783080" y="1938528"/>
            <a:ext cx="3108960" cy="384048"/>
          </a:xfrm>
          <a:prstGeom prst="rect">
            <a:avLst/>
          </a:prstGeom>
          <a:noFill/>
          <a:ln/>
        </p:spPr>
        <p:txBody>
          <a:bodyPr wrap="square" lIns="0" tIns="0" rIns="0" bIns="0" rtlCol="0" anchor="ctr"/>
          <a:lstStyle/>
          <a:p>
            <a:pPr indent="0" marL="0">
              <a:buNone/>
            </a:pPr>
            <a:r>
              <a:rPr lang="en-US" sz="1150" dirty="0">
                <a:solidFill>
                  <a:srgbClr val="1B2333"/>
                </a:solidFill>
                <a:latin typeface="Calibri" pitchFamily="34" charset="0"/>
                <a:ea typeface="Calibri" pitchFamily="34" charset="-122"/>
                <a:cs typeface="Calibri" pitchFamily="34" charset="-120"/>
              </a:rPr>
              <a:t>Projet Bolkestein : loi du pays d'origine</a:t>
            </a:r>
            <a:endParaRPr lang="en-US" sz="1150" dirty="0"/>
          </a:p>
        </p:txBody>
      </p:sp>
      <p:sp>
        <p:nvSpPr>
          <p:cNvPr id="13" name="A4-zoom-368"/>
          <p:cNvSpPr/>
          <p:nvPr/>
        </p:nvSpPr>
        <p:spPr>
          <a:xfrm>
            <a:off x="640080" y="2670048"/>
            <a:ext cx="237744" cy="237744"/>
          </a:xfrm>
          <a:prstGeom prst="ellipse">
            <a:avLst/>
          </a:prstGeom>
          <a:solidFill>
            <a:srgbClr val="FFFFFF"/>
          </a:solidFill>
          <a:ln w="31750">
            <a:solidFill>
              <a:srgbClr val="D9473F"/>
            </a:solidFill>
            <a:prstDash val="solid"/>
          </a:ln>
        </p:spPr>
      </p:sp>
      <p:sp>
        <p:nvSpPr>
          <p:cNvPr id="14" name="A4-fadeleft-369"/>
          <p:cNvSpPr txBox="1"/>
          <p:nvPr/>
        </p:nvSpPr>
        <p:spPr>
          <a:xfrm>
            <a:off x="1051560" y="2596896"/>
            <a:ext cx="685800" cy="384048"/>
          </a:xfrm>
          <a:prstGeom prst="rect">
            <a:avLst/>
          </a:prstGeom>
          <a:noFill/>
          <a:ln/>
        </p:spPr>
        <p:txBody>
          <a:bodyPr wrap="square" lIns="0" tIns="0" rIns="0" bIns="0" rtlCol="0" anchor="ctr"/>
          <a:lstStyle/>
          <a:p>
            <a:pPr indent="0" marL="0">
              <a:buNone/>
            </a:pPr>
            <a:r>
              <a:rPr lang="en-US" sz="1700" b="1" dirty="0">
                <a:solidFill>
                  <a:srgbClr val="D9473F"/>
                </a:solidFill>
                <a:latin typeface="Cambria" pitchFamily="34" charset="0"/>
                <a:ea typeface="Cambria" pitchFamily="34" charset="-122"/>
                <a:cs typeface="Cambria" pitchFamily="34" charset="-120"/>
              </a:rPr>
              <a:t>2005</a:t>
            </a:r>
            <a:endParaRPr lang="en-US" sz="1700" dirty="0"/>
          </a:p>
        </p:txBody>
      </p:sp>
      <p:sp>
        <p:nvSpPr>
          <p:cNvPr id="15" name="A4-fadeleft-370"/>
          <p:cNvSpPr txBox="1"/>
          <p:nvPr/>
        </p:nvSpPr>
        <p:spPr>
          <a:xfrm>
            <a:off x="1783080" y="2596896"/>
            <a:ext cx="3108960" cy="384048"/>
          </a:xfrm>
          <a:prstGeom prst="rect">
            <a:avLst/>
          </a:prstGeom>
          <a:noFill/>
          <a:ln/>
        </p:spPr>
        <p:txBody>
          <a:bodyPr wrap="square" lIns="0" tIns="0" rIns="0" bIns="0" rtlCol="0" anchor="ctr"/>
          <a:lstStyle/>
          <a:p>
            <a:pPr indent="0" marL="0">
              <a:buNone/>
            </a:pPr>
            <a:r>
              <a:rPr lang="en-US" sz="1150" dirty="0">
                <a:solidFill>
                  <a:srgbClr val="1B2333"/>
                </a:solidFill>
                <a:latin typeface="Calibri" pitchFamily="34" charset="0"/>
                <a:ea typeface="Calibri" pitchFamily="34" charset="-122"/>
                <a:cs typeface="Calibri" pitchFamily="34" charset="-120"/>
              </a:rPr>
              <a:t>Référendum français : le « plombier polonais »</a:t>
            </a:r>
            <a:endParaRPr lang="en-US" sz="1150" dirty="0"/>
          </a:p>
        </p:txBody>
      </p:sp>
      <p:sp>
        <p:nvSpPr>
          <p:cNvPr id="16" name="A5-zoom-371"/>
          <p:cNvSpPr/>
          <p:nvPr/>
        </p:nvSpPr>
        <p:spPr>
          <a:xfrm>
            <a:off x="640080" y="3328416"/>
            <a:ext cx="237744" cy="237744"/>
          </a:xfrm>
          <a:prstGeom prst="ellipse">
            <a:avLst/>
          </a:prstGeom>
          <a:solidFill>
            <a:srgbClr val="FFFFFF"/>
          </a:solidFill>
          <a:ln w="31750">
            <a:solidFill>
              <a:srgbClr val="D9473F"/>
            </a:solidFill>
            <a:prstDash val="solid"/>
          </a:ln>
        </p:spPr>
      </p:sp>
      <p:sp>
        <p:nvSpPr>
          <p:cNvPr id="17" name="A5-fadeleft-372"/>
          <p:cNvSpPr txBox="1"/>
          <p:nvPr/>
        </p:nvSpPr>
        <p:spPr>
          <a:xfrm>
            <a:off x="1051560" y="3255264"/>
            <a:ext cx="685800" cy="384048"/>
          </a:xfrm>
          <a:prstGeom prst="rect">
            <a:avLst/>
          </a:prstGeom>
          <a:noFill/>
          <a:ln/>
        </p:spPr>
        <p:txBody>
          <a:bodyPr wrap="square" lIns="0" tIns="0" rIns="0" bIns="0" rtlCol="0" anchor="ctr"/>
          <a:lstStyle/>
          <a:p>
            <a:pPr indent="0" marL="0">
              <a:buNone/>
            </a:pPr>
            <a:r>
              <a:rPr lang="en-US" sz="1700" b="1" dirty="0">
                <a:solidFill>
                  <a:srgbClr val="D9473F"/>
                </a:solidFill>
                <a:latin typeface="Cambria" pitchFamily="34" charset="0"/>
                <a:ea typeface="Cambria" pitchFamily="34" charset="-122"/>
                <a:cs typeface="Cambria" pitchFamily="34" charset="-120"/>
              </a:rPr>
              <a:t>2006</a:t>
            </a:r>
            <a:endParaRPr lang="en-US" sz="1700" dirty="0"/>
          </a:p>
        </p:txBody>
      </p:sp>
      <p:sp>
        <p:nvSpPr>
          <p:cNvPr id="18" name="A5-fadeleft-373"/>
          <p:cNvSpPr txBox="1"/>
          <p:nvPr/>
        </p:nvSpPr>
        <p:spPr>
          <a:xfrm>
            <a:off x="1783080" y="3255264"/>
            <a:ext cx="3108960" cy="384048"/>
          </a:xfrm>
          <a:prstGeom prst="rect">
            <a:avLst/>
          </a:prstGeom>
          <a:noFill/>
          <a:ln/>
        </p:spPr>
        <p:txBody>
          <a:bodyPr wrap="square" lIns="0" tIns="0" rIns="0" bIns="0" rtlCol="0" anchor="ctr"/>
          <a:lstStyle/>
          <a:p>
            <a:pPr indent="0" marL="0">
              <a:buNone/>
            </a:pPr>
            <a:r>
              <a:rPr lang="en-US" sz="1150" dirty="0">
                <a:solidFill>
                  <a:srgbClr val="1B2333"/>
                </a:solidFill>
                <a:latin typeface="Calibri" pitchFamily="34" charset="0"/>
                <a:ea typeface="Calibri" pitchFamily="34" charset="-122"/>
                <a:cs typeface="Calibri" pitchFamily="34" charset="-120"/>
              </a:rPr>
              <a:t>Directive services : principe écarté</a:t>
            </a:r>
            <a:endParaRPr lang="en-US" sz="1150" dirty="0"/>
          </a:p>
        </p:txBody>
      </p:sp>
      <p:sp>
        <p:nvSpPr>
          <p:cNvPr id="19" name="A6-zoom-374"/>
          <p:cNvSpPr/>
          <p:nvPr/>
        </p:nvSpPr>
        <p:spPr>
          <a:xfrm>
            <a:off x="640080" y="3986784"/>
            <a:ext cx="237744" cy="237744"/>
          </a:xfrm>
          <a:prstGeom prst="ellipse">
            <a:avLst/>
          </a:prstGeom>
          <a:solidFill>
            <a:srgbClr val="FFFFFF"/>
          </a:solidFill>
          <a:ln w="31750">
            <a:solidFill>
              <a:srgbClr val="D9473F"/>
            </a:solidFill>
            <a:prstDash val="solid"/>
          </a:ln>
        </p:spPr>
      </p:sp>
      <p:sp>
        <p:nvSpPr>
          <p:cNvPr id="20" name="A6-fadeleft-375"/>
          <p:cNvSpPr txBox="1"/>
          <p:nvPr/>
        </p:nvSpPr>
        <p:spPr>
          <a:xfrm>
            <a:off x="1051560" y="3913632"/>
            <a:ext cx="685800" cy="384048"/>
          </a:xfrm>
          <a:prstGeom prst="rect">
            <a:avLst/>
          </a:prstGeom>
          <a:noFill/>
          <a:ln/>
        </p:spPr>
        <p:txBody>
          <a:bodyPr wrap="square" lIns="0" tIns="0" rIns="0" bIns="0" rtlCol="0" anchor="ctr"/>
          <a:lstStyle/>
          <a:p>
            <a:pPr indent="0" marL="0">
              <a:buNone/>
            </a:pPr>
            <a:r>
              <a:rPr lang="en-US" sz="1700" b="1" dirty="0">
                <a:solidFill>
                  <a:srgbClr val="D9473F"/>
                </a:solidFill>
                <a:latin typeface="Cambria" pitchFamily="34" charset="0"/>
                <a:ea typeface="Cambria" pitchFamily="34" charset="-122"/>
                <a:cs typeface="Cambria" pitchFamily="34" charset="-120"/>
              </a:rPr>
              <a:t>2018</a:t>
            </a:r>
            <a:endParaRPr lang="en-US" sz="1700" dirty="0"/>
          </a:p>
        </p:txBody>
      </p:sp>
      <p:sp>
        <p:nvSpPr>
          <p:cNvPr id="21" name="A6-fadeleft-376"/>
          <p:cNvSpPr txBox="1"/>
          <p:nvPr/>
        </p:nvSpPr>
        <p:spPr>
          <a:xfrm>
            <a:off x="1783080" y="3913632"/>
            <a:ext cx="3108960" cy="384048"/>
          </a:xfrm>
          <a:prstGeom prst="rect">
            <a:avLst/>
          </a:prstGeom>
          <a:noFill/>
          <a:ln/>
        </p:spPr>
        <p:txBody>
          <a:bodyPr wrap="square" lIns="0" tIns="0" rIns="0" bIns="0" rtlCol="0" anchor="ctr"/>
          <a:lstStyle/>
          <a:p>
            <a:pPr indent="0" marL="0">
              <a:buNone/>
            </a:pPr>
            <a:r>
              <a:rPr lang="en-US" sz="1150" dirty="0">
                <a:solidFill>
                  <a:srgbClr val="1B2333"/>
                </a:solidFill>
                <a:latin typeface="Calibri" pitchFamily="34" charset="0"/>
                <a:ea typeface="Calibri" pitchFamily="34" charset="-122"/>
                <a:cs typeface="Calibri" pitchFamily="34" charset="-120"/>
              </a:rPr>
              <a:t>« À travail égal, salaire égal » (appliqué en 2020)</a:t>
            </a:r>
            <a:endParaRPr lang="en-US" sz="1150" dirty="0"/>
          </a:p>
        </p:txBody>
      </p:sp>
      <p:sp>
        <p:nvSpPr>
          <p:cNvPr id="22" name="A7-fadeleft-377"/>
          <p:cNvSpPr/>
          <p:nvPr/>
        </p:nvSpPr>
        <p:spPr>
          <a:xfrm>
            <a:off x="5166360" y="1234440"/>
            <a:ext cx="3520440" cy="3429000"/>
          </a:xfrm>
          <a:prstGeom prst="roundRect">
            <a:avLst>
              <a:gd name="adj" fmla="val 3200"/>
            </a:avLst>
          </a:prstGeom>
          <a:solidFill>
            <a:srgbClr val="0B1F4B"/>
          </a:solidFill>
          <a:ln w="12700">
            <a:solidFill>
              <a:srgbClr val="0B1F4B"/>
            </a:solidFill>
            <a:prstDash val="solid"/>
          </a:ln>
          <a:effectLst>
            <a:outerShdw sx="100000" sy="100000" kx="0" ky="0" algn="bl" rotWithShape="0" blurRad="101600" dist="25400" dir="5400000">
              <a:srgbClr val="0B1F4B">
                <a:alpha val="12000"/>
              </a:srgbClr>
            </a:outerShdw>
          </a:effectLst>
        </p:spPr>
      </p:sp>
      <p:sp>
        <p:nvSpPr>
          <p:cNvPr id="23" name="A7-fade-378"/>
          <p:cNvSpPr txBox="1"/>
          <p:nvPr/>
        </p:nvSpPr>
        <p:spPr>
          <a:xfrm>
            <a:off x="5303520" y="1325880"/>
            <a:ext cx="3291840" cy="274320"/>
          </a:xfrm>
          <a:prstGeom prst="rect">
            <a:avLst/>
          </a:prstGeom>
          <a:noFill/>
          <a:ln/>
        </p:spPr>
        <p:txBody>
          <a:bodyPr wrap="square" lIns="0" tIns="0" rIns="0" bIns="0" rtlCol="0" anchor="t"/>
          <a:lstStyle/>
          <a:p>
            <a:pPr algn="ctr" indent="0" marL="0">
              <a:buNone/>
            </a:pPr>
            <a:r>
              <a:rPr lang="en-US" sz="1150" b="1" dirty="0">
                <a:solidFill>
                  <a:srgbClr val="FFC21A"/>
                </a:solidFill>
                <a:latin typeface="Calibri" pitchFamily="34" charset="0"/>
                <a:ea typeface="Calibri" pitchFamily="34" charset="-122"/>
                <a:cs typeface="Calibri" pitchFamily="34" charset="-120"/>
              </a:rPr>
              <a:t>Référendum britannique · 23 juin 2016</a:t>
            </a:r>
            <a:endParaRPr lang="en-US" sz="1150" dirty="0"/>
          </a:p>
        </p:txBody>
      </p:sp>
      <p:graphicFrame>
        <p:nvGraphicFramePr>
          <p:cNvPr id="24" name="A8-zoom-379" descr=""/>
          <p:cNvGraphicFramePr/>
          <p:nvPr/>
        </p:nvGraphicFramePr>
        <p:xfrm>
          <a:off x="5852160" y="1600200"/>
          <a:ext cx="2148840" cy="2148840"/>
        </p:xfrm>
        <a:graphic xmlns:a="http://schemas.openxmlformats.org/drawingml/2006/main">
          <a:graphicData uri="http://schemas.openxmlformats.org/drawingml/2006/chart">
            <c:chart xmlns:c="http://schemas.openxmlformats.org/drawingml/2006/chart" r:id="rId3"/>
          </a:graphicData>
        </a:graphic>
      </p:graphicFrame>
      <p:sp>
        <p:nvSpPr>
          <p:cNvPr id="25" name="A9-zoom-380"/>
          <p:cNvSpPr txBox="1"/>
          <p:nvPr/>
        </p:nvSpPr>
        <p:spPr>
          <a:xfrm>
            <a:off x="6035040" y="2468880"/>
            <a:ext cx="1783080" cy="411480"/>
          </a:xfrm>
          <a:prstGeom prst="rect">
            <a:avLst/>
          </a:prstGeom>
          <a:noFill/>
          <a:ln/>
        </p:spPr>
        <p:txBody>
          <a:bodyPr wrap="square" lIns="0" tIns="0" rIns="0" bIns="0" rtlCol="0" anchor="t"/>
          <a:lstStyle/>
          <a:p>
            <a:pPr algn="ctr" indent="0" marL="0">
              <a:buNone/>
            </a:pPr>
            <a:r>
              <a:rPr lang="en-US" sz="2200" b="1" dirty="0">
                <a:solidFill>
                  <a:srgbClr val="FFFFFF"/>
                </a:solidFill>
                <a:latin typeface="Cambria" pitchFamily="34" charset="0"/>
                <a:ea typeface="Cambria" pitchFamily="34" charset="-122"/>
                <a:cs typeface="Cambria" pitchFamily="34" charset="-120"/>
              </a:rPr>
              <a:t>51,9 %</a:t>
            </a:r>
            <a:endParaRPr lang="en-US" sz="2200" dirty="0"/>
          </a:p>
        </p:txBody>
      </p:sp>
      <p:sp>
        <p:nvSpPr>
          <p:cNvPr id="26" name="A9-fade-381"/>
          <p:cNvSpPr txBox="1"/>
          <p:nvPr/>
        </p:nvSpPr>
        <p:spPr>
          <a:xfrm>
            <a:off x="6035040" y="2834640"/>
            <a:ext cx="1783080" cy="228600"/>
          </a:xfrm>
          <a:prstGeom prst="rect">
            <a:avLst/>
          </a:prstGeom>
          <a:noFill/>
          <a:ln/>
        </p:spPr>
        <p:txBody>
          <a:bodyPr wrap="square" lIns="0" tIns="0" rIns="0" bIns="0" rtlCol="0" anchor="t"/>
          <a:lstStyle/>
          <a:p>
            <a:pPr algn="ctr" indent="0" marL="0">
              <a:buNone/>
            </a:pPr>
            <a:r>
              <a:rPr lang="en-US" sz="1050" dirty="0">
                <a:solidFill>
                  <a:srgbClr val="FF9A92"/>
                </a:solidFill>
                <a:latin typeface="Calibri" pitchFamily="34" charset="0"/>
                <a:ea typeface="Calibri" pitchFamily="34" charset="-122"/>
                <a:cs typeface="Calibri" pitchFamily="34" charset="-120"/>
              </a:rPr>
              <a:t>« Leave »</a:t>
            </a:r>
            <a:endParaRPr lang="en-US" sz="1050" dirty="0"/>
          </a:p>
        </p:txBody>
      </p:sp>
      <p:sp>
        <p:nvSpPr>
          <p:cNvPr id="27" name="A10-fade-382"/>
          <p:cNvSpPr txBox="1"/>
          <p:nvPr/>
        </p:nvSpPr>
        <p:spPr>
          <a:xfrm>
            <a:off x="5349240" y="3840480"/>
            <a:ext cx="3154680" cy="685800"/>
          </a:xfrm>
          <a:prstGeom prst="rect">
            <a:avLst/>
          </a:prstGeom>
          <a:noFill/>
          <a:ln/>
        </p:spPr>
        <p:txBody>
          <a:bodyPr wrap="square" lIns="0" tIns="0" rIns="0" bIns="0" rtlCol="0" anchor="t"/>
          <a:lstStyle/>
          <a:p>
            <a:pPr algn="ctr" indent="0" marL="0">
              <a:buNone/>
            </a:pPr>
            <a:r>
              <a:rPr lang="en-US" sz="1100" dirty="0">
                <a:solidFill>
                  <a:srgbClr val="D5DDF0"/>
                </a:solidFill>
                <a:latin typeface="Calibri" pitchFamily="34" charset="0"/>
                <a:ea typeface="Calibri" pitchFamily="34" charset="-122"/>
                <a:cs typeface="Calibri" pitchFamily="34" charset="-120"/>
              </a:rPr>
              <a:t>Libre circulation, immigration et souveraineté au cœur de la campagne</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105" fill="hold">
                      <p:stCondLst>
                        <p:cond delay="indefinite"/>
                        <p:cond evt="onBegin" delay="0">
                          <p:tn val="2"/>
                        </p:cond>
                      </p:stCondLst>
                      <p:childTnLst>
                        <p:par>
                          <p:cTn id="106" fill="hold">
                            <p:stCondLst>
                              <p:cond delay="0"/>
                            </p:stCondLst>
                            <p:childTnLst>
                              <p:par>
                                <p:cTn id="4" presetID="22" presetClass="entr" presetSubtype="1" fill="hold" grpId="0" nodeType="withEffect">
                                  <p:stCondLst>
                                    <p:cond delay="380"/>
                                  </p:stCondLst>
                                  <p:childTnLst>
                                    <p:set>
                                      <p:cBhvr>
                                        <p:cTn id="5" dur="1" fill="hold">
                                          <p:stCondLst>
                                            <p:cond delay="0"/>
                                          </p:stCondLst>
                                        </p:cTn>
                                        <p:tgtEl>
                                          <p:spTgt spid="6"/>
                                        </p:tgtEl>
                                        <p:attrNameLst>
                                          <p:attrName>style.visibility</p:attrName>
                                        </p:attrNameLst>
                                      </p:cBhvr>
                                      <p:to>
                                        <p:strVal val="visible"/>
                                      </p:to>
                                    </p:set>
                                    <p:animEffect transition="in" filter="wipe(up)">
                                      <p:cBhvr>
                                        <p:cTn id="3" dur="1600"/>
                                        <p:tgtEl>
                                          <p:spTgt spid="6"/>
                                        </p:tgtEl>
                                      </p:cBhvr>
                                    </p:animEffect>
                                  </p:childTnLst>
                                </p:cTn>
                              </p:par>
                              <p:par>
                                <p:cTn id="9" presetID="53" presetClass="entr" presetSubtype="16" fill="hold" grpId="0" nodeType="withEffect">
                                  <p:stCondLst>
                                    <p:cond delay="76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6" dur="550" fill="hold"/>
                                        <p:tgtEl>
                                          <p:spTgt spid="7"/>
                                        </p:tgtEl>
                                        <p:attrNameLst>
                                          <p:attrName>ppt_w</p:attrName>
                                        </p:attrNameLst>
                                      </p:cBhvr>
                                      <p:tavLst>
                                        <p:tav tm="0">
                                          <p:val>
                                            <p:strVal val="0"/>
                                          </p:val>
                                        </p:tav>
                                        <p:tav tm="100000">
                                          <p:val>
                                            <p:strVal val="#ppt_w"/>
                                          </p:val>
                                        </p:tav>
                                      </p:tavLst>
                                    </p:anim>
                                    <p:anim calcmode="lin" valueType="num">
                                      <p:cBhvr additive="base">
                                        <p:cTn id="7" dur="550" fill="hold"/>
                                        <p:tgtEl>
                                          <p:spTgt spid="7"/>
                                        </p:tgtEl>
                                        <p:attrNameLst>
                                          <p:attrName>ppt_h</p:attrName>
                                        </p:attrNameLst>
                                      </p:cBhvr>
                                      <p:tavLst>
                                        <p:tav tm="0">
                                          <p:val>
                                            <p:strVal val="0"/>
                                          </p:val>
                                        </p:tav>
                                        <p:tav tm="100000">
                                          <p:val>
                                            <p:strVal val="#ppt_h"/>
                                          </p:val>
                                        </p:tav>
                                      </p:tavLst>
                                    </p:anim>
                                    <p:animEffect transition="in" filter="fade">
                                      <p:cBhvr>
                                        <p:cTn id="8" dur="550"/>
                                        <p:tgtEl>
                                          <p:spTgt spid="7"/>
                                        </p:tgtEl>
                                      </p:cBhvr>
                                    </p:animEffect>
                                  </p:childTnLst>
                                </p:cTn>
                              </p:par>
                              <p:par>
                                <p:cTn id="14" presetID="42" presetClass="entr" presetSubtype="0" fill="hold" grpId="0" nodeType="withEffect">
                                  <p:stCondLst>
                                    <p:cond delay="760"/>
                                  </p:stCondLst>
                                  <p:childTnLst>
                                    <p:set>
                                      <p:cBhvr>
                                        <p:cTn id="15" dur="1" fill="hold">
                                          <p:stCondLst>
                                            <p:cond delay="0"/>
                                          </p:stCondLst>
                                        </p:cTn>
                                        <p:tgtEl>
                                          <p:spTgt spid="8"/>
                                        </p:tgtEl>
                                        <p:attrNameLst>
                                          <p:attrName>style.visibility</p:attrName>
                                        </p:attrNameLst>
                                      </p:cBhvr>
                                      <p:to>
                                        <p:strVal val="visible"/>
                                      </p:to>
                                    </p:set>
                                    <p:animEffect transition="in" filter="fade">
                                      <p:cBhvr>
                                        <p:cTn id="11" dur="650"/>
                                        <p:tgtEl>
                                          <p:spTgt spid="8"/>
                                        </p:tgtEl>
                                      </p:cBhvr>
                                    </p:animEffect>
                                    <p:anim calcmode="lin" valueType="num">
                                      <p:cBhvr additive="base">
                                        <p:cTn id="12" dur="650" fill="hold"/>
                                        <p:tgtEl>
                                          <p:spTgt spid="8"/>
                                        </p:tgtEl>
                                        <p:attrNameLst>
                                          <p:attrName>ppt_x</p:attrName>
                                        </p:attrNameLst>
                                      </p:cBhvr>
                                      <p:tavLst>
                                        <p:tav tm="0">
                                          <p:val>
                                            <p:strVal val="#ppt_x-.06"/>
                                          </p:val>
                                        </p:tav>
                                        <p:tav tm="100000">
                                          <p:val>
                                            <p:strVal val="#ppt_x"/>
                                          </p:val>
                                        </p:tav>
                                      </p:tavLst>
                                    </p:anim>
                                    <p:anim calcmode="lin" valueType="num">
                                      <p:cBhvr additive="base">
                                        <p:cTn id="13" dur="650" fill="hold"/>
                                        <p:tgtEl>
                                          <p:spTgt spid="8"/>
                                        </p:tgtEl>
                                        <p:attrNameLst>
                                          <p:attrName>ppt_y</p:attrName>
                                        </p:attrNameLst>
                                      </p:cBhvr>
                                      <p:tavLst>
                                        <p:tav tm="0">
                                          <p:val>
                                            <p:strVal val="#ppt_y"/>
                                          </p:val>
                                        </p:tav>
                                        <p:tav tm="100000">
                                          <p:val>
                                            <p:strVal val="#ppt_y"/>
                                          </p:val>
                                        </p:tav>
                                      </p:tavLst>
                                    </p:anim>
                                  </p:childTnLst>
                                </p:cTn>
                              </p:par>
                              <p:par>
                                <p:cTn id="19" presetID="42" presetClass="entr" presetSubtype="0" fill="hold" grpId="0" nodeType="withEffect">
                                  <p:stCondLst>
                                    <p:cond delay="760"/>
                                  </p:stCondLst>
                                  <p:childTnLst>
                                    <p:set>
                                      <p:cBhvr>
                                        <p:cTn id="20" dur="1" fill="hold">
                                          <p:stCondLst>
                                            <p:cond delay="0"/>
                                          </p:stCondLst>
                                        </p:cTn>
                                        <p:tgtEl>
                                          <p:spTgt spid="9"/>
                                        </p:tgtEl>
                                        <p:attrNameLst>
                                          <p:attrName>style.visibility</p:attrName>
                                        </p:attrNameLst>
                                      </p:cBhvr>
                                      <p:to>
                                        <p:strVal val="visible"/>
                                      </p:to>
                                    </p:set>
                                    <p:animEffect transition="in" filter="fade">
                                      <p:cBhvr>
                                        <p:cTn id="16" dur="650"/>
                                        <p:tgtEl>
                                          <p:spTgt spid="9"/>
                                        </p:tgtEl>
                                      </p:cBhvr>
                                    </p:animEffect>
                                    <p:anim calcmode="lin" valueType="num">
                                      <p:cBhvr additive="base">
                                        <p:cTn id="17" dur="650" fill="hold"/>
                                        <p:tgtEl>
                                          <p:spTgt spid="9"/>
                                        </p:tgtEl>
                                        <p:attrNameLst>
                                          <p:attrName>ppt_x</p:attrName>
                                        </p:attrNameLst>
                                      </p:cBhvr>
                                      <p:tavLst>
                                        <p:tav tm="0">
                                          <p:val>
                                            <p:strVal val="#ppt_x-.06"/>
                                          </p:val>
                                        </p:tav>
                                        <p:tav tm="100000">
                                          <p:val>
                                            <p:strVal val="#ppt_x"/>
                                          </p:val>
                                        </p:tav>
                                      </p:tavLst>
                                    </p:anim>
                                    <p:anim calcmode="lin" valueType="num">
                                      <p:cBhvr additive="base">
                                        <p:cTn id="18" dur="650" fill="hold"/>
                                        <p:tgtEl>
                                          <p:spTgt spid="9"/>
                                        </p:tgtEl>
                                        <p:attrNameLst>
                                          <p:attrName>ppt_y</p:attrName>
                                        </p:attrNameLst>
                                      </p:cBhvr>
                                      <p:tavLst>
                                        <p:tav tm="0">
                                          <p:val>
                                            <p:strVal val="#ppt_y"/>
                                          </p:val>
                                        </p:tav>
                                        <p:tav tm="100000">
                                          <p:val>
                                            <p:strVal val="#ppt_y"/>
                                          </p:val>
                                        </p:tav>
                                      </p:tavLst>
                                    </p:anim>
                                  </p:childTnLst>
                                </p:cTn>
                              </p:par>
                              <p:par>
                                <p:cTn id="24" presetID="53" presetClass="entr" presetSubtype="16" fill="hold" grpId="0" nodeType="withEffect">
                                  <p:stCondLst>
                                    <p:cond delay="114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1" dur="550" fill="hold"/>
                                        <p:tgtEl>
                                          <p:spTgt spid="10"/>
                                        </p:tgtEl>
                                        <p:attrNameLst>
                                          <p:attrName>ppt_w</p:attrName>
                                        </p:attrNameLst>
                                      </p:cBhvr>
                                      <p:tavLst>
                                        <p:tav tm="0">
                                          <p:val>
                                            <p:strVal val="0"/>
                                          </p:val>
                                        </p:tav>
                                        <p:tav tm="100000">
                                          <p:val>
                                            <p:strVal val="#ppt_w"/>
                                          </p:val>
                                        </p:tav>
                                      </p:tavLst>
                                    </p:anim>
                                    <p:anim calcmode="lin" valueType="num">
                                      <p:cBhvr additive="base">
                                        <p:cTn id="22" dur="550" fill="hold"/>
                                        <p:tgtEl>
                                          <p:spTgt spid="10"/>
                                        </p:tgtEl>
                                        <p:attrNameLst>
                                          <p:attrName>ppt_h</p:attrName>
                                        </p:attrNameLst>
                                      </p:cBhvr>
                                      <p:tavLst>
                                        <p:tav tm="0">
                                          <p:val>
                                            <p:strVal val="0"/>
                                          </p:val>
                                        </p:tav>
                                        <p:tav tm="100000">
                                          <p:val>
                                            <p:strVal val="#ppt_h"/>
                                          </p:val>
                                        </p:tav>
                                      </p:tavLst>
                                    </p:anim>
                                    <p:animEffect transition="in" filter="fade">
                                      <p:cBhvr>
                                        <p:cTn id="23" dur="550"/>
                                        <p:tgtEl>
                                          <p:spTgt spid="10"/>
                                        </p:tgtEl>
                                      </p:cBhvr>
                                    </p:animEffect>
                                  </p:childTnLst>
                                </p:cTn>
                              </p:par>
                              <p:par>
                                <p:cTn id="29" presetID="42" presetClass="entr" presetSubtype="0" fill="hold" grpId="0" nodeType="withEffect">
                                  <p:stCondLst>
                                    <p:cond delay="1140"/>
                                  </p:stCondLst>
                                  <p:childTnLst>
                                    <p:set>
                                      <p:cBhvr>
                                        <p:cTn id="30" dur="1" fill="hold">
                                          <p:stCondLst>
                                            <p:cond delay="0"/>
                                          </p:stCondLst>
                                        </p:cTn>
                                        <p:tgtEl>
                                          <p:spTgt spid="11"/>
                                        </p:tgtEl>
                                        <p:attrNameLst>
                                          <p:attrName>style.visibility</p:attrName>
                                        </p:attrNameLst>
                                      </p:cBhvr>
                                      <p:to>
                                        <p:strVal val="visible"/>
                                      </p:to>
                                    </p:set>
                                    <p:animEffect transition="in" filter="fade">
                                      <p:cBhvr>
                                        <p:cTn id="26" dur="650"/>
                                        <p:tgtEl>
                                          <p:spTgt spid="11"/>
                                        </p:tgtEl>
                                      </p:cBhvr>
                                    </p:animEffect>
                                    <p:anim calcmode="lin" valueType="num">
                                      <p:cBhvr additive="base">
                                        <p:cTn id="27" dur="650" fill="hold"/>
                                        <p:tgtEl>
                                          <p:spTgt spid="11"/>
                                        </p:tgtEl>
                                        <p:attrNameLst>
                                          <p:attrName>ppt_x</p:attrName>
                                        </p:attrNameLst>
                                      </p:cBhvr>
                                      <p:tavLst>
                                        <p:tav tm="0">
                                          <p:val>
                                            <p:strVal val="#ppt_x-.06"/>
                                          </p:val>
                                        </p:tav>
                                        <p:tav tm="100000">
                                          <p:val>
                                            <p:strVal val="#ppt_x"/>
                                          </p:val>
                                        </p:tav>
                                      </p:tavLst>
                                    </p:anim>
                                    <p:anim calcmode="lin" valueType="num">
                                      <p:cBhvr additive="base">
                                        <p:cTn id="28" dur="650" fill="hold"/>
                                        <p:tgtEl>
                                          <p:spTgt spid="11"/>
                                        </p:tgtEl>
                                        <p:attrNameLst>
                                          <p:attrName>ppt_y</p:attrName>
                                        </p:attrNameLst>
                                      </p:cBhvr>
                                      <p:tavLst>
                                        <p:tav tm="0">
                                          <p:val>
                                            <p:strVal val="#ppt_y"/>
                                          </p:val>
                                        </p:tav>
                                        <p:tav tm="100000">
                                          <p:val>
                                            <p:strVal val="#ppt_y"/>
                                          </p:val>
                                        </p:tav>
                                      </p:tavLst>
                                    </p:anim>
                                  </p:childTnLst>
                                </p:cTn>
                              </p:par>
                              <p:par>
                                <p:cTn id="34" presetID="42" presetClass="entr" presetSubtype="0" fill="hold" grpId="0" nodeType="withEffect">
                                  <p:stCondLst>
                                    <p:cond delay="1140"/>
                                  </p:stCondLst>
                                  <p:childTnLst>
                                    <p:set>
                                      <p:cBhvr>
                                        <p:cTn id="35" dur="1" fill="hold">
                                          <p:stCondLst>
                                            <p:cond delay="0"/>
                                          </p:stCondLst>
                                        </p:cTn>
                                        <p:tgtEl>
                                          <p:spTgt spid="12"/>
                                        </p:tgtEl>
                                        <p:attrNameLst>
                                          <p:attrName>style.visibility</p:attrName>
                                        </p:attrNameLst>
                                      </p:cBhvr>
                                      <p:to>
                                        <p:strVal val="visible"/>
                                      </p:to>
                                    </p:set>
                                    <p:animEffect transition="in" filter="fade">
                                      <p:cBhvr>
                                        <p:cTn id="31" dur="650"/>
                                        <p:tgtEl>
                                          <p:spTgt spid="12"/>
                                        </p:tgtEl>
                                      </p:cBhvr>
                                    </p:animEffect>
                                    <p:anim calcmode="lin" valueType="num">
                                      <p:cBhvr additive="base">
                                        <p:cTn id="32" dur="650" fill="hold"/>
                                        <p:tgtEl>
                                          <p:spTgt spid="12"/>
                                        </p:tgtEl>
                                        <p:attrNameLst>
                                          <p:attrName>ppt_x</p:attrName>
                                        </p:attrNameLst>
                                      </p:cBhvr>
                                      <p:tavLst>
                                        <p:tav tm="0">
                                          <p:val>
                                            <p:strVal val="#ppt_x-.06"/>
                                          </p:val>
                                        </p:tav>
                                        <p:tav tm="100000">
                                          <p:val>
                                            <p:strVal val="#ppt_x"/>
                                          </p:val>
                                        </p:tav>
                                      </p:tavLst>
                                    </p:anim>
                                    <p:anim calcmode="lin" valueType="num">
                                      <p:cBhvr additive="base">
                                        <p:cTn id="33" dur="650" fill="hold"/>
                                        <p:tgtEl>
                                          <p:spTgt spid="12"/>
                                        </p:tgtEl>
                                        <p:attrNameLst>
                                          <p:attrName>ppt_y</p:attrName>
                                        </p:attrNameLst>
                                      </p:cBhvr>
                                      <p:tavLst>
                                        <p:tav tm="0">
                                          <p:val>
                                            <p:strVal val="#ppt_y"/>
                                          </p:val>
                                        </p:tav>
                                        <p:tav tm="100000">
                                          <p:val>
                                            <p:strVal val="#ppt_y"/>
                                          </p:val>
                                        </p:tav>
                                      </p:tavLst>
                                    </p:anim>
                                  </p:childTnLst>
                                </p:cTn>
                              </p:par>
                              <p:par>
                                <p:cTn id="39" presetID="53" presetClass="entr" presetSubtype="16" fill="hold" grpId="0" nodeType="withEffect">
                                  <p:stCondLst>
                                    <p:cond delay="1520"/>
                                  </p:stCondLst>
                                  <p:childTnLst>
                                    <p:set>
                                      <p:cBhvr>
                                        <p:cTn id="40" dur="1" fill="hold">
                                          <p:stCondLst>
                                            <p:cond delay="0"/>
                                          </p:stCondLst>
                                        </p:cTn>
                                        <p:tgtEl>
                                          <p:spTgt spid="13"/>
                                        </p:tgtEl>
                                        <p:attrNameLst>
                                          <p:attrName>style.visibility</p:attrName>
                                        </p:attrNameLst>
                                      </p:cBhvr>
                                      <p:to>
                                        <p:strVal val="visible"/>
                                      </p:to>
                                    </p:set>
                                    <p:anim calcmode="lin" valueType="num">
                                      <p:cBhvr additive="base">
                                        <p:cTn id="36" dur="550" fill="hold"/>
                                        <p:tgtEl>
                                          <p:spTgt spid="13"/>
                                        </p:tgtEl>
                                        <p:attrNameLst>
                                          <p:attrName>ppt_w</p:attrName>
                                        </p:attrNameLst>
                                      </p:cBhvr>
                                      <p:tavLst>
                                        <p:tav tm="0">
                                          <p:val>
                                            <p:strVal val="0"/>
                                          </p:val>
                                        </p:tav>
                                        <p:tav tm="100000">
                                          <p:val>
                                            <p:strVal val="#ppt_w"/>
                                          </p:val>
                                        </p:tav>
                                      </p:tavLst>
                                    </p:anim>
                                    <p:anim calcmode="lin" valueType="num">
                                      <p:cBhvr additive="base">
                                        <p:cTn id="37" dur="550" fill="hold"/>
                                        <p:tgtEl>
                                          <p:spTgt spid="13"/>
                                        </p:tgtEl>
                                        <p:attrNameLst>
                                          <p:attrName>ppt_h</p:attrName>
                                        </p:attrNameLst>
                                      </p:cBhvr>
                                      <p:tavLst>
                                        <p:tav tm="0">
                                          <p:val>
                                            <p:strVal val="0"/>
                                          </p:val>
                                        </p:tav>
                                        <p:tav tm="100000">
                                          <p:val>
                                            <p:strVal val="#ppt_h"/>
                                          </p:val>
                                        </p:tav>
                                      </p:tavLst>
                                    </p:anim>
                                    <p:animEffect transition="in" filter="fade">
                                      <p:cBhvr>
                                        <p:cTn id="38" dur="550"/>
                                        <p:tgtEl>
                                          <p:spTgt spid="13"/>
                                        </p:tgtEl>
                                      </p:cBhvr>
                                    </p:animEffect>
                                  </p:childTnLst>
                                </p:cTn>
                              </p:par>
                              <p:par>
                                <p:cTn id="44" presetID="42" presetClass="entr" presetSubtype="0" fill="hold" grpId="0" nodeType="withEffect">
                                  <p:stCondLst>
                                    <p:cond delay="1520"/>
                                  </p:stCondLst>
                                  <p:childTnLst>
                                    <p:set>
                                      <p:cBhvr>
                                        <p:cTn id="45" dur="1" fill="hold">
                                          <p:stCondLst>
                                            <p:cond delay="0"/>
                                          </p:stCondLst>
                                        </p:cTn>
                                        <p:tgtEl>
                                          <p:spTgt spid="14"/>
                                        </p:tgtEl>
                                        <p:attrNameLst>
                                          <p:attrName>style.visibility</p:attrName>
                                        </p:attrNameLst>
                                      </p:cBhvr>
                                      <p:to>
                                        <p:strVal val="visible"/>
                                      </p:to>
                                    </p:set>
                                    <p:animEffect transition="in" filter="fade">
                                      <p:cBhvr>
                                        <p:cTn id="41" dur="650"/>
                                        <p:tgtEl>
                                          <p:spTgt spid="14"/>
                                        </p:tgtEl>
                                      </p:cBhvr>
                                    </p:animEffect>
                                    <p:anim calcmode="lin" valueType="num">
                                      <p:cBhvr additive="base">
                                        <p:cTn id="42" dur="650" fill="hold"/>
                                        <p:tgtEl>
                                          <p:spTgt spid="14"/>
                                        </p:tgtEl>
                                        <p:attrNameLst>
                                          <p:attrName>ppt_x</p:attrName>
                                        </p:attrNameLst>
                                      </p:cBhvr>
                                      <p:tavLst>
                                        <p:tav tm="0">
                                          <p:val>
                                            <p:strVal val="#ppt_x-.06"/>
                                          </p:val>
                                        </p:tav>
                                        <p:tav tm="100000">
                                          <p:val>
                                            <p:strVal val="#ppt_x"/>
                                          </p:val>
                                        </p:tav>
                                      </p:tavLst>
                                    </p:anim>
                                    <p:anim calcmode="lin" valueType="num">
                                      <p:cBhvr additive="base">
                                        <p:cTn id="43" dur="650" fill="hold"/>
                                        <p:tgtEl>
                                          <p:spTgt spid="14"/>
                                        </p:tgtEl>
                                        <p:attrNameLst>
                                          <p:attrName>ppt_y</p:attrName>
                                        </p:attrNameLst>
                                      </p:cBhvr>
                                      <p:tavLst>
                                        <p:tav tm="0">
                                          <p:val>
                                            <p:strVal val="#ppt_y"/>
                                          </p:val>
                                        </p:tav>
                                        <p:tav tm="100000">
                                          <p:val>
                                            <p:strVal val="#ppt_y"/>
                                          </p:val>
                                        </p:tav>
                                      </p:tavLst>
                                    </p:anim>
                                  </p:childTnLst>
                                </p:cTn>
                              </p:par>
                              <p:par>
                                <p:cTn id="49" presetID="42" presetClass="entr" presetSubtype="0" fill="hold" grpId="0" nodeType="withEffect">
                                  <p:stCondLst>
                                    <p:cond delay="1520"/>
                                  </p:stCondLst>
                                  <p:childTnLst>
                                    <p:set>
                                      <p:cBhvr>
                                        <p:cTn id="50" dur="1" fill="hold">
                                          <p:stCondLst>
                                            <p:cond delay="0"/>
                                          </p:stCondLst>
                                        </p:cTn>
                                        <p:tgtEl>
                                          <p:spTgt spid="15"/>
                                        </p:tgtEl>
                                        <p:attrNameLst>
                                          <p:attrName>style.visibility</p:attrName>
                                        </p:attrNameLst>
                                      </p:cBhvr>
                                      <p:to>
                                        <p:strVal val="visible"/>
                                      </p:to>
                                    </p:set>
                                    <p:animEffect transition="in" filter="fade">
                                      <p:cBhvr>
                                        <p:cTn id="46" dur="650"/>
                                        <p:tgtEl>
                                          <p:spTgt spid="15"/>
                                        </p:tgtEl>
                                      </p:cBhvr>
                                    </p:animEffect>
                                    <p:anim calcmode="lin" valueType="num">
                                      <p:cBhvr additive="base">
                                        <p:cTn id="47" dur="650" fill="hold"/>
                                        <p:tgtEl>
                                          <p:spTgt spid="15"/>
                                        </p:tgtEl>
                                        <p:attrNameLst>
                                          <p:attrName>ppt_x</p:attrName>
                                        </p:attrNameLst>
                                      </p:cBhvr>
                                      <p:tavLst>
                                        <p:tav tm="0">
                                          <p:val>
                                            <p:strVal val="#ppt_x-.06"/>
                                          </p:val>
                                        </p:tav>
                                        <p:tav tm="100000">
                                          <p:val>
                                            <p:strVal val="#ppt_x"/>
                                          </p:val>
                                        </p:tav>
                                      </p:tavLst>
                                    </p:anim>
                                    <p:anim calcmode="lin" valueType="num">
                                      <p:cBhvr additive="base">
                                        <p:cTn id="48" dur="650" fill="hold"/>
                                        <p:tgtEl>
                                          <p:spTgt spid="15"/>
                                        </p:tgtEl>
                                        <p:attrNameLst>
                                          <p:attrName>ppt_y</p:attrName>
                                        </p:attrNameLst>
                                      </p:cBhvr>
                                      <p:tavLst>
                                        <p:tav tm="0">
                                          <p:val>
                                            <p:strVal val="#ppt_y"/>
                                          </p:val>
                                        </p:tav>
                                        <p:tav tm="100000">
                                          <p:val>
                                            <p:strVal val="#ppt_y"/>
                                          </p:val>
                                        </p:tav>
                                      </p:tavLst>
                                    </p:anim>
                                  </p:childTnLst>
                                </p:cTn>
                              </p:par>
                              <p:par>
                                <p:cTn id="54" presetID="53" presetClass="entr" presetSubtype="16" fill="hold" grpId="0" nodeType="withEffect">
                                  <p:stCondLst>
                                    <p:cond delay="1900"/>
                                  </p:stCondLst>
                                  <p:childTnLst>
                                    <p:set>
                                      <p:cBhvr>
                                        <p:cTn id="55" dur="1" fill="hold">
                                          <p:stCondLst>
                                            <p:cond delay="0"/>
                                          </p:stCondLst>
                                        </p:cTn>
                                        <p:tgtEl>
                                          <p:spTgt spid="16"/>
                                        </p:tgtEl>
                                        <p:attrNameLst>
                                          <p:attrName>style.visibility</p:attrName>
                                        </p:attrNameLst>
                                      </p:cBhvr>
                                      <p:to>
                                        <p:strVal val="visible"/>
                                      </p:to>
                                    </p:set>
                                    <p:anim calcmode="lin" valueType="num">
                                      <p:cBhvr additive="base">
                                        <p:cTn id="51" dur="550" fill="hold"/>
                                        <p:tgtEl>
                                          <p:spTgt spid="16"/>
                                        </p:tgtEl>
                                        <p:attrNameLst>
                                          <p:attrName>ppt_w</p:attrName>
                                        </p:attrNameLst>
                                      </p:cBhvr>
                                      <p:tavLst>
                                        <p:tav tm="0">
                                          <p:val>
                                            <p:strVal val="0"/>
                                          </p:val>
                                        </p:tav>
                                        <p:tav tm="100000">
                                          <p:val>
                                            <p:strVal val="#ppt_w"/>
                                          </p:val>
                                        </p:tav>
                                      </p:tavLst>
                                    </p:anim>
                                    <p:anim calcmode="lin" valueType="num">
                                      <p:cBhvr additive="base">
                                        <p:cTn id="52" dur="550" fill="hold"/>
                                        <p:tgtEl>
                                          <p:spTgt spid="16"/>
                                        </p:tgtEl>
                                        <p:attrNameLst>
                                          <p:attrName>ppt_h</p:attrName>
                                        </p:attrNameLst>
                                      </p:cBhvr>
                                      <p:tavLst>
                                        <p:tav tm="0">
                                          <p:val>
                                            <p:strVal val="0"/>
                                          </p:val>
                                        </p:tav>
                                        <p:tav tm="100000">
                                          <p:val>
                                            <p:strVal val="#ppt_h"/>
                                          </p:val>
                                        </p:tav>
                                      </p:tavLst>
                                    </p:anim>
                                    <p:animEffect transition="in" filter="fade">
                                      <p:cBhvr>
                                        <p:cTn id="53" dur="550"/>
                                        <p:tgtEl>
                                          <p:spTgt spid="16"/>
                                        </p:tgtEl>
                                      </p:cBhvr>
                                    </p:animEffect>
                                  </p:childTnLst>
                                </p:cTn>
                              </p:par>
                              <p:par>
                                <p:cTn id="59" presetID="42" presetClass="entr" presetSubtype="0" fill="hold" grpId="0" nodeType="withEffect">
                                  <p:stCondLst>
                                    <p:cond delay="1900"/>
                                  </p:stCondLst>
                                  <p:childTnLst>
                                    <p:set>
                                      <p:cBhvr>
                                        <p:cTn id="60" dur="1" fill="hold">
                                          <p:stCondLst>
                                            <p:cond delay="0"/>
                                          </p:stCondLst>
                                        </p:cTn>
                                        <p:tgtEl>
                                          <p:spTgt spid="17"/>
                                        </p:tgtEl>
                                        <p:attrNameLst>
                                          <p:attrName>style.visibility</p:attrName>
                                        </p:attrNameLst>
                                      </p:cBhvr>
                                      <p:to>
                                        <p:strVal val="visible"/>
                                      </p:to>
                                    </p:set>
                                    <p:animEffect transition="in" filter="fade">
                                      <p:cBhvr>
                                        <p:cTn id="56" dur="650"/>
                                        <p:tgtEl>
                                          <p:spTgt spid="17"/>
                                        </p:tgtEl>
                                      </p:cBhvr>
                                    </p:animEffect>
                                    <p:anim calcmode="lin" valueType="num">
                                      <p:cBhvr additive="base">
                                        <p:cTn id="57" dur="650" fill="hold"/>
                                        <p:tgtEl>
                                          <p:spTgt spid="17"/>
                                        </p:tgtEl>
                                        <p:attrNameLst>
                                          <p:attrName>ppt_x</p:attrName>
                                        </p:attrNameLst>
                                      </p:cBhvr>
                                      <p:tavLst>
                                        <p:tav tm="0">
                                          <p:val>
                                            <p:strVal val="#ppt_x-.06"/>
                                          </p:val>
                                        </p:tav>
                                        <p:tav tm="100000">
                                          <p:val>
                                            <p:strVal val="#ppt_x"/>
                                          </p:val>
                                        </p:tav>
                                      </p:tavLst>
                                    </p:anim>
                                    <p:anim calcmode="lin" valueType="num">
                                      <p:cBhvr additive="base">
                                        <p:cTn id="58" dur="650" fill="hold"/>
                                        <p:tgtEl>
                                          <p:spTgt spid="17"/>
                                        </p:tgtEl>
                                        <p:attrNameLst>
                                          <p:attrName>ppt_y</p:attrName>
                                        </p:attrNameLst>
                                      </p:cBhvr>
                                      <p:tavLst>
                                        <p:tav tm="0">
                                          <p:val>
                                            <p:strVal val="#ppt_y"/>
                                          </p:val>
                                        </p:tav>
                                        <p:tav tm="100000">
                                          <p:val>
                                            <p:strVal val="#ppt_y"/>
                                          </p:val>
                                        </p:tav>
                                      </p:tavLst>
                                    </p:anim>
                                  </p:childTnLst>
                                </p:cTn>
                              </p:par>
                              <p:par>
                                <p:cTn id="64" presetID="42" presetClass="entr" presetSubtype="0" fill="hold" grpId="0" nodeType="withEffect">
                                  <p:stCondLst>
                                    <p:cond delay="1900"/>
                                  </p:stCondLst>
                                  <p:childTnLst>
                                    <p:set>
                                      <p:cBhvr>
                                        <p:cTn id="65" dur="1" fill="hold">
                                          <p:stCondLst>
                                            <p:cond delay="0"/>
                                          </p:stCondLst>
                                        </p:cTn>
                                        <p:tgtEl>
                                          <p:spTgt spid="18"/>
                                        </p:tgtEl>
                                        <p:attrNameLst>
                                          <p:attrName>style.visibility</p:attrName>
                                        </p:attrNameLst>
                                      </p:cBhvr>
                                      <p:to>
                                        <p:strVal val="visible"/>
                                      </p:to>
                                    </p:set>
                                    <p:animEffect transition="in" filter="fade">
                                      <p:cBhvr>
                                        <p:cTn id="61" dur="650"/>
                                        <p:tgtEl>
                                          <p:spTgt spid="18"/>
                                        </p:tgtEl>
                                      </p:cBhvr>
                                    </p:animEffect>
                                    <p:anim calcmode="lin" valueType="num">
                                      <p:cBhvr additive="base">
                                        <p:cTn id="62" dur="650" fill="hold"/>
                                        <p:tgtEl>
                                          <p:spTgt spid="18"/>
                                        </p:tgtEl>
                                        <p:attrNameLst>
                                          <p:attrName>ppt_x</p:attrName>
                                        </p:attrNameLst>
                                      </p:cBhvr>
                                      <p:tavLst>
                                        <p:tav tm="0">
                                          <p:val>
                                            <p:strVal val="#ppt_x-.06"/>
                                          </p:val>
                                        </p:tav>
                                        <p:tav tm="100000">
                                          <p:val>
                                            <p:strVal val="#ppt_x"/>
                                          </p:val>
                                        </p:tav>
                                      </p:tavLst>
                                    </p:anim>
                                    <p:anim calcmode="lin" valueType="num">
                                      <p:cBhvr additive="base">
                                        <p:cTn id="63" dur="650" fill="hold"/>
                                        <p:tgtEl>
                                          <p:spTgt spid="18"/>
                                        </p:tgtEl>
                                        <p:attrNameLst>
                                          <p:attrName>ppt_y</p:attrName>
                                        </p:attrNameLst>
                                      </p:cBhvr>
                                      <p:tavLst>
                                        <p:tav tm="0">
                                          <p:val>
                                            <p:strVal val="#ppt_y"/>
                                          </p:val>
                                        </p:tav>
                                        <p:tav tm="100000">
                                          <p:val>
                                            <p:strVal val="#ppt_y"/>
                                          </p:val>
                                        </p:tav>
                                      </p:tavLst>
                                    </p:anim>
                                  </p:childTnLst>
                                </p:cTn>
                              </p:par>
                              <p:par>
                                <p:cTn id="69" presetID="53" presetClass="entr" presetSubtype="16" fill="hold" grpId="0" nodeType="withEffect">
                                  <p:stCondLst>
                                    <p:cond delay="2280"/>
                                  </p:stCondLst>
                                  <p:childTnLst>
                                    <p:set>
                                      <p:cBhvr>
                                        <p:cTn id="70" dur="1" fill="hold">
                                          <p:stCondLst>
                                            <p:cond delay="0"/>
                                          </p:stCondLst>
                                        </p:cTn>
                                        <p:tgtEl>
                                          <p:spTgt spid="19"/>
                                        </p:tgtEl>
                                        <p:attrNameLst>
                                          <p:attrName>style.visibility</p:attrName>
                                        </p:attrNameLst>
                                      </p:cBhvr>
                                      <p:to>
                                        <p:strVal val="visible"/>
                                      </p:to>
                                    </p:set>
                                    <p:anim calcmode="lin" valueType="num">
                                      <p:cBhvr additive="base">
                                        <p:cTn id="66" dur="550" fill="hold"/>
                                        <p:tgtEl>
                                          <p:spTgt spid="19"/>
                                        </p:tgtEl>
                                        <p:attrNameLst>
                                          <p:attrName>ppt_w</p:attrName>
                                        </p:attrNameLst>
                                      </p:cBhvr>
                                      <p:tavLst>
                                        <p:tav tm="0">
                                          <p:val>
                                            <p:strVal val="0"/>
                                          </p:val>
                                        </p:tav>
                                        <p:tav tm="100000">
                                          <p:val>
                                            <p:strVal val="#ppt_w"/>
                                          </p:val>
                                        </p:tav>
                                      </p:tavLst>
                                    </p:anim>
                                    <p:anim calcmode="lin" valueType="num">
                                      <p:cBhvr additive="base">
                                        <p:cTn id="67" dur="550" fill="hold"/>
                                        <p:tgtEl>
                                          <p:spTgt spid="19"/>
                                        </p:tgtEl>
                                        <p:attrNameLst>
                                          <p:attrName>ppt_h</p:attrName>
                                        </p:attrNameLst>
                                      </p:cBhvr>
                                      <p:tavLst>
                                        <p:tav tm="0">
                                          <p:val>
                                            <p:strVal val="0"/>
                                          </p:val>
                                        </p:tav>
                                        <p:tav tm="100000">
                                          <p:val>
                                            <p:strVal val="#ppt_h"/>
                                          </p:val>
                                        </p:tav>
                                      </p:tavLst>
                                    </p:anim>
                                    <p:animEffect transition="in" filter="fade">
                                      <p:cBhvr>
                                        <p:cTn id="68" dur="550"/>
                                        <p:tgtEl>
                                          <p:spTgt spid="19"/>
                                        </p:tgtEl>
                                      </p:cBhvr>
                                    </p:animEffect>
                                  </p:childTnLst>
                                </p:cTn>
                              </p:par>
                              <p:par>
                                <p:cTn id="74" presetID="42" presetClass="entr" presetSubtype="0" fill="hold" grpId="0" nodeType="withEffect">
                                  <p:stCondLst>
                                    <p:cond delay="2280"/>
                                  </p:stCondLst>
                                  <p:childTnLst>
                                    <p:set>
                                      <p:cBhvr>
                                        <p:cTn id="75" dur="1" fill="hold">
                                          <p:stCondLst>
                                            <p:cond delay="0"/>
                                          </p:stCondLst>
                                        </p:cTn>
                                        <p:tgtEl>
                                          <p:spTgt spid="20"/>
                                        </p:tgtEl>
                                        <p:attrNameLst>
                                          <p:attrName>style.visibility</p:attrName>
                                        </p:attrNameLst>
                                      </p:cBhvr>
                                      <p:to>
                                        <p:strVal val="visible"/>
                                      </p:to>
                                    </p:set>
                                    <p:animEffect transition="in" filter="fade">
                                      <p:cBhvr>
                                        <p:cTn id="71" dur="650"/>
                                        <p:tgtEl>
                                          <p:spTgt spid="20"/>
                                        </p:tgtEl>
                                      </p:cBhvr>
                                    </p:animEffect>
                                    <p:anim calcmode="lin" valueType="num">
                                      <p:cBhvr additive="base">
                                        <p:cTn id="72" dur="650" fill="hold"/>
                                        <p:tgtEl>
                                          <p:spTgt spid="20"/>
                                        </p:tgtEl>
                                        <p:attrNameLst>
                                          <p:attrName>ppt_x</p:attrName>
                                        </p:attrNameLst>
                                      </p:cBhvr>
                                      <p:tavLst>
                                        <p:tav tm="0">
                                          <p:val>
                                            <p:strVal val="#ppt_x-.06"/>
                                          </p:val>
                                        </p:tav>
                                        <p:tav tm="100000">
                                          <p:val>
                                            <p:strVal val="#ppt_x"/>
                                          </p:val>
                                        </p:tav>
                                      </p:tavLst>
                                    </p:anim>
                                    <p:anim calcmode="lin" valueType="num">
                                      <p:cBhvr additive="base">
                                        <p:cTn id="73" dur="650" fill="hold"/>
                                        <p:tgtEl>
                                          <p:spTgt spid="20"/>
                                        </p:tgtEl>
                                        <p:attrNameLst>
                                          <p:attrName>ppt_y</p:attrName>
                                        </p:attrNameLst>
                                      </p:cBhvr>
                                      <p:tavLst>
                                        <p:tav tm="0">
                                          <p:val>
                                            <p:strVal val="#ppt_y"/>
                                          </p:val>
                                        </p:tav>
                                        <p:tav tm="100000">
                                          <p:val>
                                            <p:strVal val="#ppt_y"/>
                                          </p:val>
                                        </p:tav>
                                      </p:tavLst>
                                    </p:anim>
                                  </p:childTnLst>
                                </p:cTn>
                              </p:par>
                              <p:par>
                                <p:cTn id="79" presetID="42" presetClass="entr" presetSubtype="0" fill="hold" grpId="0" nodeType="withEffect">
                                  <p:stCondLst>
                                    <p:cond delay="2280"/>
                                  </p:stCondLst>
                                  <p:childTnLst>
                                    <p:set>
                                      <p:cBhvr>
                                        <p:cTn id="80" dur="1" fill="hold">
                                          <p:stCondLst>
                                            <p:cond delay="0"/>
                                          </p:stCondLst>
                                        </p:cTn>
                                        <p:tgtEl>
                                          <p:spTgt spid="21"/>
                                        </p:tgtEl>
                                        <p:attrNameLst>
                                          <p:attrName>style.visibility</p:attrName>
                                        </p:attrNameLst>
                                      </p:cBhvr>
                                      <p:to>
                                        <p:strVal val="visible"/>
                                      </p:to>
                                    </p:set>
                                    <p:animEffect transition="in" filter="fade">
                                      <p:cBhvr>
                                        <p:cTn id="76" dur="650"/>
                                        <p:tgtEl>
                                          <p:spTgt spid="21"/>
                                        </p:tgtEl>
                                      </p:cBhvr>
                                    </p:animEffect>
                                    <p:anim calcmode="lin" valueType="num">
                                      <p:cBhvr additive="base">
                                        <p:cTn id="77" dur="650" fill="hold"/>
                                        <p:tgtEl>
                                          <p:spTgt spid="21"/>
                                        </p:tgtEl>
                                        <p:attrNameLst>
                                          <p:attrName>ppt_x</p:attrName>
                                        </p:attrNameLst>
                                      </p:cBhvr>
                                      <p:tavLst>
                                        <p:tav tm="0">
                                          <p:val>
                                            <p:strVal val="#ppt_x-.06"/>
                                          </p:val>
                                        </p:tav>
                                        <p:tav tm="100000">
                                          <p:val>
                                            <p:strVal val="#ppt_x"/>
                                          </p:val>
                                        </p:tav>
                                      </p:tavLst>
                                    </p:anim>
                                    <p:anim calcmode="lin" valueType="num">
                                      <p:cBhvr additive="base">
                                        <p:cTn id="78" dur="650" fill="hold"/>
                                        <p:tgtEl>
                                          <p:spTgt spid="21"/>
                                        </p:tgtEl>
                                        <p:attrNameLst>
                                          <p:attrName>ppt_y</p:attrName>
                                        </p:attrNameLst>
                                      </p:cBhvr>
                                      <p:tavLst>
                                        <p:tav tm="0">
                                          <p:val>
                                            <p:strVal val="#ppt_y"/>
                                          </p:val>
                                        </p:tav>
                                        <p:tav tm="100000">
                                          <p:val>
                                            <p:strVal val="#ppt_y"/>
                                          </p:val>
                                        </p:tav>
                                      </p:tavLst>
                                    </p:anim>
                                  </p:childTnLst>
                                </p:cTn>
                              </p:par>
                              <p:par>
                                <p:cTn id="84" presetID="42" presetClass="entr" presetSubtype="0" fill="hold" grpId="0" nodeType="withEffect">
                                  <p:stCondLst>
                                    <p:cond delay="2660"/>
                                  </p:stCondLst>
                                  <p:childTnLst>
                                    <p:set>
                                      <p:cBhvr>
                                        <p:cTn id="85" dur="1" fill="hold">
                                          <p:stCondLst>
                                            <p:cond delay="0"/>
                                          </p:stCondLst>
                                        </p:cTn>
                                        <p:tgtEl>
                                          <p:spTgt spid="22"/>
                                        </p:tgtEl>
                                        <p:attrNameLst>
                                          <p:attrName>style.visibility</p:attrName>
                                        </p:attrNameLst>
                                      </p:cBhvr>
                                      <p:to>
                                        <p:strVal val="visible"/>
                                      </p:to>
                                    </p:set>
                                    <p:animEffect transition="in" filter="fade">
                                      <p:cBhvr>
                                        <p:cTn id="81" dur="650"/>
                                        <p:tgtEl>
                                          <p:spTgt spid="22"/>
                                        </p:tgtEl>
                                      </p:cBhvr>
                                    </p:animEffect>
                                    <p:anim calcmode="lin" valueType="num">
                                      <p:cBhvr additive="base">
                                        <p:cTn id="82" dur="650" fill="hold"/>
                                        <p:tgtEl>
                                          <p:spTgt spid="22"/>
                                        </p:tgtEl>
                                        <p:attrNameLst>
                                          <p:attrName>ppt_x</p:attrName>
                                        </p:attrNameLst>
                                      </p:cBhvr>
                                      <p:tavLst>
                                        <p:tav tm="0">
                                          <p:val>
                                            <p:strVal val="#ppt_x-.06"/>
                                          </p:val>
                                        </p:tav>
                                        <p:tav tm="100000">
                                          <p:val>
                                            <p:strVal val="#ppt_x"/>
                                          </p:val>
                                        </p:tav>
                                      </p:tavLst>
                                    </p:anim>
                                    <p:anim calcmode="lin" valueType="num">
                                      <p:cBhvr additive="base">
                                        <p:cTn id="83" dur="650" fill="hold"/>
                                        <p:tgtEl>
                                          <p:spTgt spid="22"/>
                                        </p:tgtEl>
                                        <p:attrNameLst>
                                          <p:attrName>ppt_y</p:attrName>
                                        </p:attrNameLst>
                                      </p:cBhvr>
                                      <p:tavLst>
                                        <p:tav tm="0">
                                          <p:val>
                                            <p:strVal val="#ppt_y"/>
                                          </p:val>
                                        </p:tav>
                                        <p:tav tm="100000">
                                          <p:val>
                                            <p:strVal val="#ppt_y"/>
                                          </p:val>
                                        </p:tav>
                                      </p:tavLst>
                                    </p:anim>
                                  </p:childTnLst>
                                </p:cTn>
                              </p:par>
                              <p:par>
                                <p:cTn id="87" presetID="10" presetClass="entr" presetSubtype="0" fill="hold" grpId="0" nodeType="withEffect">
                                  <p:stCondLst>
                                    <p:cond delay="2660"/>
                                  </p:stCondLst>
                                  <p:childTnLst>
                                    <p:set>
                                      <p:cBhvr>
                                        <p:cTn id="88" dur="1" fill="hold">
                                          <p:stCondLst>
                                            <p:cond delay="0"/>
                                          </p:stCondLst>
                                        </p:cTn>
                                        <p:tgtEl>
                                          <p:spTgt spid="23"/>
                                        </p:tgtEl>
                                        <p:attrNameLst>
                                          <p:attrName>style.visibility</p:attrName>
                                        </p:attrNameLst>
                                      </p:cBhvr>
                                      <p:to>
                                        <p:strVal val="visible"/>
                                      </p:to>
                                    </p:set>
                                    <p:animEffect transition="in" filter="fade">
                                      <p:cBhvr>
                                        <p:cTn id="86" dur="600"/>
                                        <p:tgtEl>
                                          <p:spTgt spid="23"/>
                                        </p:tgtEl>
                                      </p:cBhvr>
                                    </p:animEffect>
                                  </p:childTnLst>
                                </p:cTn>
                              </p:par>
                              <p:par>
                                <p:cTn id="92" presetID="53" presetClass="entr" presetSubtype="16" fill="hold" grpId="0" nodeType="withEffect">
                                  <p:stCondLst>
                                    <p:cond delay="3040"/>
                                  </p:stCondLst>
                                  <p:childTnLst>
                                    <p:set>
                                      <p:cBhvr>
                                        <p:cTn id="93" dur="1" fill="hold">
                                          <p:stCondLst>
                                            <p:cond delay="0"/>
                                          </p:stCondLst>
                                        </p:cTn>
                                        <p:tgtEl>
                                          <p:spTgt spid="24"/>
                                        </p:tgtEl>
                                        <p:attrNameLst>
                                          <p:attrName>style.visibility</p:attrName>
                                        </p:attrNameLst>
                                      </p:cBhvr>
                                      <p:to>
                                        <p:strVal val="visible"/>
                                      </p:to>
                                    </p:set>
                                    <p:anim calcmode="lin" valueType="num">
                                      <p:cBhvr additive="base">
                                        <p:cTn id="89" dur="550" fill="hold"/>
                                        <p:tgtEl>
                                          <p:spTgt spid="24"/>
                                        </p:tgtEl>
                                        <p:attrNameLst>
                                          <p:attrName>ppt_w</p:attrName>
                                        </p:attrNameLst>
                                      </p:cBhvr>
                                      <p:tavLst>
                                        <p:tav tm="0">
                                          <p:val>
                                            <p:strVal val="0"/>
                                          </p:val>
                                        </p:tav>
                                        <p:tav tm="100000">
                                          <p:val>
                                            <p:strVal val="#ppt_w"/>
                                          </p:val>
                                        </p:tav>
                                      </p:tavLst>
                                    </p:anim>
                                    <p:anim calcmode="lin" valueType="num">
                                      <p:cBhvr additive="base">
                                        <p:cTn id="90" dur="550" fill="hold"/>
                                        <p:tgtEl>
                                          <p:spTgt spid="24"/>
                                        </p:tgtEl>
                                        <p:attrNameLst>
                                          <p:attrName>ppt_h</p:attrName>
                                        </p:attrNameLst>
                                      </p:cBhvr>
                                      <p:tavLst>
                                        <p:tav tm="0">
                                          <p:val>
                                            <p:strVal val="0"/>
                                          </p:val>
                                        </p:tav>
                                        <p:tav tm="100000">
                                          <p:val>
                                            <p:strVal val="#ppt_h"/>
                                          </p:val>
                                        </p:tav>
                                      </p:tavLst>
                                    </p:anim>
                                    <p:animEffect transition="in" filter="fade">
                                      <p:cBhvr>
                                        <p:cTn id="91" dur="550"/>
                                        <p:tgtEl>
                                          <p:spTgt spid="24"/>
                                        </p:tgtEl>
                                      </p:cBhvr>
                                    </p:animEffect>
                                  </p:childTnLst>
                                </p:cTn>
                              </p:par>
                              <p:par>
                                <p:cTn id="97" presetID="53" presetClass="entr" presetSubtype="16" fill="hold" grpId="0" nodeType="withEffect">
                                  <p:stCondLst>
                                    <p:cond delay="3420"/>
                                  </p:stCondLst>
                                  <p:childTnLst>
                                    <p:set>
                                      <p:cBhvr>
                                        <p:cTn id="98" dur="1" fill="hold">
                                          <p:stCondLst>
                                            <p:cond delay="0"/>
                                          </p:stCondLst>
                                        </p:cTn>
                                        <p:tgtEl>
                                          <p:spTgt spid="25"/>
                                        </p:tgtEl>
                                        <p:attrNameLst>
                                          <p:attrName>style.visibility</p:attrName>
                                        </p:attrNameLst>
                                      </p:cBhvr>
                                      <p:to>
                                        <p:strVal val="visible"/>
                                      </p:to>
                                    </p:set>
                                    <p:anim calcmode="lin" valueType="num">
                                      <p:cBhvr additive="base">
                                        <p:cTn id="94" dur="550" fill="hold"/>
                                        <p:tgtEl>
                                          <p:spTgt spid="25"/>
                                        </p:tgtEl>
                                        <p:attrNameLst>
                                          <p:attrName>ppt_w</p:attrName>
                                        </p:attrNameLst>
                                      </p:cBhvr>
                                      <p:tavLst>
                                        <p:tav tm="0">
                                          <p:val>
                                            <p:strVal val="0"/>
                                          </p:val>
                                        </p:tav>
                                        <p:tav tm="100000">
                                          <p:val>
                                            <p:strVal val="#ppt_w"/>
                                          </p:val>
                                        </p:tav>
                                      </p:tavLst>
                                    </p:anim>
                                    <p:anim calcmode="lin" valueType="num">
                                      <p:cBhvr additive="base">
                                        <p:cTn id="95" dur="550" fill="hold"/>
                                        <p:tgtEl>
                                          <p:spTgt spid="25"/>
                                        </p:tgtEl>
                                        <p:attrNameLst>
                                          <p:attrName>ppt_h</p:attrName>
                                        </p:attrNameLst>
                                      </p:cBhvr>
                                      <p:tavLst>
                                        <p:tav tm="0">
                                          <p:val>
                                            <p:strVal val="0"/>
                                          </p:val>
                                        </p:tav>
                                        <p:tav tm="100000">
                                          <p:val>
                                            <p:strVal val="#ppt_h"/>
                                          </p:val>
                                        </p:tav>
                                      </p:tavLst>
                                    </p:anim>
                                    <p:animEffect transition="in" filter="fade">
                                      <p:cBhvr>
                                        <p:cTn id="96" dur="550"/>
                                        <p:tgtEl>
                                          <p:spTgt spid="25"/>
                                        </p:tgtEl>
                                      </p:cBhvr>
                                    </p:animEffect>
                                  </p:childTnLst>
                                </p:cTn>
                              </p:par>
                              <p:par>
                                <p:cTn id="100" presetID="10" presetClass="entr" presetSubtype="0" fill="hold" grpId="0" nodeType="withEffect">
                                  <p:stCondLst>
                                    <p:cond delay="3420"/>
                                  </p:stCondLst>
                                  <p:childTnLst>
                                    <p:set>
                                      <p:cBhvr>
                                        <p:cTn id="101" dur="1" fill="hold">
                                          <p:stCondLst>
                                            <p:cond delay="0"/>
                                          </p:stCondLst>
                                        </p:cTn>
                                        <p:tgtEl>
                                          <p:spTgt spid="26"/>
                                        </p:tgtEl>
                                        <p:attrNameLst>
                                          <p:attrName>style.visibility</p:attrName>
                                        </p:attrNameLst>
                                      </p:cBhvr>
                                      <p:to>
                                        <p:strVal val="visible"/>
                                      </p:to>
                                    </p:set>
                                    <p:animEffect transition="in" filter="fade">
                                      <p:cBhvr>
                                        <p:cTn id="99" dur="600"/>
                                        <p:tgtEl>
                                          <p:spTgt spid="26"/>
                                        </p:tgtEl>
                                      </p:cBhvr>
                                    </p:animEffect>
                                  </p:childTnLst>
                                </p:cTn>
                              </p:par>
                              <p:par>
                                <p:cTn id="103" presetID="10" presetClass="entr" presetSubtype="0" fill="hold" grpId="0" nodeType="withEffect">
                                  <p:stCondLst>
                                    <p:cond delay="3800"/>
                                  </p:stCondLst>
                                  <p:childTnLst>
                                    <p:set>
                                      <p:cBhvr>
                                        <p:cTn id="104" dur="1" fill="hold">
                                          <p:stCondLst>
                                            <p:cond delay="0"/>
                                          </p:stCondLst>
                                        </p:cTn>
                                        <p:tgtEl>
                                          <p:spTgt spid="27"/>
                                        </p:tgtEl>
                                        <p:attrNameLst>
                                          <p:attrName>style.visibility</p:attrName>
                                        </p:attrNameLst>
                                      </p:cBhvr>
                                      <p:to>
                                        <p:strVal val="visible"/>
                                      </p:to>
                                    </p:set>
                                    <p:animEffect transition="in" filter="fade">
                                      <p:cBhvr>
                                        <p:cTn id="102" dur="6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4" grpId="0" animBg="1"/>
      <p:bldP spid="15" grpId="0" animBg="1"/>
      <p:bldP spid="17" grpId="0" animBg="1"/>
      <p:bldP spid="18" grpId="0" animBg="1"/>
      <p:bldP spid="20" grpId="0" animBg="1"/>
      <p:bldP spid="21" grpId="0" animBg="1"/>
      <p:bldP spid="23" grpId="0" animBg="1"/>
      <p:bldGraphic spid="24" grpId="0">
        <p:bldAsOne/>
      </p:bldGraphic>
      <p:bldP spid="25" grpId="0" animBg="1"/>
      <p:bldP spid="26" grpId="0" animBg="1"/>
      <p:bldP spid="2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2"/>
          <a:stretch>
            <a:fillRect/>
          </a:stretch>
        </p:blipFill>
        <p:spPr>
          <a:xfrm>
            <a:off x="7406640" y="-1005840"/>
            <a:ext cx="2560320" cy="2560320"/>
          </a:xfrm>
          <a:prstGeom prst="rect">
            <a:avLst/>
          </a:prstGeom>
        </p:spPr>
      </p:pic>
      <p:sp>
        <p:nvSpPr>
          <p:cNvPr id="3" name="Text 0"/>
          <p:cNvSpPr txBox="1"/>
          <p:nvPr/>
        </p:nvSpPr>
        <p:spPr>
          <a:xfrm>
            <a:off x="457200" y="274320"/>
            <a:ext cx="6858000" cy="228600"/>
          </a:xfrm>
          <a:prstGeom prst="rect">
            <a:avLst/>
          </a:prstGeom>
          <a:noFill/>
          <a:ln/>
        </p:spPr>
        <p:txBody>
          <a:bodyPr wrap="square" lIns="0" tIns="0" rIns="0" bIns="0" rtlCol="0" anchor="t"/>
          <a:lstStyle/>
          <a:p>
            <a:pPr indent="0" marL="0">
              <a:buNone/>
            </a:pPr>
            <a:r>
              <a:rPr lang="en-US" sz="1050" b="1" spc="200" kern="0" dirty="0">
                <a:solidFill>
                  <a:srgbClr val="1F4FA8"/>
                </a:solidFill>
                <a:latin typeface="Calibri" pitchFamily="34" charset="0"/>
                <a:ea typeface="Calibri" pitchFamily="34" charset="-122"/>
                <a:cs typeface="Calibri" pitchFamily="34" charset="-120"/>
              </a:rPr>
              <a:t>BILAN</a:t>
            </a:r>
            <a:endParaRPr lang="en-US" sz="1050" dirty="0"/>
          </a:p>
        </p:txBody>
      </p:sp>
      <p:sp>
        <p:nvSpPr>
          <p:cNvPr id="4" name="Text 1"/>
          <p:cNvSpPr txBox="1"/>
          <p:nvPr/>
        </p:nvSpPr>
        <p:spPr>
          <a:xfrm>
            <a:off x="457200" y="502920"/>
            <a:ext cx="7863840" cy="548640"/>
          </a:xfrm>
          <a:prstGeom prst="rect">
            <a:avLst/>
          </a:prstGeom>
          <a:noFill/>
          <a:ln/>
        </p:spPr>
        <p:txBody>
          <a:bodyPr wrap="square" lIns="0" tIns="0" rIns="0" bIns="0" rtlCol="0" anchor="ctr"/>
          <a:lstStyle/>
          <a:p>
            <a:pPr indent="0" marL="0">
              <a:buNone/>
            </a:pPr>
            <a:r>
              <a:rPr lang="en-US" sz="2600" b="1" dirty="0">
                <a:solidFill>
                  <a:srgbClr val="0B1F4B"/>
                </a:solidFill>
                <a:latin typeface="Cambria" pitchFamily="34" charset="0"/>
                <a:ea typeface="Cambria" pitchFamily="34" charset="-122"/>
                <a:cs typeface="Cambria" pitchFamily="34" charset="-120"/>
              </a:rPr>
              <a:t>Mêmes mécanismes : des gains… et des coûts</a:t>
            </a:r>
            <a:endParaRPr lang="en-US" sz="2600" dirty="0"/>
          </a:p>
        </p:txBody>
      </p:sp>
      <p:sp>
        <p:nvSpPr>
          <p:cNvPr id="5" name="Text 2"/>
          <p:cNvSpPr txBox="1"/>
          <p:nvPr/>
        </p:nvSpPr>
        <p:spPr>
          <a:xfrm>
            <a:off x="8321040" y="4773168"/>
            <a:ext cx="365760" cy="228600"/>
          </a:xfrm>
          <a:prstGeom prst="rect">
            <a:avLst/>
          </a:prstGeom>
          <a:noFill/>
          <a:ln/>
        </p:spPr>
        <p:txBody>
          <a:bodyPr wrap="square" lIns="0" tIns="0" rIns="0" bIns="0" rtlCol="0" anchor="t"/>
          <a:lstStyle/>
          <a:p>
            <a:pPr algn="r" indent="0" marL="0">
              <a:buNone/>
            </a:pPr>
            <a:r>
              <a:rPr lang="en-US" sz="1000" dirty="0">
                <a:solidFill>
                  <a:srgbClr val="5B6478"/>
                </a:solidFill>
                <a:latin typeface="Calibri" pitchFamily="34" charset="0"/>
                <a:ea typeface="Calibri" pitchFamily="34" charset="-122"/>
                <a:cs typeface="Calibri" pitchFamily="34" charset="-120"/>
              </a:rPr>
              <a:t>25</a:t>
            </a:r>
            <a:endParaRPr lang="en-US" sz="1000" dirty="0"/>
          </a:p>
        </p:txBody>
      </p:sp>
      <p:sp>
        <p:nvSpPr>
          <p:cNvPr id="6" name="A0-fade-383"/>
          <p:cNvSpPr txBox="1"/>
          <p:nvPr/>
        </p:nvSpPr>
        <p:spPr>
          <a:xfrm>
            <a:off x="457200" y="1188720"/>
            <a:ext cx="2103120" cy="274320"/>
          </a:xfrm>
          <a:prstGeom prst="rect">
            <a:avLst/>
          </a:prstGeom>
          <a:noFill/>
          <a:ln/>
        </p:spPr>
        <p:txBody>
          <a:bodyPr wrap="square" lIns="0" tIns="0" rIns="0" bIns="0" rtlCol="0" anchor="t"/>
          <a:lstStyle/>
          <a:p>
            <a:pPr indent="0" marL="0">
              <a:buNone/>
            </a:pPr>
            <a:r>
              <a:rPr lang="en-US" sz="1100" b="1" dirty="0">
                <a:solidFill>
                  <a:srgbClr val="5B6478"/>
                </a:solidFill>
                <a:latin typeface="Calibri" pitchFamily="34" charset="0"/>
                <a:ea typeface="Calibri" pitchFamily="34" charset="-122"/>
                <a:cs typeface="Calibri" pitchFamily="34" charset="-120"/>
              </a:rPr>
              <a:t>Mécanisme</a:t>
            </a:r>
            <a:endParaRPr lang="en-US" sz="1100" dirty="0"/>
          </a:p>
        </p:txBody>
      </p:sp>
      <p:sp>
        <p:nvSpPr>
          <p:cNvPr id="7" name="A0-fade-384"/>
          <p:cNvSpPr/>
          <p:nvPr/>
        </p:nvSpPr>
        <p:spPr>
          <a:xfrm>
            <a:off x="2697480" y="1161288"/>
            <a:ext cx="292608" cy="292608"/>
          </a:xfrm>
          <a:prstGeom prst="ellipse">
            <a:avLst/>
          </a:prstGeom>
          <a:solidFill>
            <a:srgbClr val="1E9E6A"/>
          </a:solidFill>
          <a:ln w="12700">
            <a:solidFill>
              <a:srgbClr val="1E9E6A"/>
            </a:solidFill>
            <a:prstDash val="solid"/>
          </a:ln>
        </p:spPr>
      </p:sp>
      <p:pic>
        <p:nvPicPr>
          <p:cNvPr id="8" name="A0-fade-385" descr="preencoded.png">    </p:cNvPr>
          <p:cNvPicPr>
            <a:picLocks noChangeAspect="1"/>
          </p:cNvPicPr>
          <p:nvPr/>
        </p:nvPicPr>
        <p:blipFill>
          <a:blip r:embed="rId3"/>
          <a:stretch>
            <a:fillRect/>
          </a:stretch>
        </p:blipFill>
        <p:spPr>
          <a:xfrm>
            <a:off x="2776484" y="1240292"/>
            <a:ext cx="134600" cy="134600"/>
          </a:xfrm>
          <a:prstGeom prst="rect">
            <a:avLst/>
          </a:prstGeom>
        </p:spPr>
      </p:pic>
      <p:sp>
        <p:nvSpPr>
          <p:cNvPr id="9" name="A0-fade-386"/>
          <p:cNvSpPr txBox="1"/>
          <p:nvPr/>
        </p:nvSpPr>
        <p:spPr>
          <a:xfrm>
            <a:off x="3063240" y="1188720"/>
            <a:ext cx="2286000" cy="274320"/>
          </a:xfrm>
          <a:prstGeom prst="rect">
            <a:avLst/>
          </a:prstGeom>
          <a:noFill/>
          <a:ln/>
        </p:spPr>
        <p:txBody>
          <a:bodyPr wrap="square" lIns="0" tIns="0" rIns="0" bIns="0" rtlCol="0" anchor="t"/>
          <a:lstStyle/>
          <a:p>
            <a:pPr indent="0" marL="0">
              <a:buNone/>
            </a:pPr>
            <a:r>
              <a:rPr lang="en-US" sz="1100" b="1" dirty="0">
                <a:solidFill>
                  <a:srgbClr val="1E9E6A"/>
                </a:solidFill>
                <a:latin typeface="Calibri" pitchFamily="34" charset="0"/>
                <a:ea typeface="Calibri" pitchFamily="34" charset="-122"/>
                <a:cs typeface="Calibri" pitchFamily="34" charset="-120"/>
              </a:rPr>
              <a:t>Avantage</a:t>
            </a:r>
            <a:endParaRPr lang="en-US" sz="1100" dirty="0"/>
          </a:p>
        </p:txBody>
      </p:sp>
      <p:sp>
        <p:nvSpPr>
          <p:cNvPr id="10" name="A0-fade-387"/>
          <p:cNvSpPr/>
          <p:nvPr/>
        </p:nvSpPr>
        <p:spPr>
          <a:xfrm>
            <a:off x="5715000" y="1161288"/>
            <a:ext cx="292608" cy="292608"/>
          </a:xfrm>
          <a:prstGeom prst="ellipse">
            <a:avLst/>
          </a:prstGeom>
          <a:solidFill>
            <a:srgbClr val="D9473F"/>
          </a:solidFill>
          <a:ln w="12700">
            <a:solidFill>
              <a:srgbClr val="D9473F"/>
            </a:solidFill>
            <a:prstDash val="solid"/>
          </a:ln>
        </p:spPr>
      </p:sp>
      <p:pic>
        <p:nvPicPr>
          <p:cNvPr id="11" name="A0-fade-388" descr="preencoded.png">    </p:cNvPr>
          <p:cNvPicPr>
            <a:picLocks noChangeAspect="1"/>
          </p:cNvPicPr>
          <p:nvPr/>
        </p:nvPicPr>
        <p:blipFill>
          <a:blip r:embed="rId4"/>
          <a:stretch>
            <a:fillRect/>
          </a:stretch>
        </p:blipFill>
        <p:spPr>
          <a:xfrm>
            <a:off x="5794004" y="1240292"/>
            <a:ext cx="134600" cy="134600"/>
          </a:xfrm>
          <a:prstGeom prst="rect">
            <a:avLst/>
          </a:prstGeom>
        </p:spPr>
      </p:pic>
      <p:sp>
        <p:nvSpPr>
          <p:cNvPr id="12" name="A0-fade-389"/>
          <p:cNvSpPr txBox="1"/>
          <p:nvPr/>
        </p:nvSpPr>
        <p:spPr>
          <a:xfrm>
            <a:off x="6080760" y="1188720"/>
            <a:ext cx="2286000" cy="274320"/>
          </a:xfrm>
          <a:prstGeom prst="rect">
            <a:avLst/>
          </a:prstGeom>
          <a:noFill/>
          <a:ln/>
        </p:spPr>
        <p:txBody>
          <a:bodyPr wrap="square" lIns="0" tIns="0" rIns="0" bIns="0" rtlCol="0" anchor="t"/>
          <a:lstStyle/>
          <a:p>
            <a:pPr indent="0" marL="0">
              <a:buNone/>
            </a:pPr>
            <a:r>
              <a:rPr lang="en-US" sz="1100" b="1" dirty="0">
                <a:solidFill>
                  <a:srgbClr val="D9473F"/>
                </a:solidFill>
                <a:latin typeface="Calibri" pitchFamily="34" charset="0"/>
                <a:ea typeface="Calibri" pitchFamily="34" charset="-122"/>
                <a:cs typeface="Calibri" pitchFamily="34" charset="-120"/>
              </a:rPr>
              <a:t>Inconvénient</a:t>
            </a:r>
            <a:endParaRPr lang="en-US" sz="1100" dirty="0"/>
          </a:p>
        </p:txBody>
      </p:sp>
      <p:sp>
        <p:nvSpPr>
          <p:cNvPr id="13" name="A1-fadeleft-390"/>
          <p:cNvSpPr/>
          <p:nvPr/>
        </p:nvSpPr>
        <p:spPr>
          <a:xfrm>
            <a:off x="457200" y="1554480"/>
            <a:ext cx="2103120" cy="548640"/>
          </a:xfrm>
          <a:prstGeom prst="roundRect">
            <a:avLst>
              <a:gd name="adj" fmla="val 13333"/>
            </a:avLst>
          </a:prstGeom>
          <a:solidFill>
            <a:srgbClr val="0B1F4B"/>
          </a:solidFill>
          <a:ln w="12700">
            <a:solidFill>
              <a:srgbClr val="0B1F4B"/>
            </a:solidFill>
            <a:prstDash val="solid"/>
          </a:ln>
        </p:spPr>
      </p:sp>
      <p:sp>
        <p:nvSpPr>
          <p:cNvPr id="14" name="A1-fadeleft-391"/>
          <p:cNvSpPr txBox="1"/>
          <p:nvPr/>
        </p:nvSpPr>
        <p:spPr>
          <a:xfrm>
            <a:off x="548640" y="1554480"/>
            <a:ext cx="1920240" cy="5486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Concurrence accrue</a:t>
            </a:r>
            <a:endParaRPr lang="en-US" sz="1100" dirty="0"/>
          </a:p>
        </p:txBody>
      </p:sp>
      <p:sp>
        <p:nvSpPr>
          <p:cNvPr id="15" name="A1-fadeleft-392"/>
          <p:cNvSpPr/>
          <p:nvPr/>
        </p:nvSpPr>
        <p:spPr>
          <a:xfrm>
            <a:off x="2651760" y="1554480"/>
            <a:ext cx="2926080" cy="548640"/>
          </a:xfrm>
          <a:prstGeom prst="roundRect">
            <a:avLst>
              <a:gd name="adj" fmla="val 13333"/>
            </a:avLst>
          </a:prstGeom>
          <a:solidFill>
            <a:srgbClr val="E3F5EC"/>
          </a:solidFill>
          <a:ln w="12700">
            <a:solidFill>
              <a:srgbClr val="E3F5EC"/>
            </a:solidFill>
            <a:prstDash val="solid"/>
          </a:ln>
        </p:spPr>
      </p:sp>
      <p:sp>
        <p:nvSpPr>
          <p:cNvPr id="16" name="A1-fadeleft-393"/>
          <p:cNvSpPr txBox="1"/>
          <p:nvPr/>
        </p:nvSpPr>
        <p:spPr>
          <a:xfrm>
            <a:off x="2761488" y="1554480"/>
            <a:ext cx="2743200" cy="548640"/>
          </a:xfrm>
          <a:prstGeom prst="rect">
            <a:avLst/>
          </a:prstGeom>
          <a:noFill/>
          <a:ln/>
        </p:spPr>
        <p:txBody>
          <a:bodyPr wrap="square" lIns="0" tIns="0" rIns="0" bIns="0" rtlCol="0" anchor="ctr"/>
          <a:lstStyle/>
          <a:p>
            <a:pPr indent="0" marL="0">
              <a:buNone/>
            </a:pPr>
            <a:r>
              <a:rPr lang="en-US" sz="1050" dirty="0">
                <a:solidFill>
                  <a:srgbClr val="1B2333"/>
                </a:solidFill>
                <a:latin typeface="Calibri" pitchFamily="34" charset="0"/>
                <a:ea typeface="Calibri" pitchFamily="34" charset="-122"/>
                <a:cs typeface="Calibri" pitchFamily="34" charset="-120"/>
              </a:rPr>
              <a:t>Prix plus bas, choix élargi, productivité</a:t>
            </a:r>
            <a:endParaRPr lang="en-US" sz="1050" dirty="0"/>
          </a:p>
        </p:txBody>
      </p:sp>
      <p:sp>
        <p:nvSpPr>
          <p:cNvPr id="17" name="A1-fadeleft-394"/>
          <p:cNvSpPr/>
          <p:nvPr/>
        </p:nvSpPr>
        <p:spPr>
          <a:xfrm>
            <a:off x="5669280" y="1554480"/>
            <a:ext cx="3017520" cy="548640"/>
          </a:xfrm>
          <a:prstGeom prst="roundRect">
            <a:avLst>
              <a:gd name="adj" fmla="val 13333"/>
            </a:avLst>
          </a:prstGeom>
          <a:solidFill>
            <a:srgbClr val="FBE7E5"/>
          </a:solidFill>
          <a:ln w="12700">
            <a:solidFill>
              <a:srgbClr val="FBE7E5"/>
            </a:solidFill>
            <a:prstDash val="solid"/>
          </a:ln>
        </p:spPr>
      </p:sp>
      <p:sp>
        <p:nvSpPr>
          <p:cNvPr id="18" name="A1-fadeleft-395"/>
          <p:cNvSpPr txBox="1"/>
          <p:nvPr/>
        </p:nvSpPr>
        <p:spPr>
          <a:xfrm>
            <a:off x="5779008" y="1554480"/>
            <a:ext cx="2834640" cy="548640"/>
          </a:xfrm>
          <a:prstGeom prst="rect">
            <a:avLst/>
          </a:prstGeom>
          <a:noFill/>
          <a:ln/>
        </p:spPr>
        <p:txBody>
          <a:bodyPr wrap="square" lIns="0" tIns="0" rIns="0" bIns="0" rtlCol="0" anchor="ctr"/>
          <a:lstStyle/>
          <a:p>
            <a:pPr indent="0" marL="0">
              <a:buNone/>
            </a:pPr>
            <a:r>
              <a:rPr lang="en-US" sz="1050" dirty="0">
                <a:solidFill>
                  <a:srgbClr val="1B2333"/>
                </a:solidFill>
                <a:latin typeface="Calibri" pitchFamily="34" charset="0"/>
                <a:ea typeface="Calibri" pitchFamily="34" charset="-122"/>
                <a:cs typeface="Calibri" pitchFamily="34" charset="-120"/>
              </a:rPr>
              <a:t>Pression sur les industries moins compétitives</a:t>
            </a:r>
            <a:endParaRPr lang="en-US" sz="1050" dirty="0"/>
          </a:p>
        </p:txBody>
      </p:sp>
      <p:sp>
        <p:nvSpPr>
          <p:cNvPr id="19" name="A2-fadeleft-396"/>
          <p:cNvSpPr/>
          <p:nvPr/>
        </p:nvSpPr>
        <p:spPr>
          <a:xfrm>
            <a:off x="457200" y="2194560"/>
            <a:ext cx="2103120" cy="548640"/>
          </a:xfrm>
          <a:prstGeom prst="roundRect">
            <a:avLst>
              <a:gd name="adj" fmla="val 13333"/>
            </a:avLst>
          </a:prstGeom>
          <a:solidFill>
            <a:srgbClr val="0B1F4B"/>
          </a:solidFill>
          <a:ln w="12700">
            <a:solidFill>
              <a:srgbClr val="0B1F4B"/>
            </a:solidFill>
            <a:prstDash val="solid"/>
          </a:ln>
        </p:spPr>
      </p:sp>
      <p:sp>
        <p:nvSpPr>
          <p:cNvPr id="20" name="A2-fadeleft-397"/>
          <p:cNvSpPr txBox="1"/>
          <p:nvPr/>
        </p:nvSpPr>
        <p:spPr>
          <a:xfrm>
            <a:off x="548640" y="2194560"/>
            <a:ext cx="1920240" cy="5486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Règles communes</a:t>
            </a:r>
            <a:endParaRPr lang="en-US" sz="1100" dirty="0"/>
          </a:p>
        </p:txBody>
      </p:sp>
      <p:sp>
        <p:nvSpPr>
          <p:cNvPr id="21" name="A2-fadeleft-398"/>
          <p:cNvSpPr/>
          <p:nvPr/>
        </p:nvSpPr>
        <p:spPr>
          <a:xfrm>
            <a:off x="2651760" y="2194560"/>
            <a:ext cx="2926080" cy="548640"/>
          </a:xfrm>
          <a:prstGeom prst="roundRect">
            <a:avLst>
              <a:gd name="adj" fmla="val 13333"/>
            </a:avLst>
          </a:prstGeom>
          <a:solidFill>
            <a:srgbClr val="E3F5EC"/>
          </a:solidFill>
          <a:ln w="12700">
            <a:solidFill>
              <a:srgbClr val="E3F5EC"/>
            </a:solidFill>
            <a:prstDash val="solid"/>
          </a:ln>
        </p:spPr>
      </p:sp>
      <p:sp>
        <p:nvSpPr>
          <p:cNvPr id="22" name="A2-fadeleft-399"/>
          <p:cNvSpPr txBox="1"/>
          <p:nvPr/>
        </p:nvSpPr>
        <p:spPr>
          <a:xfrm>
            <a:off x="2761488" y="2194560"/>
            <a:ext cx="2743200" cy="548640"/>
          </a:xfrm>
          <a:prstGeom prst="rect">
            <a:avLst/>
          </a:prstGeom>
          <a:noFill/>
          <a:ln/>
        </p:spPr>
        <p:txBody>
          <a:bodyPr wrap="square" lIns="0" tIns="0" rIns="0" bIns="0" rtlCol="0" anchor="ctr"/>
          <a:lstStyle/>
          <a:p>
            <a:pPr indent="0" marL="0">
              <a:buNone/>
            </a:pPr>
            <a:r>
              <a:rPr lang="en-US" sz="1050" dirty="0">
                <a:solidFill>
                  <a:srgbClr val="1B2333"/>
                </a:solidFill>
                <a:latin typeface="Calibri" pitchFamily="34" charset="0"/>
                <a:ea typeface="Calibri" pitchFamily="34" charset="-122"/>
                <a:cs typeface="Calibri" pitchFamily="34" charset="-120"/>
              </a:rPr>
              <a:t>Reconnaissance mutuelle, homologation unique</a:t>
            </a:r>
            <a:endParaRPr lang="en-US" sz="1050" dirty="0"/>
          </a:p>
        </p:txBody>
      </p:sp>
      <p:sp>
        <p:nvSpPr>
          <p:cNvPr id="23" name="A2-fadeleft-400"/>
          <p:cNvSpPr/>
          <p:nvPr/>
        </p:nvSpPr>
        <p:spPr>
          <a:xfrm>
            <a:off x="5669280" y="2194560"/>
            <a:ext cx="3017520" cy="548640"/>
          </a:xfrm>
          <a:prstGeom prst="roundRect">
            <a:avLst>
              <a:gd name="adj" fmla="val 13333"/>
            </a:avLst>
          </a:prstGeom>
          <a:solidFill>
            <a:srgbClr val="FBE7E5"/>
          </a:solidFill>
          <a:ln w="12700">
            <a:solidFill>
              <a:srgbClr val="FBE7E5"/>
            </a:solidFill>
            <a:prstDash val="solid"/>
          </a:ln>
        </p:spPr>
      </p:sp>
      <p:sp>
        <p:nvSpPr>
          <p:cNvPr id="24" name="A2-fadeleft-401"/>
          <p:cNvSpPr txBox="1"/>
          <p:nvPr/>
        </p:nvSpPr>
        <p:spPr>
          <a:xfrm>
            <a:off x="5779008" y="2194560"/>
            <a:ext cx="2834640" cy="548640"/>
          </a:xfrm>
          <a:prstGeom prst="rect">
            <a:avLst/>
          </a:prstGeom>
          <a:noFill/>
          <a:ln/>
        </p:spPr>
        <p:txBody>
          <a:bodyPr wrap="square" lIns="0" tIns="0" rIns="0" bIns="0" rtlCol="0" anchor="ctr"/>
          <a:lstStyle/>
          <a:p>
            <a:pPr indent="0" marL="0">
              <a:buNone/>
            </a:pPr>
            <a:r>
              <a:rPr lang="en-US" sz="1050" dirty="0">
                <a:solidFill>
                  <a:srgbClr val="1B2333"/>
                </a:solidFill>
                <a:latin typeface="Calibri" pitchFamily="34" charset="0"/>
                <a:ea typeface="Calibri" pitchFamily="34" charset="-122"/>
                <a:cs typeface="Calibri" pitchFamily="34" charset="-120"/>
              </a:rPr>
              <a:t>Perte de souveraineté, charge pour les PME</a:t>
            </a:r>
            <a:endParaRPr lang="en-US" sz="1050" dirty="0"/>
          </a:p>
        </p:txBody>
      </p:sp>
      <p:sp>
        <p:nvSpPr>
          <p:cNvPr id="25" name="A3-fadeleft-402"/>
          <p:cNvSpPr/>
          <p:nvPr/>
        </p:nvSpPr>
        <p:spPr>
          <a:xfrm>
            <a:off x="457200" y="2834640"/>
            <a:ext cx="2103120" cy="548640"/>
          </a:xfrm>
          <a:prstGeom prst="roundRect">
            <a:avLst>
              <a:gd name="adj" fmla="val 13333"/>
            </a:avLst>
          </a:prstGeom>
          <a:solidFill>
            <a:srgbClr val="0B1F4B"/>
          </a:solidFill>
          <a:ln w="12700">
            <a:solidFill>
              <a:srgbClr val="0B1F4B"/>
            </a:solidFill>
            <a:prstDash val="solid"/>
          </a:ln>
        </p:spPr>
      </p:sp>
      <p:sp>
        <p:nvSpPr>
          <p:cNvPr id="26" name="A3-fadeleft-403"/>
          <p:cNvSpPr txBox="1"/>
          <p:nvPr/>
        </p:nvSpPr>
        <p:spPr>
          <a:xfrm>
            <a:off x="548640" y="2834640"/>
            <a:ext cx="1920240" cy="5486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Libre circulation des capitaux</a:t>
            </a:r>
            <a:endParaRPr lang="en-US" sz="1100" dirty="0"/>
          </a:p>
        </p:txBody>
      </p:sp>
      <p:sp>
        <p:nvSpPr>
          <p:cNvPr id="27" name="A3-fadeleft-404"/>
          <p:cNvSpPr/>
          <p:nvPr/>
        </p:nvSpPr>
        <p:spPr>
          <a:xfrm>
            <a:off x="2651760" y="2834640"/>
            <a:ext cx="2926080" cy="548640"/>
          </a:xfrm>
          <a:prstGeom prst="roundRect">
            <a:avLst>
              <a:gd name="adj" fmla="val 13333"/>
            </a:avLst>
          </a:prstGeom>
          <a:solidFill>
            <a:srgbClr val="E3F5EC"/>
          </a:solidFill>
          <a:ln w="12700">
            <a:solidFill>
              <a:srgbClr val="E3F5EC"/>
            </a:solidFill>
            <a:prstDash val="solid"/>
          </a:ln>
        </p:spPr>
      </p:sp>
      <p:sp>
        <p:nvSpPr>
          <p:cNvPr id="28" name="A3-fadeleft-405"/>
          <p:cNvSpPr txBox="1"/>
          <p:nvPr/>
        </p:nvSpPr>
        <p:spPr>
          <a:xfrm>
            <a:off x="2761488" y="2834640"/>
            <a:ext cx="2743200" cy="548640"/>
          </a:xfrm>
          <a:prstGeom prst="rect">
            <a:avLst/>
          </a:prstGeom>
          <a:noFill/>
          <a:ln/>
        </p:spPr>
        <p:txBody>
          <a:bodyPr wrap="square" lIns="0" tIns="0" rIns="0" bIns="0" rtlCol="0" anchor="ctr"/>
          <a:lstStyle/>
          <a:p>
            <a:pPr indent="0" marL="0">
              <a:buNone/>
            </a:pPr>
            <a:r>
              <a:rPr lang="en-US" sz="1050" dirty="0">
                <a:solidFill>
                  <a:srgbClr val="1B2333"/>
                </a:solidFill>
                <a:latin typeface="Calibri" pitchFamily="34" charset="0"/>
                <a:ea typeface="Calibri" pitchFamily="34" charset="-122"/>
                <a:cs typeface="Calibri" pitchFamily="34" charset="-120"/>
              </a:rPr>
              <a:t>IDE intra-UE multipliés, attractivité</a:t>
            </a:r>
            <a:endParaRPr lang="en-US" sz="1050" dirty="0"/>
          </a:p>
        </p:txBody>
      </p:sp>
      <p:sp>
        <p:nvSpPr>
          <p:cNvPr id="29" name="A3-fadeleft-406"/>
          <p:cNvSpPr/>
          <p:nvPr/>
        </p:nvSpPr>
        <p:spPr>
          <a:xfrm>
            <a:off x="5669280" y="2834640"/>
            <a:ext cx="3017520" cy="548640"/>
          </a:xfrm>
          <a:prstGeom prst="roundRect">
            <a:avLst>
              <a:gd name="adj" fmla="val 13333"/>
            </a:avLst>
          </a:prstGeom>
          <a:solidFill>
            <a:srgbClr val="FBE7E5"/>
          </a:solidFill>
          <a:ln w="12700">
            <a:solidFill>
              <a:srgbClr val="FBE7E5"/>
            </a:solidFill>
            <a:prstDash val="solid"/>
          </a:ln>
        </p:spPr>
      </p:sp>
      <p:sp>
        <p:nvSpPr>
          <p:cNvPr id="30" name="A3-fadeleft-407"/>
          <p:cNvSpPr txBox="1"/>
          <p:nvPr/>
        </p:nvSpPr>
        <p:spPr>
          <a:xfrm>
            <a:off x="5779008" y="2834640"/>
            <a:ext cx="2834640" cy="548640"/>
          </a:xfrm>
          <a:prstGeom prst="rect">
            <a:avLst/>
          </a:prstGeom>
          <a:noFill/>
          <a:ln/>
        </p:spPr>
        <p:txBody>
          <a:bodyPr wrap="square" lIns="0" tIns="0" rIns="0" bIns="0" rtlCol="0" anchor="ctr"/>
          <a:lstStyle/>
          <a:p>
            <a:pPr indent="0" marL="0">
              <a:buNone/>
            </a:pPr>
            <a:r>
              <a:rPr lang="en-US" sz="1050" dirty="0">
                <a:solidFill>
                  <a:srgbClr val="1B2333"/>
                </a:solidFill>
                <a:latin typeface="Calibri" pitchFamily="34" charset="0"/>
                <a:ea typeface="Calibri" pitchFamily="34" charset="-122"/>
                <a:cs typeface="Calibri" pitchFamily="34" charset="-120"/>
              </a:rPr>
              <a:t>Concurrence fiscale (IS de 9 % à 35 %)</a:t>
            </a:r>
            <a:endParaRPr lang="en-US" sz="1050" dirty="0"/>
          </a:p>
        </p:txBody>
      </p:sp>
      <p:sp>
        <p:nvSpPr>
          <p:cNvPr id="31" name="A4-fadeleft-408"/>
          <p:cNvSpPr/>
          <p:nvPr/>
        </p:nvSpPr>
        <p:spPr>
          <a:xfrm>
            <a:off x="457200" y="3474720"/>
            <a:ext cx="2103120" cy="548640"/>
          </a:xfrm>
          <a:prstGeom prst="roundRect">
            <a:avLst>
              <a:gd name="adj" fmla="val 13333"/>
            </a:avLst>
          </a:prstGeom>
          <a:solidFill>
            <a:srgbClr val="0B1F4B"/>
          </a:solidFill>
          <a:ln w="12700">
            <a:solidFill>
              <a:srgbClr val="0B1F4B"/>
            </a:solidFill>
            <a:prstDash val="solid"/>
          </a:ln>
        </p:spPr>
      </p:sp>
      <p:sp>
        <p:nvSpPr>
          <p:cNvPr id="32" name="A4-fadeleft-409"/>
          <p:cNvSpPr txBox="1"/>
          <p:nvPr/>
        </p:nvSpPr>
        <p:spPr>
          <a:xfrm>
            <a:off x="548640" y="3474720"/>
            <a:ext cx="1920240" cy="5486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Libre circulation des personnes</a:t>
            </a:r>
            <a:endParaRPr lang="en-US" sz="1100" dirty="0"/>
          </a:p>
        </p:txBody>
      </p:sp>
      <p:sp>
        <p:nvSpPr>
          <p:cNvPr id="33" name="A4-fadeleft-410"/>
          <p:cNvSpPr/>
          <p:nvPr/>
        </p:nvSpPr>
        <p:spPr>
          <a:xfrm>
            <a:off x="2651760" y="3474720"/>
            <a:ext cx="2926080" cy="548640"/>
          </a:xfrm>
          <a:prstGeom prst="roundRect">
            <a:avLst>
              <a:gd name="adj" fmla="val 13333"/>
            </a:avLst>
          </a:prstGeom>
          <a:solidFill>
            <a:srgbClr val="E3F5EC"/>
          </a:solidFill>
          <a:ln w="12700">
            <a:solidFill>
              <a:srgbClr val="E3F5EC"/>
            </a:solidFill>
            <a:prstDash val="solid"/>
          </a:ln>
        </p:spPr>
      </p:sp>
      <p:sp>
        <p:nvSpPr>
          <p:cNvPr id="34" name="A4-fadeleft-411"/>
          <p:cNvSpPr txBox="1"/>
          <p:nvPr/>
        </p:nvSpPr>
        <p:spPr>
          <a:xfrm>
            <a:off x="2761488" y="3474720"/>
            <a:ext cx="2743200" cy="548640"/>
          </a:xfrm>
          <a:prstGeom prst="rect">
            <a:avLst/>
          </a:prstGeom>
          <a:noFill/>
          <a:ln/>
        </p:spPr>
        <p:txBody>
          <a:bodyPr wrap="square" lIns="0" tIns="0" rIns="0" bIns="0" rtlCol="0" anchor="ctr"/>
          <a:lstStyle/>
          <a:p>
            <a:pPr indent="0" marL="0">
              <a:buNone/>
            </a:pPr>
            <a:r>
              <a:rPr lang="en-US" sz="1050" dirty="0">
                <a:solidFill>
                  <a:srgbClr val="1B2333"/>
                </a:solidFill>
                <a:latin typeface="Calibri" pitchFamily="34" charset="0"/>
                <a:ea typeface="Calibri" pitchFamily="34" charset="-122"/>
                <a:cs typeface="Calibri" pitchFamily="34" charset="-120"/>
              </a:rPr>
              <a:t>17 M de citoyens mobiles, meilleur appariement</a:t>
            </a:r>
            <a:endParaRPr lang="en-US" sz="1050" dirty="0"/>
          </a:p>
        </p:txBody>
      </p:sp>
      <p:sp>
        <p:nvSpPr>
          <p:cNvPr id="35" name="A4-fadeleft-412"/>
          <p:cNvSpPr/>
          <p:nvPr/>
        </p:nvSpPr>
        <p:spPr>
          <a:xfrm>
            <a:off x="5669280" y="3474720"/>
            <a:ext cx="3017520" cy="548640"/>
          </a:xfrm>
          <a:prstGeom prst="roundRect">
            <a:avLst>
              <a:gd name="adj" fmla="val 13333"/>
            </a:avLst>
          </a:prstGeom>
          <a:solidFill>
            <a:srgbClr val="FBE7E5"/>
          </a:solidFill>
          <a:ln w="12700">
            <a:solidFill>
              <a:srgbClr val="FBE7E5"/>
            </a:solidFill>
            <a:prstDash val="solid"/>
          </a:ln>
        </p:spPr>
      </p:sp>
      <p:sp>
        <p:nvSpPr>
          <p:cNvPr id="36" name="A4-fadeleft-413"/>
          <p:cNvSpPr txBox="1"/>
          <p:nvPr/>
        </p:nvSpPr>
        <p:spPr>
          <a:xfrm>
            <a:off x="5779008" y="3474720"/>
            <a:ext cx="2834640" cy="548640"/>
          </a:xfrm>
          <a:prstGeom prst="rect">
            <a:avLst/>
          </a:prstGeom>
          <a:noFill/>
          <a:ln/>
        </p:spPr>
        <p:txBody>
          <a:bodyPr wrap="square" lIns="0" tIns="0" rIns="0" bIns="0" rtlCol="0" anchor="ctr"/>
          <a:lstStyle/>
          <a:p>
            <a:pPr indent="0" marL="0">
              <a:buNone/>
            </a:pPr>
            <a:r>
              <a:rPr lang="en-US" sz="1050" dirty="0">
                <a:solidFill>
                  <a:srgbClr val="1B2333"/>
                </a:solidFill>
                <a:latin typeface="Calibri" pitchFamily="34" charset="0"/>
                <a:ea typeface="Calibri" pitchFamily="34" charset="-122"/>
                <a:cs typeface="Calibri" pitchFamily="34" charset="-120"/>
              </a:rPr>
              <a:t>Fuite des cerveaux, travailleurs détachés</a:t>
            </a:r>
            <a:endParaRPr lang="en-US" sz="1050" dirty="0"/>
          </a:p>
        </p:txBody>
      </p:sp>
      <p:sp>
        <p:nvSpPr>
          <p:cNvPr id="37" name="A5-fadeleft-414"/>
          <p:cNvSpPr/>
          <p:nvPr/>
        </p:nvSpPr>
        <p:spPr>
          <a:xfrm>
            <a:off x="457200" y="4114800"/>
            <a:ext cx="2103120" cy="548640"/>
          </a:xfrm>
          <a:prstGeom prst="roundRect">
            <a:avLst>
              <a:gd name="adj" fmla="val 13333"/>
            </a:avLst>
          </a:prstGeom>
          <a:solidFill>
            <a:srgbClr val="0B1F4B"/>
          </a:solidFill>
          <a:ln w="12700">
            <a:solidFill>
              <a:srgbClr val="0B1F4B"/>
            </a:solidFill>
            <a:prstDash val="solid"/>
          </a:ln>
        </p:spPr>
      </p:sp>
      <p:sp>
        <p:nvSpPr>
          <p:cNvPr id="38" name="A5-fadeleft-415"/>
          <p:cNvSpPr txBox="1"/>
          <p:nvPr/>
        </p:nvSpPr>
        <p:spPr>
          <a:xfrm>
            <a:off x="548640" y="4114800"/>
            <a:ext cx="1920240" cy="5486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Approfondissement continu</a:t>
            </a:r>
            <a:endParaRPr lang="en-US" sz="1100" dirty="0"/>
          </a:p>
        </p:txBody>
      </p:sp>
      <p:sp>
        <p:nvSpPr>
          <p:cNvPr id="39" name="A5-fadeleft-416"/>
          <p:cNvSpPr/>
          <p:nvPr/>
        </p:nvSpPr>
        <p:spPr>
          <a:xfrm>
            <a:off x="2651760" y="4114800"/>
            <a:ext cx="2926080" cy="548640"/>
          </a:xfrm>
          <a:prstGeom prst="roundRect">
            <a:avLst>
              <a:gd name="adj" fmla="val 13333"/>
            </a:avLst>
          </a:prstGeom>
          <a:solidFill>
            <a:srgbClr val="E3F5EC"/>
          </a:solidFill>
          <a:ln w="12700">
            <a:solidFill>
              <a:srgbClr val="E3F5EC"/>
            </a:solidFill>
            <a:prstDash val="solid"/>
          </a:ln>
        </p:spPr>
      </p:sp>
      <p:sp>
        <p:nvSpPr>
          <p:cNvPr id="40" name="A5-fadeleft-417"/>
          <p:cNvSpPr txBox="1"/>
          <p:nvPr/>
        </p:nvSpPr>
        <p:spPr>
          <a:xfrm>
            <a:off x="2761488" y="4114800"/>
            <a:ext cx="2743200" cy="548640"/>
          </a:xfrm>
          <a:prstGeom prst="rect">
            <a:avLst/>
          </a:prstGeom>
          <a:noFill/>
          <a:ln/>
        </p:spPr>
        <p:txBody>
          <a:bodyPr wrap="square" lIns="0" tIns="0" rIns="0" bIns="0" rtlCol="0" anchor="ctr"/>
          <a:lstStyle/>
          <a:p>
            <a:pPr indent="0" marL="0">
              <a:buNone/>
            </a:pPr>
            <a:r>
              <a:rPr lang="en-US" sz="1050" dirty="0">
                <a:solidFill>
                  <a:srgbClr val="1B2333"/>
                </a:solidFill>
                <a:latin typeface="Calibri" pitchFamily="34" charset="0"/>
                <a:ea typeface="Calibri" pitchFamily="34" charset="-122"/>
                <a:cs typeface="Calibri" pitchFamily="34" charset="-120"/>
              </a:rPr>
              <a:t>Convergence des revenus, gains de PIB</a:t>
            </a:r>
            <a:endParaRPr lang="en-US" sz="1050" dirty="0"/>
          </a:p>
        </p:txBody>
      </p:sp>
      <p:sp>
        <p:nvSpPr>
          <p:cNvPr id="41" name="A5-fadeleft-418"/>
          <p:cNvSpPr/>
          <p:nvPr/>
        </p:nvSpPr>
        <p:spPr>
          <a:xfrm>
            <a:off x="5669280" y="4114800"/>
            <a:ext cx="3017520" cy="548640"/>
          </a:xfrm>
          <a:prstGeom prst="roundRect">
            <a:avLst>
              <a:gd name="adj" fmla="val 13333"/>
            </a:avLst>
          </a:prstGeom>
          <a:solidFill>
            <a:srgbClr val="FBE7E5"/>
          </a:solidFill>
          <a:ln w="12700">
            <a:solidFill>
              <a:srgbClr val="FBE7E5"/>
            </a:solidFill>
            <a:prstDash val="solid"/>
          </a:ln>
        </p:spPr>
      </p:sp>
      <p:sp>
        <p:nvSpPr>
          <p:cNvPr id="42" name="A5-fadeleft-419"/>
          <p:cNvSpPr txBox="1"/>
          <p:nvPr/>
        </p:nvSpPr>
        <p:spPr>
          <a:xfrm>
            <a:off x="5779008" y="4114800"/>
            <a:ext cx="2834640" cy="548640"/>
          </a:xfrm>
          <a:prstGeom prst="rect">
            <a:avLst/>
          </a:prstGeom>
          <a:noFill/>
          <a:ln/>
        </p:spPr>
        <p:txBody>
          <a:bodyPr wrap="square" lIns="0" tIns="0" rIns="0" bIns="0" rtlCol="0" anchor="ctr"/>
          <a:lstStyle/>
          <a:p>
            <a:pPr indent="0" marL="0">
              <a:buNone/>
            </a:pPr>
            <a:r>
              <a:rPr lang="en-US" sz="1050" dirty="0">
                <a:solidFill>
                  <a:srgbClr val="1B2333"/>
                </a:solidFill>
                <a:latin typeface="Calibri" pitchFamily="34" charset="0"/>
                <a:ea typeface="Calibri" pitchFamily="34" charset="-122"/>
                <a:cs typeface="Calibri" pitchFamily="34" charset="-120"/>
              </a:rPr>
              <a:t>Services fragmentés, opposition (Brexit)</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174" fill="hold">
                      <p:stCondLst>
                        <p:cond delay="indefinite"/>
                        <p:cond evt="onBegin" delay="0">
                          <p:tn val="2"/>
                        </p:cond>
                      </p:stCondLst>
                      <p:childTnLst>
                        <p:par>
                          <p:cTn id="175"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3" dur="600"/>
                                        <p:tgtEl>
                                          <p:spTgt spid="6"/>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fade">
                                      <p:cBhvr>
                                        <p:cTn id="6" dur="600"/>
                                        <p:tgtEl>
                                          <p:spTgt spid="7"/>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9" dur="6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2" dur="6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5" dur="6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18" dur="6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1" dur="600"/>
                                        <p:tgtEl>
                                          <p:spTgt spid="12"/>
                                        </p:tgtEl>
                                      </p:cBhvr>
                                    </p:animEffect>
                                  </p:childTnLst>
                                </p:cTn>
                              </p:par>
                              <p:par>
                                <p:cTn id="27" presetID="42" presetClass="entr" presetSubtype="0" fill="hold" grpId="0" nodeType="withEffect">
                                  <p:stCondLst>
                                    <p:cond delay="380"/>
                                  </p:stCondLst>
                                  <p:childTnLst>
                                    <p:set>
                                      <p:cBhvr>
                                        <p:cTn id="28" dur="1" fill="hold">
                                          <p:stCondLst>
                                            <p:cond delay="0"/>
                                          </p:stCondLst>
                                        </p:cTn>
                                        <p:tgtEl>
                                          <p:spTgt spid="13"/>
                                        </p:tgtEl>
                                        <p:attrNameLst>
                                          <p:attrName>style.visibility</p:attrName>
                                        </p:attrNameLst>
                                      </p:cBhvr>
                                      <p:to>
                                        <p:strVal val="visible"/>
                                      </p:to>
                                    </p:set>
                                    <p:animEffect transition="in" filter="fade">
                                      <p:cBhvr>
                                        <p:cTn id="24" dur="650"/>
                                        <p:tgtEl>
                                          <p:spTgt spid="13"/>
                                        </p:tgtEl>
                                      </p:cBhvr>
                                    </p:animEffect>
                                    <p:anim calcmode="lin" valueType="num">
                                      <p:cBhvr additive="base">
                                        <p:cTn id="25" dur="650" fill="hold"/>
                                        <p:tgtEl>
                                          <p:spTgt spid="13"/>
                                        </p:tgtEl>
                                        <p:attrNameLst>
                                          <p:attrName>ppt_x</p:attrName>
                                        </p:attrNameLst>
                                      </p:cBhvr>
                                      <p:tavLst>
                                        <p:tav tm="0">
                                          <p:val>
                                            <p:strVal val="#ppt_x-.06"/>
                                          </p:val>
                                        </p:tav>
                                        <p:tav tm="100000">
                                          <p:val>
                                            <p:strVal val="#ppt_x"/>
                                          </p:val>
                                        </p:tav>
                                      </p:tavLst>
                                    </p:anim>
                                    <p:anim calcmode="lin" valueType="num">
                                      <p:cBhvr additive="base">
                                        <p:cTn id="26" dur="650" fill="hold"/>
                                        <p:tgtEl>
                                          <p:spTgt spid="13"/>
                                        </p:tgtEl>
                                        <p:attrNameLst>
                                          <p:attrName>ppt_y</p:attrName>
                                        </p:attrNameLst>
                                      </p:cBhvr>
                                      <p:tavLst>
                                        <p:tav tm="0">
                                          <p:val>
                                            <p:strVal val="#ppt_y"/>
                                          </p:val>
                                        </p:tav>
                                        <p:tav tm="100000">
                                          <p:val>
                                            <p:strVal val="#ppt_y"/>
                                          </p:val>
                                        </p:tav>
                                      </p:tavLst>
                                    </p:anim>
                                  </p:childTnLst>
                                </p:cTn>
                              </p:par>
                              <p:par>
                                <p:cTn id="32" presetID="42" presetClass="entr" presetSubtype="0" fill="hold" grpId="0" nodeType="withEffect">
                                  <p:stCondLst>
                                    <p:cond delay="380"/>
                                  </p:stCondLst>
                                  <p:childTnLst>
                                    <p:set>
                                      <p:cBhvr>
                                        <p:cTn id="33" dur="1" fill="hold">
                                          <p:stCondLst>
                                            <p:cond delay="0"/>
                                          </p:stCondLst>
                                        </p:cTn>
                                        <p:tgtEl>
                                          <p:spTgt spid="14"/>
                                        </p:tgtEl>
                                        <p:attrNameLst>
                                          <p:attrName>style.visibility</p:attrName>
                                        </p:attrNameLst>
                                      </p:cBhvr>
                                      <p:to>
                                        <p:strVal val="visible"/>
                                      </p:to>
                                    </p:set>
                                    <p:animEffect transition="in" filter="fade">
                                      <p:cBhvr>
                                        <p:cTn id="29" dur="650"/>
                                        <p:tgtEl>
                                          <p:spTgt spid="14"/>
                                        </p:tgtEl>
                                      </p:cBhvr>
                                    </p:animEffect>
                                    <p:anim calcmode="lin" valueType="num">
                                      <p:cBhvr additive="base">
                                        <p:cTn id="30" dur="650" fill="hold"/>
                                        <p:tgtEl>
                                          <p:spTgt spid="14"/>
                                        </p:tgtEl>
                                        <p:attrNameLst>
                                          <p:attrName>ppt_x</p:attrName>
                                        </p:attrNameLst>
                                      </p:cBhvr>
                                      <p:tavLst>
                                        <p:tav tm="0">
                                          <p:val>
                                            <p:strVal val="#ppt_x-.06"/>
                                          </p:val>
                                        </p:tav>
                                        <p:tav tm="100000">
                                          <p:val>
                                            <p:strVal val="#ppt_x"/>
                                          </p:val>
                                        </p:tav>
                                      </p:tavLst>
                                    </p:anim>
                                    <p:anim calcmode="lin" valueType="num">
                                      <p:cBhvr additive="base">
                                        <p:cTn id="31" dur="650" fill="hold"/>
                                        <p:tgtEl>
                                          <p:spTgt spid="14"/>
                                        </p:tgtEl>
                                        <p:attrNameLst>
                                          <p:attrName>ppt_y</p:attrName>
                                        </p:attrNameLst>
                                      </p:cBhvr>
                                      <p:tavLst>
                                        <p:tav tm="0">
                                          <p:val>
                                            <p:strVal val="#ppt_y"/>
                                          </p:val>
                                        </p:tav>
                                        <p:tav tm="100000">
                                          <p:val>
                                            <p:strVal val="#ppt_y"/>
                                          </p:val>
                                        </p:tav>
                                      </p:tavLst>
                                    </p:anim>
                                  </p:childTnLst>
                                </p:cTn>
                              </p:par>
                              <p:par>
                                <p:cTn id="37" presetID="42" presetClass="entr" presetSubtype="0" fill="hold" grpId="0" nodeType="withEffect">
                                  <p:stCondLst>
                                    <p:cond delay="380"/>
                                  </p:stCondLst>
                                  <p:childTnLst>
                                    <p:set>
                                      <p:cBhvr>
                                        <p:cTn id="38" dur="1" fill="hold">
                                          <p:stCondLst>
                                            <p:cond delay="0"/>
                                          </p:stCondLst>
                                        </p:cTn>
                                        <p:tgtEl>
                                          <p:spTgt spid="15"/>
                                        </p:tgtEl>
                                        <p:attrNameLst>
                                          <p:attrName>style.visibility</p:attrName>
                                        </p:attrNameLst>
                                      </p:cBhvr>
                                      <p:to>
                                        <p:strVal val="visible"/>
                                      </p:to>
                                    </p:set>
                                    <p:animEffect transition="in" filter="fade">
                                      <p:cBhvr>
                                        <p:cTn id="34" dur="650"/>
                                        <p:tgtEl>
                                          <p:spTgt spid="15"/>
                                        </p:tgtEl>
                                      </p:cBhvr>
                                    </p:animEffect>
                                    <p:anim calcmode="lin" valueType="num">
                                      <p:cBhvr additive="base">
                                        <p:cTn id="35" dur="650" fill="hold"/>
                                        <p:tgtEl>
                                          <p:spTgt spid="15"/>
                                        </p:tgtEl>
                                        <p:attrNameLst>
                                          <p:attrName>ppt_x</p:attrName>
                                        </p:attrNameLst>
                                      </p:cBhvr>
                                      <p:tavLst>
                                        <p:tav tm="0">
                                          <p:val>
                                            <p:strVal val="#ppt_x-.06"/>
                                          </p:val>
                                        </p:tav>
                                        <p:tav tm="100000">
                                          <p:val>
                                            <p:strVal val="#ppt_x"/>
                                          </p:val>
                                        </p:tav>
                                      </p:tavLst>
                                    </p:anim>
                                    <p:anim calcmode="lin" valueType="num">
                                      <p:cBhvr additive="base">
                                        <p:cTn id="36" dur="650" fill="hold"/>
                                        <p:tgtEl>
                                          <p:spTgt spid="15"/>
                                        </p:tgtEl>
                                        <p:attrNameLst>
                                          <p:attrName>ppt_y</p:attrName>
                                        </p:attrNameLst>
                                      </p:cBhvr>
                                      <p:tavLst>
                                        <p:tav tm="0">
                                          <p:val>
                                            <p:strVal val="#ppt_y"/>
                                          </p:val>
                                        </p:tav>
                                        <p:tav tm="100000">
                                          <p:val>
                                            <p:strVal val="#ppt_y"/>
                                          </p:val>
                                        </p:tav>
                                      </p:tavLst>
                                    </p:anim>
                                  </p:childTnLst>
                                </p:cTn>
                              </p:par>
                              <p:par>
                                <p:cTn id="42" presetID="42" presetClass="entr" presetSubtype="0" fill="hold" grpId="0" nodeType="withEffect">
                                  <p:stCondLst>
                                    <p:cond delay="380"/>
                                  </p:stCondLst>
                                  <p:childTnLst>
                                    <p:set>
                                      <p:cBhvr>
                                        <p:cTn id="43" dur="1" fill="hold">
                                          <p:stCondLst>
                                            <p:cond delay="0"/>
                                          </p:stCondLst>
                                        </p:cTn>
                                        <p:tgtEl>
                                          <p:spTgt spid="16"/>
                                        </p:tgtEl>
                                        <p:attrNameLst>
                                          <p:attrName>style.visibility</p:attrName>
                                        </p:attrNameLst>
                                      </p:cBhvr>
                                      <p:to>
                                        <p:strVal val="visible"/>
                                      </p:to>
                                    </p:set>
                                    <p:animEffect transition="in" filter="fade">
                                      <p:cBhvr>
                                        <p:cTn id="39" dur="650"/>
                                        <p:tgtEl>
                                          <p:spTgt spid="16"/>
                                        </p:tgtEl>
                                      </p:cBhvr>
                                    </p:animEffect>
                                    <p:anim calcmode="lin" valueType="num">
                                      <p:cBhvr additive="base">
                                        <p:cTn id="40" dur="650" fill="hold"/>
                                        <p:tgtEl>
                                          <p:spTgt spid="16"/>
                                        </p:tgtEl>
                                        <p:attrNameLst>
                                          <p:attrName>ppt_x</p:attrName>
                                        </p:attrNameLst>
                                      </p:cBhvr>
                                      <p:tavLst>
                                        <p:tav tm="0">
                                          <p:val>
                                            <p:strVal val="#ppt_x-.06"/>
                                          </p:val>
                                        </p:tav>
                                        <p:tav tm="100000">
                                          <p:val>
                                            <p:strVal val="#ppt_x"/>
                                          </p:val>
                                        </p:tav>
                                      </p:tavLst>
                                    </p:anim>
                                    <p:anim calcmode="lin" valueType="num">
                                      <p:cBhvr additive="base">
                                        <p:cTn id="41" dur="650" fill="hold"/>
                                        <p:tgtEl>
                                          <p:spTgt spid="16"/>
                                        </p:tgtEl>
                                        <p:attrNameLst>
                                          <p:attrName>ppt_y</p:attrName>
                                        </p:attrNameLst>
                                      </p:cBhvr>
                                      <p:tavLst>
                                        <p:tav tm="0">
                                          <p:val>
                                            <p:strVal val="#ppt_y"/>
                                          </p:val>
                                        </p:tav>
                                        <p:tav tm="100000">
                                          <p:val>
                                            <p:strVal val="#ppt_y"/>
                                          </p:val>
                                        </p:tav>
                                      </p:tavLst>
                                    </p:anim>
                                  </p:childTnLst>
                                </p:cTn>
                              </p:par>
                              <p:par>
                                <p:cTn id="47" presetID="42" presetClass="entr" presetSubtype="0" fill="hold" grpId="0" nodeType="withEffect">
                                  <p:stCondLst>
                                    <p:cond delay="380"/>
                                  </p:stCondLst>
                                  <p:childTnLst>
                                    <p:set>
                                      <p:cBhvr>
                                        <p:cTn id="48" dur="1" fill="hold">
                                          <p:stCondLst>
                                            <p:cond delay="0"/>
                                          </p:stCondLst>
                                        </p:cTn>
                                        <p:tgtEl>
                                          <p:spTgt spid="17"/>
                                        </p:tgtEl>
                                        <p:attrNameLst>
                                          <p:attrName>style.visibility</p:attrName>
                                        </p:attrNameLst>
                                      </p:cBhvr>
                                      <p:to>
                                        <p:strVal val="visible"/>
                                      </p:to>
                                    </p:set>
                                    <p:animEffect transition="in" filter="fade">
                                      <p:cBhvr>
                                        <p:cTn id="44" dur="650"/>
                                        <p:tgtEl>
                                          <p:spTgt spid="17"/>
                                        </p:tgtEl>
                                      </p:cBhvr>
                                    </p:animEffect>
                                    <p:anim calcmode="lin" valueType="num">
                                      <p:cBhvr additive="base">
                                        <p:cTn id="45" dur="650" fill="hold"/>
                                        <p:tgtEl>
                                          <p:spTgt spid="17"/>
                                        </p:tgtEl>
                                        <p:attrNameLst>
                                          <p:attrName>ppt_x</p:attrName>
                                        </p:attrNameLst>
                                      </p:cBhvr>
                                      <p:tavLst>
                                        <p:tav tm="0">
                                          <p:val>
                                            <p:strVal val="#ppt_x-.06"/>
                                          </p:val>
                                        </p:tav>
                                        <p:tav tm="100000">
                                          <p:val>
                                            <p:strVal val="#ppt_x"/>
                                          </p:val>
                                        </p:tav>
                                      </p:tavLst>
                                    </p:anim>
                                    <p:anim calcmode="lin" valueType="num">
                                      <p:cBhvr additive="base">
                                        <p:cTn id="46" dur="650" fill="hold"/>
                                        <p:tgtEl>
                                          <p:spTgt spid="17"/>
                                        </p:tgtEl>
                                        <p:attrNameLst>
                                          <p:attrName>ppt_y</p:attrName>
                                        </p:attrNameLst>
                                      </p:cBhvr>
                                      <p:tavLst>
                                        <p:tav tm="0">
                                          <p:val>
                                            <p:strVal val="#ppt_y"/>
                                          </p:val>
                                        </p:tav>
                                        <p:tav tm="100000">
                                          <p:val>
                                            <p:strVal val="#ppt_y"/>
                                          </p:val>
                                        </p:tav>
                                      </p:tavLst>
                                    </p:anim>
                                  </p:childTnLst>
                                </p:cTn>
                              </p:par>
                              <p:par>
                                <p:cTn id="52" presetID="42" presetClass="entr" presetSubtype="0" fill="hold" grpId="0" nodeType="withEffect">
                                  <p:stCondLst>
                                    <p:cond delay="380"/>
                                  </p:stCondLst>
                                  <p:childTnLst>
                                    <p:set>
                                      <p:cBhvr>
                                        <p:cTn id="53" dur="1" fill="hold">
                                          <p:stCondLst>
                                            <p:cond delay="0"/>
                                          </p:stCondLst>
                                        </p:cTn>
                                        <p:tgtEl>
                                          <p:spTgt spid="18"/>
                                        </p:tgtEl>
                                        <p:attrNameLst>
                                          <p:attrName>style.visibility</p:attrName>
                                        </p:attrNameLst>
                                      </p:cBhvr>
                                      <p:to>
                                        <p:strVal val="visible"/>
                                      </p:to>
                                    </p:set>
                                    <p:animEffect transition="in" filter="fade">
                                      <p:cBhvr>
                                        <p:cTn id="49" dur="650"/>
                                        <p:tgtEl>
                                          <p:spTgt spid="18"/>
                                        </p:tgtEl>
                                      </p:cBhvr>
                                    </p:animEffect>
                                    <p:anim calcmode="lin" valueType="num">
                                      <p:cBhvr additive="base">
                                        <p:cTn id="50" dur="650" fill="hold"/>
                                        <p:tgtEl>
                                          <p:spTgt spid="18"/>
                                        </p:tgtEl>
                                        <p:attrNameLst>
                                          <p:attrName>ppt_x</p:attrName>
                                        </p:attrNameLst>
                                      </p:cBhvr>
                                      <p:tavLst>
                                        <p:tav tm="0">
                                          <p:val>
                                            <p:strVal val="#ppt_x-.06"/>
                                          </p:val>
                                        </p:tav>
                                        <p:tav tm="100000">
                                          <p:val>
                                            <p:strVal val="#ppt_x"/>
                                          </p:val>
                                        </p:tav>
                                      </p:tavLst>
                                    </p:anim>
                                    <p:anim calcmode="lin" valueType="num">
                                      <p:cBhvr additive="base">
                                        <p:cTn id="51" dur="650" fill="hold"/>
                                        <p:tgtEl>
                                          <p:spTgt spid="18"/>
                                        </p:tgtEl>
                                        <p:attrNameLst>
                                          <p:attrName>ppt_y</p:attrName>
                                        </p:attrNameLst>
                                      </p:cBhvr>
                                      <p:tavLst>
                                        <p:tav tm="0">
                                          <p:val>
                                            <p:strVal val="#ppt_y"/>
                                          </p:val>
                                        </p:tav>
                                        <p:tav tm="100000">
                                          <p:val>
                                            <p:strVal val="#ppt_y"/>
                                          </p:val>
                                        </p:tav>
                                      </p:tavLst>
                                    </p:anim>
                                  </p:childTnLst>
                                </p:cTn>
                              </p:par>
                              <p:par>
                                <p:cTn id="57" presetID="42" presetClass="entr" presetSubtype="0" fill="hold" grpId="0" nodeType="withEffect">
                                  <p:stCondLst>
                                    <p:cond delay="760"/>
                                  </p:stCondLst>
                                  <p:childTnLst>
                                    <p:set>
                                      <p:cBhvr>
                                        <p:cTn id="58" dur="1" fill="hold">
                                          <p:stCondLst>
                                            <p:cond delay="0"/>
                                          </p:stCondLst>
                                        </p:cTn>
                                        <p:tgtEl>
                                          <p:spTgt spid="19"/>
                                        </p:tgtEl>
                                        <p:attrNameLst>
                                          <p:attrName>style.visibility</p:attrName>
                                        </p:attrNameLst>
                                      </p:cBhvr>
                                      <p:to>
                                        <p:strVal val="visible"/>
                                      </p:to>
                                    </p:set>
                                    <p:animEffect transition="in" filter="fade">
                                      <p:cBhvr>
                                        <p:cTn id="54" dur="650"/>
                                        <p:tgtEl>
                                          <p:spTgt spid="19"/>
                                        </p:tgtEl>
                                      </p:cBhvr>
                                    </p:animEffect>
                                    <p:anim calcmode="lin" valueType="num">
                                      <p:cBhvr additive="base">
                                        <p:cTn id="55" dur="650" fill="hold"/>
                                        <p:tgtEl>
                                          <p:spTgt spid="19"/>
                                        </p:tgtEl>
                                        <p:attrNameLst>
                                          <p:attrName>ppt_x</p:attrName>
                                        </p:attrNameLst>
                                      </p:cBhvr>
                                      <p:tavLst>
                                        <p:tav tm="0">
                                          <p:val>
                                            <p:strVal val="#ppt_x-.06"/>
                                          </p:val>
                                        </p:tav>
                                        <p:tav tm="100000">
                                          <p:val>
                                            <p:strVal val="#ppt_x"/>
                                          </p:val>
                                        </p:tav>
                                      </p:tavLst>
                                    </p:anim>
                                    <p:anim calcmode="lin" valueType="num">
                                      <p:cBhvr additive="base">
                                        <p:cTn id="56" dur="650" fill="hold"/>
                                        <p:tgtEl>
                                          <p:spTgt spid="19"/>
                                        </p:tgtEl>
                                        <p:attrNameLst>
                                          <p:attrName>ppt_y</p:attrName>
                                        </p:attrNameLst>
                                      </p:cBhvr>
                                      <p:tavLst>
                                        <p:tav tm="0">
                                          <p:val>
                                            <p:strVal val="#ppt_y"/>
                                          </p:val>
                                        </p:tav>
                                        <p:tav tm="100000">
                                          <p:val>
                                            <p:strVal val="#ppt_y"/>
                                          </p:val>
                                        </p:tav>
                                      </p:tavLst>
                                    </p:anim>
                                  </p:childTnLst>
                                </p:cTn>
                              </p:par>
                              <p:par>
                                <p:cTn id="62" presetID="42" presetClass="entr" presetSubtype="0" fill="hold" grpId="0" nodeType="withEffect">
                                  <p:stCondLst>
                                    <p:cond delay="760"/>
                                  </p:stCondLst>
                                  <p:childTnLst>
                                    <p:set>
                                      <p:cBhvr>
                                        <p:cTn id="63" dur="1" fill="hold">
                                          <p:stCondLst>
                                            <p:cond delay="0"/>
                                          </p:stCondLst>
                                        </p:cTn>
                                        <p:tgtEl>
                                          <p:spTgt spid="20"/>
                                        </p:tgtEl>
                                        <p:attrNameLst>
                                          <p:attrName>style.visibility</p:attrName>
                                        </p:attrNameLst>
                                      </p:cBhvr>
                                      <p:to>
                                        <p:strVal val="visible"/>
                                      </p:to>
                                    </p:set>
                                    <p:animEffect transition="in" filter="fade">
                                      <p:cBhvr>
                                        <p:cTn id="59" dur="650"/>
                                        <p:tgtEl>
                                          <p:spTgt spid="20"/>
                                        </p:tgtEl>
                                      </p:cBhvr>
                                    </p:animEffect>
                                    <p:anim calcmode="lin" valueType="num">
                                      <p:cBhvr additive="base">
                                        <p:cTn id="60" dur="650" fill="hold"/>
                                        <p:tgtEl>
                                          <p:spTgt spid="20"/>
                                        </p:tgtEl>
                                        <p:attrNameLst>
                                          <p:attrName>ppt_x</p:attrName>
                                        </p:attrNameLst>
                                      </p:cBhvr>
                                      <p:tavLst>
                                        <p:tav tm="0">
                                          <p:val>
                                            <p:strVal val="#ppt_x-.06"/>
                                          </p:val>
                                        </p:tav>
                                        <p:tav tm="100000">
                                          <p:val>
                                            <p:strVal val="#ppt_x"/>
                                          </p:val>
                                        </p:tav>
                                      </p:tavLst>
                                    </p:anim>
                                    <p:anim calcmode="lin" valueType="num">
                                      <p:cBhvr additive="base">
                                        <p:cTn id="61" dur="650" fill="hold"/>
                                        <p:tgtEl>
                                          <p:spTgt spid="20"/>
                                        </p:tgtEl>
                                        <p:attrNameLst>
                                          <p:attrName>ppt_y</p:attrName>
                                        </p:attrNameLst>
                                      </p:cBhvr>
                                      <p:tavLst>
                                        <p:tav tm="0">
                                          <p:val>
                                            <p:strVal val="#ppt_y"/>
                                          </p:val>
                                        </p:tav>
                                        <p:tav tm="100000">
                                          <p:val>
                                            <p:strVal val="#ppt_y"/>
                                          </p:val>
                                        </p:tav>
                                      </p:tavLst>
                                    </p:anim>
                                  </p:childTnLst>
                                </p:cTn>
                              </p:par>
                              <p:par>
                                <p:cTn id="67" presetID="42" presetClass="entr" presetSubtype="0" fill="hold" grpId="0" nodeType="withEffect">
                                  <p:stCondLst>
                                    <p:cond delay="760"/>
                                  </p:stCondLst>
                                  <p:childTnLst>
                                    <p:set>
                                      <p:cBhvr>
                                        <p:cTn id="68" dur="1" fill="hold">
                                          <p:stCondLst>
                                            <p:cond delay="0"/>
                                          </p:stCondLst>
                                        </p:cTn>
                                        <p:tgtEl>
                                          <p:spTgt spid="21"/>
                                        </p:tgtEl>
                                        <p:attrNameLst>
                                          <p:attrName>style.visibility</p:attrName>
                                        </p:attrNameLst>
                                      </p:cBhvr>
                                      <p:to>
                                        <p:strVal val="visible"/>
                                      </p:to>
                                    </p:set>
                                    <p:animEffect transition="in" filter="fade">
                                      <p:cBhvr>
                                        <p:cTn id="64" dur="650"/>
                                        <p:tgtEl>
                                          <p:spTgt spid="21"/>
                                        </p:tgtEl>
                                      </p:cBhvr>
                                    </p:animEffect>
                                    <p:anim calcmode="lin" valueType="num">
                                      <p:cBhvr additive="base">
                                        <p:cTn id="65" dur="650" fill="hold"/>
                                        <p:tgtEl>
                                          <p:spTgt spid="21"/>
                                        </p:tgtEl>
                                        <p:attrNameLst>
                                          <p:attrName>ppt_x</p:attrName>
                                        </p:attrNameLst>
                                      </p:cBhvr>
                                      <p:tavLst>
                                        <p:tav tm="0">
                                          <p:val>
                                            <p:strVal val="#ppt_x-.06"/>
                                          </p:val>
                                        </p:tav>
                                        <p:tav tm="100000">
                                          <p:val>
                                            <p:strVal val="#ppt_x"/>
                                          </p:val>
                                        </p:tav>
                                      </p:tavLst>
                                    </p:anim>
                                    <p:anim calcmode="lin" valueType="num">
                                      <p:cBhvr additive="base">
                                        <p:cTn id="66" dur="650" fill="hold"/>
                                        <p:tgtEl>
                                          <p:spTgt spid="21"/>
                                        </p:tgtEl>
                                        <p:attrNameLst>
                                          <p:attrName>ppt_y</p:attrName>
                                        </p:attrNameLst>
                                      </p:cBhvr>
                                      <p:tavLst>
                                        <p:tav tm="0">
                                          <p:val>
                                            <p:strVal val="#ppt_y"/>
                                          </p:val>
                                        </p:tav>
                                        <p:tav tm="100000">
                                          <p:val>
                                            <p:strVal val="#ppt_y"/>
                                          </p:val>
                                        </p:tav>
                                      </p:tavLst>
                                    </p:anim>
                                  </p:childTnLst>
                                </p:cTn>
                              </p:par>
                              <p:par>
                                <p:cTn id="72" presetID="42" presetClass="entr" presetSubtype="0" fill="hold" grpId="0" nodeType="withEffect">
                                  <p:stCondLst>
                                    <p:cond delay="760"/>
                                  </p:stCondLst>
                                  <p:childTnLst>
                                    <p:set>
                                      <p:cBhvr>
                                        <p:cTn id="73" dur="1" fill="hold">
                                          <p:stCondLst>
                                            <p:cond delay="0"/>
                                          </p:stCondLst>
                                        </p:cTn>
                                        <p:tgtEl>
                                          <p:spTgt spid="22"/>
                                        </p:tgtEl>
                                        <p:attrNameLst>
                                          <p:attrName>style.visibility</p:attrName>
                                        </p:attrNameLst>
                                      </p:cBhvr>
                                      <p:to>
                                        <p:strVal val="visible"/>
                                      </p:to>
                                    </p:set>
                                    <p:animEffect transition="in" filter="fade">
                                      <p:cBhvr>
                                        <p:cTn id="69" dur="650"/>
                                        <p:tgtEl>
                                          <p:spTgt spid="22"/>
                                        </p:tgtEl>
                                      </p:cBhvr>
                                    </p:animEffect>
                                    <p:anim calcmode="lin" valueType="num">
                                      <p:cBhvr additive="base">
                                        <p:cTn id="70" dur="650" fill="hold"/>
                                        <p:tgtEl>
                                          <p:spTgt spid="22"/>
                                        </p:tgtEl>
                                        <p:attrNameLst>
                                          <p:attrName>ppt_x</p:attrName>
                                        </p:attrNameLst>
                                      </p:cBhvr>
                                      <p:tavLst>
                                        <p:tav tm="0">
                                          <p:val>
                                            <p:strVal val="#ppt_x-.06"/>
                                          </p:val>
                                        </p:tav>
                                        <p:tav tm="100000">
                                          <p:val>
                                            <p:strVal val="#ppt_x"/>
                                          </p:val>
                                        </p:tav>
                                      </p:tavLst>
                                    </p:anim>
                                    <p:anim calcmode="lin" valueType="num">
                                      <p:cBhvr additive="base">
                                        <p:cTn id="71" dur="650" fill="hold"/>
                                        <p:tgtEl>
                                          <p:spTgt spid="22"/>
                                        </p:tgtEl>
                                        <p:attrNameLst>
                                          <p:attrName>ppt_y</p:attrName>
                                        </p:attrNameLst>
                                      </p:cBhvr>
                                      <p:tavLst>
                                        <p:tav tm="0">
                                          <p:val>
                                            <p:strVal val="#ppt_y"/>
                                          </p:val>
                                        </p:tav>
                                        <p:tav tm="100000">
                                          <p:val>
                                            <p:strVal val="#ppt_y"/>
                                          </p:val>
                                        </p:tav>
                                      </p:tavLst>
                                    </p:anim>
                                  </p:childTnLst>
                                </p:cTn>
                              </p:par>
                              <p:par>
                                <p:cTn id="77" presetID="42" presetClass="entr" presetSubtype="0" fill="hold" grpId="0" nodeType="withEffect">
                                  <p:stCondLst>
                                    <p:cond delay="760"/>
                                  </p:stCondLst>
                                  <p:childTnLst>
                                    <p:set>
                                      <p:cBhvr>
                                        <p:cTn id="78" dur="1" fill="hold">
                                          <p:stCondLst>
                                            <p:cond delay="0"/>
                                          </p:stCondLst>
                                        </p:cTn>
                                        <p:tgtEl>
                                          <p:spTgt spid="23"/>
                                        </p:tgtEl>
                                        <p:attrNameLst>
                                          <p:attrName>style.visibility</p:attrName>
                                        </p:attrNameLst>
                                      </p:cBhvr>
                                      <p:to>
                                        <p:strVal val="visible"/>
                                      </p:to>
                                    </p:set>
                                    <p:animEffect transition="in" filter="fade">
                                      <p:cBhvr>
                                        <p:cTn id="74" dur="650"/>
                                        <p:tgtEl>
                                          <p:spTgt spid="23"/>
                                        </p:tgtEl>
                                      </p:cBhvr>
                                    </p:animEffect>
                                    <p:anim calcmode="lin" valueType="num">
                                      <p:cBhvr additive="base">
                                        <p:cTn id="75" dur="650" fill="hold"/>
                                        <p:tgtEl>
                                          <p:spTgt spid="23"/>
                                        </p:tgtEl>
                                        <p:attrNameLst>
                                          <p:attrName>ppt_x</p:attrName>
                                        </p:attrNameLst>
                                      </p:cBhvr>
                                      <p:tavLst>
                                        <p:tav tm="0">
                                          <p:val>
                                            <p:strVal val="#ppt_x-.06"/>
                                          </p:val>
                                        </p:tav>
                                        <p:tav tm="100000">
                                          <p:val>
                                            <p:strVal val="#ppt_x"/>
                                          </p:val>
                                        </p:tav>
                                      </p:tavLst>
                                    </p:anim>
                                    <p:anim calcmode="lin" valueType="num">
                                      <p:cBhvr additive="base">
                                        <p:cTn id="76" dur="650" fill="hold"/>
                                        <p:tgtEl>
                                          <p:spTgt spid="23"/>
                                        </p:tgtEl>
                                        <p:attrNameLst>
                                          <p:attrName>ppt_y</p:attrName>
                                        </p:attrNameLst>
                                      </p:cBhvr>
                                      <p:tavLst>
                                        <p:tav tm="0">
                                          <p:val>
                                            <p:strVal val="#ppt_y"/>
                                          </p:val>
                                        </p:tav>
                                        <p:tav tm="100000">
                                          <p:val>
                                            <p:strVal val="#ppt_y"/>
                                          </p:val>
                                        </p:tav>
                                      </p:tavLst>
                                    </p:anim>
                                  </p:childTnLst>
                                </p:cTn>
                              </p:par>
                              <p:par>
                                <p:cTn id="82" presetID="42" presetClass="entr" presetSubtype="0" fill="hold" grpId="0" nodeType="withEffect">
                                  <p:stCondLst>
                                    <p:cond delay="760"/>
                                  </p:stCondLst>
                                  <p:childTnLst>
                                    <p:set>
                                      <p:cBhvr>
                                        <p:cTn id="83" dur="1" fill="hold">
                                          <p:stCondLst>
                                            <p:cond delay="0"/>
                                          </p:stCondLst>
                                        </p:cTn>
                                        <p:tgtEl>
                                          <p:spTgt spid="24"/>
                                        </p:tgtEl>
                                        <p:attrNameLst>
                                          <p:attrName>style.visibility</p:attrName>
                                        </p:attrNameLst>
                                      </p:cBhvr>
                                      <p:to>
                                        <p:strVal val="visible"/>
                                      </p:to>
                                    </p:set>
                                    <p:animEffect transition="in" filter="fade">
                                      <p:cBhvr>
                                        <p:cTn id="79" dur="650"/>
                                        <p:tgtEl>
                                          <p:spTgt spid="24"/>
                                        </p:tgtEl>
                                      </p:cBhvr>
                                    </p:animEffect>
                                    <p:anim calcmode="lin" valueType="num">
                                      <p:cBhvr additive="base">
                                        <p:cTn id="80" dur="650" fill="hold"/>
                                        <p:tgtEl>
                                          <p:spTgt spid="24"/>
                                        </p:tgtEl>
                                        <p:attrNameLst>
                                          <p:attrName>ppt_x</p:attrName>
                                        </p:attrNameLst>
                                      </p:cBhvr>
                                      <p:tavLst>
                                        <p:tav tm="0">
                                          <p:val>
                                            <p:strVal val="#ppt_x-.06"/>
                                          </p:val>
                                        </p:tav>
                                        <p:tav tm="100000">
                                          <p:val>
                                            <p:strVal val="#ppt_x"/>
                                          </p:val>
                                        </p:tav>
                                      </p:tavLst>
                                    </p:anim>
                                    <p:anim calcmode="lin" valueType="num">
                                      <p:cBhvr additive="base">
                                        <p:cTn id="81" dur="650" fill="hold"/>
                                        <p:tgtEl>
                                          <p:spTgt spid="24"/>
                                        </p:tgtEl>
                                        <p:attrNameLst>
                                          <p:attrName>ppt_y</p:attrName>
                                        </p:attrNameLst>
                                      </p:cBhvr>
                                      <p:tavLst>
                                        <p:tav tm="0">
                                          <p:val>
                                            <p:strVal val="#ppt_y"/>
                                          </p:val>
                                        </p:tav>
                                        <p:tav tm="100000">
                                          <p:val>
                                            <p:strVal val="#ppt_y"/>
                                          </p:val>
                                        </p:tav>
                                      </p:tavLst>
                                    </p:anim>
                                  </p:childTnLst>
                                </p:cTn>
                              </p:par>
                              <p:par>
                                <p:cTn id="87" presetID="42" presetClass="entr" presetSubtype="0" fill="hold" grpId="0" nodeType="withEffect">
                                  <p:stCondLst>
                                    <p:cond delay="1140"/>
                                  </p:stCondLst>
                                  <p:childTnLst>
                                    <p:set>
                                      <p:cBhvr>
                                        <p:cTn id="88" dur="1" fill="hold">
                                          <p:stCondLst>
                                            <p:cond delay="0"/>
                                          </p:stCondLst>
                                        </p:cTn>
                                        <p:tgtEl>
                                          <p:spTgt spid="25"/>
                                        </p:tgtEl>
                                        <p:attrNameLst>
                                          <p:attrName>style.visibility</p:attrName>
                                        </p:attrNameLst>
                                      </p:cBhvr>
                                      <p:to>
                                        <p:strVal val="visible"/>
                                      </p:to>
                                    </p:set>
                                    <p:animEffect transition="in" filter="fade">
                                      <p:cBhvr>
                                        <p:cTn id="84" dur="650"/>
                                        <p:tgtEl>
                                          <p:spTgt spid="25"/>
                                        </p:tgtEl>
                                      </p:cBhvr>
                                    </p:animEffect>
                                    <p:anim calcmode="lin" valueType="num">
                                      <p:cBhvr additive="base">
                                        <p:cTn id="85" dur="650" fill="hold"/>
                                        <p:tgtEl>
                                          <p:spTgt spid="25"/>
                                        </p:tgtEl>
                                        <p:attrNameLst>
                                          <p:attrName>ppt_x</p:attrName>
                                        </p:attrNameLst>
                                      </p:cBhvr>
                                      <p:tavLst>
                                        <p:tav tm="0">
                                          <p:val>
                                            <p:strVal val="#ppt_x-.06"/>
                                          </p:val>
                                        </p:tav>
                                        <p:tav tm="100000">
                                          <p:val>
                                            <p:strVal val="#ppt_x"/>
                                          </p:val>
                                        </p:tav>
                                      </p:tavLst>
                                    </p:anim>
                                    <p:anim calcmode="lin" valueType="num">
                                      <p:cBhvr additive="base">
                                        <p:cTn id="86" dur="650" fill="hold"/>
                                        <p:tgtEl>
                                          <p:spTgt spid="25"/>
                                        </p:tgtEl>
                                        <p:attrNameLst>
                                          <p:attrName>ppt_y</p:attrName>
                                        </p:attrNameLst>
                                      </p:cBhvr>
                                      <p:tavLst>
                                        <p:tav tm="0">
                                          <p:val>
                                            <p:strVal val="#ppt_y"/>
                                          </p:val>
                                        </p:tav>
                                        <p:tav tm="100000">
                                          <p:val>
                                            <p:strVal val="#ppt_y"/>
                                          </p:val>
                                        </p:tav>
                                      </p:tavLst>
                                    </p:anim>
                                  </p:childTnLst>
                                </p:cTn>
                              </p:par>
                              <p:par>
                                <p:cTn id="92" presetID="42" presetClass="entr" presetSubtype="0" fill="hold" grpId="0" nodeType="withEffect">
                                  <p:stCondLst>
                                    <p:cond delay="1140"/>
                                  </p:stCondLst>
                                  <p:childTnLst>
                                    <p:set>
                                      <p:cBhvr>
                                        <p:cTn id="93" dur="1" fill="hold">
                                          <p:stCondLst>
                                            <p:cond delay="0"/>
                                          </p:stCondLst>
                                        </p:cTn>
                                        <p:tgtEl>
                                          <p:spTgt spid="26"/>
                                        </p:tgtEl>
                                        <p:attrNameLst>
                                          <p:attrName>style.visibility</p:attrName>
                                        </p:attrNameLst>
                                      </p:cBhvr>
                                      <p:to>
                                        <p:strVal val="visible"/>
                                      </p:to>
                                    </p:set>
                                    <p:animEffect transition="in" filter="fade">
                                      <p:cBhvr>
                                        <p:cTn id="89" dur="650"/>
                                        <p:tgtEl>
                                          <p:spTgt spid="26"/>
                                        </p:tgtEl>
                                      </p:cBhvr>
                                    </p:animEffect>
                                    <p:anim calcmode="lin" valueType="num">
                                      <p:cBhvr additive="base">
                                        <p:cTn id="90" dur="650" fill="hold"/>
                                        <p:tgtEl>
                                          <p:spTgt spid="26"/>
                                        </p:tgtEl>
                                        <p:attrNameLst>
                                          <p:attrName>ppt_x</p:attrName>
                                        </p:attrNameLst>
                                      </p:cBhvr>
                                      <p:tavLst>
                                        <p:tav tm="0">
                                          <p:val>
                                            <p:strVal val="#ppt_x-.06"/>
                                          </p:val>
                                        </p:tav>
                                        <p:tav tm="100000">
                                          <p:val>
                                            <p:strVal val="#ppt_x"/>
                                          </p:val>
                                        </p:tav>
                                      </p:tavLst>
                                    </p:anim>
                                    <p:anim calcmode="lin" valueType="num">
                                      <p:cBhvr additive="base">
                                        <p:cTn id="91" dur="650" fill="hold"/>
                                        <p:tgtEl>
                                          <p:spTgt spid="26"/>
                                        </p:tgtEl>
                                        <p:attrNameLst>
                                          <p:attrName>ppt_y</p:attrName>
                                        </p:attrNameLst>
                                      </p:cBhvr>
                                      <p:tavLst>
                                        <p:tav tm="0">
                                          <p:val>
                                            <p:strVal val="#ppt_y"/>
                                          </p:val>
                                        </p:tav>
                                        <p:tav tm="100000">
                                          <p:val>
                                            <p:strVal val="#ppt_y"/>
                                          </p:val>
                                        </p:tav>
                                      </p:tavLst>
                                    </p:anim>
                                  </p:childTnLst>
                                </p:cTn>
                              </p:par>
                              <p:par>
                                <p:cTn id="97" presetID="42" presetClass="entr" presetSubtype="0" fill="hold" grpId="0" nodeType="withEffect">
                                  <p:stCondLst>
                                    <p:cond delay="1140"/>
                                  </p:stCondLst>
                                  <p:childTnLst>
                                    <p:set>
                                      <p:cBhvr>
                                        <p:cTn id="98" dur="1" fill="hold">
                                          <p:stCondLst>
                                            <p:cond delay="0"/>
                                          </p:stCondLst>
                                        </p:cTn>
                                        <p:tgtEl>
                                          <p:spTgt spid="27"/>
                                        </p:tgtEl>
                                        <p:attrNameLst>
                                          <p:attrName>style.visibility</p:attrName>
                                        </p:attrNameLst>
                                      </p:cBhvr>
                                      <p:to>
                                        <p:strVal val="visible"/>
                                      </p:to>
                                    </p:set>
                                    <p:animEffect transition="in" filter="fade">
                                      <p:cBhvr>
                                        <p:cTn id="94" dur="650"/>
                                        <p:tgtEl>
                                          <p:spTgt spid="27"/>
                                        </p:tgtEl>
                                      </p:cBhvr>
                                    </p:animEffect>
                                    <p:anim calcmode="lin" valueType="num">
                                      <p:cBhvr additive="base">
                                        <p:cTn id="95" dur="650" fill="hold"/>
                                        <p:tgtEl>
                                          <p:spTgt spid="27"/>
                                        </p:tgtEl>
                                        <p:attrNameLst>
                                          <p:attrName>ppt_x</p:attrName>
                                        </p:attrNameLst>
                                      </p:cBhvr>
                                      <p:tavLst>
                                        <p:tav tm="0">
                                          <p:val>
                                            <p:strVal val="#ppt_x-.06"/>
                                          </p:val>
                                        </p:tav>
                                        <p:tav tm="100000">
                                          <p:val>
                                            <p:strVal val="#ppt_x"/>
                                          </p:val>
                                        </p:tav>
                                      </p:tavLst>
                                    </p:anim>
                                    <p:anim calcmode="lin" valueType="num">
                                      <p:cBhvr additive="base">
                                        <p:cTn id="96" dur="650" fill="hold"/>
                                        <p:tgtEl>
                                          <p:spTgt spid="27"/>
                                        </p:tgtEl>
                                        <p:attrNameLst>
                                          <p:attrName>ppt_y</p:attrName>
                                        </p:attrNameLst>
                                      </p:cBhvr>
                                      <p:tavLst>
                                        <p:tav tm="0">
                                          <p:val>
                                            <p:strVal val="#ppt_y"/>
                                          </p:val>
                                        </p:tav>
                                        <p:tav tm="100000">
                                          <p:val>
                                            <p:strVal val="#ppt_y"/>
                                          </p:val>
                                        </p:tav>
                                      </p:tavLst>
                                    </p:anim>
                                  </p:childTnLst>
                                </p:cTn>
                              </p:par>
                              <p:par>
                                <p:cTn id="102" presetID="42" presetClass="entr" presetSubtype="0" fill="hold" grpId="0" nodeType="withEffect">
                                  <p:stCondLst>
                                    <p:cond delay="1140"/>
                                  </p:stCondLst>
                                  <p:childTnLst>
                                    <p:set>
                                      <p:cBhvr>
                                        <p:cTn id="103" dur="1" fill="hold">
                                          <p:stCondLst>
                                            <p:cond delay="0"/>
                                          </p:stCondLst>
                                        </p:cTn>
                                        <p:tgtEl>
                                          <p:spTgt spid="28"/>
                                        </p:tgtEl>
                                        <p:attrNameLst>
                                          <p:attrName>style.visibility</p:attrName>
                                        </p:attrNameLst>
                                      </p:cBhvr>
                                      <p:to>
                                        <p:strVal val="visible"/>
                                      </p:to>
                                    </p:set>
                                    <p:animEffect transition="in" filter="fade">
                                      <p:cBhvr>
                                        <p:cTn id="99" dur="650"/>
                                        <p:tgtEl>
                                          <p:spTgt spid="28"/>
                                        </p:tgtEl>
                                      </p:cBhvr>
                                    </p:animEffect>
                                    <p:anim calcmode="lin" valueType="num">
                                      <p:cBhvr additive="base">
                                        <p:cTn id="100" dur="650" fill="hold"/>
                                        <p:tgtEl>
                                          <p:spTgt spid="28"/>
                                        </p:tgtEl>
                                        <p:attrNameLst>
                                          <p:attrName>ppt_x</p:attrName>
                                        </p:attrNameLst>
                                      </p:cBhvr>
                                      <p:tavLst>
                                        <p:tav tm="0">
                                          <p:val>
                                            <p:strVal val="#ppt_x-.06"/>
                                          </p:val>
                                        </p:tav>
                                        <p:tav tm="100000">
                                          <p:val>
                                            <p:strVal val="#ppt_x"/>
                                          </p:val>
                                        </p:tav>
                                      </p:tavLst>
                                    </p:anim>
                                    <p:anim calcmode="lin" valueType="num">
                                      <p:cBhvr additive="base">
                                        <p:cTn id="101" dur="650" fill="hold"/>
                                        <p:tgtEl>
                                          <p:spTgt spid="28"/>
                                        </p:tgtEl>
                                        <p:attrNameLst>
                                          <p:attrName>ppt_y</p:attrName>
                                        </p:attrNameLst>
                                      </p:cBhvr>
                                      <p:tavLst>
                                        <p:tav tm="0">
                                          <p:val>
                                            <p:strVal val="#ppt_y"/>
                                          </p:val>
                                        </p:tav>
                                        <p:tav tm="100000">
                                          <p:val>
                                            <p:strVal val="#ppt_y"/>
                                          </p:val>
                                        </p:tav>
                                      </p:tavLst>
                                    </p:anim>
                                  </p:childTnLst>
                                </p:cTn>
                              </p:par>
                              <p:par>
                                <p:cTn id="107" presetID="42" presetClass="entr" presetSubtype="0" fill="hold" grpId="0" nodeType="withEffect">
                                  <p:stCondLst>
                                    <p:cond delay="1140"/>
                                  </p:stCondLst>
                                  <p:childTnLst>
                                    <p:set>
                                      <p:cBhvr>
                                        <p:cTn id="108" dur="1" fill="hold">
                                          <p:stCondLst>
                                            <p:cond delay="0"/>
                                          </p:stCondLst>
                                        </p:cTn>
                                        <p:tgtEl>
                                          <p:spTgt spid="29"/>
                                        </p:tgtEl>
                                        <p:attrNameLst>
                                          <p:attrName>style.visibility</p:attrName>
                                        </p:attrNameLst>
                                      </p:cBhvr>
                                      <p:to>
                                        <p:strVal val="visible"/>
                                      </p:to>
                                    </p:set>
                                    <p:animEffect transition="in" filter="fade">
                                      <p:cBhvr>
                                        <p:cTn id="104" dur="650"/>
                                        <p:tgtEl>
                                          <p:spTgt spid="29"/>
                                        </p:tgtEl>
                                      </p:cBhvr>
                                    </p:animEffect>
                                    <p:anim calcmode="lin" valueType="num">
                                      <p:cBhvr additive="base">
                                        <p:cTn id="105" dur="650" fill="hold"/>
                                        <p:tgtEl>
                                          <p:spTgt spid="29"/>
                                        </p:tgtEl>
                                        <p:attrNameLst>
                                          <p:attrName>ppt_x</p:attrName>
                                        </p:attrNameLst>
                                      </p:cBhvr>
                                      <p:tavLst>
                                        <p:tav tm="0">
                                          <p:val>
                                            <p:strVal val="#ppt_x-.06"/>
                                          </p:val>
                                        </p:tav>
                                        <p:tav tm="100000">
                                          <p:val>
                                            <p:strVal val="#ppt_x"/>
                                          </p:val>
                                        </p:tav>
                                      </p:tavLst>
                                    </p:anim>
                                    <p:anim calcmode="lin" valueType="num">
                                      <p:cBhvr additive="base">
                                        <p:cTn id="106" dur="650" fill="hold"/>
                                        <p:tgtEl>
                                          <p:spTgt spid="29"/>
                                        </p:tgtEl>
                                        <p:attrNameLst>
                                          <p:attrName>ppt_y</p:attrName>
                                        </p:attrNameLst>
                                      </p:cBhvr>
                                      <p:tavLst>
                                        <p:tav tm="0">
                                          <p:val>
                                            <p:strVal val="#ppt_y"/>
                                          </p:val>
                                        </p:tav>
                                        <p:tav tm="100000">
                                          <p:val>
                                            <p:strVal val="#ppt_y"/>
                                          </p:val>
                                        </p:tav>
                                      </p:tavLst>
                                    </p:anim>
                                  </p:childTnLst>
                                </p:cTn>
                              </p:par>
                              <p:par>
                                <p:cTn id="112" presetID="42" presetClass="entr" presetSubtype="0" fill="hold" grpId="0" nodeType="withEffect">
                                  <p:stCondLst>
                                    <p:cond delay="114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09" dur="650"/>
                                        <p:tgtEl>
                                          <p:spTgt spid="30"/>
                                        </p:tgtEl>
                                      </p:cBhvr>
                                    </p:animEffect>
                                    <p:anim calcmode="lin" valueType="num">
                                      <p:cBhvr additive="base">
                                        <p:cTn id="110" dur="650" fill="hold"/>
                                        <p:tgtEl>
                                          <p:spTgt spid="30"/>
                                        </p:tgtEl>
                                        <p:attrNameLst>
                                          <p:attrName>ppt_x</p:attrName>
                                        </p:attrNameLst>
                                      </p:cBhvr>
                                      <p:tavLst>
                                        <p:tav tm="0">
                                          <p:val>
                                            <p:strVal val="#ppt_x-.06"/>
                                          </p:val>
                                        </p:tav>
                                        <p:tav tm="100000">
                                          <p:val>
                                            <p:strVal val="#ppt_x"/>
                                          </p:val>
                                        </p:tav>
                                      </p:tavLst>
                                    </p:anim>
                                    <p:anim calcmode="lin" valueType="num">
                                      <p:cBhvr additive="base">
                                        <p:cTn id="111" dur="650" fill="hold"/>
                                        <p:tgtEl>
                                          <p:spTgt spid="30"/>
                                        </p:tgtEl>
                                        <p:attrNameLst>
                                          <p:attrName>ppt_y</p:attrName>
                                        </p:attrNameLst>
                                      </p:cBhvr>
                                      <p:tavLst>
                                        <p:tav tm="0">
                                          <p:val>
                                            <p:strVal val="#ppt_y"/>
                                          </p:val>
                                        </p:tav>
                                        <p:tav tm="100000">
                                          <p:val>
                                            <p:strVal val="#ppt_y"/>
                                          </p:val>
                                        </p:tav>
                                      </p:tavLst>
                                    </p:anim>
                                  </p:childTnLst>
                                </p:cTn>
                              </p:par>
                              <p:par>
                                <p:cTn id="117" presetID="42" presetClass="entr" presetSubtype="0" fill="hold" grpId="0" nodeType="withEffect">
                                  <p:stCondLst>
                                    <p:cond delay="1520"/>
                                  </p:stCondLst>
                                  <p:childTnLst>
                                    <p:set>
                                      <p:cBhvr>
                                        <p:cTn id="118" dur="1" fill="hold">
                                          <p:stCondLst>
                                            <p:cond delay="0"/>
                                          </p:stCondLst>
                                        </p:cTn>
                                        <p:tgtEl>
                                          <p:spTgt spid="31"/>
                                        </p:tgtEl>
                                        <p:attrNameLst>
                                          <p:attrName>style.visibility</p:attrName>
                                        </p:attrNameLst>
                                      </p:cBhvr>
                                      <p:to>
                                        <p:strVal val="visible"/>
                                      </p:to>
                                    </p:set>
                                    <p:animEffect transition="in" filter="fade">
                                      <p:cBhvr>
                                        <p:cTn id="114" dur="650"/>
                                        <p:tgtEl>
                                          <p:spTgt spid="31"/>
                                        </p:tgtEl>
                                      </p:cBhvr>
                                    </p:animEffect>
                                    <p:anim calcmode="lin" valueType="num">
                                      <p:cBhvr additive="base">
                                        <p:cTn id="115" dur="650" fill="hold"/>
                                        <p:tgtEl>
                                          <p:spTgt spid="31"/>
                                        </p:tgtEl>
                                        <p:attrNameLst>
                                          <p:attrName>ppt_x</p:attrName>
                                        </p:attrNameLst>
                                      </p:cBhvr>
                                      <p:tavLst>
                                        <p:tav tm="0">
                                          <p:val>
                                            <p:strVal val="#ppt_x-.06"/>
                                          </p:val>
                                        </p:tav>
                                        <p:tav tm="100000">
                                          <p:val>
                                            <p:strVal val="#ppt_x"/>
                                          </p:val>
                                        </p:tav>
                                      </p:tavLst>
                                    </p:anim>
                                    <p:anim calcmode="lin" valueType="num">
                                      <p:cBhvr additive="base">
                                        <p:cTn id="116" dur="650" fill="hold"/>
                                        <p:tgtEl>
                                          <p:spTgt spid="31"/>
                                        </p:tgtEl>
                                        <p:attrNameLst>
                                          <p:attrName>ppt_y</p:attrName>
                                        </p:attrNameLst>
                                      </p:cBhvr>
                                      <p:tavLst>
                                        <p:tav tm="0">
                                          <p:val>
                                            <p:strVal val="#ppt_y"/>
                                          </p:val>
                                        </p:tav>
                                        <p:tav tm="100000">
                                          <p:val>
                                            <p:strVal val="#ppt_y"/>
                                          </p:val>
                                        </p:tav>
                                      </p:tavLst>
                                    </p:anim>
                                  </p:childTnLst>
                                </p:cTn>
                              </p:par>
                              <p:par>
                                <p:cTn id="122" presetID="42" presetClass="entr" presetSubtype="0" fill="hold" grpId="0" nodeType="withEffect">
                                  <p:stCondLst>
                                    <p:cond delay="1520"/>
                                  </p:stCondLst>
                                  <p:childTnLst>
                                    <p:set>
                                      <p:cBhvr>
                                        <p:cTn id="123" dur="1" fill="hold">
                                          <p:stCondLst>
                                            <p:cond delay="0"/>
                                          </p:stCondLst>
                                        </p:cTn>
                                        <p:tgtEl>
                                          <p:spTgt spid="32"/>
                                        </p:tgtEl>
                                        <p:attrNameLst>
                                          <p:attrName>style.visibility</p:attrName>
                                        </p:attrNameLst>
                                      </p:cBhvr>
                                      <p:to>
                                        <p:strVal val="visible"/>
                                      </p:to>
                                    </p:set>
                                    <p:animEffect transition="in" filter="fade">
                                      <p:cBhvr>
                                        <p:cTn id="119" dur="650"/>
                                        <p:tgtEl>
                                          <p:spTgt spid="32"/>
                                        </p:tgtEl>
                                      </p:cBhvr>
                                    </p:animEffect>
                                    <p:anim calcmode="lin" valueType="num">
                                      <p:cBhvr additive="base">
                                        <p:cTn id="120" dur="650" fill="hold"/>
                                        <p:tgtEl>
                                          <p:spTgt spid="32"/>
                                        </p:tgtEl>
                                        <p:attrNameLst>
                                          <p:attrName>ppt_x</p:attrName>
                                        </p:attrNameLst>
                                      </p:cBhvr>
                                      <p:tavLst>
                                        <p:tav tm="0">
                                          <p:val>
                                            <p:strVal val="#ppt_x-.06"/>
                                          </p:val>
                                        </p:tav>
                                        <p:tav tm="100000">
                                          <p:val>
                                            <p:strVal val="#ppt_x"/>
                                          </p:val>
                                        </p:tav>
                                      </p:tavLst>
                                    </p:anim>
                                    <p:anim calcmode="lin" valueType="num">
                                      <p:cBhvr additive="base">
                                        <p:cTn id="121" dur="650" fill="hold"/>
                                        <p:tgtEl>
                                          <p:spTgt spid="32"/>
                                        </p:tgtEl>
                                        <p:attrNameLst>
                                          <p:attrName>ppt_y</p:attrName>
                                        </p:attrNameLst>
                                      </p:cBhvr>
                                      <p:tavLst>
                                        <p:tav tm="0">
                                          <p:val>
                                            <p:strVal val="#ppt_y"/>
                                          </p:val>
                                        </p:tav>
                                        <p:tav tm="100000">
                                          <p:val>
                                            <p:strVal val="#ppt_y"/>
                                          </p:val>
                                        </p:tav>
                                      </p:tavLst>
                                    </p:anim>
                                  </p:childTnLst>
                                </p:cTn>
                              </p:par>
                              <p:par>
                                <p:cTn id="127" presetID="42" presetClass="entr" presetSubtype="0" fill="hold" grpId="0" nodeType="withEffect">
                                  <p:stCondLst>
                                    <p:cond delay="1520"/>
                                  </p:stCondLst>
                                  <p:childTnLst>
                                    <p:set>
                                      <p:cBhvr>
                                        <p:cTn id="128" dur="1" fill="hold">
                                          <p:stCondLst>
                                            <p:cond delay="0"/>
                                          </p:stCondLst>
                                        </p:cTn>
                                        <p:tgtEl>
                                          <p:spTgt spid="33"/>
                                        </p:tgtEl>
                                        <p:attrNameLst>
                                          <p:attrName>style.visibility</p:attrName>
                                        </p:attrNameLst>
                                      </p:cBhvr>
                                      <p:to>
                                        <p:strVal val="visible"/>
                                      </p:to>
                                    </p:set>
                                    <p:animEffect transition="in" filter="fade">
                                      <p:cBhvr>
                                        <p:cTn id="124" dur="650"/>
                                        <p:tgtEl>
                                          <p:spTgt spid="33"/>
                                        </p:tgtEl>
                                      </p:cBhvr>
                                    </p:animEffect>
                                    <p:anim calcmode="lin" valueType="num">
                                      <p:cBhvr additive="base">
                                        <p:cTn id="125" dur="650" fill="hold"/>
                                        <p:tgtEl>
                                          <p:spTgt spid="33"/>
                                        </p:tgtEl>
                                        <p:attrNameLst>
                                          <p:attrName>ppt_x</p:attrName>
                                        </p:attrNameLst>
                                      </p:cBhvr>
                                      <p:tavLst>
                                        <p:tav tm="0">
                                          <p:val>
                                            <p:strVal val="#ppt_x-.06"/>
                                          </p:val>
                                        </p:tav>
                                        <p:tav tm="100000">
                                          <p:val>
                                            <p:strVal val="#ppt_x"/>
                                          </p:val>
                                        </p:tav>
                                      </p:tavLst>
                                    </p:anim>
                                    <p:anim calcmode="lin" valueType="num">
                                      <p:cBhvr additive="base">
                                        <p:cTn id="126" dur="650" fill="hold"/>
                                        <p:tgtEl>
                                          <p:spTgt spid="33"/>
                                        </p:tgtEl>
                                        <p:attrNameLst>
                                          <p:attrName>ppt_y</p:attrName>
                                        </p:attrNameLst>
                                      </p:cBhvr>
                                      <p:tavLst>
                                        <p:tav tm="0">
                                          <p:val>
                                            <p:strVal val="#ppt_y"/>
                                          </p:val>
                                        </p:tav>
                                        <p:tav tm="100000">
                                          <p:val>
                                            <p:strVal val="#ppt_y"/>
                                          </p:val>
                                        </p:tav>
                                      </p:tavLst>
                                    </p:anim>
                                  </p:childTnLst>
                                </p:cTn>
                              </p:par>
                              <p:par>
                                <p:cTn id="132" presetID="42" presetClass="entr" presetSubtype="0" fill="hold" grpId="0" nodeType="withEffect">
                                  <p:stCondLst>
                                    <p:cond delay="1520"/>
                                  </p:stCondLst>
                                  <p:childTnLst>
                                    <p:set>
                                      <p:cBhvr>
                                        <p:cTn id="133" dur="1" fill="hold">
                                          <p:stCondLst>
                                            <p:cond delay="0"/>
                                          </p:stCondLst>
                                        </p:cTn>
                                        <p:tgtEl>
                                          <p:spTgt spid="34"/>
                                        </p:tgtEl>
                                        <p:attrNameLst>
                                          <p:attrName>style.visibility</p:attrName>
                                        </p:attrNameLst>
                                      </p:cBhvr>
                                      <p:to>
                                        <p:strVal val="visible"/>
                                      </p:to>
                                    </p:set>
                                    <p:animEffect transition="in" filter="fade">
                                      <p:cBhvr>
                                        <p:cTn id="129" dur="650"/>
                                        <p:tgtEl>
                                          <p:spTgt spid="34"/>
                                        </p:tgtEl>
                                      </p:cBhvr>
                                    </p:animEffect>
                                    <p:anim calcmode="lin" valueType="num">
                                      <p:cBhvr additive="base">
                                        <p:cTn id="130" dur="650" fill="hold"/>
                                        <p:tgtEl>
                                          <p:spTgt spid="34"/>
                                        </p:tgtEl>
                                        <p:attrNameLst>
                                          <p:attrName>ppt_x</p:attrName>
                                        </p:attrNameLst>
                                      </p:cBhvr>
                                      <p:tavLst>
                                        <p:tav tm="0">
                                          <p:val>
                                            <p:strVal val="#ppt_x-.06"/>
                                          </p:val>
                                        </p:tav>
                                        <p:tav tm="100000">
                                          <p:val>
                                            <p:strVal val="#ppt_x"/>
                                          </p:val>
                                        </p:tav>
                                      </p:tavLst>
                                    </p:anim>
                                    <p:anim calcmode="lin" valueType="num">
                                      <p:cBhvr additive="base">
                                        <p:cTn id="131" dur="650" fill="hold"/>
                                        <p:tgtEl>
                                          <p:spTgt spid="34"/>
                                        </p:tgtEl>
                                        <p:attrNameLst>
                                          <p:attrName>ppt_y</p:attrName>
                                        </p:attrNameLst>
                                      </p:cBhvr>
                                      <p:tavLst>
                                        <p:tav tm="0">
                                          <p:val>
                                            <p:strVal val="#ppt_y"/>
                                          </p:val>
                                        </p:tav>
                                        <p:tav tm="100000">
                                          <p:val>
                                            <p:strVal val="#ppt_y"/>
                                          </p:val>
                                        </p:tav>
                                      </p:tavLst>
                                    </p:anim>
                                  </p:childTnLst>
                                </p:cTn>
                              </p:par>
                              <p:par>
                                <p:cTn id="137" presetID="42" presetClass="entr" presetSubtype="0" fill="hold" grpId="0" nodeType="withEffect">
                                  <p:stCondLst>
                                    <p:cond delay="1520"/>
                                  </p:stCondLst>
                                  <p:childTnLst>
                                    <p:set>
                                      <p:cBhvr>
                                        <p:cTn id="138" dur="1" fill="hold">
                                          <p:stCondLst>
                                            <p:cond delay="0"/>
                                          </p:stCondLst>
                                        </p:cTn>
                                        <p:tgtEl>
                                          <p:spTgt spid="35"/>
                                        </p:tgtEl>
                                        <p:attrNameLst>
                                          <p:attrName>style.visibility</p:attrName>
                                        </p:attrNameLst>
                                      </p:cBhvr>
                                      <p:to>
                                        <p:strVal val="visible"/>
                                      </p:to>
                                    </p:set>
                                    <p:animEffect transition="in" filter="fade">
                                      <p:cBhvr>
                                        <p:cTn id="134" dur="650"/>
                                        <p:tgtEl>
                                          <p:spTgt spid="35"/>
                                        </p:tgtEl>
                                      </p:cBhvr>
                                    </p:animEffect>
                                    <p:anim calcmode="lin" valueType="num">
                                      <p:cBhvr additive="base">
                                        <p:cTn id="135" dur="650" fill="hold"/>
                                        <p:tgtEl>
                                          <p:spTgt spid="35"/>
                                        </p:tgtEl>
                                        <p:attrNameLst>
                                          <p:attrName>ppt_x</p:attrName>
                                        </p:attrNameLst>
                                      </p:cBhvr>
                                      <p:tavLst>
                                        <p:tav tm="0">
                                          <p:val>
                                            <p:strVal val="#ppt_x-.06"/>
                                          </p:val>
                                        </p:tav>
                                        <p:tav tm="100000">
                                          <p:val>
                                            <p:strVal val="#ppt_x"/>
                                          </p:val>
                                        </p:tav>
                                      </p:tavLst>
                                    </p:anim>
                                    <p:anim calcmode="lin" valueType="num">
                                      <p:cBhvr additive="base">
                                        <p:cTn id="136" dur="650" fill="hold"/>
                                        <p:tgtEl>
                                          <p:spTgt spid="35"/>
                                        </p:tgtEl>
                                        <p:attrNameLst>
                                          <p:attrName>ppt_y</p:attrName>
                                        </p:attrNameLst>
                                      </p:cBhvr>
                                      <p:tavLst>
                                        <p:tav tm="0">
                                          <p:val>
                                            <p:strVal val="#ppt_y"/>
                                          </p:val>
                                        </p:tav>
                                        <p:tav tm="100000">
                                          <p:val>
                                            <p:strVal val="#ppt_y"/>
                                          </p:val>
                                        </p:tav>
                                      </p:tavLst>
                                    </p:anim>
                                  </p:childTnLst>
                                </p:cTn>
                              </p:par>
                              <p:par>
                                <p:cTn id="142" presetID="42" presetClass="entr" presetSubtype="0" fill="hold" grpId="0" nodeType="withEffect">
                                  <p:stCondLst>
                                    <p:cond delay="1520"/>
                                  </p:stCondLst>
                                  <p:childTnLst>
                                    <p:set>
                                      <p:cBhvr>
                                        <p:cTn id="143" dur="1" fill="hold">
                                          <p:stCondLst>
                                            <p:cond delay="0"/>
                                          </p:stCondLst>
                                        </p:cTn>
                                        <p:tgtEl>
                                          <p:spTgt spid="36"/>
                                        </p:tgtEl>
                                        <p:attrNameLst>
                                          <p:attrName>style.visibility</p:attrName>
                                        </p:attrNameLst>
                                      </p:cBhvr>
                                      <p:to>
                                        <p:strVal val="visible"/>
                                      </p:to>
                                    </p:set>
                                    <p:animEffect transition="in" filter="fade">
                                      <p:cBhvr>
                                        <p:cTn id="139" dur="650"/>
                                        <p:tgtEl>
                                          <p:spTgt spid="36"/>
                                        </p:tgtEl>
                                      </p:cBhvr>
                                    </p:animEffect>
                                    <p:anim calcmode="lin" valueType="num">
                                      <p:cBhvr additive="base">
                                        <p:cTn id="140" dur="650" fill="hold"/>
                                        <p:tgtEl>
                                          <p:spTgt spid="36"/>
                                        </p:tgtEl>
                                        <p:attrNameLst>
                                          <p:attrName>ppt_x</p:attrName>
                                        </p:attrNameLst>
                                      </p:cBhvr>
                                      <p:tavLst>
                                        <p:tav tm="0">
                                          <p:val>
                                            <p:strVal val="#ppt_x-.06"/>
                                          </p:val>
                                        </p:tav>
                                        <p:tav tm="100000">
                                          <p:val>
                                            <p:strVal val="#ppt_x"/>
                                          </p:val>
                                        </p:tav>
                                      </p:tavLst>
                                    </p:anim>
                                    <p:anim calcmode="lin" valueType="num">
                                      <p:cBhvr additive="base">
                                        <p:cTn id="141" dur="650" fill="hold"/>
                                        <p:tgtEl>
                                          <p:spTgt spid="36"/>
                                        </p:tgtEl>
                                        <p:attrNameLst>
                                          <p:attrName>ppt_y</p:attrName>
                                        </p:attrNameLst>
                                      </p:cBhvr>
                                      <p:tavLst>
                                        <p:tav tm="0">
                                          <p:val>
                                            <p:strVal val="#ppt_y"/>
                                          </p:val>
                                        </p:tav>
                                        <p:tav tm="100000">
                                          <p:val>
                                            <p:strVal val="#ppt_y"/>
                                          </p:val>
                                        </p:tav>
                                      </p:tavLst>
                                    </p:anim>
                                  </p:childTnLst>
                                </p:cTn>
                              </p:par>
                              <p:par>
                                <p:cTn id="147" presetID="42" presetClass="entr" presetSubtype="0" fill="hold" grpId="0" nodeType="withEffect">
                                  <p:stCondLst>
                                    <p:cond delay="1900"/>
                                  </p:stCondLst>
                                  <p:childTnLst>
                                    <p:set>
                                      <p:cBhvr>
                                        <p:cTn id="148" dur="1" fill="hold">
                                          <p:stCondLst>
                                            <p:cond delay="0"/>
                                          </p:stCondLst>
                                        </p:cTn>
                                        <p:tgtEl>
                                          <p:spTgt spid="37"/>
                                        </p:tgtEl>
                                        <p:attrNameLst>
                                          <p:attrName>style.visibility</p:attrName>
                                        </p:attrNameLst>
                                      </p:cBhvr>
                                      <p:to>
                                        <p:strVal val="visible"/>
                                      </p:to>
                                    </p:set>
                                    <p:animEffect transition="in" filter="fade">
                                      <p:cBhvr>
                                        <p:cTn id="144" dur="650"/>
                                        <p:tgtEl>
                                          <p:spTgt spid="37"/>
                                        </p:tgtEl>
                                      </p:cBhvr>
                                    </p:animEffect>
                                    <p:anim calcmode="lin" valueType="num">
                                      <p:cBhvr additive="base">
                                        <p:cTn id="145" dur="650" fill="hold"/>
                                        <p:tgtEl>
                                          <p:spTgt spid="37"/>
                                        </p:tgtEl>
                                        <p:attrNameLst>
                                          <p:attrName>ppt_x</p:attrName>
                                        </p:attrNameLst>
                                      </p:cBhvr>
                                      <p:tavLst>
                                        <p:tav tm="0">
                                          <p:val>
                                            <p:strVal val="#ppt_x-.06"/>
                                          </p:val>
                                        </p:tav>
                                        <p:tav tm="100000">
                                          <p:val>
                                            <p:strVal val="#ppt_x"/>
                                          </p:val>
                                        </p:tav>
                                      </p:tavLst>
                                    </p:anim>
                                    <p:anim calcmode="lin" valueType="num">
                                      <p:cBhvr additive="base">
                                        <p:cTn id="146" dur="650" fill="hold"/>
                                        <p:tgtEl>
                                          <p:spTgt spid="37"/>
                                        </p:tgtEl>
                                        <p:attrNameLst>
                                          <p:attrName>ppt_y</p:attrName>
                                        </p:attrNameLst>
                                      </p:cBhvr>
                                      <p:tavLst>
                                        <p:tav tm="0">
                                          <p:val>
                                            <p:strVal val="#ppt_y"/>
                                          </p:val>
                                        </p:tav>
                                        <p:tav tm="100000">
                                          <p:val>
                                            <p:strVal val="#ppt_y"/>
                                          </p:val>
                                        </p:tav>
                                      </p:tavLst>
                                    </p:anim>
                                  </p:childTnLst>
                                </p:cTn>
                              </p:par>
                              <p:par>
                                <p:cTn id="152" presetID="42" presetClass="entr" presetSubtype="0" fill="hold" grpId="0" nodeType="withEffect">
                                  <p:stCondLst>
                                    <p:cond delay="1900"/>
                                  </p:stCondLst>
                                  <p:childTnLst>
                                    <p:set>
                                      <p:cBhvr>
                                        <p:cTn id="153" dur="1" fill="hold">
                                          <p:stCondLst>
                                            <p:cond delay="0"/>
                                          </p:stCondLst>
                                        </p:cTn>
                                        <p:tgtEl>
                                          <p:spTgt spid="38"/>
                                        </p:tgtEl>
                                        <p:attrNameLst>
                                          <p:attrName>style.visibility</p:attrName>
                                        </p:attrNameLst>
                                      </p:cBhvr>
                                      <p:to>
                                        <p:strVal val="visible"/>
                                      </p:to>
                                    </p:set>
                                    <p:animEffect transition="in" filter="fade">
                                      <p:cBhvr>
                                        <p:cTn id="149" dur="650"/>
                                        <p:tgtEl>
                                          <p:spTgt spid="38"/>
                                        </p:tgtEl>
                                      </p:cBhvr>
                                    </p:animEffect>
                                    <p:anim calcmode="lin" valueType="num">
                                      <p:cBhvr additive="base">
                                        <p:cTn id="150" dur="650" fill="hold"/>
                                        <p:tgtEl>
                                          <p:spTgt spid="38"/>
                                        </p:tgtEl>
                                        <p:attrNameLst>
                                          <p:attrName>ppt_x</p:attrName>
                                        </p:attrNameLst>
                                      </p:cBhvr>
                                      <p:tavLst>
                                        <p:tav tm="0">
                                          <p:val>
                                            <p:strVal val="#ppt_x-.06"/>
                                          </p:val>
                                        </p:tav>
                                        <p:tav tm="100000">
                                          <p:val>
                                            <p:strVal val="#ppt_x"/>
                                          </p:val>
                                        </p:tav>
                                      </p:tavLst>
                                    </p:anim>
                                    <p:anim calcmode="lin" valueType="num">
                                      <p:cBhvr additive="base">
                                        <p:cTn id="151" dur="650" fill="hold"/>
                                        <p:tgtEl>
                                          <p:spTgt spid="38"/>
                                        </p:tgtEl>
                                        <p:attrNameLst>
                                          <p:attrName>ppt_y</p:attrName>
                                        </p:attrNameLst>
                                      </p:cBhvr>
                                      <p:tavLst>
                                        <p:tav tm="0">
                                          <p:val>
                                            <p:strVal val="#ppt_y"/>
                                          </p:val>
                                        </p:tav>
                                        <p:tav tm="100000">
                                          <p:val>
                                            <p:strVal val="#ppt_y"/>
                                          </p:val>
                                        </p:tav>
                                      </p:tavLst>
                                    </p:anim>
                                  </p:childTnLst>
                                </p:cTn>
                              </p:par>
                              <p:par>
                                <p:cTn id="157" presetID="42" presetClass="entr" presetSubtype="0" fill="hold" grpId="0" nodeType="withEffect">
                                  <p:stCondLst>
                                    <p:cond delay="1900"/>
                                  </p:stCondLst>
                                  <p:childTnLst>
                                    <p:set>
                                      <p:cBhvr>
                                        <p:cTn id="158" dur="1" fill="hold">
                                          <p:stCondLst>
                                            <p:cond delay="0"/>
                                          </p:stCondLst>
                                        </p:cTn>
                                        <p:tgtEl>
                                          <p:spTgt spid="39"/>
                                        </p:tgtEl>
                                        <p:attrNameLst>
                                          <p:attrName>style.visibility</p:attrName>
                                        </p:attrNameLst>
                                      </p:cBhvr>
                                      <p:to>
                                        <p:strVal val="visible"/>
                                      </p:to>
                                    </p:set>
                                    <p:animEffect transition="in" filter="fade">
                                      <p:cBhvr>
                                        <p:cTn id="154" dur="650"/>
                                        <p:tgtEl>
                                          <p:spTgt spid="39"/>
                                        </p:tgtEl>
                                      </p:cBhvr>
                                    </p:animEffect>
                                    <p:anim calcmode="lin" valueType="num">
                                      <p:cBhvr additive="base">
                                        <p:cTn id="155" dur="650" fill="hold"/>
                                        <p:tgtEl>
                                          <p:spTgt spid="39"/>
                                        </p:tgtEl>
                                        <p:attrNameLst>
                                          <p:attrName>ppt_x</p:attrName>
                                        </p:attrNameLst>
                                      </p:cBhvr>
                                      <p:tavLst>
                                        <p:tav tm="0">
                                          <p:val>
                                            <p:strVal val="#ppt_x-.06"/>
                                          </p:val>
                                        </p:tav>
                                        <p:tav tm="100000">
                                          <p:val>
                                            <p:strVal val="#ppt_x"/>
                                          </p:val>
                                        </p:tav>
                                      </p:tavLst>
                                    </p:anim>
                                    <p:anim calcmode="lin" valueType="num">
                                      <p:cBhvr additive="base">
                                        <p:cTn id="156" dur="650" fill="hold"/>
                                        <p:tgtEl>
                                          <p:spTgt spid="39"/>
                                        </p:tgtEl>
                                        <p:attrNameLst>
                                          <p:attrName>ppt_y</p:attrName>
                                        </p:attrNameLst>
                                      </p:cBhvr>
                                      <p:tavLst>
                                        <p:tav tm="0">
                                          <p:val>
                                            <p:strVal val="#ppt_y"/>
                                          </p:val>
                                        </p:tav>
                                        <p:tav tm="100000">
                                          <p:val>
                                            <p:strVal val="#ppt_y"/>
                                          </p:val>
                                        </p:tav>
                                      </p:tavLst>
                                    </p:anim>
                                  </p:childTnLst>
                                </p:cTn>
                              </p:par>
                              <p:par>
                                <p:cTn id="162" presetID="42" presetClass="entr" presetSubtype="0" fill="hold" grpId="0" nodeType="withEffect">
                                  <p:stCondLst>
                                    <p:cond delay="1900"/>
                                  </p:stCondLst>
                                  <p:childTnLst>
                                    <p:set>
                                      <p:cBhvr>
                                        <p:cTn id="163" dur="1" fill="hold">
                                          <p:stCondLst>
                                            <p:cond delay="0"/>
                                          </p:stCondLst>
                                        </p:cTn>
                                        <p:tgtEl>
                                          <p:spTgt spid="40"/>
                                        </p:tgtEl>
                                        <p:attrNameLst>
                                          <p:attrName>style.visibility</p:attrName>
                                        </p:attrNameLst>
                                      </p:cBhvr>
                                      <p:to>
                                        <p:strVal val="visible"/>
                                      </p:to>
                                    </p:set>
                                    <p:animEffect transition="in" filter="fade">
                                      <p:cBhvr>
                                        <p:cTn id="159" dur="650"/>
                                        <p:tgtEl>
                                          <p:spTgt spid="40"/>
                                        </p:tgtEl>
                                      </p:cBhvr>
                                    </p:animEffect>
                                    <p:anim calcmode="lin" valueType="num">
                                      <p:cBhvr additive="base">
                                        <p:cTn id="160" dur="650" fill="hold"/>
                                        <p:tgtEl>
                                          <p:spTgt spid="40"/>
                                        </p:tgtEl>
                                        <p:attrNameLst>
                                          <p:attrName>ppt_x</p:attrName>
                                        </p:attrNameLst>
                                      </p:cBhvr>
                                      <p:tavLst>
                                        <p:tav tm="0">
                                          <p:val>
                                            <p:strVal val="#ppt_x-.06"/>
                                          </p:val>
                                        </p:tav>
                                        <p:tav tm="100000">
                                          <p:val>
                                            <p:strVal val="#ppt_x"/>
                                          </p:val>
                                        </p:tav>
                                      </p:tavLst>
                                    </p:anim>
                                    <p:anim calcmode="lin" valueType="num">
                                      <p:cBhvr additive="base">
                                        <p:cTn id="161" dur="650" fill="hold"/>
                                        <p:tgtEl>
                                          <p:spTgt spid="40"/>
                                        </p:tgtEl>
                                        <p:attrNameLst>
                                          <p:attrName>ppt_y</p:attrName>
                                        </p:attrNameLst>
                                      </p:cBhvr>
                                      <p:tavLst>
                                        <p:tav tm="0">
                                          <p:val>
                                            <p:strVal val="#ppt_y"/>
                                          </p:val>
                                        </p:tav>
                                        <p:tav tm="100000">
                                          <p:val>
                                            <p:strVal val="#ppt_y"/>
                                          </p:val>
                                        </p:tav>
                                      </p:tavLst>
                                    </p:anim>
                                  </p:childTnLst>
                                </p:cTn>
                              </p:par>
                              <p:par>
                                <p:cTn id="167" presetID="42" presetClass="entr" presetSubtype="0" fill="hold" grpId="0" nodeType="withEffect">
                                  <p:stCondLst>
                                    <p:cond delay="1900"/>
                                  </p:stCondLst>
                                  <p:childTnLst>
                                    <p:set>
                                      <p:cBhvr>
                                        <p:cTn id="168" dur="1" fill="hold">
                                          <p:stCondLst>
                                            <p:cond delay="0"/>
                                          </p:stCondLst>
                                        </p:cTn>
                                        <p:tgtEl>
                                          <p:spTgt spid="41"/>
                                        </p:tgtEl>
                                        <p:attrNameLst>
                                          <p:attrName>style.visibility</p:attrName>
                                        </p:attrNameLst>
                                      </p:cBhvr>
                                      <p:to>
                                        <p:strVal val="visible"/>
                                      </p:to>
                                    </p:set>
                                    <p:animEffect transition="in" filter="fade">
                                      <p:cBhvr>
                                        <p:cTn id="164" dur="650"/>
                                        <p:tgtEl>
                                          <p:spTgt spid="41"/>
                                        </p:tgtEl>
                                      </p:cBhvr>
                                    </p:animEffect>
                                    <p:anim calcmode="lin" valueType="num">
                                      <p:cBhvr additive="base">
                                        <p:cTn id="165" dur="650" fill="hold"/>
                                        <p:tgtEl>
                                          <p:spTgt spid="41"/>
                                        </p:tgtEl>
                                        <p:attrNameLst>
                                          <p:attrName>ppt_x</p:attrName>
                                        </p:attrNameLst>
                                      </p:cBhvr>
                                      <p:tavLst>
                                        <p:tav tm="0">
                                          <p:val>
                                            <p:strVal val="#ppt_x-.06"/>
                                          </p:val>
                                        </p:tav>
                                        <p:tav tm="100000">
                                          <p:val>
                                            <p:strVal val="#ppt_x"/>
                                          </p:val>
                                        </p:tav>
                                      </p:tavLst>
                                    </p:anim>
                                    <p:anim calcmode="lin" valueType="num">
                                      <p:cBhvr additive="base">
                                        <p:cTn id="166" dur="650" fill="hold"/>
                                        <p:tgtEl>
                                          <p:spTgt spid="41"/>
                                        </p:tgtEl>
                                        <p:attrNameLst>
                                          <p:attrName>ppt_y</p:attrName>
                                        </p:attrNameLst>
                                      </p:cBhvr>
                                      <p:tavLst>
                                        <p:tav tm="0">
                                          <p:val>
                                            <p:strVal val="#ppt_y"/>
                                          </p:val>
                                        </p:tav>
                                        <p:tav tm="100000">
                                          <p:val>
                                            <p:strVal val="#ppt_y"/>
                                          </p:val>
                                        </p:tav>
                                      </p:tavLst>
                                    </p:anim>
                                  </p:childTnLst>
                                </p:cTn>
                              </p:par>
                              <p:par>
                                <p:cTn id="172" presetID="42" presetClass="entr" presetSubtype="0" fill="hold" grpId="0" nodeType="withEffect">
                                  <p:stCondLst>
                                    <p:cond delay="1900"/>
                                  </p:stCondLst>
                                  <p:childTnLst>
                                    <p:set>
                                      <p:cBhvr>
                                        <p:cTn id="173" dur="1" fill="hold">
                                          <p:stCondLst>
                                            <p:cond delay="0"/>
                                          </p:stCondLst>
                                        </p:cTn>
                                        <p:tgtEl>
                                          <p:spTgt spid="42"/>
                                        </p:tgtEl>
                                        <p:attrNameLst>
                                          <p:attrName>style.visibility</p:attrName>
                                        </p:attrNameLst>
                                      </p:cBhvr>
                                      <p:to>
                                        <p:strVal val="visible"/>
                                      </p:to>
                                    </p:set>
                                    <p:animEffect transition="in" filter="fade">
                                      <p:cBhvr>
                                        <p:cTn id="169" dur="650"/>
                                        <p:tgtEl>
                                          <p:spTgt spid="42"/>
                                        </p:tgtEl>
                                      </p:cBhvr>
                                    </p:animEffect>
                                    <p:anim calcmode="lin" valueType="num">
                                      <p:cBhvr additive="base">
                                        <p:cTn id="170" dur="650" fill="hold"/>
                                        <p:tgtEl>
                                          <p:spTgt spid="42"/>
                                        </p:tgtEl>
                                        <p:attrNameLst>
                                          <p:attrName>ppt_x</p:attrName>
                                        </p:attrNameLst>
                                      </p:cBhvr>
                                      <p:tavLst>
                                        <p:tav tm="0">
                                          <p:val>
                                            <p:strVal val="#ppt_x-.06"/>
                                          </p:val>
                                        </p:tav>
                                        <p:tav tm="100000">
                                          <p:val>
                                            <p:strVal val="#ppt_x"/>
                                          </p:val>
                                        </p:tav>
                                      </p:tavLst>
                                    </p:anim>
                                    <p:anim calcmode="lin" valueType="num">
                                      <p:cBhvr additive="base">
                                        <p:cTn id="171" dur="650" fill="hold"/>
                                        <p:tgtEl>
                                          <p:spTgt spid="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2" grpId="0" animBg="1"/>
      <p:bldP spid="14" grpId="0" animBg="1"/>
      <p:bldP spid="16" grpId="0" animBg="1"/>
      <p:bldP spid="18" grpId="0" animBg="1"/>
      <p:bldP spid="20" grpId="0" animBg="1"/>
      <p:bldP spid="22" grpId="0" animBg="1"/>
      <p:bldP spid="24" grpId="0" animBg="1"/>
      <p:bldP spid="26" grpId="0" animBg="1"/>
      <p:bldP spid="28" grpId="0" animBg="1"/>
      <p:bldP spid="30" grpId="0" animBg="1"/>
      <p:bldP spid="32" grpId="0" animBg="1"/>
      <p:bldP spid="34" grpId="0" animBg="1"/>
      <p:bldP spid="36" grpId="0" animBg="1"/>
      <p:bldP spid="38" grpId="0" animBg="1"/>
      <p:bldP spid="40" grpId="0" animBg="1"/>
      <p:bldP spid="4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A0-spin-420" descr="preencoded.png">    </p:cNvPr>
          <p:cNvPicPr>
            <a:picLocks noChangeAspect="1"/>
          </p:cNvPicPr>
          <p:nvPr/>
        </p:nvPicPr>
        <p:blipFill>
          <a:blip r:embed="rId2"/>
          <a:stretch>
            <a:fillRect/>
          </a:stretch>
        </p:blipFill>
        <p:spPr>
          <a:xfrm>
            <a:off x="6309360" y="-822960"/>
            <a:ext cx="3291840" cy="3291840"/>
          </a:xfrm>
          <a:prstGeom prst="rect">
            <a:avLst/>
          </a:prstGeom>
        </p:spPr>
      </p:pic>
      <p:sp>
        <p:nvSpPr>
          <p:cNvPr id="3" name="A0-fade-421"/>
          <p:cNvSpPr txBox="1"/>
          <p:nvPr/>
        </p:nvSpPr>
        <p:spPr>
          <a:xfrm>
            <a:off x="548640" y="457200"/>
            <a:ext cx="4572000" cy="274320"/>
          </a:xfrm>
          <a:prstGeom prst="rect">
            <a:avLst/>
          </a:prstGeom>
          <a:noFill/>
          <a:ln/>
        </p:spPr>
        <p:txBody>
          <a:bodyPr wrap="square" lIns="0" tIns="0" rIns="0" bIns="0" rtlCol="0" anchor="t"/>
          <a:lstStyle/>
          <a:p>
            <a:pPr indent="0" marL="0">
              <a:buNone/>
            </a:pPr>
            <a:r>
              <a:rPr lang="en-US" sz="1200" b="1" spc="400" kern="0" dirty="0">
                <a:solidFill>
                  <a:srgbClr val="FFC21A"/>
                </a:solidFill>
                <a:latin typeface="Calibri" pitchFamily="34" charset="0"/>
                <a:ea typeface="Calibri" pitchFamily="34" charset="-122"/>
                <a:cs typeface="Calibri" pitchFamily="34" charset="-120"/>
              </a:rPr>
              <a:t>CONCLUSION</a:t>
            </a:r>
            <a:endParaRPr lang="en-US" sz="1200" dirty="0"/>
          </a:p>
        </p:txBody>
      </p:sp>
      <p:sp>
        <p:nvSpPr>
          <p:cNvPr id="4" name="A1-fadeup-422"/>
          <p:cNvSpPr txBox="1"/>
          <p:nvPr/>
        </p:nvSpPr>
        <p:spPr>
          <a:xfrm>
            <a:off x="548640" y="731520"/>
            <a:ext cx="8046720" cy="64008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Un bilan positif, mais un projet inachevé</a:t>
            </a:r>
            <a:endParaRPr lang="en-US" sz="2800" dirty="0"/>
          </a:p>
        </p:txBody>
      </p:sp>
      <p:sp>
        <p:nvSpPr>
          <p:cNvPr id="5" name="A2-fadeup-423"/>
          <p:cNvSpPr/>
          <p:nvPr/>
        </p:nvSpPr>
        <p:spPr>
          <a:xfrm>
            <a:off x="548640" y="1645920"/>
            <a:ext cx="2514600" cy="1965960"/>
          </a:xfrm>
          <a:prstGeom prst="roundRect">
            <a:avLst>
              <a:gd name="adj" fmla="val 5581"/>
            </a:avLst>
          </a:prstGeom>
          <a:solidFill>
            <a:srgbClr val="FFFFFF">
              <a:alpha val="10000"/>
            </a:srgbClr>
          </a:solidFill>
          <a:ln w="15875">
            <a:solidFill>
              <a:srgbClr val="4FD69C"/>
            </a:solidFill>
            <a:prstDash val="solid"/>
          </a:ln>
        </p:spPr>
      </p:sp>
      <p:sp>
        <p:nvSpPr>
          <p:cNvPr id="6" name="A2-zoom-424"/>
          <p:cNvSpPr/>
          <p:nvPr/>
        </p:nvSpPr>
        <p:spPr>
          <a:xfrm>
            <a:off x="731520" y="1874520"/>
            <a:ext cx="548640" cy="548640"/>
          </a:xfrm>
          <a:prstGeom prst="ellipse">
            <a:avLst/>
          </a:prstGeom>
          <a:solidFill>
            <a:srgbClr val="4FD69C"/>
          </a:solidFill>
          <a:ln w="12700">
            <a:solidFill>
              <a:srgbClr val="4FD69C"/>
            </a:solidFill>
            <a:prstDash val="solid"/>
          </a:ln>
        </p:spPr>
      </p:sp>
      <p:pic>
        <p:nvPicPr>
          <p:cNvPr id="7" name="A2-zoom-425" descr="preencoded.png">    </p:cNvPr>
          <p:cNvPicPr>
            <a:picLocks noChangeAspect="1"/>
          </p:cNvPicPr>
          <p:nvPr/>
        </p:nvPicPr>
        <p:blipFill>
          <a:blip r:embed="rId3"/>
          <a:stretch>
            <a:fillRect/>
          </a:stretch>
        </p:blipFill>
        <p:spPr>
          <a:xfrm>
            <a:off x="877824" y="2020824"/>
            <a:ext cx="256032" cy="256032"/>
          </a:xfrm>
          <a:prstGeom prst="rect">
            <a:avLst/>
          </a:prstGeom>
        </p:spPr>
      </p:pic>
      <p:sp>
        <p:nvSpPr>
          <p:cNvPr id="8" name="A2-fadeup-426"/>
          <p:cNvSpPr txBox="1"/>
          <p:nvPr/>
        </p:nvSpPr>
        <p:spPr>
          <a:xfrm>
            <a:off x="731520" y="2560320"/>
            <a:ext cx="2194560" cy="320040"/>
          </a:xfrm>
          <a:prstGeom prst="rect">
            <a:avLst/>
          </a:prstGeom>
          <a:noFill/>
          <a:ln/>
        </p:spPr>
        <p:txBody>
          <a:bodyPr wrap="square" lIns="0" tIns="0" rIns="0" bIns="0" rtlCol="0" anchor="t"/>
          <a:lstStyle/>
          <a:p>
            <a:pPr indent="0" marL="0">
              <a:buNone/>
            </a:pPr>
            <a:r>
              <a:rPr lang="en-US" sz="1500" b="1" dirty="0">
                <a:solidFill>
                  <a:srgbClr val="4FD69C"/>
                </a:solidFill>
                <a:latin typeface="Calibri" pitchFamily="34" charset="0"/>
                <a:ea typeface="Calibri" pitchFamily="34" charset="-122"/>
                <a:cs typeface="Calibri" pitchFamily="34" charset="-120"/>
              </a:rPr>
              <a:t>Des gains tangibles</a:t>
            </a:r>
            <a:endParaRPr lang="en-US" sz="1500" dirty="0"/>
          </a:p>
        </p:txBody>
      </p:sp>
      <p:sp>
        <p:nvSpPr>
          <p:cNvPr id="9" name="A2-fadeup-427"/>
          <p:cNvSpPr txBox="1"/>
          <p:nvPr/>
        </p:nvSpPr>
        <p:spPr>
          <a:xfrm>
            <a:off x="731520" y="2898648"/>
            <a:ext cx="2194560" cy="685800"/>
          </a:xfrm>
          <a:prstGeom prst="rect">
            <a:avLst/>
          </a:prstGeom>
          <a:noFill/>
          <a:ln/>
        </p:spPr>
        <p:txBody>
          <a:bodyPr wrap="square" lIns="0" tIns="0" rIns="0" bIns="0" rtlCol="0" anchor="t"/>
          <a:lstStyle/>
          <a:p>
            <a:pPr indent="0" marL="0">
              <a:buNone/>
            </a:pPr>
            <a:r>
              <a:rPr lang="en-US" sz="1200" dirty="0">
                <a:solidFill>
                  <a:srgbClr val="D5DDF0"/>
                </a:solidFill>
                <a:latin typeface="Calibri" pitchFamily="34" charset="0"/>
                <a:ea typeface="Calibri" pitchFamily="34" charset="-122"/>
                <a:cs typeface="Calibri" pitchFamily="34" charset="-120"/>
              </a:rPr>
              <a:t>Commerce ×6, PIB en hausse, économies d'échelle, 1re destination mondiale des IDE</a:t>
            </a:r>
            <a:endParaRPr lang="en-US" sz="1200" dirty="0"/>
          </a:p>
        </p:txBody>
      </p:sp>
      <p:sp>
        <p:nvSpPr>
          <p:cNvPr id="10" name="A3-fadeup-428"/>
          <p:cNvSpPr/>
          <p:nvPr/>
        </p:nvSpPr>
        <p:spPr>
          <a:xfrm>
            <a:off x="3291840" y="1645920"/>
            <a:ext cx="2514600" cy="1965960"/>
          </a:xfrm>
          <a:prstGeom prst="roundRect">
            <a:avLst>
              <a:gd name="adj" fmla="val 5581"/>
            </a:avLst>
          </a:prstGeom>
          <a:solidFill>
            <a:srgbClr val="FFFFFF">
              <a:alpha val="10000"/>
            </a:srgbClr>
          </a:solidFill>
          <a:ln w="15875">
            <a:solidFill>
              <a:srgbClr val="FF7A70"/>
            </a:solidFill>
            <a:prstDash val="solid"/>
          </a:ln>
        </p:spPr>
      </p:sp>
      <p:sp>
        <p:nvSpPr>
          <p:cNvPr id="11" name="A3-zoom-429"/>
          <p:cNvSpPr/>
          <p:nvPr/>
        </p:nvSpPr>
        <p:spPr>
          <a:xfrm>
            <a:off x="3474720" y="1874520"/>
            <a:ext cx="548640" cy="548640"/>
          </a:xfrm>
          <a:prstGeom prst="ellipse">
            <a:avLst/>
          </a:prstGeom>
          <a:solidFill>
            <a:srgbClr val="FF7A70"/>
          </a:solidFill>
          <a:ln w="12700">
            <a:solidFill>
              <a:srgbClr val="FF7A70"/>
            </a:solidFill>
            <a:prstDash val="solid"/>
          </a:ln>
        </p:spPr>
      </p:sp>
      <p:pic>
        <p:nvPicPr>
          <p:cNvPr id="12" name="A3-zoom-430" descr="preencoded.png">    </p:cNvPr>
          <p:cNvPicPr>
            <a:picLocks noChangeAspect="1"/>
          </p:cNvPicPr>
          <p:nvPr/>
        </p:nvPicPr>
        <p:blipFill>
          <a:blip r:embed="rId4"/>
          <a:stretch>
            <a:fillRect/>
          </a:stretch>
        </p:blipFill>
        <p:spPr>
          <a:xfrm>
            <a:off x="3621024" y="2020824"/>
            <a:ext cx="256032" cy="256032"/>
          </a:xfrm>
          <a:prstGeom prst="rect">
            <a:avLst/>
          </a:prstGeom>
        </p:spPr>
      </p:pic>
      <p:sp>
        <p:nvSpPr>
          <p:cNvPr id="13" name="A3-fadeup-431"/>
          <p:cNvSpPr txBox="1"/>
          <p:nvPr/>
        </p:nvSpPr>
        <p:spPr>
          <a:xfrm>
            <a:off x="3474720" y="2560320"/>
            <a:ext cx="2194560" cy="320040"/>
          </a:xfrm>
          <a:prstGeom prst="rect">
            <a:avLst/>
          </a:prstGeom>
          <a:noFill/>
          <a:ln/>
        </p:spPr>
        <p:txBody>
          <a:bodyPr wrap="square" lIns="0" tIns="0" rIns="0" bIns="0" rtlCol="0" anchor="t"/>
          <a:lstStyle/>
          <a:p>
            <a:pPr indent="0" marL="0">
              <a:buNone/>
            </a:pPr>
            <a:r>
              <a:rPr lang="en-US" sz="1500" b="1" dirty="0">
                <a:solidFill>
                  <a:srgbClr val="FF7A70"/>
                </a:solidFill>
                <a:latin typeface="Calibri" pitchFamily="34" charset="0"/>
                <a:ea typeface="Calibri" pitchFamily="34" charset="-122"/>
                <a:cs typeface="Calibri" pitchFamily="34" charset="-120"/>
              </a:rPr>
              <a:t>Un bilan nuancé</a:t>
            </a:r>
            <a:endParaRPr lang="en-US" sz="1500" dirty="0"/>
          </a:p>
        </p:txBody>
      </p:sp>
      <p:sp>
        <p:nvSpPr>
          <p:cNvPr id="14" name="A3-fadeup-432"/>
          <p:cNvSpPr txBox="1"/>
          <p:nvPr/>
        </p:nvSpPr>
        <p:spPr>
          <a:xfrm>
            <a:off x="3474720" y="2898648"/>
            <a:ext cx="2194560" cy="685800"/>
          </a:xfrm>
          <a:prstGeom prst="rect">
            <a:avLst/>
          </a:prstGeom>
          <a:noFill/>
          <a:ln/>
        </p:spPr>
        <p:txBody>
          <a:bodyPr wrap="square" lIns="0" tIns="0" rIns="0" bIns="0" rtlCol="0" anchor="t"/>
          <a:lstStyle/>
          <a:p>
            <a:pPr indent="0" marL="0">
              <a:buNone/>
            </a:pPr>
            <a:r>
              <a:rPr lang="en-US" sz="1200" dirty="0">
                <a:solidFill>
                  <a:srgbClr val="D5DDF0"/>
                </a:solidFill>
                <a:latin typeface="Calibri" pitchFamily="34" charset="0"/>
                <a:ea typeface="Calibri" pitchFamily="34" charset="-122"/>
                <a:cs typeface="Calibri" pitchFamily="34" charset="-120"/>
              </a:rPr>
              <a:t>Leviers nationaux perdus, gains inégaux, règles lourdes pour les PME et l'opinion</a:t>
            </a:r>
            <a:endParaRPr lang="en-US" sz="1200" dirty="0"/>
          </a:p>
        </p:txBody>
      </p:sp>
      <p:sp>
        <p:nvSpPr>
          <p:cNvPr id="15" name="A4-fadeup-433"/>
          <p:cNvSpPr/>
          <p:nvPr/>
        </p:nvSpPr>
        <p:spPr>
          <a:xfrm>
            <a:off x="6035040" y="1645920"/>
            <a:ext cx="2514600" cy="1965960"/>
          </a:xfrm>
          <a:prstGeom prst="roundRect">
            <a:avLst>
              <a:gd name="adj" fmla="val 5581"/>
            </a:avLst>
          </a:prstGeom>
          <a:solidFill>
            <a:srgbClr val="FFFFFF">
              <a:alpha val="10000"/>
            </a:srgbClr>
          </a:solidFill>
          <a:ln w="15875">
            <a:solidFill>
              <a:srgbClr val="FFC21A"/>
            </a:solidFill>
            <a:prstDash val="solid"/>
          </a:ln>
        </p:spPr>
      </p:sp>
      <p:sp>
        <p:nvSpPr>
          <p:cNvPr id="16" name="A4-zoom-434"/>
          <p:cNvSpPr/>
          <p:nvPr/>
        </p:nvSpPr>
        <p:spPr>
          <a:xfrm>
            <a:off x="6217920" y="1874520"/>
            <a:ext cx="548640" cy="548640"/>
          </a:xfrm>
          <a:prstGeom prst="ellipse">
            <a:avLst/>
          </a:prstGeom>
          <a:solidFill>
            <a:srgbClr val="FFC21A"/>
          </a:solidFill>
          <a:ln w="12700">
            <a:solidFill>
              <a:srgbClr val="FFC21A"/>
            </a:solidFill>
            <a:prstDash val="solid"/>
          </a:ln>
        </p:spPr>
      </p:sp>
      <p:pic>
        <p:nvPicPr>
          <p:cNvPr id="17" name="A4-zoom-435" descr="preencoded.png">    </p:cNvPr>
          <p:cNvPicPr>
            <a:picLocks noChangeAspect="1"/>
          </p:cNvPicPr>
          <p:nvPr/>
        </p:nvPicPr>
        <p:blipFill>
          <a:blip r:embed="rId5"/>
          <a:stretch>
            <a:fillRect/>
          </a:stretch>
        </p:blipFill>
        <p:spPr>
          <a:xfrm>
            <a:off x="6364224" y="2020824"/>
            <a:ext cx="256032" cy="256032"/>
          </a:xfrm>
          <a:prstGeom prst="rect">
            <a:avLst/>
          </a:prstGeom>
        </p:spPr>
      </p:pic>
      <p:sp>
        <p:nvSpPr>
          <p:cNvPr id="18" name="A4-fadeup-436"/>
          <p:cNvSpPr txBox="1"/>
          <p:nvPr/>
        </p:nvSpPr>
        <p:spPr>
          <a:xfrm>
            <a:off x="6217920" y="2560320"/>
            <a:ext cx="2194560" cy="320040"/>
          </a:xfrm>
          <a:prstGeom prst="rect">
            <a:avLst/>
          </a:prstGeom>
          <a:noFill/>
          <a:ln/>
        </p:spPr>
        <p:txBody>
          <a:bodyPr wrap="square" lIns="0" tIns="0" rIns="0" bIns="0" rtlCol="0" anchor="t"/>
          <a:lstStyle/>
          <a:p>
            <a:pPr indent="0" marL="0">
              <a:buNone/>
            </a:pPr>
            <a:r>
              <a:rPr lang="en-US" sz="1500" b="1" dirty="0">
                <a:solidFill>
                  <a:srgbClr val="FFC21A"/>
                </a:solidFill>
                <a:latin typeface="Calibri" pitchFamily="34" charset="0"/>
                <a:ea typeface="Calibri" pitchFamily="34" charset="-122"/>
                <a:cs typeface="Calibri" pitchFamily="34" charset="-120"/>
              </a:rPr>
              <a:t>Un chantier ouvert</a:t>
            </a:r>
            <a:endParaRPr lang="en-US" sz="1500" dirty="0"/>
          </a:p>
        </p:txBody>
      </p:sp>
      <p:sp>
        <p:nvSpPr>
          <p:cNvPr id="19" name="A4-fadeup-437"/>
          <p:cNvSpPr txBox="1"/>
          <p:nvPr/>
        </p:nvSpPr>
        <p:spPr>
          <a:xfrm>
            <a:off x="6217920" y="2898648"/>
            <a:ext cx="2194560" cy="685800"/>
          </a:xfrm>
          <a:prstGeom prst="rect">
            <a:avLst/>
          </a:prstGeom>
          <a:noFill/>
          <a:ln/>
        </p:spPr>
        <p:txBody>
          <a:bodyPr wrap="square" lIns="0" tIns="0" rIns="0" bIns="0" rtlCol="0" anchor="t"/>
          <a:lstStyle/>
          <a:p>
            <a:pPr indent="0" marL="0">
              <a:buNone/>
            </a:pPr>
            <a:r>
              <a:rPr lang="en-US" sz="1200" dirty="0">
                <a:solidFill>
                  <a:srgbClr val="D5DDF0"/>
                </a:solidFill>
                <a:latin typeface="Calibri" pitchFamily="34" charset="0"/>
                <a:ea typeface="Calibri" pitchFamily="34" charset="-122"/>
                <a:cs typeface="Calibri" pitchFamily="34" charset="-120"/>
              </a:rPr>
              <a:t>Services, finance, énergie, défense encore divisés (Draghi, Letta 2024)</a:t>
            </a:r>
            <a:endParaRPr lang="en-US" sz="1200" dirty="0"/>
          </a:p>
        </p:txBody>
      </p:sp>
      <p:sp>
        <p:nvSpPr>
          <p:cNvPr id="20" name="A5-fadeup-438"/>
          <p:cNvSpPr txBox="1"/>
          <p:nvPr/>
        </p:nvSpPr>
        <p:spPr>
          <a:xfrm>
            <a:off x="548640" y="3886200"/>
            <a:ext cx="8046720" cy="731520"/>
          </a:xfrm>
          <a:prstGeom prst="rect">
            <a:avLst/>
          </a:prstGeom>
          <a:noFill/>
          <a:ln/>
        </p:spPr>
        <p:txBody>
          <a:bodyPr wrap="square" lIns="0" tIns="0" rIns="0" bIns="0" rtlCol="0" anchor="t"/>
          <a:lstStyle/>
          <a:p>
            <a:pPr indent="0" marL="0">
              <a:buNone/>
            </a:pPr>
            <a:r>
              <a:rPr lang="en-US" sz="1400" i="1" dirty="0">
                <a:solidFill>
                  <a:srgbClr val="FFFFFF"/>
                </a:solidFill>
                <a:latin typeface="Calibri" pitchFamily="34" charset="0"/>
                <a:ea typeface="Calibri" pitchFamily="34" charset="-122"/>
                <a:cs typeface="Calibri" pitchFamily="34" charset="-120"/>
              </a:rPr>
              <a:t>Face aux États-Unis et à la Chine, l'enjeu est la compétitivité. Le Brexit le montre : quitter le marché unique coûte cher, mais l'approfondir n'a de valeur que si les citoyens y adhèrent.</a:t>
            </a:r>
            <a:endParaRPr lang="en-US" sz="1400" dirty="0"/>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push dir="l"/>
      </p:transition>
    </mc:Fallback>
  </mc:AlternateContent>
  <p:timing>
    <p:tnLst>
      <p:par>
        <p:cTn id="1" dur="indefinite" restart="never" nodeType="tmRoot">
          <p:childTnLst>
            <p:seq concurrent="1" nextAc="seek">
              <p:cTn id="2" dur="indefinite" nodeType="mainSeq">
                <p:childTnLst>
                  <p:par>
                    <p:cTn id="97" fill="hold">
                      <p:stCondLst>
                        <p:cond delay="indefinite"/>
                        <p:cond evt="onBegin" delay="0">
                          <p:tn val="2"/>
                        </p:cond>
                      </p:stCondLst>
                      <p:childTnLst>
                        <p:par>
                          <p:cTn id="98" fill="hold">
                            <p:stCondLst>
                              <p:cond delay="0"/>
                            </p:stCondLst>
                            <p:childTnLst>
                              <p:par>
                                <p:cTn id="7" presetID="3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anim calcmode="lin" valueType="num">
                                      <p:cBhvr additive="base">
                                        <p:cTn id="3" dur="1600" fill="hold"/>
                                        <p:tgtEl>
                                          <p:spTgt spid="2"/>
                                        </p:tgtEl>
                                        <p:attrNameLst>
                                          <p:attrName>ppt_w</p:attrName>
                                        </p:attrNameLst>
                                      </p:cBhvr>
                                      <p:tavLst>
                                        <p:tav tm="0">
                                          <p:val>
                                            <p:strVal val="#ppt_w*0.4"/>
                                          </p:val>
                                        </p:tav>
                                        <p:tav tm="100000">
                                          <p:val>
                                            <p:strVal val="#ppt_w"/>
                                          </p:val>
                                        </p:tav>
                                      </p:tavLst>
                                    </p:anim>
                                    <p:anim calcmode="lin" valueType="num">
                                      <p:cBhvr additive="base">
                                        <p:cTn id="4" dur="1600" fill="hold"/>
                                        <p:tgtEl>
                                          <p:spTgt spid="2"/>
                                        </p:tgtEl>
                                        <p:attrNameLst>
                                          <p:attrName>ppt_h</p:attrName>
                                        </p:attrNameLst>
                                      </p:cBhvr>
                                      <p:tavLst>
                                        <p:tav tm="0">
                                          <p:val>
                                            <p:strVal val="#ppt_h*0.4"/>
                                          </p:val>
                                        </p:tav>
                                        <p:tav tm="100000">
                                          <p:val>
                                            <p:strVal val="#ppt_h"/>
                                          </p:val>
                                        </p:tav>
                                      </p:tavLst>
                                    </p:anim>
                                    <p:anim calcmode="lin" valueType="num">
                                      <p:cBhvr additive="base">
                                        <p:cTn id="5" dur="1600" fill="hold"/>
                                        <p:tgtEl>
                                          <p:spTgt spid="2"/>
                                        </p:tgtEl>
                                        <p:attrNameLst>
                                          <p:attrName>style.rotation</p:attrName>
                                        </p:attrNameLst>
                                      </p:cBhvr>
                                      <p:tavLst>
                                        <p:tav tm="0">
                                          <p:val>
                                            <p:strVal val="-120"/>
                                          </p:val>
                                        </p:tav>
                                        <p:tav tm="100000">
                                          <p:val>
                                            <p:strVal val="0"/>
                                          </p:val>
                                        </p:tav>
                                      </p:tavLst>
                                    </p:anim>
                                    <p:animEffect transition="in" filter="fade">
                                      <p:cBhvr>
                                        <p:cTn id="6" dur="1600"/>
                                        <p:tgtEl>
                                          <p:spTgt spid="2"/>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9" dur="600"/>
                                        <p:tgtEl>
                                          <p:spTgt spid="3"/>
                                        </p:tgtEl>
                                      </p:cBhvr>
                                    </p:animEffect>
                                  </p:childTnLst>
                                </p:cTn>
                              </p:par>
                              <p:par>
                                <p:cTn id="15" presetID="42" presetClass="entr" presetSubtype="0" fill="hold" grpId="0" nodeType="withEffect">
                                  <p:stCondLst>
                                    <p:cond delay="380"/>
                                  </p:stCondLst>
                                  <p:childTnLst>
                                    <p:set>
                                      <p:cBhvr>
                                        <p:cTn id="16" dur="1" fill="hold">
                                          <p:stCondLst>
                                            <p:cond delay="0"/>
                                          </p:stCondLst>
                                        </p:cTn>
                                        <p:tgtEl>
                                          <p:spTgt spid="4"/>
                                        </p:tgtEl>
                                        <p:attrNameLst>
                                          <p:attrName>style.visibility</p:attrName>
                                        </p:attrNameLst>
                                      </p:cBhvr>
                                      <p:to>
                                        <p:strVal val="visible"/>
                                      </p:to>
                                    </p:set>
                                    <p:animEffect transition="in" filter="fade">
                                      <p:cBhvr>
                                        <p:cTn id="12" dur="700"/>
                                        <p:tgtEl>
                                          <p:spTgt spid="4"/>
                                        </p:tgtEl>
                                      </p:cBhvr>
                                    </p:animEffect>
                                    <p:anim calcmode="lin" valueType="num">
                                      <p:cBhvr additive="base">
                                        <p:cTn id="13" dur="700" fill="hold"/>
                                        <p:tgtEl>
                                          <p:spTgt spid="4"/>
                                        </p:tgtEl>
                                        <p:attrNameLst>
                                          <p:attrName>ppt_x</p:attrName>
                                        </p:attrNameLst>
                                      </p:cBhvr>
                                      <p:tavLst>
                                        <p:tav tm="0">
                                          <p:val>
                                            <p:strVal val="#ppt_x"/>
                                          </p:val>
                                        </p:tav>
                                        <p:tav tm="100000">
                                          <p:val>
                                            <p:strVal val="#ppt_x"/>
                                          </p:val>
                                        </p:tav>
                                      </p:tavLst>
                                    </p:anim>
                                    <p:anim calcmode="lin" valueType="num">
                                      <p:cBhvr additive="base">
                                        <p:cTn id="14" dur="700" fill="hold"/>
                                        <p:tgtEl>
                                          <p:spTgt spid="4"/>
                                        </p:tgtEl>
                                        <p:attrNameLst>
                                          <p:attrName>ppt_y</p:attrName>
                                        </p:attrNameLst>
                                      </p:cBhvr>
                                      <p:tavLst>
                                        <p:tav tm="0">
                                          <p:val>
                                            <p:strVal val="#ppt_y+.08"/>
                                          </p:val>
                                        </p:tav>
                                        <p:tav tm="100000">
                                          <p:val>
                                            <p:strVal val="#ppt_y"/>
                                          </p:val>
                                        </p:tav>
                                      </p:tavLst>
                                    </p:anim>
                                  </p:childTnLst>
                                </p:cTn>
                              </p:par>
                              <p:par>
                                <p:cTn id="20" presetID="42" presetClass="entr" presetSubtype="0" fill="hold" grpId="0" nodeType="withEffect">
                                  <p:stCondLst>
                                    <p:cond delay="760"/>
                                  </p:stCondLst>
                                  <p:childTnLst>
                                    <p:set>
                                      <p:cBhvr>
                                        <p:cTn id="21" dur="1" fill="hold">
                                          <p:stCondLst>
                                            <p:cond delay="0"/>
                                          </p:stCondLst>
                                        </p:cTn>
                                        <p:tgtEl>
                                          <p:spTgt spid="5"/>
                                        </p:tgtEl>
                                        <p:attrNameLst>
                                          <p:attrName>style.visibility</p:attrName>
                                        </p:attrNameLst>
                                      </p:cBhvr>
                                      <p:to>
                                        <p:strVal val="visible"/>
                                      </p:to>
                                    </p:set>
                                    <p:animEffect transition="in" filter="fade">
                                      <p:cBhvr>
                                        <p:cTn id="17" dur="700"/>
                                        <p:tgtEl>
                                          <p:spTgt spid="5"/>
                                        </p:tgtEl>
                                      </p:cBhvr>
                                    </p:animEffect>
                                    <p:anim calcmode="lin" valueType="num">
                                      <p:cBhvr additive="base">
                                        <p:cTn id="18" dur="700" fill="hold"/>
                                        <p:tgtEl>
                                          <p:spTgt spid="5"/>
                                        </p:tgtEl>
                                        <p:attrNameLst>
                                          <p:attrName>ppt_x</p:attrName>
                                        </p:attrNameLst>
                                      </p:cBhvr>
                                      <p:tavLst>
                                        <p:tav tm="0">
                                          <p:val>
                                            <p:strVal val="#ppt_x"/>
                                          </p:val>
                                        </p:tav>
                                        <p:tav tm="100000">
                                          <p:val>
                                            <p:strVal val="#ppt_x"/>
                                          </p:val>
                                        </p:tav>
                                      </p:tavLst>
                                    </p:anim>
                                    <p:anim calcmode="lin" valueType="num">
                                      <p:cBhvr additive="base">
                                        <p:cTn id="19" dur="700" fill="hold"/>
                                        <p:tgtEl>
                                          <p:spTgt spid="5"/>
                                        </p:tgtEl>
                                        <p:attrNameLst>
                                          <p:attrName>ppt_y</p:attrName>
                                        </p:attrNameLst>
                                      </p:cBhvr>
                                      <p:tavLst>
                                        <p:tav tm="0">
                                          <p:val>
                                            <p:strVal val="#ppt_y+.08"/>
                                          </p:val>
                                        </p:tav>
                                        <p:tav tm="100000">
                                          <p:val>
                                            <p:strVal val="#ppt_y"/>
                                          </p:val>
                                        </p:tav>
                                      </p:tavLst>
                                    </p:anim>
                                  </p:childTnLst>
                                </p:cTn>
                              </p:par>
                              <p:par>
                                <p:cTn id="25" presetID="53" presetClass="entr" presetSubtype="16" fill="hold" grpId="0" nodeType="withEffect">
                                  <p:stCondLst>
                                    <p:cond delay="76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2" dur="550" fill="hold"/>
                                        <p:tgtEl>
                                          <p:spTgt spid="6"/>
                                        </p:tgtEl>
                                        <p:attrNameLst>
                                          <p:attrName>ppt_w</p:attrName>
                                        </p:attrNameLst>
                                      </p:cBhvr>
                                      <p:tavLst>
                                        <p:tav tm="0">
                                          <p:val>
                                            <p:strVal val="0"/>
                                          </p:val>
                                        </p:tav>
                                        <p:tav tm="100000">
                                          <p:val>
                                            <p:strVal val="#ppt_w"/>
                                          </p:val>
                                        </p:tav>
                                      </p:tavLst>
                                    </p:anim>
                                    <p:anim calcmode="lin" valueType="num">
                                      <p:cBhvr additive="base">
                                        <p:cTn id="23" dur="550" fill="hold"/>
                                        <p:tgtEl>
                                          <p:spTgt spid="6"/>
                                        </p:tgtEl>
                                        <p:attrNameLst>
                                          <p:attrName>ppt_h</p:attrName>
                                        </p:attrNameLst>
                                      </p:cBhvr>
                                      <p:tavLst>
                                        <p:tav tm="0">
                                          <p:val>
                                            <p:strVal val="0"/>
                                          </p:val>
                                        </p:tav>
                                        <p:tav tm="100000">
                                          <p:val>
                                            <p:strVal val="#ppt_h"/>
                                          </p:val>
                                        </p:tav>
                                      </p:tavLst>
                                    </p:anim>
                                    <p:animEffect transition="in" filter="fade">
                                      <p:cBhvr>
                                        <p:cTn id="24" dur="550"/>
                                        <p:tgtEl>
                                          <p:spTgt spid="6"/>
                                        </p:tgtEl>
                                      </p:cBhvr>
                                    </p:animEffect>
                                  </p:childTnLst>
                                </p:cTn>
                              </p:par>
                              <p:par>
                                <p:cTn id="30" presetID="53" presetClass="entr" presetSubtype="16" fill="hold" grpId="0" nodeType="withEffect">
                                  <p:stCondLst>
                                    <p:cond delay="760"/>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27" dur="550" fill="hold"/>
                                        <p:tgtEl>
                                          <p:spTgt spid="7"/>
                                        </p:tgtEl>
                                        <p:attrNameLst>
                                          <p:attrName>ppt_w</p:attrName>
                                        </p:attrNameLst>
                                      </p:cBhvr>
                                      <p:tavLst>
                                        <p:tav tm="0">
                                          <p:val>
                                            <p:strVal val="0"/>
                                          </p:val>
                                        </p:tav>
                                        <p:tav tm="100000">
                                          <p:val>
                                            <p:strVal val="#ppt_w"/>
                                          </p:val>
                                        </p:tav>
                                      </p:tavLst>
                                    </p:anim>
                                    <p:anim calcmode="lin" valueType="num">
                                      <p:cBhvr additive="base">
                                        <p:cTn id="28" dur="550" fill="hold"/>
                                        <p:tgtEl>
                                          <p:spTgt spid="7"/>
                                        </p:tgtEl>
                                        <p:attrNameLst>
                                          <p:attrName>ppt_h</p:attrName>
                                        </p:attrNameLst>
                                      </p:cBhvr>
                                      <p:tavLst>
                                        <p:tav tm="0">
                                          <p:val>
                                            <p:strVal val="0"/>
                                          </p:val>
                                        </p:tav>
                                        <p:tav tm="100000">
                                          <p:val>
                                            <p:strVal val="#ppt_h"/>
                                          </p:val>
                                        </p:tav>
                                      </p:tavLst>
                                    </p:anim>
                                    <p:animEffect transition="in" filter="fade">
                                      <p:cBhvr>
                                        <p:cTn id="29" dur="550"/>
                                        <p:tgtEl>
                                          <p:spTgt spid="7"/>
                                        </p:tgtEl>
                                      </p:cBhvr>
                                    </p:animEffect>
                                  </p:childTnLst>
                                </p:cTn>
                              </p:par>
                              <p:par>
                                <p:cTn id="35" presetID="42" presetClass="entr" presetSubtype="0" fill="hold" grpId="0" nodeType="withEffect">
                                  <p:stCondLst>
                                    <p:cond delay="760"/>
                                  </p:stCondLst>
                                  <p:childTnLst>
                                    <p:set>
                                      <p:cBhvr>
                                        <p:cTn id="36" dur="1" fill="hold">
                                          <p:stCondLst>
                                            <p:cond delay="0"/>
                                          </p:stCondLst>
                                        </p:cTn>
                                        <p:tgtEl>
                                          <p:spTgt spid="8"/>
                                        </p:tgtEl>
                                        <p:attrNameLst>
                                          <p:attrName>style.visibility</p:attrName>
                                        </p:attrNameLst>
                                      </p:cBhvr>
                                      <p:to>
                                        <p:strVal val="visible"/>
                                      </p:to>
                                    </p:set>
                                    <p:animEffect transition="in" filter="fade">
                                      <p:cBhvr>
                                        <p:cTn id="32" dur="700"/>
                                        <p:tgtEl>
                                          <p:spTgt spid="8"/>
                                        </p:tgtEl>
                                      </p:cBhvr>
                                    </p:animEffect>
                                    <p:anim calcmode="lin" valueType="num">
                                      <p:cBhvr additive="base">
                                        <p:cTn id="33" dur="700" fill="hold"/>
                                        <p:tgtEl>
                                          <p:spTgt spid="8"/>
                                        </p:tgtEl>
                                        <p:attrNameLst>
                                          <p:attrName>ppt_x</p:attrName>
                                        </p:attrNameLst>
                                      </p:cBhvr>
                                      <p:tavLst>
                                        <p:tav tm="0">
                                          <p:val>
                                            <p:strVal val="#ppt_x"/>
                                          </p:val>
                                        </p:tav>
                                        <p:tav tm="100000">
                                          <p:val>
                                            <p:strVal val="#ppt_x"/>
                                          </p:val>
                                        </p:tav>
                                      </p:tavLst>
                                    </p:anim>
                                    <p:anim calcmode="lin" valueType="num">
                                      <p:cBhvr additive="base">
                                        <p:cTn id="34" dur="700" fill="hold"/>
                                        <p:tgtEl>
                                          <p:spTgt spid="8"/>
                                        </p:tgtEl>
                                        <p:attrNameLst>
                                          <p:attrName>ppt_y</p:attrName>
                                        </p:attrNameLst>
                                      </p:cBhvr>
                                      <p:tavLst>
                                        <p:tav tm="0">
                                          <p:val>
                                            <p:strVal val="#ppt_y+.08"/>
                                          </p:val>
                                        </p:tav>
                                        <p:tav tm="100000">
                                          <p:val>
                                            <p:strVal val="#ppt_y"/>
                                          </p:val>
                                        </p:tav>
                                      </p:tavLst>
                                    </p:anim>
                                  </p:childTnLst>
                                </p:cTn>
                              </p:par>
                              <p:par>
                                <p:cTn id="40" presetID="42" presetClass="entr" presetSubtype="0" fill="hold" grpId="0" nodeType="withEffect">
                                  <p:stCondLst>
                                    <p:cond delay="760"/>
                                  </p:stCondLst>
                                  <p:childTnLst>
                                    <p:set>
                                      <p:cBhvr>
                                        <p:cTn id="41" dur="1" fill="hold">
                                          <p:stCondLst>
                                            <p:cond delay="0"/>
                                          </p:stCondLst>
                                        </p:cTn>
                                        <p:tgtEl>
                                          <p:spTgt spid="9"/>
                                        </p:tgtEl>
                                        <p:attrNameLst>
                                          <p:attrName>style.visibility</p:attrName>
                                        </p:attrNameLst>
                                      </p:cBhvr>
                                      <p:to>
                                        <p:strVal val="visible"/>
                                      </p:to>
                                    </p:set>
                                    <p:animEffect transition="in" filter="fade">
                                      <p:cBhvr>
                                        <p:cTn id="37" dur="700"/>
                                        <p:tgtEl>
                                          <p:spTgt spid="9"/>
                                        </p:tgtEl>
                                      </p:cBhvr>
                                    </p:animEffect>
                                    <p:anim calcmode="lin" valueType="num">
                                      <p:cBhvr additive="base">
                                        <p:cTn id="38" dur="700" fill="hold"/>
                                        <p:tgtEl>
                                          <p:spTgt spid="9"/>
                                        </p:tgtEl>
                                        <p:attrNameLst>
                                          <p:attrName>ppt_x</p:attrName>
                                        </p:attrNameLst>
                                      </p:cBhvr>
                                      <p:tavLst>
                                        <p:tav tm="0">
                                          <p:val>
                                            <p:strVal val="#ppt_x"/>
                                          </p:val>
                                        </p:tav>
                                        <p:tav tm="100000">
                                          <p:val>
                                            <p:strVal val="#ppt_x"/>
                                          </p:val>
                                        </p:tav>
                                      </p:tavLst>
                                    </p:anim>
                                    <p:anim calcmode="lin" valueType="num">
                                      <p:cBhvr additive="base">
                                        <p:cTn id="39" dur="700" fill="hold"/>
                                        <p:tgtEl>
                                          <p:spTgt spid="9"/>
                                        </p:tgtEl>
                                        <p:attrNameLst>
                                          <p:attrName>ppt_y</p:attrName>
                                        </p:attrNameLst>
                                      </p:cBhvr>
                                      <p:tavLst>
                                        <p:tav tm="0">
                                          <p:val>
                                            <p:strVal val="#ppt_y+.08"/>
                                          </p:val>
                                        </p:tav>
                                        <p:tav tm="100000">
                                          <p:val>
                                            <p:strVal val="#ppt_y"/>
                                          </p:val>
                                        </p:tav>
                                      </p:tavLst>
                                    </p:anim>
                                  </p:childTnLst>
                                </p:cTn>
                              </p:par>
                              <p:par>
                                <p:cTn id="45" presetID="42" presetClass="entr" presetSubtype="0" fill="hold" grpId="0" nodeType="withEffect">
                                  <p:stCondLst>
                                    <p:cond delay="1140"/>
                                  </p:stCondLst>
                                  <p:childTnLst>
                                    <p:set>
                                      <p:cBhvr>
                                        <p:cTn id="46" dur="1" fill="hold">
                                          <p:stCondLst>
                                            <p:cond delay="0"/>
                                          </p:stCondLst>
                                        </p:cTn>
                                        <p:tgtEl>
                                          <p:spTgt spid="10"/>
                                        </p:tgtEl>
                                        <p:attrNameLst>
                                          <p:attrName>style.visibility</p:attrName>
                                        </p:attrNameLst>
                                      </p:cBhvr>
                                      <p:to>
                                        <p:strVal val="visible"/>
                                      </p:to>
                                    </p:set>
                                    <p:animEffect transition="in" filter="fade">
                                      <p:cBhvr>
                                        <p:cTn id="42" dur="700"/>
                                        <p:tgtEl>
                                          <p:spTgt spid="10"/>
                                        </p:tgtEl>
                                      </p:cBhvr>
                                    </p:animEffect>
                                    <p:anim calcmode="lin" valueType="num">
                                      <p:cBhvr additive="base">
                                        <p:cTn id="43" dur="700" fill="hold"/>
                                        <p:tgtEl>
                                          <p:spTgt spid="10"/>
                                        </p:tgtEl>
                                        <p:attrNameLst>
                                          <p:attrName>ppt_x</p:attrName>
                                        </p:attrNameLst>
                                      </p:cBhvr>
                                      <p:tavLst>
                                        <p:tav tm="0">
                                          <p:val>
                                            <p:strVal val="#ppt_x"/>
                                          </p:val>
                                        </p:tav>
                                        <p:tav tm="100000">
                                          <p:val>
                                            <p:strVal val="#ppt_x"/>
                                          </p:val>
                                        </p:tav>
                                      </p:tavLst>
                                    </p:anim>
                                    <p:anim calcmode="lin" valueType="num">
                                      <p:cBhvr additive="base">
                                        <p:cTn id="44" dur="700" fill="hold"/>
                                        <p:tgtEl>
                                          <p:spTgt spid="10"/>
                                        </p:tgtEl>
                                        <p:attrNameLst>
                                          <p:attrName>ppt_y</p:attrName>
                                        </p:attrNameLst>
                                      </p:cBhvr>
                                      <p:tavLst>
                                        <p:tav tm="0">
                                          <p:val>
                                            <p:strVal val="#ppt_y+.08"/>
                                          </p:val>
                                        </p:tav>
                                        <p:tav tm="100000">
                                          <p:val>
                                            <p:strVal val="#ppt_y"/>
                                          </p:val>
                                        </p:tav>
                                      </p:tavLst>
                                    </p:anim>
                                  </p:childTnLst>
                                </p:cTn>
                              </p:par>
                              <p:par>
                                <p:cTn id="50" presetID="53" presetClass="entr" presetSubtype="16" fill="hold" grpId="0" nodeType="withEffect">
                                  <p:stCondLst>
                                    <p:cond delay="1140"/>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47" dur="550" fill="hold"/>
                                        <p:tgtEl>
                                          <p:spTgt spid="11"/>
                                        </p:tgtEl>
                                        <p:attrNameLst>
                                          <p:attrName>ppt_w</p:attrName>
                                        </p:attrNameLst>
                                      </p:cBhvr>
                                      <p:tavLst>
                                        <p:tav tm="0">
                                          <p:val>
                                            <p:strVal val="0"/>
                                          </p:val>
                                        </p:tav>
                                        <p:tav tm="100000">
                                          <p:val>
                                            <p:strVal val="#ppt_w"/>
                                          </p:val>
                                        </p:tav>
                                      </p:tavLst>
                                    </p:anim>
                                    <p:anim calcmode="lin" valueType="num">
                                      <p:cBhvr additive="base">
                                        <p:cTn id="48" dur="550" fill="hold"/>
                                        <p:tgtEl>
                                          <p:spTgt spid="11"/>
                                        </p:tgtEl>
                                        <p:attrNameLst>
                                          <p:attrName>ppt_h</p:attrName>
                                        </p:attrNameLst>
                                      </p:cBhvr>
                                      <p:tavLst>
                                        <p:tav tm="0">
                                          <p:val>
                                            <p:strVal val="0"/>
                                          </p:val>
                                        </p:tav>
                                        <p:tav tm="100000">
                                          <p:val>
                                            <p:strVal val="#ppt_h"/>
                                          </p:val>
                                        </p:tav>
                                      </p:tavLst>
                                    </p:anim>
                                    <p:animEffect transition="in" filter="fade">
                                      <p:cBhvr>
                                        <p:cTn id="49" dur="550"/>
                                        <p:tgtEl>
                                          <p:spTgt spid="11"/>
                                        </p:tgtEl>
                                      </p:cBhvr>
                                    </p:animEffect>
                                  </p:childTnLst>
                                </p:cTn>
                              </p:par>
                              <p:par>
                                <p:cTn id="55" presetID="53" presetClass="entr" presetSubtype="16" fill="hold" grpId="0" nodeType="withEffect">
                                  <p:stCondLst>
                                    <p:cond delay="1140"/>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2" dur="550" fill="hold"/>
                                        <p:tgtEl>
                                          <p:spTgt spid="12"/>
                                        </p:tgtEl>
                                        <p:attrNameLst>
                                          <p:attrName>ppt_w</p:attrName>
                                        </p:attrNameLst>
                                      </p:cBhvr>
                                      <p:tavLst>
                                        <p:tav tm="0">
                                          <p:val>
                                            <p:strVal val="0"/>
                                          </p:val>
                                        </p:tav>
                                        <p:tav tm="100000">
                                          <p:val>
                                            <p:strVal val="#ppt_w"/>
                                          </p:val>
                                        </p:tav>
                                      </p:tavLst>
                                    </p:anim>
                                    <p:anim calcmode="lin" valueType="num">
                                      <p:cBhvr additive="base">
                                        <p:cTn id="53" dur="550" fill="hold"/>
                                        <p:tgtEl>
                                          <p:spTgt spid="12"/>
                                        </p:tgtEl>
                                        <p:attrNameLst>
                                          <p:attrName>ppt_h</p:attrName>
                                        </p:attrNameLst>
                                      </p:cBhvr>
                                      <p:tavLst>
                                        <p:tav tm="0">
                                          <p:val>
                                            <p:strVal val="0"/>
                                          </p:val>
                                        </p:tav>
                                        <p:tav tm="100000">
                                          <p:val>
                                            <p:strVal val="#ppt_h"/>
                                          </p:val>
                                        </p:tav>
                                      </p:tavLst>
                                    </p:anim>
                                    <p:animEffect transition="in" filter="fade">
                                      <p:cBhvr>
                                        <p:cTn id="54" dur="550"/>
                                        <p:tgtEl>
                                          <p:spTgt spid="12"/>
                                        </p:tgtEl>
                                      </p:cBhvr>
                                    </p:animEffect>
                                  </p:childTnLst>
                                </p:cTn>
                              </p:par>
                              <p:par>
                                <p:cTn id="60" presetID="42" presetClass="entr" presetSubtype="0" fill="hold" grpId="0" nodeType="withEffect">
                                  <p:stCondLst>
                                    <p:cond delay="1140"/>
                                  </p:stCondLst>
                                  <p:childTnLst>
                                    <p:set>
                                      <p:cBhvr>
                                        <p:cTn id="61" dur="1" fill="hold">
                                          <p:stCondLst>
                                            <p:cond delay="0"/>
                                          </p:stCondLst>
                                        </p:cTn>
                                        <p:tgtEl>
                                          <p:spTgt spid="13"/>
                                        </p:tgtEl>
                                        <p:attrNameLst>
                                          <p:attrName>style.visibility</p:attrName>
                                        </p:attrNameLst>
                                      </p:cBhvr>
                                      <p:to>
                                        <p:strVal val="visible"/>
                                      </p:to>
                                    </p:set>
                                    <p:animEffect transition="in" filter="fade">
                                      <p:cBhvr>
                                        <p:cTn id="57" dur="700"/>
                                        <p:tgtEl>
                                          <p:spTgt spid="13"/>
                                        </p:tgtEl>
                                      </p:cBhvr>
                                    </p:animEffect>
                                    <p:anim calcmode="lin" valueType="num">
                                      <p:cBhvr additive="base">
                                        <p:cTn id="58" dur="700" fill="hold"/>
                                        <p:tgtEl>
                                          <p:spTgt spid="13"/>
                                        </p:tgtEl>
                                        <p:attrNameLst>
                                          <p:attrName>ppt_x</p:attrName>
                                        </p:attrNameLst>
                                      </p:cBhvr>
                                      <p:tavLst>
                                        <p:tav tm="0">
                                          <p:val>
                                            <p:strVal val="#ppt_x"/>
                                          </p:val>
                                        </p:tav>
                                        <p:tav tm="100000">
                                          <p:val>
                                            <p:strVal val="#ppt_x"/>
                                          </p:val>
                                        </p:tav>
                                      </p:tavLst>
                                    </p:anim>
                                    <p:anim calcmode="lin" valueType="num">
                                      <p:cBhvr additive="base">
                                        <p:cTn id="59" dur="700" fill="hold"/>
                                        <p:tgtEl>
                                          <p:spTgt spid="13"/>
                                        </p:tgtEl>
                                        <p:attrNameLst>
                                          <p:attrName>ppt_y</p:attrName>
                                        </p:attrNameLst>
                                      </p:cBhvr>
                                      <p:tavLst>
                                        <p:tav tm="0">
                                          <p:val>
                                            <p:strVal val="#ppt_y+.08"/>
                                          </p:val>
                                        </p:tav>
                                        <p:tav tm="100000">
                                          <p:val>
                                            <p:strVal val="#ppt_y"/>
                                          </p:val>
                                        </p:tav>
                                      </p:tavLst>
                                    </p:anim>
                                  </p:childTnLst>
                                </p:cTn>
                              </p:par>
                              <p:par>
                                <p:cTn id="65" presetID="42" presetClass="entr" presetSubtype="0" fill="hold" grpId="0" nodeType="withEffect">
                                  <p:stCondLst>
                                    <p:cond delay="1140"/>
                                  </p:stCondLst>
                                  <p:childTnLst>
                                    <p:set>
                                      <p:cBhvr>
                                        <p:cTn id="66" dur="1" fill="hold">
                                          <p:stCondLst>
                                            <p:cond delay="0"/>
                                          </p:stCondLst>
                                        </p:cTn>
                                        <p:tgtEl>
                                          <p:spTgt spid="14"/>
                                        </p:tgtEl>
                                        <p:attrNameLst>
                                          <p:attrName>style.visibility</p:attrName>
                                        </p:attrNameLst>
                                      </p:cBhvr>
                                      <p:to>
                                        <p:strVal val="visible"/>
                                      </p:to>
                                    </p:set>
                                    <p:animEffect transition="in" filter="fade">
                                      <p:cBhvr>
                                        <p:cTn id="62" dur="700"/>
                                        <p:tgtEl>
                                          <p:spTgt spid="14"/>
                                        </p:tgtEl>
                                      </p:cBhvr>
                                    </p:animEffect>
                                    <p:anim calcmode="lin" valueType="num">
                                      <p:cBhvr additive="base">
                                        <p:cTn id="63" dur="700" fill="hold"/>
                                        <p:tgtEl>
                                          <p:spTgt spid="14"/>
                                        </p:tgtEl>
                                        <p:attrNameLst>
                                          <p:attrName>ppt_x</p:attrName>
                                        </p:attrNameLst>
                                      </p:cBhvr>
                                      <p:tavLst>
                                        <p:tav tm="0">
                                          <p:val>
                                            <p:strVal val="#ppt_x"/>
                                          </p:val>
                                        </p:tav>
                                        <p:tav tm="100000">
                                          <p:val>
                                            <p:strVal val="#ppt_x"/>
                                          </p:val>
                                        </p:tav>
                                      </p:tavLst>
                                    </p:anim>
                                    <p:anim calcmode="lin" valueType="num">
                                      <p:cBhvr additive="base">
                                        <p:cTn id="64" dur="700" fill="hold"/>
                                        <p:tgtEl>
                                          <p:spTgt spid="14"/>
                                        </p:tgtEl>
                                        <p:attrNameLst>
                                          <p:attrName>ppt_y</p:attrName>
                                        </p:attrNameLst>
                                      </p:cBhvr>
                                      <p:tavLst>
                                        <p:tav tm="0">
                                          <p:val>
                                            <p:strVal val="#ppt_y+.08"/>
                                          </p:val>
                                        </p:tav>
                                        <p:tav tm="100000">
                                          <p:val>
                                            <p:strVal val="#ppt_y"/>
                                          </p:val>
                                        </p:tav>
                                      </p:tavLst>
                                    </p:anim>
                                  </p:childTnLst>
                                </p:cTn>
                              </p:par>
                              <p:par>
                                <p:cTn id="70" presetID="42" presetClass="entr" presetSubtype="0" fill="hold" grpId="0" nodeType="withEffect">
                                  <p:stCondLst>
                                    <p:cond delay="1520"/>
                                  </p:stCondLst>
                                  <p:childTnLst>
                                    <p:set>
                                      <p:cBhvr>
                                        <p:cTn id="71" dur="1" fill="hold">
                                          <p:stCondLst>
                                            <p:cond delay="0"/>
                                          </p:stCondLst>
                                        </p:cTn>
                                        <p:tgtEl>
                                          <p:spTgt spid="15"/>
                                        </p:tgtEl>
                                        <p:attrNameLst>
                                          <p:attrName>style.visibility</p:attrName>
                                        </p:attrNameLst>
                                      </p:cBhvr>
                                      <p:to>
                                        <p:strVal val="visible"/>
                                      </p:to>
                                    </p:set>
                                    <p:animEffect transition="in" filter="fade">
                                      <p:cBhvr>
                                        <p:cTn id="67" dur="700"/>
                                        <p:tgtEl>
                                          <p:spTgt spid="15"/>
                                        </p:tgtEl>
                                      </p:cBhvr>
                                    </p:animEffect>
                                    <p:anim calcmode="lin" valueType="num">
                                      <p:cBhvr additive="base">
                                        <p:cTn id="68" dur="700" fill="hold"/>
                                        <p:tgtEl>
                                          <p:spTgt spid="15"/>
                                        </p:tgtEl>
                                        <p:attrNameLst>
                                          <p:attrName>ppt_x</p:attrName>
                                        </p:attrNameLst>
                                      </p:cBhvr>
                                      <p:tavLst>
                                        <p:tav tm="0">
                                          <p:val>
                                            <p:strVal val="#ppt_x"/>
                                          </p:val>
                                        </p:tav>
                                        <p:tav tm="100000">
                                          <p:val>
                                            <p:strVal val="#ppt_x"/>
                                          </p:val>
                                        </p:tav>
                                      </p:tavLst>
                                    </p:anim>
                                    <p:anim calcmode="lin" valueType="num">
                                      <p:cBhvr additive="base">
                                        <p:cTn id="69" dur="700" fill="hold"/>
                                        <p:tgtEl>
                                          <p:spTgt spid="15"/>
                                        </p:tgtEl>
                                        <p:attrNameLst>
                                          <p:attrName>ppt_y</p:attrName>
                                        </p:attrNameLst>
                                      </p:cBhvr>
                                      <p:tavLst>
                                        <p:tav tm="0">
                                          <p:val>
                                            <p:strVal val="#ppt_y+.08"/>
                                          </p:val>
                                        </p:tav>
                                        <p:tav tm="100000">
                                          <p:val>
                                            <p:strVal val="#ppt_y"/>
                                          </p:val>
                                        </p:tav>
                                      </p:tavLst>
                                    </p:anim>
                                  </p:childTnLst>
                                </p:cTn>
                              </p:par>
                              <p:par>
                                <p:cTn id="75" presetID="53" presetClass="entr" presetSubtype="16" fill="hold" grpId="0" nodeType="withEffect">
                                  <p:stCondLst>
                                    <p:cond delay="1520"/>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2" dur="550" fill="hold"/>
                                        <p:tgtEl>
                                          <p:spTgt spid="16"/>
                                        </p:tgtEl>
                                        <p:attrNameLst>
                                          <p:attrName>ppt_w</p:attrName>
                                        </p:attrNameLst>
                                      </p:cBhvr>
                                      <p:tavLst>
                                        <p:tav tm="0">
                                          <p:val>
                                            <p:strVal val="0"/>
                                          </p:val>
                                        </p:tav>
                                        <p:tav tm="100000">
                                          <p:val>
                                            <p:strVal val="#ppt_w"/>
                                          </p:val>
                                        </p:tav>
                                      </p:tavLst>
                                    </p:anim>
                                    <p:anim calcmode="lin" valueType="num">
                                      <p:cBhvr additive="base">
                                        <p:cTn id="73" dur="550" fill="hold"/>
                                        <p:tgtEl>
                                          <p:spTgt spid="16"/>
                                        </p:tgtEl>
                                        <p:attrNameLst>
                                          <p:attrName>ppt_h</p:attrName>
                                        </p:attrNameLst>
                                      </p:cBhvr>
                                      <p:tavLst>
                                        <p:tav tm="0">
                                          <p:val>
                                            <p:strVal val="0"/>
                                          </p:val>
                                        </p:tav>
                                        <p:tav tm="100000">
                                          <p:val>
                                            <p:strVal val="#ppt_h"/>
                                          </p:val>
                                        </p:tav>
                                      </p:tavLst>
                                    </p:anim>
                                    <p:animEffect transition="in" filter="fade">
                                      <p:cBhvr>
                                        <p:cTn id="74" dur="550"/>
                                        <p:tgtEl>
                                          <p:spTgt spid="16"/>
                                        </p:tgtEl>
                                      </p:cBhvr>
                                    </p:animEffect>
                                  </p:childTnLst>
                                </p:cTn>
                              </p:par>
                              <p:par>
                                <p:cTn id="80" presetID="53" presetClass="entr" presetSubtype="16" fill="hold" grpId="0" nodeType="withEffect">
                                  <p:stCondLst>
                                    <p:cond delay="1520"/>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77" dur="550" fill="hold"/>
                                        <p:tgtEl>
                                          <p:spTgt spid="17"/>
                                        </p:tgtEl>
                                        <p:attrNameLst>
                                          <p:attrName>ppt_w</p:attrName>
                                        </p:attrNameLst>
                                      </p:cBhvr>
                                      <p:tavLst>
                                        <p:tav tm="0">
                                          <p:val>
                                            <p:strVal val="0"/>
                                          </p:val>
                                        </p:tav>
                                        <p:tav tm="100000">
                                          <p:val>
                                            <p:strVal val="#ppt_w"/>
                                          </p:val>
                                        </p:tav>
                                      </p:tavLst>
                                    </p:anim>
                                    <p:anim calcmode="lin" valueType="num">
                                      <p:cBhvr additive="base">
                                        <p:cTn id="78" dur="550" fill="hold"/>
                                        <p:tgtEl>
                                          <p:spTgt spid="17"/>
                                        </p:tgtEl>
                                        <p:attrNameLst>
                                          <p:attrName>ppt_h</p:attrName>
                                        </p:attrNameLst>
                                      </p:cBhvr>
                                      <p:tavLst>
                                        <p:tav tm="0">
                                          <p:val>
                                            <p:strVal val="0"/>
                                          </p:val>
                                        </p:tav>
                                        <p:tav tm="100000">
                                          <p:val>
                                            <p:strVal val="#ppt_h"/>
                                          </p:val>
                                        </p:tav>
                                      </p:tavLst>
                                    </p:anim>
                                    <p:animEffect transition="in" filter="fade">
                                      <p:cBhvr>
                                        <p:cTn id="79" dur="550"/>
                                        <p:tgtEl>
                                          <p:spTgt spid="17"/>
                                        </p:tgtEl>
                                      </p:cBhvr>
                                    </p:animEffect>
                                  </p:childTnLst>
                                </p:cTn>
                              </p:par>
                              <p:par>
                                <p:cTn id="85" presetID="42" presetClass="entr" presetSubtype="0" fill="hold" grpId="0" nodeType="withEffect">
                                  <p:stCondLst>
                                    <p:cond delay="1520"/>
                                  </p:stCondLst>
                                  <p:childTnLst>
                                    <p:set>
                                      <p:cBhvr>
                                        <p:cTn id="86" dur="1" fill="hold">
                                          <p:stCondLst>
                                            <p:cond delay="0"/>
                                          </p:stCondLst>
                                        </p:cTn>
                                        <p:tgtEl>
                                          <p:spTgt spid="18"/>
                                        </p:tgtEl>
                                        <p:attrNameLst>
                                          <p:attrName>style.visibility</p:attrName>
                                        </p:attrNameLst>
                                      </p:cBhvr>
                                      <p:to>
                                        <p:strVal val="visible"/>
                                      </p:to>
                                    </p:set>
                                    <p:animEffect transition="in" filter="fade">
                                      <p:cBhvr>
                                        <p:cTn id="82" dur="700"/>
                                        <p:tgtEl>
                                          <p:spTgt spid="18"/>
                                        </p:tgtEl>
                                      </p:cBhvr>
                                    </p:animEffect>
                                    <p:anim calcmode="lin" valueType="num">
                                      <p:cBhvr additive="base">
                                        <p:cTn id="83" dur="700" fill="hold"/>
                                        <p:tgtEl>
                                          <p:spTgt spid="18"/>
                                        </p:tgtEl>
                                        <p:attrNameLst>
                                          <p:attrName>ppt_x</p:attrName>
                                        </p:attrNameLst>
                                      </p:cBhvr>
                                      <p:tavLst>
                                        <p:tav tm="0">
                                          <p:val>
                                            <p:strVal val="#ppt_x"/>
                                          </p:val>
                                        </p:tav>
                                        <p:tav tm="100000">
                                          <p:val>
                                            <p:strVal val="#ppt_x"/>
                                          </p:val>
                                        </p:tav>
                                      </p:tavLst>
                                    </p:anim>
                                    <p:anim calcmode="lin" valueType="num">
                                      <p:cBhvr additive="base">
                                        <p:cTn id="84" dur="700" fill="hold"/>
                                        <p:tgtEl>
                                          <p:spTgt spid="18"/>
                                        </p:tgtEl>
                                        <p:attrNameLst>
                                          <p:attrName>ppt_y</p:attrName>
                                        </p:attrNameLst>
                                      </p:cBhvr>
                                      <p:tavLst>
                                        <p:tav tm="0">
                                          <p:val>
                                            <p:strVal val="#ppt_y+.08"/>
                                          </p:val>
                                        </p:tav>
                                        <p:tav tm="100000">
                                          <p:val>
                                            <p:strVal val="#ppt_y"/>
                                          </p:val>
                                        </p:tav>
                                      </p:tavLst>
                                    </p:anim>
                                  </p:childTnLst>
                                </p:cTn>
                              </p:par>
                              <p:par>
                                <p:cTn id="90" presetID="42" presetClass="entr" presetSubtype="0" fill="hold" grpId="0" nodeType="withEffect">
                                  <p:stCondLst>
                                    <p:cond delay="1520"/>
                                  </p:stCondLst>
                                  <p:childTnLst>
                                    <p:set>
                                      <p:cBhvr>
                                        <p:cTn id="91" dur="1" fill="hold">
                                          <p:stCondLst>
                                            <p:cond delay="0"/>
                                          </p:stCondLst>
                                        </p:cTn>
                                        <p:tgtEl>
                                          <p:spTgt spid="19"/>
                                        </p:tgtEl>
                                        <p:attrNameLst>
                                          <p:attrName>style.visibility</p:attrName>
                                        </p:attrNameLst>
                                      </p:cBhvr>
                                      <p:to>
                                        <p:strVal val="visible"/>
                                      </p:to>
                                    </p:set>
                                    <p:animEffect transition="in" filter="fade">
                                      <p:cBhvr>
                                        <p:cTn id="87" dur="700"/>
                                        <p:tgtEl>
                                          <p:spTgt spid="19"/>
                                        </p:tgtEl>
                                      </p:cBhvr>
                                    </p:animEffect>
                                    <p:anim calcmode="lin" valueType="num">
                                      <p:cBhvr additive="base">
                                        <p:cTn id="88" dur="700" fill="hold"/>
                                        <p:tgtEl>
                                          <p:spTgt spid="19"/>
                                        </p:tgtEl>
                                        <p:attrNameLst>
                                          <p:attrName>ppt_x</p:attrName>
                                        </p:attrNameLst>
                                      </p:cBhvr>
                                      <p:tavLst>
                                        <p:tav tm="0">
                                          <p:val>
                                            <p:strVal val="#ppt_x"/>
                                          </p:val>
                                        </p:tav>
                                        <p:tav tm="100000">
                                          <p:val>
                                            <p:strVal val="#ppt_x"/>
                                          </p:val>
                                        </p:tav>
                                      </p:tavLst>
                                    </p:anim>
                                    <p:anim calcmode="lin" valueType="num">
                                      <p:cBhvr additive="base">
                                        <p:cTn id="89" dur="700" fill="hold"/>
                                        <p:tgtEl>
                                          <p:spTgt spid="19"/>
                                        </p:tgtEl>
                                        <p:attrNameLst>
                                          <p:attrName>ppt_y</p:attrName>
                                        </p:attrNameLst>
                                      </p:cBhvr>
                                      <p:tavLst>
                                        <p:tav tm="0">
                                          <p:val>
                                            <p:strVal val="#ppt_y+.08"/>
                                          </p:val>
                                        </p:tav>
                                        <p:tav tm="100000">
                                          <p:val>
                                            <p:strVal val="#ppt_y"/>
                                          </p:val>
                                        </p:tav>
                                      </p:tavLst>
                                    </p:anim>
                                  </p:childTnLst>
                                </p:cTn>
                              </p:par>
                              <p:par>
                                <p:cTn id="95" presetID="42" presetClass="entr" presetSubtype="0" fill="hold" grpId="0" nodeType="withEffect">
                                  <p:stCondLst>
                                    <p:cond delay="1900"/>
                                  </p:stCondLst>
                                  <p:childTnLst>
                                    <p:set>
                                      <p:cBhvr>
                                        <p:cTn id="96" dur="1" fill="hold">
                                          <p:stCondLst>
                                            <p:cond delay="0"/>
                                          </p:stCondLst>
                                        </p:cTn>
                                        <p:tgtEl>
                                          <p:spTgt spid="20"/>
                                        </p:tgtEl>
                                        <p:attrNameLst>
                                          <p:attrName>style.visibility</p:attrName>
                                        </p:attrNameLst>
                                      </p:cBhvr>
                                      <p:to>
                                        <p:strVal val="visible"/>
                                      </p:to>
                                    </p:set>
                                    <p:animEffect transition="in" filter="fade">
                                      <p:cBhvr>
                                        <p:cTn id="92" dur="700"/>
                                        <p:tgtEl>
                                          <p:spTgt spid="20"/>
                                        </p:tgtEl>
                                      </p:cBhvr>
                                    </p:animEffect>
                                    <p:anim calcmode="lin" valueType="num">
                                      <p:cBhvr additive="base">
                                        <p:cTn id="93" dur="700" fill="hold"/>
                                        <p:tgtEl>
                                          <p:spTgt spid="20"/>
                                        </p:tgtEl>
                                        <p:attrNameLst>
                                          <p:attrName>ppt_x</p:attrName>
                                        </p:attrNameLst>
                                      </p:cBhvr>
                                      <p:tavLst>
                                        <p:tav tm="0">
                                          <p:val>
                                            <p:strVal val="#ppt_x"/>
                                          </p:val>
                                        </p:tav>
                                        <p:tav tm="100000">
                                          <p:val>
                                            <p:strVal val="#ppt_x"/>
                                          </p:val>
                                        </p:tav>
                                      </p:tavLst>
                                    </p:anim>
                                    <p:anim calcmode="lin" valueType="num">
                                      <p:cBhvr additive="base">
                                        <p:cTn id="94" dur="700" fill="hold"/>
                                        <p:tgtEl>
                                          <p:spTgt spid="20"/>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8" grpId="0" animBg="1"/>
      <p:bldP spid="9" grpId="0" animBg="1"/>
      <p:bldP spid="13" grpId="0" animBg="1"/>
      <p:bldP spid="14" grpId="0" animBg="1"/>
      <p:bldP spid="18" grpId="0" animBg="1"/>
      <p:bldP spid="19" grpId="0" animBg="1"/>
      <p:bldP spid="2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A0-spin-439" descr="preencoded.png">    </p:cNvPr>
          <p:cNvPicPr>
            <a:picLocks noChangeAspect="1"/>
          </p:cNvPicPr>
          <p:nvPr/>
        </p:nvPicPr>
        <p:blipFill>
          <a:blip r:embed="rId2"/>
          <a:stretch>
            <a:fillRect/>
          </a:stretch>
        </p:blipFill>
        <p:spPr>
          <a:xfrm>
            <a:off x="2971800" y="411480"/>
            <a:ext cx="3200400" cy="3200400"/>
          </a:xfrm>
          <a:prstGeom prst="rect">
            <a:avLst/>
          </a:prstGeom>
        </p:spPr>
      </p:pic>
      <p:sp>
        <p:nvSpPr>
          <p:cNvPr id="3" name="A1-zoom-440"/>
          <p:cNvSpPr/>
          <p:nvPr/>
        </p:nvSpPr>
        <p:spPr>
          <a:xfrm>
            <a:off x="4160520" y="1600200"/>
            <a:ext cx="822960" cy="822960"/>
          </a:xfrm>
          <a:prstGeom prst="ellipse">
            <a:avLst/>
          </a:prstGeom>
          <a:solidFill>
            <a:srgbClr val="FFC21A"/>
          </a:solidFill>
          <a:ln w="12700">
            <a:solidFill>
              <a:srgbClr val="FFC21A"/>
            </a:solidFill>
            <a:prstDash val="solid"/>
          </a:ln>
        </p:spPr>
      </p:sp>
      <p:pic>
        <p:nvPicPr>
          <p:cNvPr id="4" name="A1-zoom-441" descr="preencoded.png">    </p:cNvPr>
          <p:cNvPicPr>
            <a:picLocks noChangeAspect="1"/>
          </p:cNvPicPr>
          <p:nvPr/>
        </p:nvPicPr>
        <p:blipFill>
          <a:blip r:embed="rId3"/>
          <a:stretch>
            <a:fillRect/>
          </a:stretch>
        </p:blipFill>
        <p:spPr>
          <a:xfrm>
            <a:off x="4382719" y="1822399"/>
            <a:ext cx="378562" cy="378562"/>
          </a:xfrm>
          <a:prstGeom prst="rect">
            <a:avLst/>
          </a:prstGeom>
        </p:spPr>
      </p:pic>
      <p:sp>
        <p:nvSpPr>
          <p:cNvPr id="5" name="A2-fadeup-442"/>
          <p:cNvSpPr txBox="1"/>
          <p:nvPr/>
        </p:nvSpPr>
        <p:spPr>
          <a:xfrm>
            <a:off x="457200" y="3657600"/>
            <a:ext cx="8229600" cy="548640"/>
          </a:xfrm>
          <a:prstGeom prst="rect">
            <a:avLst/>
          </a:prstGeom>
          <a:noFill/>
          <a:ln/>
        </p:spPr>
        <p:txBody>
          <a:bodyPr wrap="square" lIns="0" tIns="0" rIns="0" bIns="0" rtlCol="0" anchor="t"/>
          <a:lstStyle/>
          <a:p>
            <a:pPr algn="ctr" indent="0" marL="0">
              <a:buNone/>
            </a:pPr>
            <a:r>
              <a:rPr lang="en-US" sz="3200" b="1" dirty="0">
                <a:solidFill>
                  <a:srgbClr val="FFFFFF"/>
                </a:solidFill>
                <a:latin typeface="Cambria" pitchFamily="34" charset="0"/>
                <a:ea typeface="Cambria" pitchFamily="34" charset="-122"/>
                <a:cs typeface="Cambria" pitchFamily="34" charset="-120"/>
              </a:rPr>
              <a:t>Merci de votre attention</a:t>
            </a:r>
            <a:endParaRPr lang="en-US" sz="3200" dirty="0"/>
          </a:p>
        </p:txBody>
      </p:sp>
      <p:sp>
        <p:nvSpPr>
          <p:cNvPr id="6" name="A3-fade-443"/>
          <p:cNvSpPr txBox="1"/>
          <p:nvPr/>
        </p:nvSpPr>
        <p:spPr>
          <a:xfrm>
            <a:off x="457200" y="4206240"/>
            <a:ext cx="8229600" cy="365760"/>
          </a:xfrm>
          <a:prstGeom prst="rect">
            <a:avLst/>
          </a:prstGeom>
          <a:noFill/>
          <a:ln/>
        </p:spPr>
        <p:txBody>
          <a:bodyPr wrap="square" lIns="0" tIns="0" rIns="0" bIns="0" rtlCol="0" anchor="t"/>
          <a:lstStyle/>
          <a:p>
            <a:pPr algn="ctr" indent="0" marL="0">
              <a:buNone/>
            </a:pPr>
            <a:r>
              <a:rPr lang="en-US" sz="1600" i="1" dirty="0">
                <a:solidFill>
                  <a:srgbClr val="FFC21A"/>
                </a:solidFill>
                <a:latin typeface="Calibri" pitchFamily="34" charset="0"/>
                <a:ea typeface="Calibri" pitchFamily="34" charset="-122"/>
                <a:cs typeface="Calibri" pitchFamily="34" charset="-120"/>
              </a:rPr>
              <a:t>Des questions ?</a:t>
            </a:r>
            <a:endParaRPr lang="en-US" sz="1600" dirty="0"/>
          </a:p>
        </p:txBody>
      </p:sp>
      <p:sp>
        <p:nvSpPr>
          <p:cNvPr id="7" name="A3-fade-444"/>
          <p:cNvSpPr txBox="1"/>
          <p:nvPr/>
        </p:nvSpPr>
        <p:spPr>
          <a:xfrm>
            <a:off x="457200" y="4663440"/>
            <a:ext cx="8229600" cy="274320"/>
          </a:xfrm>
          <a:prstGeom prst="rect">
            <a:avLst/>
          </a:prstGeom>
          <a:noFill/>
          <a:ln/>
        </p:spPr>
        <p:txBody>
          <a:bodyPr wrap="square" lIns="0" tIns="0" rIns="0" bIns="0" rtlCol="0" anchor="t"/>
          <a:lstStyle/>
          <a:p>
            <a:pPr algn="ctr" indent="0" marL="0">
              <a:buNone/>
            </a:pPr>
            <a:r>
              <a:rPr lang="en-US" sz="1050" dirty="0">
                <a:solidFill>
                  <a:srgbClr val="AFC0E4"/>
                </a:solidFill>
                <a:latin typeface="Calibri" pitchFamily="34" charset="0"/>
                <a:ea typeface="Calibri" pitchFamily="34" charset="-122"/>
                <a:cs typeface="Calibri" pitchFamily="34" charset="-120"/>
              </a:rPr>
              <a:t>SIMON · MOISAN · RICHARD · VANACKERE · NGUINETTI — Demi-Cohorte B2</a:t>
            </a:r>
            <a:endParaRPr lang="en-US" sz="1050" dirty="0"/>
          </a:p>
        </p:txBody>
      </p:sp>
    </p:spTree>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timing>
    <p:tnLst>
      <p:par>
        <p:cTn id="1" dur="indefinite" restart="never" nodeType="tmRoot">
          <p:childTnLst>
            <p:seq concurrent="1" nextAc="seek">
              <p:cTn id="2" dur="indefinite" nodeType="mainSeq">
                <p:childTnLst>
                  <p:par>
                    <p:cTn id="30" fill="hold">
                      <p:stCondLst>
                        <p:cond delay="indefinite"/>
                        <p:cond evt="onBegin" delay="0">
                          <p:tn val="2"/>
                        </p:cond>
                      </p:stCondLst>
                      <p:childTnLst>
                        <p:par>
                          <p:cTn id="31" fill="hold">
                            <p:stCondLst>
                              <p:cond delay="0"/>
                            </p:stCondLst>
                            <p:childTnLst>
                              <p:par>
                                <p:cTn id="7" presetID="3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anim calcmode="lin" valueType="num">
                                      <p:cBhvr additive="base">
                                        <p:cTn id="3" dur="1600" fill="hold"/>
                                        <p:tgtEl>
                                          <p:spTgt spid="2"/>
                                        </p:tgtEl>
                                        <p:attrNameLst>
                                          <p:attrName>ppt_w</p:attrName>
                                        </p:attrNameLst>
                                      </p:cBhvr>
                                      <p:tavLst>
                                        <p:tav tm="0">
                                          <p:val>
                                            <p:strVal val="#ppt_w*0.4"/>
                                          </p:val>
                                        </p:tav>
                                        <p:tav tm="100000">
                                          <p:val>
                                            <p:strVal val="#ppt_w"/>
                                          </p:val>
                                        </p:tav>
                                      </p:tavLst>
                                    </p:anim>
                                    <p:anim calcmode="lin" valueType="num">
                                      <p:cBhvr additive="base">
                                        <p:cTn id="4" dur="1600" fill="hold"/>
                                        <p:tgtEl>
                                          <p:spTgt spid="2"/>
                                        </p:tgtEl>
                                        <p:attrNameLst>
                                          <p:attrName>ppt_h</p:attrName>
                                        </p:attrNameLst>
                                      </p:cBhvr>
                                      <p:tavLst>
                                        <p:tav tm="0">
                                          <p:val>
                                            <p:strVal val="#ppt_h*0.4"/>
                                          </p:val>
                                        </p:tav>
                                        <p:tav tm="100000">
                                          <p:val>
                                            <p:strVal val="#ppt_h"/>
                                          </p:val>
                                        </p:tav>
                                      </p:tavLst>
                                    </p:anim>
                                    <p:anim calcmode="lin" valueType="num">
                                      <p:cBhvr additive="base">
                                        <p:cTn id="5" dur="1600" fill="hold"/>
                                        <p:tgtEl>
                                          <p:spTgt spid="2"/>
                                        </p:tgtEl>
                                        <p:attrNameLst>
                                          <p:attrName>style.rotation</p:attrName>
                                        </p:attrNameLst>
                                      </p:cBhvr>
                                      <p:tavLst>
                                        <p:tav tm="0">
                                          <p:val>
                                            <p:strVal val="-120"/>
                                          </p:val>
                                        </p:tav>
                                        <p:tav tm="100000">
                                          <p:val>
                                            <p:strVal val="0"/>
                                          </p:val>
                                        </p:tav>
                                      </p:tavLst>
                                    </p:anim>
                                    <p:animEffect transition="in" filter="fade">
                                      <p:cBhvr>
                                        <p:cTn id="6" dur="1600"/>
                                        <p:tgtEl>
                                          <p:spTgt spid="2"/>
                                        </p:tgtEl>
                                      </p:cBhvr>
                                    </p:animEffect>
                                  </p:childTnLst>
                                </p:cTn>
                              </p:par>
                              <p:par>
                                <p:cTn id="12" presetID="53" presetClass="entr" presetSubtype="16" fill="hold" grpId="0" nodeType="withEffect">
                                  <p:stCondLst>
                                    <p:cond delay="380"/>
                                  </p:stCondLst>
                                  <p:childTnLst>
                                    <p:set>
                                      <p:cBhvr>
                                        <p:cTn id="13" dur="1" fill="hold">
                                          <p:stCondLst>
                                            <p:cond delay="0"/>
                                          </p:stCondLst>
                                        </p:cTn>
                                        <p:tgtEl>
                                          <p:spTgt spid="3"/>
                                        </p:tgtEl>
                                        <p:attrNameLst>
                                          <p:attrName>style.visibility</p:attrName>
                                        </p:attrNameLst>
                                      </p:cBhvr>
                                      <p:to>
                                        <p:strVal val="visible"/>
                                      </p:to>
                                    </p:set>
                                    <p:anim calcmode="lin" valueType="num">
                                      <p:cBhvr additive="base">
                                        <p:cTn id="9" dur="550" fill="hold"/>
                                        <p:tgtEl>
                                          <p:spTgt spid="3"/>
                                        </p:tgtEl>
                                        <p:attrNameLst>
                                          <p:attrName>ppt_w</p:attrName>
                                        </p:attrNameLst>
                                      </p:cBhvr>
                                      <p:tavLst>
                                        <p:tav tm="0">
                                          <p:val>
                                            <p:strVal val="0"/>
                                          </p:val>
                                        </p:tav>
                                        <p:tav tm="100000">
                                          <p:val>
                                            <p:strVal val="#ppt_w"/>
                                          </p:val>
                                        </p:tav>
                                      </p:tavLst>
                                    </p:anim>
                                    <p:anim calcmode="lin" valueType="num">
                                      <p:cBhvr additive="base">
                                        <p:cTn id="10" dur="550" fill="hold"/>
                                        <p:tgtEl>
                                          <p:spTgt spid="3"/>
                                        </p:tgtEl>
                                        <p:attrNameLst>
                                          <p:attrName>ppt_h</p:attrName>
                                        </p:attrNameLst>
                                      </p:cBhvr>
                                      <p:tavLst>
                                        <p:tav tm="0">
                                          <p:val>
                                            <p:strVal val="0"/>
                                          </p:val>
                                        </p:tav>
                                        <p:tav tm="100000">
                                          <p:val>
                                            <p:strVal val="#ppt_h"/>
                                          </p:val>
                                        </p:tav>
                                      </p:tavLst>
                                    </p:anim>
                                    <p:animEffect transition="in" filter="fade">
                                      <p:cBhvr>
                                        <p:cTn id="11" dur="550"/>
                                        <p:tgtEl>
                                          <p:spTgt spid="3"/>
                                        </p:tgtEl>
                                      </p:cBhvr>
                                    </p:animEffect>
                                  </p:childTnLst>
                                </p:cTn>
                              </p:par>
                              <p:par>
                                <p:cTn id="17" presetID="53" presetClass="entr" presetSubtype="16" fill="hold" grpId="0" nodeType="withEffect">
                                  <p:stCondLst>
                                    <p:cond delay="38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4" dur="550" fill="hold"/>
                                        <p:tgtEl>
                                          <p:spTgt spid="4"/>
                                        </p:tgtEl>
                                        <p:attrNameLst>
                                          <p:attrName>ppt_w</p:attrName>
                                        </p:attrNameLst>
                                      </p:cBhvr>
                                      <p:tavLst>
                                        <p:tav tm="0">
                                          <p:val>
                                            <p:strVal val="0"/>
                                          </p:val>
                                        </p:tav>
                                        <p:tav tm="100000">
                                          <p:val>
                                            <p:strVal val="#ppt_w"/>
                                          </p:val>
                                        </p:tav>
                                      </p:tavLst>
                                    </p:anim>
                                    <p:anim calcmode="lin" valueType="num">
                                      <p:cBhvr additive="base">
                                        <p:cTn id="15" dur="550" fill="hold"/>
                                        <p:tgtEl>
                                          <p:spTgt spid="4"/>
                                        </p:tgtEl>
                                        <p:attrNameLst>
                                          <p:attrName>ppt_h</p:attrName>
                                        </p:attrNameLst>
                                      </p:cBhvr>
                                      <p:tavLst>
                                        <p:tav tm="0">
                                          <p:val>
                                            <p:strVal val="0"/>
                                          </p:val>
                                        </p:tav>
                                        <p:tav tm="100000">
                                          <p:val>
                                            <p:strVal val="#ppt_h"/>
                                          </p:val>
                                        </p:tav>
                                      </p:tavLst>
                                    </p:anim>
                                    <p:animEffect transition="in" filter="fade">
                                      <p:cBhvr>
                                        <p:cTn id="16" dur="550"/>
                                        <p:tgtEl>
                                          <p:spTgt spid="4"/>
                                        </p:tgtEl>
                                      </p:cBhvr>
                                    </p:animEffect>
                                  </p:childTnLst>
                                </p:cTn>
                              </p:par>
                              <p:par>
                                <p:cTn id="22" presetID="42" presetClass="entr" presetSubtype="0" fill="hold" grpId="0" nodeType="withEffect">
                                  <p:stCondLst>
                                    <p:cond delay="760"/>
                                  </p:stCondLst>
                                  <p:childTnLst>
                                    <p:set>
                                      <p:cBhvr>
                                        <p:cTn id="23" dur="1" fill="hold">
                                          <p:stCondLst>
                                            <p:cond delay="0"/>
                                          </p:stCondLst>
                                        </p:cTn>
                                        <p:tgtEl>
                                          <p:spTgt spid="5"/>
                                        </p:tgtEl>
                                        <p:attrNameLst>
                                          <p:attrName>style.visibility</p:attrName>
                                        </p:attrNameLst>
                                      </p:cBhvr>
                                      <p:to>
                                        <p:strVal val="visible"/>
                                      </p:to>
                                    </p:set>
                                    <p:animEffect transition="in" filter="fade">
                                      <p:cBhvr>
                                        <p:cTn id="19" dur="700"/>
                                        <p:tgtEl>
                                          <p:spTgt spid="5"/>
                                        </p:tgtEl>
                                      </p:cBhvr>
                                    </p:animEffect>
                                    <p:anim calcmode="lin" valueType="num">
                                      <p:cBhvr additive="base">
                                        <p:cTn id="20" dur="700" fill="hold"/>
                                        <p:tgtEl>
                                          <p:spTgt spid="5"/>
                                        </p:tgtEl>
                                        <p:attrNameLst>
                                          <p:attrName>ppt_x</p:attrName>
                                        </p:attrNameLst>
                                      </p:cBhvr>
                                      <p:tavLst>
                                        <p:tav tm="0">
                                          <p:val>
                                            <p:strVal val="#ppt_x"/>
                                          </p:val>
                                        </p:tav>
                                        <p:tav tm="100000">
                                          <p:val>
                                            <p:strVal val="#ppt_x"/>
                                          </p:val>
                                        </p:tav>
                                      </p:tavLst>
                                    </p:anim>
                                    <p:anim calcmode="lin" valueType="num">
                                      <p:cBhvr additive="base">
                                        <p:cTn id="21" dur="700" fill="hold"/>
                                        <p:tgtEl>
                                          <p:spTgt spid="5"/>
                                        </p:tgtEl>
                                        <p:attrNameLst>
                                          <p:attrName>ppt_y</p:attrName>
                                        </p:attrNameLst>
                                      </p:cBhvr>
                                      <p:tavLst>
                                        <p:tav tm="0">
                                          <p:val>
                                            <p:strVal val="#ppt_y+.08"/>
                                          </p:val>
                                        </p:tav>
                                        <p:tav tm="100000">
                                          <p:val>
                                            <p:strVal val="#ppt_y"/>
                                          </p:val>
                                        </p:tav>
                                      </p:tavLst>
                                    </p:anim>
                                  </p:childTnLst>
                                </p:cTn>
                              </p:par>
                              <p:par>
                                <p:cTn id="25" presetID="10" presetClass="entr" presetSubtype="0" fill="hold" grpId="0" nodeType="withEffect">
                                  <p:stCondLst>
                                    <p:cond delay="1140"/>
                                  </p:stCondLst>
                                  <p:childTnLst>
                                    <p:set>
                                      <p:cBhvr>
                                        <p:cTn id="26" dur="1" fill="hold">
                                          <p:stCondLst>
                                            <p:cond delay="0"/>
                                          </p:stCondLst>
                                        </p:cTn>
                                        <p:tgtEl>
                                          <p:spTgt spid="6"/>
                                        </p:tgtEl>
                                        <p:attrNameLst>
                                          <p:attrName>style.visibility</p:attrName>
                                        </p:attrNameLst>
                                      </p:cBhvr>
                                      <p:to>
                                        <p:strVal val="visible"/>
                                      </p:to>
                                    </p:set>
                                    <p:animEffect transition="in" filter="fade">
                                      <p:cBhvr>
                                        <p:cTn id="24" dur="600"/>
                                        <p:tgtEl>
                                          <p:spTgt spid="6"/>
                                        </p:tgtEl>
                                      </p:cBhvr>
                                    </p:animEffect>
                                  </p:childTnLst>
                                </p:cTn>
                              </p:par>
                              <p:par>
                                <p:cTn id="28" presetID="10" presetClass="entr" presetSubtype="0" fill="hold" grpId="0" nodeType="withEffect">
                                  <p:stCondLst>
                                    <p:cond delay="1140"/>
                                  </p:stCondLst>
                                  <p:childTnLst>
                                    <p:set>
                                      <p:cBhvr>
                                        <p:cTn id="29" dur="1" fill="hold">
                                          <p:stCondLst>
                                            <p:cond delay="0"/>
                                          </p:stCondLst>
                                        </p:cTn>
                                        <p:tgtEl>
                                          <p:spTgt spid="7"/>
                                        </p:tgtEl>
                                        <p:attrNameLst>
                                          <p:attrName>style.visibility</p:attrName>
                                        </p:attrNameLst>
                                      </p:cBhvr>
                                      <p:to>
                                        <p:strVal val="visible"/>
                                      </p:to>
                                    </p:set>
                                    <p:animEffect transition="in" filter="fade">
                                      <p:cBhvr>
                                        <p:cTn id="27"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Zone de libre-échange vs marché unique</dc:title>
  <dc:subject>PptxGenJS Presentation</dc:subject>
  <dc:creator>Simon E., Moisan M., Richard F., Vanackere S., Nguinetti R.</dc:creator>
  <cp:lastModifiedBy>Simon E., Moisan M., Richard F., Vanackere S., Nguinetti R.</cp:lastModifiedBy>
  <cp:revision>1</cp:revision>
  <dcterms:created xsi:type="dcterms:W3CDTF">2026-10-01T11:09:37Z</dcterms:created>
  <dcterms:modified xsi:type="dcterms:W3CDTF">2026-10-01T11:09:37Z</dcterms:modified>
</cp:coreProperties>
</file>